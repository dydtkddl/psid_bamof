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>
  <p:sldMasterIdLst>
    <p:sldMasterId id="2147483660" r:id="rId1"/>
  </p:sldMasterIdLst>
  <p:notesMasterIdLst>
    <p:notesMasterId r:id="rId7"/>
  </p:notesMasterIdLst>
  <p:handoutMasterIdLst>
    <p:handoutMasterId r:id="rId8"/>
  </p:handoutMasterIdLst>
  <p:sldIdLst>
    <p:sldId id="1190" r:id="rId2"/>
    <p:sldId id="1321" r:id="rId3"/>
    <p:sldId id="1322" r:id="rId4"/>
    <p:sldId id="1323" r:id="rId5"/>
    <p:sldId id="1204" r:id="rId6"/>
  </p:sldIdLst>
  <p:sldSz cx="12192000" cy="6858000"/>
  <p:notesSz cx="6858000" cy="9144000"/>
  <p:embeddedFontLst>
    <p:embeddedFont>
      <p:font typeface="Noto Sans KR" panose="020B0200000000000000" pitchFamily="50" charset="-127"/>
      <p:regular r:id="rId9"/>
      <p:bold r:id="rId10"/>
    </p:embeddedFont>
    <p:embeddedFont>
      <p:font typeface="맑은 고딕" panose="020B0503020000020004" pitchFamily="50" charset="-127"/>
      <p:regular r:id="rId11"/>
      <p:bold r:id="rId12"/>
    </p:embeddedFont>
    <p:embeddedFont>
      <p:font typeface="Cambria Math" panose="02040503050406030204" pitchFamily="18" charset="0"/>
      <p:regular r:id="rId13"/>
    </p:embeddedFont>
    <p:embeddedFont>
      <p:font typeface="Microsoft GothicNeo" panose="020B0500000101010101" pitchFamily="50" charset="-127"/>
      <p:regular r:id="rId14"/>
      <p:bold r:id="rId15"/>
    </p:embeddedFont>
    <p:embeddedFont>
      <p:font typeface="Microsoft GothicNeo Light" panose="020B0300000101010101" pitchFamily="50" charset="-127"/>
      <p:regular r:id="rId16"/>
    </p:embeddedFont>
    <p:embeddedFont>
      <p:font typeface="Raleway" pitchFamily="2" charset="0"/>
      <p:regular r:id="rId17"/>
      <p:bold r:id="rId18"/>
      <p:italic r:id="rId19"/>
      <p:boldItalic r:id="rId20"/>
    </p:embeddedFont>
    <p:embeddedFont>
      <p:font typeface="Verdana" panose="020B0604030504040204" pitchFamily="34" charset="0"/>
      <p:regular r:id="rId21"/>
      <p:bold r:id="rId22"/>
      <p:italic r:id="rId23"/>
      <p:boldItalic r:id="rId24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BF8F1"/>
    <a:srgbClr val="617481"/>
    <a:srgbClr val="74838D"/>
    <a:srgbClr val="FBFBF3"/>
    <a:srgbClr val="EBF0F3"/>
    <a:srgbClr val="CBA45A"/>
    <a:srgbClr val="ECC979"/>
    <a:srgbClr val="FDFDFB"/>
    <a:srgbClr val="0C243F"/>
    <a:srgbClr val="2F3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800" autoAdjust="0"/>
    <p:restoredTop sz="93587" autoAdjust="0"/>
  </p:normalViewPr>
  <p:slideViewPr>
    <p:cSldViewPr snapToGrid="0">
      <p:cViewPr varScale="1">
        <p:scale>
          <a:sx n="105" d="100"/>
          <a:sy n="105" d="100"/>
        </p:scale>
        <p:origin x="960" y="114"/>
      </p:cViewPr>
      <p:guideLst/>
    </p:cSldViewPr>
  </p:slideViewPr>
  <p:notesTextViewPr>
    <p:cViewPr>
      <p:scale>
        <a:sx n="75" d="100"/>
        <a:sy n="75" d="100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912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openxmlformats.org/officeDocument/2006/relationships/font" Target="fonts/font5.fntdata"/><Relationship Id="rId18" Type="http://schemas.openxmlformats.org/officeDocument/2006/relationships/font" Target="fonts/font10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13.fntdata"/><Relationship Id="rId7" Type="http://schemas.openxmlformats.org/officeDocument/2006/relationships/notesMaster" Target="notesMasters/notesMaster1.xml"/><Relationship Id="rId12" Type="http://schemas.openxmlformats.org/officeDocument/2006/relationships/font" Target="fonts/font4.fntdata"/><Relationship Id="rId17" Type="http://schemas.openxmlformats.org/officeDocument/2006/relationships/font" Target="fonts/font9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8.fntdata"/><Relationship Id="rId20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24" Type="http://schemas.openxmlformats.org/officeDocument/2006/relationships/font" Target="fonts/font16.fntdata"/><Relationship Id="rId5" Type="http://schemas.openxmlformats.org/officeDocument/2006/relationships/slide" Target="slides/slide4.xml"/><Relationship Id="rId15" Type="http://schemas.openxmlformats.org/officeDocument/2006/relationships/font" Target="fonts/font7.fntdata"/><Relationship Id="rId23" Type="http://schemas.openxmlformats.org/officeDocument/2006/relationships/font" Target="fonts/font15.fntdata"/><Relationship Id="rId28" Type="http://schemas.openxmlformats.org/officeDocument/2006/relationships/tableStyles" Target="tableStyles.xml"/><Relationship Id="rId10" Type="http://schemas.openxmlformats.org/officeDocument/2006/relationships/font" Target="fonts/font2.fntdata"/><Relationship Id="rId19" Type="http://schemas.openxmlformats.org/officeDocument/2006/relationships/font" Target="fonts/font11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Relationship Id="rId22" Type="http://schemas.openxmlformats.org/officeDocument/2006/relationships/font" Target="fonts/font14.fntdata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1D39546C-1EC6-D7CA-6FC8-DCDB7984459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44AA104A-68B4-840A-97AB-76C72A506BB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426888-051B-4C99-BCB4-37C922E41D73}" type="datetimeFigureOut">
              <a:rPr lang="ko-KR" altLang="en-US" smtClean="0"/>
              <a:t>2026-04-03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3E1443D-D1B0-0F0A-BBCC-87E1008B73A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3C68F17-0D7F-B3D7-5621-C83BF91D6C7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6990BE-6869-407E-BEE1-20864D10C2B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402383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6A02F6B-AA4F-4993-9FAD-DF67DC4FA92F}" type="datetimeFigureOut">
              <a:rPr lang="ko-KR" altLang="en-US" smtClean="0"/>
              <a:t>2026-04-03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04293B-FB95-44D9-9F9A-9C75F99BEC1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483401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5f391192_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5f391192_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8859163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8C2061-B13A-0C90-589B-BD1CA851FB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227E0EC-8E54-1FC0-773A-01E4A2FCAB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B86ADEE-D2C0-67A9-0E5A-88FBC020B3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9E0079E-90EC-2F0B-9234-2C71FD4095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2FBDF2-3FD8-49E4-B000-9115A49DFA2B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92834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8C2061-B13A-0C90-589B-BD1CA851FB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227E0EC-8E54-1FC0-773A-01E4A2FCAB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B86ADEE-D2C0-67A9-0E5A-88FBC020B3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endParaRPr lang="en-US" altLang="ko-KR" b="0" i="0" dirty="0">
              <a:solidFill>
                <a:srgbClr val="172033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9E0079E-90EC-2F0B-9234-2C71FD4095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2FBDF2-3FD8-49E4-B000-9115A49DFA2B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5573002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8C2061-B13A-0C90-589B-BD1CA851FB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227E0EC-8E54-1FC0-773A-01E4A2FCAB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B86ADEE-D2C0-67A9-0E5A-88FBC020B3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br>
              <a:rPr lang="ko-KR" altLang="en-US" dirty="0"/>
            </a:br>
            <a:endParaRPr lang="en-US" altLang="ko-KR" b="0" i="0" dirty="0">
              <a:solidFill>
                <a:srgbClr val="172033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9E0079E-90EC-2F0B-9234-2C71FD4095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2FBDF2-3FD8-49E4-B000-9115A49DFA2B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656065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>
          <a:extLst>
            <a:ext uri="{FF2B5EF4-FFF2-40B4-BE49-F238E27FC236}">
              <a16:creationId xmlns:a16="http://schemas.microsoft.com/office/drawing/2014/main" id="{9DCDD4D8-1163-9C36-3383-6077E3D139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5f391192_00:notes">
            <a:extLst>
              <a:ext uri="{FF2B5EF4-FFF2-40B4-BE49-F238E27FC236}">
                <a16:creationId xmlns:a16="http://schemas.microsoft.com/office/drawing/2014/main" id="{D1AC7DE0-F947-3157-4BD3-F02501AABA2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5f391192_00:notes">
            <a:extLst>
              <a:ext uri="{FF2B5EF4-FFF2-40B4-BE49-F238E27FC236}">
                <a16:creationId xmlns:a16="http://schemas.microsoft.com/office/drawing/2014/main" id="{3BA5C4CB-541D-2B05-54BE-FFF1C90DC04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831965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000221" y="404818"/>
            <a:ext cx="9759979" cy="720725"/>
          </a:xfrm>
          <a:prstGeom prst="rect">
            <a:avLst/>
          </a:prstGeom>
        </p:spPr>
        <p:txBody>
          <a:bodyPr/>
          <a:lstStyle>
            <a:lvl1pPr algn="l">
              <a:defRPr sz="2800">
                <a:latin typeface="맑은 고딕" pitchFamily="50" charset="-127"/>
                <a:ea typeface="맑은 고딕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14921" y="1628780"/>
            <a:ext cx="10850033" cy="4695825"/>
          </a:xfrm>
          <a:prstGeom prst="rect">
            <a:avLst/>
          </a:prstGeom>
        </p:spPr>
        <p:txBody>
          <a:bodyPr/>
          <a:lstStyle>
            <a:lvl1pPr>
              <a:defRPr sz="2000">
                <a:latin typeface="맑은 고딕" pitchFamily="50" charset="-127"/>
                <a:ea typeface="맑은 고딕" pitchFamily="50" charset="-127"/>
              </a:defRPr>
            </a:lvl1pPr>
            <a:lvl2pPr>
              <a:defRPr sz="1800">
                <a:latin typeface="맑은 고딕" pitchFamily="50" charset="-127"/>
                <a:ea typeface="맑은 고딕" pitchFamily="50" charset="-127"/>
              </a:defRPr>
            </a:lvl2pPr>
            <a:lvl3pPr>
              <a:defRPr sz="1600">
                <a:latin typeface="맑은 고딕" pitchFamily="50" charset="-127"/>
                <a:ea typeface="맑은 고딕" pitchFamily="50" charset="-127"/>
              </a:defRPr>
            </a:lvl3pPr>
            <a:lvl4pPr>
              <a:defRPr sz="1400">
                <a:latin typeface="맑은 고딕" pitchFamily="50" charset="-127"/>
                <a:ea typeface="맑은 고딕" pitchFamily="50" charset="-127"/>
              </a:defRPr>
            </a:lvl4pPr>
            <a:lvl5pPr>
              <a:defRPr sz="1200">
                <a:latin typeface="맑은 고딕" pitchFamily="50" charset="-127"/>
                <a:ea typeface="맑은 고딕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1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8921754" y="6356350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40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fld id="{A320BD5E-96D9-44D5-A512-8E6778DAE68A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2CED49B-7455-0678-1615-B6E8B4452ADF}"/>
              </a:ext>
            </a:extLst>
          </p:cNvPr>
          <p:cNvSpPr txBox="1">
            <a:spLocks/>
          </p:cNvSpPr>
          <p:nvPr userDrawn="1"/>
        </p:nvSpPr>
        <p:spPr>
          <a:xfrm>
            <a:off x="9391650" y="6538912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fld id="{61E7B124-8D92-4B6F-BF98-ABA3F83B894F}" type="slidenum">
              <a:rPr lang="ko-KR" altLang="en-US" sz="1400" smtClean="0">
                <a:solidFill>
                  <a:srgbClr val="7F7F7F"/>
                </a:solidFill>
                <a:latin typeface="Microsoft GothicNeo"/>
                <a:ea typeface="Microsoft GothicNeo" panose="020B0500000101010101" pitchFamily="50" charset="-127"/>
                <a:cs typeface="Microsoft GothicNeo" panose="020B0500000101010101" pitchFamily="50" charset="-127"/>
              </a:rPr>
              <a:pPr algn="r">
                <a:defRPr/>
              </a:pPr>
              <a:t>‹#›</a:t>
            </a:fld>
            <a:r>
              <a:rPr lang="en-US" altLang="ko-KR" sz="1400" dirty="0">
                <a:solidFill>
                  <a:srgbClr val="7F7F7F"/>
                </a:solidFill>
                <a:latin typeface="Microsoft GothicNeo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/24</a:t>
            </a:r>
            <a:endParaRPr lang="ko-KR" altLang="en-US" sz="1400" dirty="0">
              <a:solidFill>
                <a:srgbClr val="7F7F7F"/>
              </a:solidFill>
              <a:latin typeface="Microsoft GothicNeo"/>
              <a:ea typeface="Microsoft GothicNeo" panose="020B0500000101010101" pitchFamily="50" charset="-127"/>
              <a:cs typeface="Microsoft GothicNeo" panose="020B05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792724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7"/>
          <p:cNvGrpSpPr>
            <a:grpSpLocks/>
          </p:cNvGrpSpPr>
          <p:nvPr userDrawn="1"/>
        </p:nvGrpSpPr>
        <p:grpSpPr bwMode="auto">
          <a:xfrm>
            <a:off x="-6348" y="5"/>
            <a:ext cx="12198351" cy="6856413"/>
            <a:chOff x="-3" y="0"/>
            <a:chExt cx="5763" cy="4319"/>
          </a:xfrm>
        </p:grpSpPr>
        <p:sp>
          <p:nvSpPr>
            <p:cNvPr id="11" name="AutoShape 8"/>
            <p:cNvSpPr>
              <a:spLocks noChangeArrowheads="1"/>
            </p:cNvSpPr>
            <p:nvPr userDrawn="1"/>
          </p:nvSpPr>
          <p:spPr bwMode="gray">
            <a:xfrm>
              <a:off x="24" y="24"/>
              <a:ext cx="5712" cy="4272"/>
            </a:xfrm>
            <a:prstGeom prst="roundRect">
              <a:avLst>
                <a:gd name="adj" fmla="val 6227"/>
              </a:avLst>
            </a:prstGeom>
            <a:noFill/>
            <a:ln w="762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9pPr>
            </a:lstStyle>
            <a:p>
              <a:pPr eaLnBrk="0" latinLnBrk="0" hangingPunct="0">
                <a:defRPr/>
              </a:pPr>
              <a:endParaRPr kumimoji="0" lang="ko-KR" altLang="en-US">
                <a:solidFill>
                  <a:srgbClr val="1D528D"/>
                </a:solidFill>
              </a:endParaRPr>
            </a:p>
          </p:txBody>
        </p:sp>
        <p:sp>
          <p:nvSpPr>
            <p:cNvPr id="12" name="Freeform 9"/>
            <p:cNvSpPr>
              <a:spLocks/>
            </p:cNvSpPr>
            <p:nvPr userDrawn="1"/>
          </p:nvSpPr>
          <p:spPr bwMode="gray">
            <a:xfrm>
              <a:off x="0" y="0"/>
              <a:ext cx="288" cy="288"/>
            </a:xfrm>
            <a:custGeom>
              <a:avLst/>
              <a:gdLst>
                <a:gd name="T0" fmla="*/ 0 w 336"/>
                <a:gd name="T1" fmla="*/ 2 h 384"/>
                <a:gd name="T2" fmla="*/ 0 w 336"/>
                <a:gd name="T3" fmla="*/ 6 h 384"/>
                <a:gd name="T4" fmla="*/ 9 w 336"/>
                <a:gd name="T5" fmla="*/ 3 h 384"/>
                <a:gd name="T6" fmla="*/ 19 w 336"/>
                <a:gd name="T7" fmla="*/ 2 h 384"/>
                <a:gd name="T8" fmla="*/ 33 w 336"/>
                <a:gd name="T9" fmla="*/ 0 h 384"/>
                <a:gd name="T10" fmla="*/ 0 w 336"/>
                <a:gd name="T11" fmla="*/ 0 h 38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36" h="384">
                  <a:moveTo>
                    <a:pt x="0" y="48"/>
                  </a:moveTo>
                  <a:lnTo>
                    <a:pt x="0" y="384"/>
                  </a:lnTo>
                  <a:lnTo>
                    <a:pt x="96" y="192"/>
                  </a:lnTo>
                  <a:lnTo>
                    <a:pt x="192" y="48"/>
                  </a:lnTo>
                  <a:lnTo>
                    <a:pt x="336" y="0"/>
                  </a:lnTo>
                  <a:lnTo>
                    <a:pt x="0" y="0"/>
                  </a:lnTo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latinLnBrk="0" hangingPunct="0"/>
              <a:endParaRPr kumimoji="0" lang="ko-KR" altLang="en-US">
                <a:solidFill>
                  <a:srgbClr val="1D528D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3" name="Freeform 10"/>
            <p:cNvSpPr>
              <a:spLocks/>
            </p:cNvSpPr>
            <p:nvPr userDrawn="1"/>
          </p:nvSpPr>
          <p:spPr bwMode="gray">
            <a:xfrm rot="-5408600">
              <a:off x="-50" y="4030"/>
              <a:ext cx="336" cy="242"/>
            </a:xfrm>
            <a:custGeom>
              <a:avLst/>
              <a:gdLst>
                <a:gd name="T0" fmla="*/ 0 w 336"/>
                <a:gd name="T1" fmla="*/ 1 h 384"/>
                <a:gd name="T2" fmla="*/ 0 w 336"/>
                <a:gd name="T3" fmla="*/ 1 h 384"/>
                <a:gd name="T4" fmla="*/ 96 w 336"/>
                <a:gd name="T5" fmla="*/ 1 h 384"/>
                <a:gd name="T6" fmla="*/ 192 w 336"/>
                <a:gd name="T7" fmla="*/ 1 h 384"/>
                <a:gd name="T8" fmla="*/ 336 w 336"/>
                <a:gd name="T9" fmla="*/ 0 h 384"/>
                <a:gd name="T10" fmla="*/ 0 w 336"/>
                <a:gd name="T11" fmla="*/ 0 h 38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36" h="384">
                  <a:moveTo>
                    <a:pt x="0" y="48"/>
                  </a:moveTo>
                  <a:lnTo>
                    <a:pt x="0" y="384"/>
                  </a:lnTo>
                  <a:lnTo>
                    <a:pt x="96" y="192"/>
                  </a:lnTo>
                  <a:lnTo>
                    <a:pt x="192" y="48"/>
                  </a:lnTo>
                  <a:lnTo>
                    <a:pt x="336" y="0"/>
                  </a:lnTo>
                  <a:lnTo>
                    <a:pt x="0" y="0"/>
                  </a:lnTo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latinLnBrk="0" hangingPunct="0"/>
              <a:endParaRPr kumimoji="0" lang="ko-KR" altLang="en-US">
                <a:solidFill>
                  <a:srgbClr val="1D528D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4" name="Freeform 11"/>
            <p:cNvSpPr>
              <a:spLocks/>
            </p:cNvSpPr>
            <p:nvPr userDrawn="1"/>
          </p:nvSpPr>
          <p:spPr bwMode="gray">
            <a:xfrm rot="10769190">
              <a:off x="5519" y="4031"/>
              <a:ext cx="232" cy="287"/>
            </a:xfrm>
            <a:custGeom>
              <a:avLst/>
              <a:gdLst>
                <a:gd name="T0" fmla="*/ 0 w 336"/>
                <a:gd name="T1" fmla="*/ 1 h 384"/>
                <a:gd name="T2" fmla="*/ 0 w 336"/>
                <a:gd name="T3" fmla="*/ 5 h 384"/>
                <a:gd name="T4" fmla="*/ 1 w 336"/>
                <a:gd name="T5" fmla="*/ 2 h 384"/>
                <a:gd name="T6" fmla="*/ 1 w 336"/>
                <a:gd name="T7" fmla="*/ 1 h 384"/>
                <a:gd name="T8" fmla="*/ 1 w 336"/>
                <a:gd name="T9" fmla="*/ 0 h 384"/>
                <a:gd name="T10" fmla="*/ 0 w 336"/>
                <a:gd name="T11" fmla="*/ 0 h 38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36" h="384">
                  <a:moveTo>
                    <a:pt x="0" y="48"/>
                  </a:moveTo>
                  <a:lnTo>
                    <a:pt x="0" y="384"/>
                  </a:lnTo>
                  <a:lnTo>
                    <a:pt x="96" y="192"/>
                  </a:lnTo>
                  <a:lnTo>
                    <a:pt x="192" y="48"/>
                  </a:lnTo>
                  <a:lnTo>
                    <a:pt x="336" y="0"/>
                  </a:lnTo>
                  <a:lnTo>
                    <a:pt x="0" y="0"/>
                  </a:lnTo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latinLnBrk="0" hangingPunct="0"/>
              <a:endParaRPr kumimoji="0" lang="ko-KR" altLang="en-US">
                <a:solidFill>
                  <a:srgbClr val="1D528D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5" name="Freeform 12"/>
            <p:cNvSpPr>
              <a:spLocks/>
            </p:cNvSpPr>
            <p:nvPr userDrawn="1"/>
          </p:nvSpPr>
          <p:spPr bwMode="gray">
            <a:xfrm rot="5400000">
              <a:off x="5472" y="0"/>
              <a:ext cx="288" cy="288"/>
            </a:xfrm>
            <a:custGeom>
              <a:avLst/>
              <a:gdLst>
                <a:gd name="T0" fmla="*/ 0 w 336"/>
                <a:gd name="T1" fmla="*/ 2 h 384"/>
                <a:gd name="T2" fmla="*/ 0 w 336"/>
                <a:gd name="T3" fmla="*/ 6 h 384"/>
                <a:gd name="T4" fmla="*/ 9 w 336"/>
                <a:gd name="T5" fmla="*/ 3 h 384"/>
                <a:gd name="T6" fmla="*/ 19 w 336"/>
                <a:gd name="T7" fmla="*/ 2 h 384"/>
                <a:gd name="T8" fmla="*/ 33 w 336"/>
                <a:gd name="T9" fmla="*/ 0 h 384"/>
                <a:gd name="T10" fmla="*/ 0 w 336"/>
                <a:gd name="T11" fmla="*/ 0 h 38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36" h="384">
                  <a:moveTo>
                    <a:pt x="0" y="48"/>
                  </a:moveTo>
                  <a:lnTo>
                    <a:pt x="0" y="384"/>
                  </a:lnTo>
                  <a:lnTo>
                    <a:pt x="96" y="192"/>
                  </a:lnTo>
                  <a:lnTo>
                    <a:pt x="192" y="48"/>
                  </a:lnTo>
                  <a:lnTo>
                    <a:pt x="336" y="0"/>
                  </a:lnTo>
                  <a:lnTo>
                    <a:pt x="0" y="0"/>
                  </a:lnTo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latinLnBrk="0" hangingPunct="0"/>
              <a:endParaRPr kumimoji="0" lang="ko-KR" altLang="en-US">
                <a:solidFill>
                  <a:srgbClr val="1D528D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7181" name="Rectangle 13"/>
          <p:cNvSpPr>
            <a:spLocks noGrp="1" noChangeArrowheads="1"/>
          </p:cNvSpPr>
          <p:nvPr>
            <p:ph type="ctrTitle" sz="quarter"/>
          </p:nvPr>
        </p:nvSpPr>
        <p:spPr>
          <a:xfrm>
            <a:off x="719667" y="1268418"/>
            <a:ext cx="10871200" cy="814387"/>
          </a:xfrm>
          <a:prstGeom prst="rect">
            <a:avLst/>
          </a:prstGeom>
        </p:spPr>
        <p:txBody>
          <a:bodyPr/>
          <a:lstStyle>
            <a:lvl1pPr algn="ctr">
              <a:defRPr sz="36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7182" name="Rectangle 14"/>
          <p:cNvSpPr>
            <a:spLocks noGrp="1" noChangeArrowheads="1"/>
          </p:cNvSpPr>
          <p:nvPr>
            <p:ph type="subTitle" sz="quarter" idx="1"/>
          </p:nvPr>
        </p:nvSpPr>
        <p:spPr bwMode="gray">
          <a:xfrm>
            <a:off x="1968500" y="5013325"/>
            <a:ext cx="8534400" cy="533400"/>
          </a:xfrm>
          <a:prstGeom prst="rect">
            <a:avLst/>
          </a:prstGeom>
        </p:spPr>
        <p:txBody>
          <a:bodyPr/>
          <a:lstStyle>
            <a:lvl1pPr marL="0" indent="0" algn="ctr">
              <a:buFont typeface="Wingdings" pitchFamily="2" charset="2"/>
              <a:buNone/>
              <a:defRPr sz="1600" b="1">
                <a:solidFill>
                  <a:schemeClr val="tx2"/>
                </a:solidFill>
              </a:defRPr>
            </a:lvl1pPr>
          </a:lstStyle>
          <a:p>
            <a:r>
              <a:rPr lang="ko-KR" altLang="en-US" dirty="0"/>
              <a:t>마스터 부제목 스타일 편집</a:t>
            </a:r>
          </a:p>
        </p:txBody>
      </p:sp>
      <p:sp>
        <p:nvSpPr>
          <p:cNvPr id="62" name="Rectangle 7"/>
          <p:cNvSpPr>
            <a:spLocks noChangeArrowheads="1"/>
          </p:cNvSpPr>
          <p:nvPr userDrawn="1"/>
        </p:nvSpPr>
        <p:spPr bwMode="gray">
          <a:xfrm>
            <a:off x="14821" y="677962"/>
            <a:ext cx="12177183" cy="158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2">
                  <a:gamma/>
                  <a:tint val="0"/>
                  <a:invGamma/>
                </a:schemeClr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0" latinLnBrk="0" hangingPunct="0">
              <a:defRPr/>
            </a:pPr>
            <a:endParaRPr kumimoji="0" lang="ko-KR" altLang="en-US">
              <a:solidFill>
                <a:srgbClr val="1D528D"/>
              </a:solidFill>
              <a:latin typeface="Times New Roman" panose="02020603050405020304" pitchFamily="18" charset="0"/>
              <a:ea typeface="굴림" charset="-127"/>
            </a:endParaRPr>
          </a:p>
        </p:txBody>
      </p:sp>
      <p:sp>
        <p:nvSpPr>
          <p:cNvPr id="2" name="슬라이드 번호 개체 틀 4">
            <a:extLst>
              <a:ext uri="{FF2B5EF4-FFF2-40B4-BE49-F238E27FC236}">
                <a16:creationId xmlns:a16="http://schemas.microsoft.com/office/drawing/2014/main" id="{8642BACA-DB50-DEF6-5C74-A3E1AA7306FB}"/>
              </a:ext>
            </a:extLst>
          </p:cNvPr>
          <p:cNvSpPr txBox="1">
            <a:spLocks/>
          </p:cNvSpPr>
          <p:nvPr userDrawn="1"/>
        </p:nvSpPr>
        <p:spPr>
          <a:xfrm>
            <a:off x="9391650" y="602224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fld id="{61E7B124-8D92-4B6F-BF98-ABA3F83B894F}" type="slidenum">
              <a:rPr lang="ko-KR" altLang="en-US" sz="1400" smtClean="0">
                <a:solidFill>
                  <a:srgbClr val="7F7F7F"/>
                </a:solidFill>
                <a:latin typeface="Microsoft GothicNeo"/>
                <a:ea typeface="Microsoft GothicNeo" panose="020B0500000101010101" pitchFamily="50" charset="-127"/>
                <a:cs typeface="Microsoft GothicNeo" panose="020B0500000101010101" pitchFamily="50" charset="-127"/>
              </a:rPr>
              <a:pPr algn="r">
                <a:defRPr/>
              </a:pPr>
              <a:t>‹#›</a:t>
            </a:fld>
            <a:r>
              <a:rPr lang="en-US" altLang="ko-KR" sz="1400" dirty="0">
                <a:solidFill>
                  <a:srgbClr val="7F7F7F"/>
                </a:solidFill>
                <a:latin typeface="Microsoft GothicNeo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/24</a:t>
            </a:r>
            <a:endParaRPr lang="ko-KR" altLang="en-US" sz="1400" dirty="0">
              <a:solidFill>
                <a:srgbClr val="7F7F7F"/>
              </a:solidFill>
              <a:latin typeface="Microsoft GothicNeo"/>
              <a:ea typeface="Microsoft GothicNeo" panose="020B0500000101010101" pitchFamily="50" charset="-127"/>
              <a:cs typeface="Microsoft GothicNeo" panose="020B05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953389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userDrawn="1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55936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제목 1">
            <a:extLst>
              <a:ext uri="{FF2B5EF4-FFF2-40B4-BE49-F238E27FC236}">
                <a16:creationId xmlns:a16="http://schemas.microsoft.com/office/drawing/2014/main" id="{D1736F0B-8BDA-A9B0-35A3-B23363104599}"/>
              </a:ext>
            </a:extLst>
          </p:cNvPr>
          <p:cNvSpPr txBox="1">
            <a:spLocks/>
          </p:cNvSpPr>
          <p:nvPr userDrawn="1"/>
        </p:nvSpPr>
        <p:spPr>
          <a:xfrm>
            <a:off x="2000221" y="404818"/>
            <a:ext cx="9759979" cy="720725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  <a:cs typeface="+mj-cs"/>
              </a:defRPr>
            </a:lvl1pPr>
            <a:lvl2pPr algn="r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Verdana" pitchFamily="34" charset="0"/>
              </a:defRPr>
            </a:lvl2pPr>
            <a:lvl3pPr algn="r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Verdana" pitchFamily="34" charset="0"/>
              </a:defRPr>
            </a:lvl3pPr>
            <a:lvl4pPr algn="r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Verdana" pitchFamily="34" charset="0"/>
              </a:defRPr>
            </a:lvl4pPr>
            <a:lvl5pPr algn="r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Verdana" pitchFamily="34" charset="0"/>
              </a:defRPr>
            </a:lvl5pPr>
            <a:lvl6pPr marL="457189" algn="r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Verdana" pitchFamily="34" charset="0"/>
              </a:defRPr>
            </a:lvl6pPr>
            <a:lvl7pPr marL="914377" algn="r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Verdana" pitchFamily="34" charset="0"/>
              </a:defRPr>
            </a:lvl7pPr>
            <a:lvl8pPr marL="1371566" algn="r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Verdana" pitchFamily="34" charset="0"/>
              </a:defRPr>
            </a:lvl8pPr>
            <a:lvl9pPr marL="1828754" algn="r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Verdana" pitchFamily="34" charset="0"/>
              </a:defRPr>
            </a:lvl9pPr>
          </a:lstStyle>
          <a:p>
            <a:pPr latinLnBrk="0"/>
            <a:r>
              <a:rPr lang="ko-KR" altLang="en-US" kern="0"/>
              <a:t>마스터 제목 스타일 편집</a:t>
            </a:r>
          </a:p>
        </p:txBody>
      </p:sp>
      <p:sp>
        <p:nvSpPr>
          <p:cNvPr id="31" name="슬라이드 번호 개체 틀 5">
            <a:extLst>
              <a:ext uri="{FF2B5EF4-FFF2-40B4-BE49-F238E27FC236}">
                <a16:creationId xmlns:a16="http://schemas.microsoft.com/office/drawing/2014/main" id="{39A2953F-FC95-D8B0-7500-C4454B5E29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21754" y="6356350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40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fld id="{A320BD5E-96D9-44D5-A512-8E6778DAE68A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32" name="Rectangle 9">
            <a:extLst>
              <a:ext uri="{FF2B5EF4-FFF2-40B4-BE49-F238E27FC236}">
                <a16:creationId xmlns:a16="http://schemas.microsoft.com/office/drawing/2014/main" id="{A4E61D48-EF27-DC69-9E07-B7566343BB2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14921" y="1628780"/>
            <a:ext cx="10850033" cy="4695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35" name="제목 1">
            <a:extLst>
              <a:ext uri="{FF2B5EF4-FFF2-40B4-BE49-F238E27FC236}">
                <a16:creationId xmlns:a16="http://schemas.microsoft.com/office/drawing/2014/main" id="{82EC0B68-390E-999D-3E97-79690BB8D9F0}"/>
              </a:ext>
            </a:extLst>
          </p:cNvPr>
          <p:cNvSpPr txBox="1">
            <a:spLocks/>
          </p:cNvSpPr>
          <p:nvPr userDrawn="1"/>
        </p:nvSpPr>
        <p:spPr>
          <a:xfrm>
            <a:off x="2305021" y="709618"/>
            <a:ext cx="9759979" cy="720725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  <a:cs typeface="+mj-cs"/>
              </a:defRPr>
            </a:lvl1pPr>
            <a:lvl2pPr algn="r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Verdana" pitchFamily="34" charset="0"/>
              </a:defRPr>
            </a:lvl2pPr>
            <a:lvl3pPr algn="r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Verdana" pitchFamily="34" charset="0"/>
              </a:defRPr>
            </a:lvl3pPr>
            <a:lvl4pPr algn="r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Verdana" pitchFamily="34" charset="0"/>
              </a:defRPr>
            </a:lvl4pPr>
            <a:lvl5pPr algn="r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Verdana" pitchFamily="34" charset="0"/>
              </a:defRPr>
            </a:lvl5pPr>
            <a:lvl6pPr marL="457189" algn="r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Verdana" pitchFamily="34" charset="0"/>
              </a:defRPr>
            </a:lvl6pPr>
            <a:lvl7pPr marL="914377" algn="r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Verdana" pitchFamily="34" charset="0"/>
              </a:defRPr>
            </a:lvl7pPr>
            <a:lvl8pPr marL="1371566" algn="r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Verdana" pitchFamily="34" charset="0"/>
              </a:defRPr>
            </a:lvl8pPr>
            <a:lvl9pPr marL="1828754" algn="r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Verdana" pitchFamily="34" charset="0"/>
              </a:defRPr>
            </a:lvl9pPr>
          </a:lstStyle>
          <a:p>
            <a:pPr latinLnBrk="0"/>
            <a:r>
              <a:rPr lang="ko-KR" altLang="en-US" kern="0"/>
              <a:t>마스터 제목 스타일 편집</a:t>
            </a:r>
          </a:p>
        </p:txBody>
      </p:sp>
      <p:sp>
        <p:nvSpPr>
          <p:cNvPr id="36" name="제목 1">
            <a:extLst>
              <a:ext uri="{FF2B5EF4-FFF2-40B4-BE49-F238E27FC236}">
                <a16:creationId xmlns:a16="http://schemas.microsoft.com/office/drawing/2014/main" id="{5ADC63C2-C0B6-570D-645D-8E2C83828715}"/>
              </a:ext>
            </a:extLst>
          </p:cNvPr>
          <p:cNvSpPr txBox="1">
            <a:spLocks/>
          </p:cNvSpPr>
          <p:nvPr userDrawn="1"/>
        </p:nvSpPr>
        <p:spPr>
          <a:xfrm>
            <a:off x="2000221" y="404818"/>
            <a:ext cx="9759979" cy="720725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  <a:cs typeface="+mj-cs"/>
              </a:defRPr>
            </a:lvl1pPr>
            <a:lvl2pPr algn="r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Verdana" pitchFamily="34" charset="0"/>
              </a:defRPr>
            </a:lvl2pPr>
            <a:lvl3pPr algn="r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Verdana" pitchFamily="34" charset="0"/>
              </a:defRPr>
            </a:lvl3pPr>
            <a:lvl4pPr algn="r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Verdana" pitchFamily="34" charset="0"/>
              </a:defRPr>
            </a:lvl4pPr>
            <a:lvl5pPr algn="r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Verdana" pitchFamily="34" charset="0"/>
              </a:defRPr>
            </a:lvl5pPr>
            <a:lvl6pPr marL="457189" algn="r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Verdana" pitchFamily="34" charset="0"/>
              </a:defRPr>
            </a:lvl6pPr>
            <a:lvl7pPr marL="914377" algn="r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Verdana" pitchFamily="34" charset="0"/>
              </a:defRPr>
            </a:lvl7pPr>
            <a:lvl8pPr marL="1371566" algn="r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Verdana" pitchFamily="34" charset="0"/>
              </a:defRPr>
            </a:lvl8pPr>
            <a:lvl9pPr marL="1828754" algn="r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Verdana" pitchFamily="34" charset="0"/>
              </a:defRPr>
            </a:lvl9pPr>
          </a:lstStyle>
          <a:p>
            <a:pPr latinLnBrk="0"/>
            <a:r>
              <a:rPr lang="ko-KR" altLang="en-US" kern="0"/>
              <a:t>마스터 제목 스타일 편집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8F64AD41-381A-FBBF-0FD0-FDAB340D3DD0}"/>
              </a:ext>
            </a:extLst>
          </p:cNvPr>
          <p:cNvGrpSpPr/>
          <p:nvPr userDrawn="1"/>
        </p:nvGrpSpPr>
        <p:grpSpPr>
          <a:xfrm>
            <a:off x="-827833" y="276878"/>
            <a:ext cx="551543" cy="2630021"/>
            <a:chOff x="-827833" y="276878"/>
            <a:chExt cx="551543" cy="2630021"/>
          </a:xfrm>
        </p:grpSpPr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1E04E867-792A-6855-1B1E-16E5B7989E0D}"/>
                </a:ext>
              </a:extLst>
            </p:cNvPr>
            <p:cNvSpPr/>
            <p:nvPr/>
          </p:nvSpPr>
          <p:spPr bwMode="auto">
            <a:xfrm>
              <a:off x="-827833" y="276878"/>
              <a:ext cx="551543" cy="552704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lang="ko-KR" altLang="en-US" sz="240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endParaRPr>
            </a:p>
          </p:txBody>
        </p:sp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C34E4D5E-3F40-C6EF-40B2-04FAC856459C}"/>
                </a:ext>
              </a:extLst>
            </p:cNvPr>
            <p:cNvSpPr/>
            <p:nvPr/>
          </p:nvSpPr>
          <p:spPr bwMode="auto">
            <a:xfrm>
              <a:off x="-827833" y="969317"/>
              <a:ext cx="551543" cy="55270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lang="ko-KR" altLang="en-US" sz="240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endParaRPr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F01B82B7-3C38-5825-089E-B8BE81A0F11E}"/>
                </a:ext>
              </a:extLst>
            </p:cNvPr>
            <p:cNvSpPr/>
            <p:nvPr/>
          </p:nvSpPr>
          <p:spPr bwMode="auto">
            <a:xfrm>
              <a:off x="-827833" y="1661756"/>
              <a:ext cx="551543" cy="55270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lang="ko-KR" altLang="en-US" sz="240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endParaRP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CEF47FFC-E615-F83F-3D68-DF3A9207E133}"/>
                </a:ext>
              </a:extLst>
            </p:cNvPr>
            <p:cNvSpPr/>
            <p:nvPr/>
          </p:nvSpPr>
          <p:spPr bwMode="auto">
            <a:xfrm>
              <a:off x="-827833" y="2354195"/>
              <a:ext cx="551543" cy="552704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lang="ko-KR" altLang="en-US" sz="240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465678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63" r:id="rId2"/>
    <p:sldLayoutId id="2147483664" r:id="rId3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r" rtl="0" eaLnBrk="0" fontAlgn="base" hangingPunct="0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+mj-lt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Verdana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Verdana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Verdana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Verdana" pitchFamily="34" charset="0"/>
        </a:defRPr>
      </a:lvl5pPr>
      <a:lvl6pPr marL="457189" algn="r" rtl="0" fontAlgn="base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Verdana" pitchFamily="34" charset="0"/>
        </a:defRPr>
      </a:lvl6pPr>
      <a:lvl7pPr marL="914377" algn="r" rtl="0" fontAlgn="base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Verdana" pitchFamily="34" charset="0"/>
        </a:defRPr>
      </a:lvl7pPr>
      <a:lvl8pPr marL="1371566" algn="r" rtl="0" fontAlgn="base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Verdana" pitchFamily="34" charset="0"/>
        </a:defRPr>
      </a:lvl8pPr>
      <a:lvl9pPr marL="1828754" algn="r" rtl="0" fontAlgn="base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Verdana" pitchFamily="34" charset="0"/>
        </a:defRPr>
      </a:lvl9pPr>
    </p:titleStyle>
    <p:bodyStyle>
      <a:lvl1pPr marL="342891" indent="-342891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120000"/>
        <a:buFont typeface="Wingdings" panose="05000000000000000000" pitchFamily="2" charset="2"/>
        <a:buChar char="§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32" indent="-285744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85000"/>
        <a:buFont typeface="Arial" panose="020B0604020202020204" pitchFamily="34" charset="0"/>
        <a:buChar char="–"/>
        <a:defRPr sz="2400">
          <a:solidFill>
            <a:schemeClr val="tx2"/>
          </a:solidFill>
          <a:latin typeface="+mn-lt"/>
        </a:defRPr>
      </a:lvl2pPr>
      <a:lvl3pPr marL="1142971" indent="-228594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Wingdings" panose="05000000000000000000" pitchFamily="2" charset="2"/>
        <a:buChar char="§"/>
        <a:defRPr sz="2400">
          <a:solidFill>
            <a:schemeClr val="tx2"/>
          </a:solidFill>
          <a:latin typeface="+mn-lt"/>
        </a:defRPr>
      </a:lvl3pPr>
      <a:lvl4pPr marL="1600160" indent="-228594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75000"/>
        <a:buFont typeface="Arial" panose="020B0604020202020204" pitchFamily="34" charset="0"/>
        <a:buChar char="–"/>
        <a:defRPr sz="2000">
          <a:solidFill>
            <a:schemeClr val="tx2"/>
          </a:solidFill>
          <a:latin typeface="+mn-lt"/>
        </a:defRPr>
      </a:lvl4pPr>
      <a:lvl5pPr marL="2057349" indent="-228594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80000"/>
        <a:buFont typeface="Wingdings" panose="05000000000000000000" pitchFamily="2" charset="2"/>
        <a:buChar char="§"/>
        <a:defRPr sz="2000">
          <a:solidFill>
            <a:schemeClr val="tx2"/>
          </a:solidFill>
          <a:latin typeface="+mn-lt"/>
        </a:defRPr>
      </a:lvl5pPr>
      <a:lvl6pPr marL="2514537" indent="-228594" algn="l" rtl="0" fontAlgn="base">
        <a:spcBef>
          <a:spcPct val="20000"/>
        </a:spcBef>
        <a:spcAft>
          <a:spcPct val="0"/>
        </a:spcAft>
        <a:buClr>
          <a:schemeClr val="tx1"/>
        </a:buClr>
        <a:buSzPct val="80000"/>
        <a:buFont typeface="Wingdings" pitchFamily="2" charset="2"/>
        <a:buChar char="§"/>
        <a:defRPr sz="2000">
          <a:solidFill>
            <a:schemeClr val="tx2"/>
          </a:solidFill>
          <a:latin typeface="+mn-lt"/>
        </a:defRPr>
      </a:lvl6pPr>
      <a:lvl7pPr marL="2971726" indent="-228594" algn="l" rtl="0" fontAlgn="base">
        <a:spcBef>
          <a:spcPct val="20000"/>
        </a:spcBef>
        <a:spcAft>
          <a:spcPct val="0"/>
        </a:spcAft>
        <a:buClr>
          <a:schemeClr val="tx1"/>
        </a:buClr>
        <a:buSzPct val="80000"/>
        <a:buFont typeface="Wingdings" pitchFamily="2" charset="2"/>
        <a:buChar char="§"/>
        <a:defRPr sz="2000">
          <a:solidFill>
            <a:schemeClr val="tx2"/>
          </a:solidFill>
          <a:latin typeface="+mn-lt"/>
        </a:defRPr>
      </a:lvl7pPr>
      <a:lvl8pPr marL="3428914" indent="-228594" algn="l" rtl="0" fontAlgn="base">
        <a:spcBef>
          <a:spcPct val="20000"/>
        </a:spcBef>
        <a:spcAft>
          <a:spcPct val="0"/>
        </a:spcAft>
        <a:buClr>
          <a:schemeClr val="tx1"/>
        </a:buClr>
        <a:buSzPct val="80000"/>
        <a:buFont typeface="Wingdings" pitchFamily="2" charset="2"/>
        <a:buChar char="§"/>
        <a:defRPr sz="2000">
          <a:solidFill>
            <a:schemeClr val="tx2"/>
          </a:solidFill>
          <a:latin typeface="+mn-lt"/>
        </a:defRPr>
      </a:lvl8pPr>
      <a:lvl9pPr marL="3886103" indent="-228594" algn="l" rtl="0" fontAlgn="base">
        <a:spcBef>
          <a:spcPct val="20000"/>
        </a:spcBef>
        <a:spcAft>
          <a:spcPct val="0"/>
        </a:spcAft>
        <a:buClr>
          <a:schemeClr val="tx1"/>
        </a:buClr>
        <a:buSzPct val="80000"/>
        <a:buFont typeface="Wingdings" pitchFamily="2" charset="2"/>
        <a:buChar char="§"/>
        <a:defRPr sz="2000">
          <a:solidFill>
            <a:schemeClr val="tx2"/>
          </a:solidFill>
          <a:latin typeface="+mn-lt"/>
        </a:defRPr>
      </a:lvl9pPr>
    </p:bodyStyle>
    <p:otherStyle>
      <a:defPPr>
        <a:defRPr lang="ko-KR"/>
      </a:defPPr>
      <a:lvl1pPr marL="0" algn="l" defTabSz="91437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직사각형 42">
            <a:extLst>
              <a:ext uri="{FF2B5EF4-FFF2-40B4-BE49-F238E27FC236}">
                <a16:creationId xmlns:a16="http://schemas.microsoft.com/office/drawing/2014/main" id="{41B4C732-F334-A9CB-7009-89ABBB4D74ED}"/>
              </a:ext>
            </a:extLst>
          </p:cNvPr>
          <p:cNvSpPr/>
          <p:nvPr/>
        </p:nvSpPr>
        <p:spPr bwMode="auto">
          <a:xfrm>
            <a:off x="7455184" y="-12568"/>
            <a:ext cx="4736816" cy="6870567"/>
          </a:xfrm>
          <a:prstGeom prst="rect">
            <a:avLst/>
          </a:prstGeom>
          <a:solidFill>
            <a:schemeClr val="accent6">
              <a:lumMod val="75000"/>
              <a:alpha val="26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Microsoft GothicNeo" panose="020B0500000101010101" pitchFamily="50" charset="-127"/>
              <a:ea typeface="Microsoft GothicNeo" panose="020B0500000101010101" pitchFamily="50" charset="-127"/>
              <a:cs typeface="Microsoft GothicNeo" panose="020B0500000101010101" pitchFamily="50" charset="-127"/>
            </a:endParaRPr>
          </a:p>
        </p:txBody>
      </p:sp>
      <p:sp>
        <p:nvSpPr>
          <p:cNvPr id="2" name="평행 사변형 1">
            <a:extLst>
              <a:ext uri="{FF2B5EF4-FFF2-40B4-BE49-F238E27FC236}">
                <a16:creationId xmlns:a16="http://schemas.microsoft.com/office/drawing/2014/main" id="{C5B64E3A-0565-C697-3543-CF1FB2172645}"/>
              </a:ext>
            </a:extLst>
          </p:cNvPr>
          <p:cNvSpPr/>
          <p:nvPr/>
        </p:nvSpPr>
        <p:spPr>
          <a:xfrm flipH="1">
            <a:off x="6585769" y="0"/>
            <a:ext cx="4154146" cy="6858000"/>
          </a:xfrm>
          <a:prstGeom prst="parallelogram">
            <a:avLst>
              <a:gd name="adj" fmla="val 36654"/>
            </a:avLst>
          </a:prstGeom>
          <a:solidFill>
            <a:srgbClr val="A43624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Microsoft GothicNeo" panose="020B0500000101010101" pitchFamily="50" charset="-127"/>
              <a:ea typeface="Microsoft GothicNeo" panose="020B0500000101010101" pitchFamily="50" charset="-127"/>
              <a:cs typeface="Microsoft GothicNeo" panose="020B0500000101010101" pitchFamily="50" charset="-127"/>
            </a:endParaRPr>
          </a:p>
        </p:txBody>
      </p:sp>
      <p:sp>
        <p:nvSpPr>
          <p:cNvPr id="5" name="평행 사변형 4">
            <a:extLst>
              <a:ext uri="{FF2B5EF4-FFF2-40B4-BE49-F238E27FC236}">
                <a16:creationId xmlns:a16="http://schemas.microsoft.com/office/drawing/2014/main" id="{54BB2F17-6D4F-DAFA-3648-26B018BE15A4}"/>
              </a:ext>
            </a:extLst>
          </p:cNvPr>
          <p:cNvSpPr/>
          <p:nvPr/>
        </p:nvSpPr>
        <p:spPr>
          <a:xfrm flipH="1">
            <a:off x="5961548" y="0"/>
            <a:ext cx="4154146" cy="6858000"/>
          </a:xfrm>
          <a:prstGeom prst="parallelogram">
            <a:avLst>
              <a:gd name="adj" fmla="val 36654"/>
            </a:avLst>
          </a:prstGeom>
          <a:solidFill>
            <a:srgbClr val="9B8873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Microsoft GothicNeo" panose="020B0500000101010101" pitchFamily="50" charset="-127"/>
              <a:ea typeface="Microsoft GothicNeo" panose="020B0500000101010101" pitchFamily="50" charset="-127"/>
              <a:cs typeface="Microsoft GothicNeo" panose="020B0500000101010101" pitchFamily="50" charset="-127"/>
            </a:endParaRPr>
          </a:p>
        </p:txBody>
      </p:sp>
      <p:sp>
        <p:nvSpPr>
          <p:cNvPr id="6" name="평행 사변형 13">
            <a:extLst>
              <a:ext uri="{FF2B5EF4-FFF2-40B4-BE49-F238E27FC236}">
                <a16:creationId xmlns:a16="http://schemas.microsoft.com/office/drawing/2014/main" id="{3957315A-419D-92FD-C0E3-9213D4F917BB}"/>
              </a:ext>
            </a:extLst>
          </p:cNvPr>
          <p:cNvSpPr/>
          <p:nvPr/>
        </p:nvSpPr>
        <p:spPr>
          <a:xfrm flipH="1">
            <a:off x="0" y="0"/>
            <a:ext cx="9439479" cy="6901543"/>
          </a:xfrm>
          <a:custGeom>
            <a:avLst/>
            <a:gdLst>
              <a:gd name="connsiteX0" fmla="*/ 0 w 3410857"/>
              <a:gd name="connsiteY0" fmla="*/ 6858000 h 6858000"/>
              <a:gd name="connsiteX1" fmla="*/ 1250216 w 3410857"/>
              <a:gd name="connsiteY1" fmla="*/ 0 h 6858000"/>
              <a:gd name="connsiteX2" fmla="*/ 3410857 w 3410857"/>
              <a:gd name="connsiteY2" fmla="*/ 0 h 6858000"/>
              <a:gd name="connsiteX3" fmla="*/ 2160641 w 3410857"/>
              <a:gd name="connsiteY3" fmla="*/ 6858000 h 6858000"/>
              <a:gd name="connsiteX4" fmla="*/ 0 w 3410857"/>
              <a:gd name="connsiteY4" fmla="*/ 6858000 h 6858000"/>
              <a:gd name="connsiteX0" fmla="*/ 0 w 6705600"/>
              <a:gd name="connsiteY0" fmla="*/ 6887029 h 6887029"/>
              <a:gd name="connsiteX1" fmla="*/ 1250216 w 6705600"/>
              <a:gd name="connsiteY1" fmla="*/ 29029 h 6887029"/>
              <a:gd name="connsiteX2" fmla="*/ 6705600 w 6705600"/>
              <a:gd name="connsiteY2" fmla="*/ 0 h 6887029"/>
              <a:gd name="connsiteX3" fmla="*/ 2160641 w 6705600"/>
              <a:gd name="connsiteY3" fmla="*/ 6887029 h 6887029"/>
              <a:gd name="connsiteX4" fmla="*/ 0 w 6705600"/>
              <a:gd name="connsiteY4" fmla="*/ 6887029 h 6887029"/>
              <a:gd name="connsiteX0" fmla="*/ 0 w 6747155"/>
              <a:gd name="connsiteY0" fmla="*/ 6887029 h 6901543"/>
              <a:gd name="connsiteX1" fmla="*/ 1250216 w 6747155"/>
              <a:gd name="connsiteY1" fmla="*/ 29029 h 6901543"/>
              <a:gd name="connsiteX2" fmla="*/ 6705600 w 6747155"/>
              <a:gd name="connsiteY2" fmla="*/ 0 h 6901543"/>
              <a:gd name="connsiteX3" fmla="*/ 6747155 w 6747155"/>
              <a:gd name="connsiteY3" fmla="*/ 6901543 h 6901543"/>
              <a:gd name="connsiteX4" fmla="*/ 0 w 6747155"/>
              <a:gd name="connsiteY4" fmla="*/ 6887029 h 6901543"/>
              <a:gd name="connsiteX0" fmla="*/ 0 w 6747155"/>
              <a:gd name="connsiteY0" fmla="*/ 6887029 h 6901543"/>
              <a:gd name="connsiteX1" fmla="*/ 1250216 w 6747155"/>
              <a:gd name="connsiteY1" fmla="*/ 29029 h 6901543"/>
              <a:gd name="connsiteX2" fmla="*/ 6444343 w 6747155"/>
              <a:gd name="connsiteY2" fmla="*/ 0 h 6901543"/>
              <a:gd name="connsiteX3" fmla="*/ 6747155 w 6747155"/>
              <a:gd name="connsiteY3" fmla="*/ 6901543 h 6901543"/>
              <a:gd name="connsiteX4" fmla="*/ 0 w 6747155"/>
              <a:gd name="connsiteY4" fmla="*/ 6887029 h 6901543"/>
              <a:gd name="connsiteX0" fmla="*/ 0 w 6747155"/>
              <a:gd name="connsiteY0" fmla="*/ 6887029 h 6901543"/>
              <a:gd name="connsiteX1" fmla="*/ 1250216 w 6747155"/>
              <a:gd name="connsiteY1" fmla="*/ 29029 h 6901543"/>
              <a:gd name="connsiteX2" fmla="*/ 6458857 w 6747155"/>
              <a:gd name="connsiteY2" fmla="*/ 0 h 6901543"/>
              <a:gd name="connsiteX3" fmla="*/ 6747155 w 6747155"/>
              <a:gd name="connsiteY3" fmla="*/ 6901543 h 6901543"/>
              <a:gd name="connsiteX4" fmla="*/ 0 w 6747155"/>
              <a:gd name="connsiteY4" fmla="*/ 6887029 h 6901543"/>
              <a:gd name="connsiteX0" fmla="*/ 0 w 6458857"/>
              <a:gd name="connsiteY0" fmla="*/ 6887029 h 6959600"/>
              <a:gd name="connsiteX1" fmla="*/ 1250216 w 6458857"/>
              <a:gd name="connsiteY1" fmla="*/ 29029 h 6959600"/>
              <a:gd name="connsiteX2" fmla="*/ 6458857 w 6458857"/>
              <a:gd name="connsiteY2" fmla="*/ 0 h 6959600"/>
              <a:gd name="connsiteX3" fmla="*/ 6166583 w 6458857"/>
              <a:gd name="connsiteY3" fmla="*/ 6959600 h 6959600"/>
              <a:gd name="connsiteX4" fmla="*/ 0 w 6458857"/>
              <a:gd name="connsiteY4" fmla="*/ 6887029 h 6959600"/>
              <a:gd name="connsiteX0" fmla="*/ 0 w 6471383"/>
              <a:gd name="connsiteY0" fmla="*/ 6887029 h 6887029"/>
              <a:gd name="connsiteX1" fmla="*/ 1250216 w 6471383"/>
              <a:gd name="connsiteY1" fmla="*/ 29029 h 6887029"/>
              <a:gd name="connsiteX2" fmla="*/ 6458857 w 6471383"/>
              <a:gd name="connsiteY2" fmla="*/ 0 h 6887029"/>
              <a:gd name="connsiteX3" fmla="*/ 6471383 w 6471383"/>
              <a:gd name="connsiteY3" fmla="*/ 6887029 h 6887029"/>
              <a:gd name="connsiteX4" fmla="*/ 0 w 6471383"/>
              <a:gd name="connsiteY4" fmla="*/ 6887029 h 6887029"/>
              <a:gd name="connsiteX0" fmla="*/ 0 w 7257159"/>
              <a:gd name="connsiteY0" fmla="*/ 6872515 h 6872515"/>
              <a:gd name="connsiteX1" fmla="*/ 1250216 w 7257159"/>
              <a:gd name="connsiteY1" fmla="*/ 14515 h 6872515"/>
              <a:gd name="connsiteX2" fmla="*/ 7257143 w 7257159"/>
              <a:gd name="connsiteY2" fmla="*/ 0 h 6872515"/>
              <a:gd name="connsiteX3" fmla="*/ 6471383 w 7257159"/>
              <a:gd name="connsiteY3" fmla="*/ 6872515 h 6872515"/>
              <a:gd name="connsiteX4" fmla="*/ 0 w 7257159"/>
              <a:gd name="connsiteY4" fmla="*/ 6872515 h 6872515"/>
              <a:gd name="connsiteX0" fmla="*/ 0 w 7284183"/>
              <a:gd name="connsiteY0" fmla="*/ 6872515 h 6901543"/>
              <a:gd name="connsiteX1" fmla="*/ 1250216 w 7284183"/>
              <a:gd name="connsiteY1" fmla="*/ 14515 h 6901543"/>
              <a:gd name="connsiteX2" fmla="*/ 7257143 w 7284183"/>
              <a:gd name="connsiteY2" fmla="*/ 0 h 6901543"/>
              <a:gd name="connsiteX3" fmla="*/ 7284183 w 7284183"/>
              <a:gd name="connsiteY3" fmla="*/ 6901543 h 6901543"/>
              <a:gd name="connsiteX4" fmla="*/ 0 w 7284183"/>
              <a:gd name="connsiteY4" fmla="*/ 6872515 h 6901543"/>
              <a:gd name="connsiteX0" fmla="*/ 0 w 7547476"/>
              <a:gd name="connsiteY0" fmla="*/ 6872515 h 6901543"/>
              <a:gd name="connsiteX1" fmla="*/ 1250216 w 7547476"/>
              <a:gd name="connsiteY1" fmla="*/ 14515 h 6901543"/>
              <a:gd name="connsiteX2" fmla="*/ 7547429 w 7547476"/>
              <a:gd name="connsiteY2" fmla="*/ 0 h 6901543"/>
              <a:gd name="connsiteX3" fmla="*/ 7284183 w 7547476"/>
              <a:gd name="connsiteY3" fmla="*/ 6901543 h 6901543"/>
              <a:gd name="connsiteX4" fmla="*/ 0 w 7547476"/>
              <a:gd name="connsiteY4" fmla="*/ 6872515 h 6901543"/>
              <a:gd name="connsiteX0" fmla="*/ 0 w 7547612"/>
              <a:gd name="connsiteY0" fmla="*/ 6872515 h 6901543"/>
              <a:gd name="connsiteX1" fmla="*/ 1250216 w 7547612"/>
              <a:gd name="connsiteY1" fmla="*/ 14515 h 6901543"/>
              <a:gd name="connsiteX2" fmla="*/ 7547429 w 7547612"/>
              <a:gd name="connsiteY2" fmla="*/ 0 h 6901543"/>
              <a:gd name="connsiteX3" fmla="*/ 7487383 w 7547612"/>
              <a:gd name="connsiteY3" fmla="*/ 6901543 h 6901543"/>
              <a:gd name="connsiteX4" fmla="*/ 0 w 7547612"/>
              <a:gd name="connsiteY4" fmla="*/ 6872515 h 6901543"/>
              <a:gd name="connsiteX0" fmla="*/ 0 w 7533145"/>
              <a:gd name="connsiteY0" fmla="*/ 6872515 h 6901543"/>
              <a:gd name="connsiteX1" fmla="*/ 1250216 w 7533145"/>
              <a:gd name="connsiteY1" fmla="*/ 14515 h 6901543"/>
              <a:gd name="connsiteX2" fmla="*/ 7532915 w 7533145"/>
              <a:gd name="connsiteY2" fmla="*/ 0 h 6901543"/>
              <a:gd name="connsiteX3" fmla="*/ 7487383 w 7533145"/>
              <a:gd name="connsiteY3" fmla="*/ 6901543 h 6901543"/>
              <a:gd name="connsiteX4" fmla="*/ 0 w 7533145"/>
              <a:gd name="connsiteY4" fmla="*/ 6872515 h 6901543"/>
              <a:gd name="connsiteX0" fmla="*/ 0 w 7533928"/>
              <a:gd name="connsiteY0" fmla="*/ 6872515 h 6901543"/>
              <a:gd name="connsiteX1" fmla="*/ 1250216 w 7533928"/>
              <a:gd name="connsiteY1" fmla="*/ 14515 h 6901543"/>
              <a:gd name="connsiteX2" fmla="*/ 7532915 w 7533928"/>
              <a:gd name="connsiteY2" fmla="*/ 0 h 6901543"/>
              <a:gd name="connsiteX3" fmla="*/ 7530926 w 7533928"/>
              <a:gd name="connsiteY3" fmla="*/ 6901543 h 6901543"/>
              <a:gd name="connsiteX4" fmla="*/ 0 w 7533928"/>
              <a:gd name="connsiteY4" fmla="*/ 6872515 h 6901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533928" h="6901543">
                <a:moveTo>
                  <a:pt x="0" y="6872515"/>
                </a:moveTo>
                <a:lnTo>
                  <a:pt x="1250216" y="14515"/>
                </a:lnTo>
                <a:lnTo>
                  <a:pt x="7532915" y="0"/>
                </a:lnTo>
                <a:cubicBezTo>
                  <a:pt x="7537090" y="2295676"/>
                  <a:pt x="7526751" y="4605867"/>
                  <a:pt x="7530926" y="6901543"/>
                </a:cubicBezTo>
                <a:lnTo>
                  <a:pt x="0" y="6872515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Microsoft GothicNeo" panose="020B0500000101010101" pitchFamily="50" charset="-127"/>
              <a:ea typeface="Microsoft GothicNeo" panose="020B0500000101010101" pitchFamily="50" charset="-127"/>
              <a:cs typeface="Microsoft GothicNeo" panose="020B0500000101010101" pitchFamily="50" charset="-127"/>
            </a:endParaRPr>
          </a:p>
        </p:txBody>
      </p:sp>
      <p:sp>
        <p:nvSpPr>
          <p:cNvPr id="3" name="Google Shape;93;p13"/>
          <p:cNvSpPr txBox="1">
            <a:spLocks/>
          </p:cNvSpPr>
          <p:nvPr/>
        </p:nvSpPr>
        <p:spPr>
          <a:xfrm>
            <a:off x="62807" y="1748928"/>
            <a:ext cx="7774907" cy="1954797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Raleway"/>
              <a:buNone/>
              <a:defRPr sz="4400" b="0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Raleway"/>
              <a:buNone/>
              <a:defRPr sz="4400" b="0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Raleway"/>
              <a:buNone/>
              <a:defRPr sz="4400" b="0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Raleway"/>
              <a:buNone/>
              <a:defRPr sz="4400" b="0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Raleway"/>
              <a:buNone/>
              <a:defRPr sz="4400" b="0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Raleway"/>
              <a:buNone/>
              <a:defRPr sz="4400" b="0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Raleway"/>
              <a:buNone/>
              <a:defRPr sz="4400" b="0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Raleway"/>
              <a:buNone/>
              <a:defRPr sz="4400" b="0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Raleway"/>
              <a:buNone/>
              <a:defRPr sz="4400" b="0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3838"/>
              </a:buClr>
              <a:buSzPts val="4400"/>
              <a:buFont typeface="Raleway"/>
              <a:buNone/>
              <a:tabLst/>
              <a:defRPr/>
            </a:pPr>
            <a:r>
              <a:rPr kumimoji="1" lang="en-US" altLang="ko-KR" sz="3000" b="1" dirty="0">
                <a:solidFill>
                  <a:schemeClr val="accent5"/>
                </a:solidFill>
                <a:effectLst>
                  <a:outerShdw blurRad="50800" dist="38100" dir="2700000" algn="tl" rotWithShape="0">
                    <a:schemeClr val="bg2">
                      <a:lumMod val="75000"/>
                      <a:alpha val="40000"/>
                    </a:schemeClr>
                  </a:outerShdw>
                </a:effectLst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CP2K GPU-Accelerated DFT: </a:t>
            </a:r>
            <a:r>
              <a:rPr kumimoji="1" lang="ko-KR" altLang="en-US" sz="3000" b="1" dirty="0">
                <a:solidFill>
                  <a:schemeClr val="accent5"/>
                </a:solidFill>
                <a:effectLst>
                  <a:outerShdw blurRad="50800" dist="38100" dir="2700000" algn="tl" rotWithShape="0">
                    <a:schemeClr val="bg2">
                      <a:lumMod val="75000"/>
                      <a:alpha val="40000"/>
                    </a:schemeClr>
                  </a:outerShdw>
                </a:effectLst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하드웨어 활용 분석</a:t>
            </a:r>
            <a:r>
              <a:rPr kumimoji="1" lang="en-US" altLang="ko-KR" sz="3000" b="1" dirty="0">
                <a:solidFill>
                  <a:schemeClr val="accent5"/>
                </a:solidFill>
                <a:effectLst>
                  <a:outerShdw blurRad="50800" dist="38100" dir="2700000" algn="tl" rotWithShape="0">
                    <a:schemeClr val="bg2">
                      <a:lumMod val="75000"/>
                      <a:alpha val="40000"/>
                    </a:schemeClr>
                  </a:outerShdw>
                </a:effectLst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:</a:t>
            </a:r>
          </a:p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3838"/>
              </a:buClr>
              <a:buSzPts val="4400"/>
              <a:buFont typeface="Raleway"/>
              <a:buNone/>
              <a:tabLst/>
              <a:defRPr/>
            </a:pPr>
            <a:r>
              <a:rPr kumimoji="1" lang="en-US" altLang="ko-KR" sz="2800" b="1" dirty="0">
                <a:solidFill>
                  <a:srgbClr val="9B8873"/>
                </a:solidFill>
                <a:effectLst>
                  <a:outerShdw blurRad="50800" dist="38100" dir="2700000" algn="tl" rotWithShape="0">
                    <a:schemeClr val="bg2">
                      <a:lumMod val="75000"/>
                      <a:alpha val="40000"/>
                    </a:schemeClr>
                  </a:outerShdw>
                </a:effectLst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 RTX 5090 + </a:t>
            </a:r>
            <a:r>
              <a:rPr kumimoji="1" lang="en-US" altLang="ko-KR" sz="2800" b="1" dirty="0" err="1">
                <a:solidFill>
                  <a:srgbClr val="9B8873"/>
                </a:solidFill>
                <a:effectLst>
                  <a:outerShdw blurRad="50800" dist="38100" dir="2700000" algn="tl" rotWithShape="0">
                    <a:schemeClr val="bg2">
                      <a:lumMod val="75000"/>
                      <a:alpha val="40000"/>
                    </a:schemeClr>
                  </a:outerShdw>
                </a:effectLst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Threadripper</a:t>
            </a:r>
            <a:r>
              <a:rPr kumimoji="1" lang="en-US" altLang="ko-KR" sz="2800" b="1" dirty="0">
                <a:solidFill>
                  <a:srgbClr val="9B8873"/>
                </a:solidFill>
                <a:effectLst>
                  <a:outerShdw blurRad="50800" dist="38100" dir="2700000" algn="tl" rotWithShape="0">
                    <a:schemeClr val="bg2">
                      <a:lumMod val="75000"/>
                      <a:alpha val="40000"/>
                    </a:schemeClr>
                  </a:outerShdw>
                </a:effectLst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 PRO 9965WX </a:t>
            </a:r>
            <a:r>
              <a:rPr kumimoji="1" lang="ko-KR" altLang="en-US" sz="2800" b="1" dirty="0">
                <a:solidFill>
                  <a:srgbClr val="9B8873"/>
                </a:solidFill>
                <a:effectLst>
                  <a:outerShdw blurRad="50800" dist="38100" dir="2700000" algn="tl" rotWithShape="0">
                    <a:schemeClr val="bg2">
                      <a:lumMod val="75000"/>
                      <a:alpha val="40000"/>
                    </a:schemeClr>
                  </a:outerShdw>
                </a:effectLst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환경에서의 </a:t>
            </a:r>
            <a:r>
              <a:rPr kumimoji="1" lang="en-US" altLang="ko-KR" sz="2800" b="1" dirty="0">
                <a:solidFill>
                  <a:srgbClr val="9B8873"/>
                </a:solidFill>
                <a:effectLst>
                  <a:outerShdw blurRad="50800" dist="38100" dir="2700000" algn="tl" rotWithShape="0">
                    <a:schemeClr val="bg2">
                      <a:lumMod val="75000"/>
                      <a:alpha val="40000"/>
                    </a:schemeClr>
                  </a:outerShdw>
                </a:effectLst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GPW </a:t>
            </a:r>
            <a:r>
              <a:rPr kumimoji="1" lang="ko-KR" altLang="en-US" sz="2800" b="1" dirty="0">
                <a:solidFill>
                  <a:srgbClr val="9B8873"/>
                </a:solidFill>
                <a:effectLst>
                  <a:outerShdw blurRad="50800" dist="38100" dir="2700000" algn="tl" rotWithShape="0">
                    <a:schemeClr val="bg2">
                      <a:lumMod val="75000"/>
                      <a:alpha val="40000"/>
                    </a:schemeClr>
                  </a:outerShdw>
                </a:effectLst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하이브리드 병렬 성능</a:t>
            </a:r>
            <a:endParaRPr kumimoji="1" lang="en-US" altLang="ko-KR" sz="2800" b="1" dirty="0">
              <a:solidFill>
                <a:srgbClr val="9B8873"/>
              </a:solidFill>
              <a:effectLst>
                <a:outerShdw blurRad="50800" dist="38100" dir="2700000" algn="tl" rotWithShape="0">
                  <a:schemeClr val="bg2">
                    <a:lumMod val="75000"/>
                    <a:alpha val="40000"/>
                  </a:schemeClr>
                </a:outerShdw>
              </a:effectLst>
              <a:latin typeface="Microsoft GothicNeo" panose="020B0500000101010101" pitchFamily="50" charset="-127"/>
              <a:ea typeface="Microsoft GothicNeo" panose="020B0500000101010101" pitchFamily="50" charset="-127"/>
              <a:cs typeface="Microsoft GothicNeo" panose="020B0500000101010101" pitchFamily="50" charset="-127"/>
            </a:endParaRPr>
          </a:p>
        </p:txBody>
      </p:sp>
      <p:sp>
        <p:nvSpPr>
          <p:cNvPr id="4" name="Google Shape;153;p20">
            <a:extLst>
              <a:ext uri="{FF2B5EF4-FFF2-40B4-BE49-F238E27FC236}">
                <a16:creationId xmlns:a16="http://schemas.microsoft.com/office/drawing/2014/main" id="{84415F24-7766-B9E5-166D-8220180D999E}"/>
              </a:ext>
            </a:extLst>
          </p:cNvPr>
          <p:cNvSpPr txBox="1">
            <a:spLocks/>
          </p:cNvSpPr>
          <p:nvPr/>
        </p:nvSpPr>
        <p:spPr>
          <a:xfrm>
            <a:off x="105320" y="4706528"/>
            <a:ext cx="6548286" cy="178929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spcBef>
                <a:spcPts val="600"/>
              </a:spcBef>
            </a:pPr>
            <a:r>
              <a:rPr lang="ko-KR" altLang="en-US" sz="2000" b="1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안 용 상</a:t>
            </a:r>
            <a:endParaRPr lang="en-US" sz="2000" b="1" dirty="0">
              <a:latin typeface="Microsoft GothicNeo" panose="020B0500000101010101" pitchFamily="50" charset="-127"/>
              <a:ea typeface="Microsoft GothicNeo" panose="020B0500000101010101" pitchFamily="50" charset="-127"/>
              <a:cs typeface="Microsoft GothicNeo" panose="020B0500000101010101" pitchFamily="50" charset="-127"/>
            </a:endParaRPr>
          </a:p>
          <a:p>
            <a:pPr>
              <a:spcBef>
                <a:spcPts val="600"/>
              </a:spcBef>
            </a:pPr>
            <a:r>
              <a:rPr lang="en-US" altLang="ko-KR" sz="15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Process Systems Engineering &amp; Intelligence Design Lab</a:t>
            </a:r>
          </a:p>
          <a:p>
            <a:pPr>
              <a:spcBef>
                <a:spcPts val="600"/>
              </a:spcBef>
            </a:pPr>
            <a:r>
              <a:rPr lang="en-US" sz="15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Department of Chemical Engineering</a:t>
            </a:r>
          </a:p>
          <a:p>
            <a:pPr>
              <a:spcBef>
                <a:spcPts val="600"/>
              </a:spcBef>
            </a:pPr>
            <a:r>
              <a:rPr lang="en-US" sz="15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Kyung </a:t>
            </a:r>
            <a:r>
              <a:rPr lang="en-US" sz="1500" dirty="0" err="1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Hee</a:t>
            </a:r>
            <a:r>
              <a:rPr lang="en-US" sz="15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 University </a:t>
            </a: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3770ACD0-7F15-C001-7284-4D5DFAB63031}"/>
              </a:ext>
            </a:extLst>
          </p:cNvPr>
          <p:cNvGrpSpPr/>
          <p:nvPr/>
        </p:nvGrpSpPr>
        <p:grpSpPr>
          <a:xfrm>
            <a:off x="231580" y="85060"/>
            <a:ext cx="2920394" cy="661066"/>
            <a:chOff x="231580" y="85060"/>
            <a:chExt cx="2534216" cy="573650"/>
          </a:xfrm>
        </p:grpSpPr>
        <p:pic>
          <p:nvPicPr>
            <p:cNvPr id="7" name="그림 6" descr="텍스트, 로고, 엠블럼, 폰트이(가) 표시된 사진&#10;&#10;자동 생성된 설명">
              <a:extLst>
                <a:ext uri="{FF2B5EF4-FFF2-40B4-BE49-F238E27FC236}">
                  <a16:creationId xmlns:a16="http://schemas.microsoft.com/office/drawing/2014/main" id="{3475EF97-1A28-9382-0F84-3AE040061BA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1580" y="215111"/>
              <a:ext cx="1539333" cy="375191"/>
            </a:xfrm>
            <a:prstGeom prst="rect">
              <a:avLst/>
            </a:prstGeom>
          </p:spPr>
        </p:pic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24072C66-F836-EE49-489B-30C12A491B4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219" t="10161" r="5433" b="11878"/>
            <a:stretch/>
          </p:blipFill>
          <p:spPr>
            <a:xfrm>
              <a:off x="1868209" y="85060"/>
              <a:ext cx="897587" cy="57365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4195771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9E7424-D86F-C1F3-AC53-4F6C5EC0C9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0" name="Google Shape;13;p2">
            <a:extLst>
              <a:ext uri="{FF2B5EF4-FFF2-40B4-BE49-F238E27FC236}">
                <a16:creationId xmlns:a16="http://schemas.microsoft.com/office/drawing/2014/main" id="{09B5769D-8AE7-651F-5CE9-35B85A72288D}"/>
              </a:ext>
            </a:extLst>
          </p:cNvPr>
          <p:cNvSpPr/>
          <p:nvPr/>
        </p:nvSpPr>
        <p:spPr>
          <a:xfrm rot="5400000">
            <a:off x="114786" y="321006"/>
            <a:ext cx="431337" cy="69652"/>
          </a:xfrm>
          <a:prstGeom prst="rect">
            <a:avLst/>
          </a:prstGeom>
          <a:solidFill>
            <a:srgbClr val="A4362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+mn-ea"/>
              <a:cs typeface="Microsoft GothicNeo" panose="020B0500000101010101" pitchFamily="50" charset="-127"/>
            </a:endParaRPr>
          </a:p>
        </p:txBody>
      </p:sp>
      <p:sp>
        <p:nvSpPr>
          <p:cNvPr id="2231" name="Google Shape;94;p13">
            <a:extLst>
              <a:ext uri="{FF2B5EF4-FFF2-40B4-BE49-F238E27FC236}">
                <a16:creationId xmlns:a16="http://schemas.microsoft.com/office/drawing/2014/main" id="{BA001928-329A-BFAB-50A0-5FD9E5FD91F8}"/>
              </a:ext>
            </a:extLst>
          </p:cNvPr>
          <p:cNvSpPr txBox="1"/>
          <p:nvPr/>
        </p:nvSpPr>
        <p:spPr>
          <a:xfrm>
            <a:off x="365281" y="-14672"/>
            <a:ext cx="11531090" cy="666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spcBef>
                <a:spcPts val="600"/>
              </a:spcBef>
            </a:pPr>
            <a:r>
              <a:rPr lang="en-US" altLang="ko-KR" sz="2800" b="1" dirty="0">
                <a:solidFill>
                  <a:srgbClr val="931A1B"/>
                </a:solidFill>
                <a:latin typeface="+mn-ea"/>
                <a:cs typeface="Microsoft GothicNeo" panose="020B0500000101010101" pitchFamily="50" charset="-127"/>
              </a:rPr>
              <a:t>GPW </a:t>
            </a:r>
            <a:r>
              <a:rPr lang="ko-KR" altLang="en-US" sz="2800" b="1" dirty="0">
                <a:solidFill>
                  <a:srgbClr val="931A1B"/>
                </a:solidFill>
                <a:latin typeface="+mn-ea"/>
                <a:cs typeface="Microsoft GothicNeo" panose="020B0500000101010101" pitchFamily="50" charset="-127"/>
              </a:rPr>
              <a:t>방법의 </a:t>
            </a:r>
            <a:r>
              <a:rPr lang="en-US" altLang="ko-KR" sz="2800" b="1" dirty="0">
                <a:solidFill>
                  <a:srgbClr val="931A1B"/>
                </a:solidFill>
                <a:latin typeface="+mn-ea"/>
                <a:cs typeface="Microsoft GothicNeo" panose="020B0500000101010101" pitchFamily="50" charset="-127"/>
              </a:rPr>
              <a:t>CPU/GPU </a:t>
            </a:r>
            <a:r>
              <a:rPr lang="ko-KR" altLang="en-US" sz="2800" b="1" dirty="0">
                <a:solidFill>
                  <a:srgbClr val="931A1B"/>
                </a:solidFill>
                <a:latin typeface="+mn-ea"/>
                <a:cs typeface="Microsoft GothicNeo" panose="020B0500000101010101" pitchFamily="50" charset="-127"/>
              </a:rPr>
              <a:t>분업 구조</a:t>
            </a:r>
            <a:endParaRPr lang="en-US" altLang="ko-KR" sz="2800" b="1" dirty="0">
              <a:solidFill>
                <a:srgbClr val="931A1B"/>
              </a:solidFill>
              <a:latin typeface="+mn-ea"/>
              <a:cs typeface="Microsoft GothicNeo" panose="020B0500000101010101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C8BD7CD-C82B-A964-1C12-1903A1D9BA66}"/>
              </a:ext>
            </a:extLst>
          </p:cNvPr>
          <p:cNvSpPr txBox="1"/>
          <p:nvPr/>
        </p:nvSpPr>
        <p:spPr>
          <a:xfrm>
            <a:off x="365281" y="594049"/>
            <a:ext cx="11258550" cy="4178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600" b="1" dirty="0">
                <a:latin typeface="+mn-ea"/>
              </a:rPr>
              <a:t>1. </a:t>
            </a:r>
            <a:r>
              <a:rPr lang="ko-KR" altLang="en-US" sz="1600" b="1" dirty="0">
                <a:latin typeface="+mn-ea"/>
              </a:rPr>
              <a:t>프로젝트 목적</a:t>
            </a:r>
            <a:endParaRPr lang="en-US" altLang="ko-KR" sz="1600" b="1" dirty="0">
              <a:latin typeface="+mn-ea"/>
            </a:endParaRPr>
          </a:p>
        </p:txBody>
      </p:sp>
      <p:sp>
        <p:nvSpPr>
          <p:cNvPr id="2" name="이등변 삼각형 1">
            <a:extLst>
              <a:ext uri="{FF2B5EF4-FFF2-40B4-BE49-F238E27FC236}">
                <a16:creationId xmlns:a16="http://schemas.microsoft.com/office/drawing/2014/main" id="{26503D02-D966-A29E-B223-0EF85362C68C}"/>
              </a:ext>
            </a:extLst>
          </p:cNvPr>
          <p:cNvSpPr/>
          <p:nvPr/>
        </p:nvSpPr>
        <p:spPr bwMode="auto">
          <a:xfrm rot="5400000">
            <a:off x="409315" y="764610"/>
            <a:ext cx="192717" cy="160137"/>
          </a:xfrm>
          <a:prstGeom prst="triangle">
            <a:avLst/>
          </a:prstGeom>
          <a:solidFill>
            <a:schemeClr val="tx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8311455-4400-2150-DC6A-B42DB4EF5645}"/>
              </a:ext>
            </a:extLst>
          </p:cNvPr>
          <p:cNvSpPr txBox="1"/>
          <p:nvPr/>
        </p:nvSpPr>
        <p:spPr>
          <a:xfrm>
            <a:off x="585742" y="4417226"/>
            <a:ext cx="11258550" cy="2275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200" dirty="0">
                <a:latin typeface="+mn-ea"/>
              </a:rPr>
              <a:t>CP2K</a:t>
            </a:r>
            <a:r>
              <a:rPr lang="ko-KR" altLang="en-US" sz="1200" dirty="0">
                <a:latin typeface="+mn-ea"/>
              </a:rPr>
              <a:t>의 </a:t>
            </a:r>
            <a:r>
              <a:rPr lang="en-US" altLang="ko-KR" sz="1200" dirty="0">
                <a:latin typeface="+mn-ea"/>
              </a:rPr>
              <a:t>GPW(Gaussian and Plane Waves) </a:t>
            </a:r>
            <a:r>
              <a:rPr lang="ko-KR" altLang="en-US" sz="1200" dirty="0">
                <a:latin typeface="+mn-ea"/>
              </a:rPr>
              <a:t>방법은 </a:t>
            </a:r>
            <a:r>
              <a:rPr lang="ko-KR" altLang="en-US" sz="1200" dirty="0" err="1">
                <a:latin typeface="+mn-ea"/>
              </a:rPr>
              <a:t>가우시안</a:t>
            </a:r>
            <a:r>
              <a:rPr lang="ko-KR" altLang="en-US" sz="1200" dirty="0">
                <a:latin typeface="+mn-ea"/>
              </a:rPr>
              <a:t> 기저함수 연산과 </a:t>
            </a:r>
            <a:r>
              <a:rPr lang="ko-KR" altLang="en-US" sz="1200" dirty="0" err="1">
                <a:latin typeface="+mn-ea"/>
              </a:rPr>
              <a:t>평면파</a:t>
            </a:r>
            <a:r>
              <a:rPr lang="ko-KR" altLang="en-US" sz="1200" dirty="0">
                <a:latin typeface="+mn-ea"/>
              </a:rPr>
              <a:t> 그리드 연산을 분리하여 처리하는 하이브리드 구조입니다</a:t>
            </a:r>
            <a:r>
              <a:rPr lang="en-US" altLang="ko-KR" sz="1200" dirty="0">
                <a:latin typeface="+mn-ea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200" dirty="0">
                <a:latin typeface="+mn-ea"/>
              </a:rPr>
              <a:t>CPU </a:t>
            </a:r>
            <a:r>
              <a:rPr lang="ko-KR" altLang="en-US" sz="1200" dirty="0">
                <a:latin typeface="+mn-ea"/>
              </a:rPr>
              <a:t>측에서는 </a:t>
            </a:r>
            <a:r>
              <a:rPr lang="en-US" altLang="ko-KR" sz="1200" dirty="0">
                <a:latin typeface="+mn-ea"/>
              </a:rPr>
              <a:t>MPI 4</a:t>
            </a:r>
            <a:r>
              <a:rPr lang="ko-KR" altLang="en-US" sz="1200" dirty="0">
                <a:latin typeface="+mn-ea"/>
              </a:rPr>
              <a:t>프로세스 </a:t>
            </a:r>
            <a:r>
              <a:rPr lang="en-US" altLang="ko-KR" sz="1200" dirty="0">
                <a:latin typeface="+mn-ea"/>
              </a:rPr>
              <a:t>× OpenMP 4</a:t>
            </a:r>
            <a:r>
              <a:rPr lang="ko-KR" altLang="en-US" sz="1200" dirty="0">
                <a:latin typeface="+mn-ea"/>
              </a:rPr>
              <a:t>스레드 </a:t>
            </a:r>
            <a:r>
              <a:rPr lang="en-US" altLang="ko-KR" sz="1200" dirty="0">
                <a:latin typeface="+mn-ea"/>
              </a:rPr>
              <a:t>= </a:t>
            </a:r>
            <a:r>
              <a:rPr lang="ko-KR" altLang="en-US" sz="1200" dirty="0">
                <a:latin typeface="+mn-ea"/>
              </a:rPr>
              <a:t>총 </a:t>
            </a:r>
            <a:r>
              <a:rPr lang="en-US" altLang="ko-KR" sz="1200" dirty="0">
                <a:latin typeface="+mn-ea"/>
              </a:rPr>
              <a:t>16</a:t>
            </a:r>
            <a:r>
              <a:rPr lang="ko-KR" altLang="en-US" sz="1200" dirty="0">
                <a:latin typeface="+mn-ea"/>
              </a:rPr>
              <a:t>코어가 </a:t>
            </a:r>
            <a:r>
              <a:rPr lang="en-US" altLang="ko-KR" sz="1200" dirty="0">
                <a:latin typeface="+mn-ea"/>
              </a:rPr>
              <a:t>Kohn-Sham </a:t>
            </a:r>
            <a:r>
              <a:rPr lang="ko-KR" altLang="en-US" sz="1200" dirty="0">
                <a:latin typeface="+mn-ea"/>
              </a:rPr>
              <a:t>행렬 조립</a:t>
            </a:r>
            <a:r>
              <a:rPr lang="en-US" altLang="ko-KR" sz="1200" dirty="0">
                <a:latin typeface="+mn-ea"/>
              </a:rPr>
              <a:t>, </a:t>
            </a:r>
            <a:r>
              <a:rPr lang="ko-KR" altLang="en-US" sz="1200" dirty="0">
                <a:latin typeface="+mn-ea"/>
              </a:rPr>
              <a:t>대각화</a:t>
            </a:r>
            <a:r>
              <a:rPr lang="en-US" altLang="ko-KR" sz="1200" dirty="0">
                <a:latin typeface="+mn-ea"/>
              </a:rPr>
              <a:t>, </a:t>
            </a:r>
            <a:r>
              <a:rPr lang="ko-KR" altLang="en-US" sz="1200" dirty="0">
                <a:latin typeface="+mn-ea"/>
              </a:rPr>
              <a:t>밀도 행렬 업데이트</a:t>
            </a:r>
            <a:r>
              <a:rPr lang="en-US" altLang="ko-KR" sz="1200" dirty="0">
                <a:latin typeface="+mn-ea"/>
              </a:rPr>
              <a:t>, </a:t>
            </a:r>
            <a:r>
              <a:rPr lang="ko-KR" altLang="en-US" sz="1200" dirty="0">
                <a:latin typeface="+mn-ea"/>
              </a:rPr>
              <a:t>원자 간 힘 계산을 담당합니다</a:t>
            </a:r>
            <a:r>
              <a:rPr lang="en-US" altLang="ko-KR" sz="1200" dirty="0">
                <a:latin typeface="+mn-ea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200" dirty="0">
                <a:latin typeface="+mn-ea"/>
              </a:rPr>
              <a:t>GPU </a:t>
            </a:r>
            <a:r>
              <a:rPr lang="ko-KR" altLang="en-US" sz="1200" dirty="0">
                <a:latin typeface="+mn-ea"/>
              </a:rPr>
              <a:t>측에서는 </a:t>
            </a:r>
            <a:r>
              <a:rPr lang="en-US" altLang="ko-KR" sz="1200" dirty="0">
                <a:latin typeface="+mn-ea"/>
              </a:rPr>
              <a:t>CUDA </a:t>
            </a:r>
            <a:r>
              <a:rPr lang="ko-KR" altLang="en-US" sz="1200" dirty="0">
                <a:latin typeface="+mn-ea"/>
              </a:rPr>
              <a:t>커널이 </a:t>
            </a:r>
            <a:r>
              <a:rPr lang="en-US" altLang="ko-KR" sz="1200" dirty="0">
                <a:latin typeface="+mn-ea"/>
              </a:rPr>
              <a:t>640 Ry </a:t>
            </a:r>
            <a:r>
              <a:rPr lang="ko-KR" altLang="en-US" sz="1200" dirty="0">
                <a:latin typeface="+mn-ea"/>
              </a:rPr>
              <a:t>컷오프에 해당하는 대규모 </a:t>
            </a:r>
            <a:r>
              <a:rPr lang="ko-KR" altLang="en-US" sz="1200" dirty="0" err="1">
                <a:latin typeface="+mn-ea"/>
              </a:rPr>
              <a:t>실공간</a:t>
            </a:r>
            <a:r>
              <a:rPr lang="ko-KR" altLang="en-US" sz="1200" dirty="0">
                <a:latin typeface="+mn-ea"/>
              </a:rPr>
              <a:t> 그리드</a:t>
            </a:r>
            <a:r>
              <a:rPr lang="en-US" altLang="ko-KR" sz="1200" dirty="0">
                <a:latin typeface="+mn-ea"/>
              </a:rPr>
              <a:t>(</a:t>
            </a:r>
            <a:r>
              <a:rPr lang="ko-KR" altLang="en-US" sz="1200" dirty="0">
                <a:latin typeface="+mn-ea"/>
              </a:rPr>
              <a:t>최대 </a:t>
            </a:r>
            <a:r>
              <a:rPr lang="en-US" altLang="ko-KR" sz="1200" dirty="0">
                <a:latin typeface="+mn-ea"/>
              </a:rPr>
              <a:t>288×288×288 </a:t>
            </a:r>
            <a:r>
              <a:rPr lang="ko-KR" altLang="en-US" sz="1200" dirty="0">
                <a:latin typeface="+mn-ea"/>
              </a:rPr>
              <a:t>포인트</a:t>
            </a:r>
            <a:r>
              <a:rPr lang="en-US" altLang="ko-KR" sz="1200" dirty="0">
                <a:latin typeface="+mn-ea"/>
              </a:rPr>
              <a:t>) </a:t>
            </a:r>
            <a:r>
              <a:rPr lang="ko-KR" altLang="en-US" sz="1200" dirty="0">
                <a:latin typeface="+mn-ea"/>
              </a:rPr>
              <a:t>위의 </a:t>
            </a:r>
            <a:r>
              <a:rPr lang="en-US" altLang="ko-KR" sz="1200" dirty="0">
                <a:latin typeface="+mn-ea"/>
              </a:rPr>
              <a:t>FFT, </a:t>
            </a:r>
            <a:r>
              <a:rPr lang="ko-KR" altLang="en-US" sz="1200" dirty="0" err="1">
                <a:latin typeface="+mn-ea"/>
              </a:rPr>
              <a:t>콜로케이션</a:t>
            </a:r>
            <a:r>
              <a:rPr lang="en-US" altLang="ko-KR" sz="1200" dirty="0">
                <a:latin typeface="+mn-ea"/>
              </a:rPr>
              <a:t>, Hartree </a:t>
            </a:r>
            <a:r>
              <a:rPr lang="ko-KR" altLang="en-US" sz="1200" dirty="0" err="1">
                <a:latin typeface="+mn-ea"/>
              </a:rPr>
              <a:t>포텐셜</a:t>
            </a:r>
            <a:r>
              <a:rPr lang="ko-KR" altLang="en-US" sz="1200" dirty="0">
                <a:latin typeface="+mn-ea"/>
              </a:rPr>
              <a:t> 계산을 처리합니다</a:t>
            </a:r>
            <a:r>
              <a:rPr lang="en-US" altLang="ko-KR" sz="1200" dirty="0">
                <a:latin typeface="+mn-ea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200" dirty="0">
                <a:latin typeface="+mn-ea"/>
              </a:rPr>
              <a:t>SCF </a:t>
            </a:r>
            <a:r>
              <a:rPr lang="ko-KR" altLang="en-US" sz="1200" dirty="0">
                <a:latin typeface="+mn-ea"/>
              </a:rPr>
              <a:t>한 단계 안에서 </a:t>
            </a:r>
            <a:r>
              <a:rPr lang="en-US" altLang="ko-KR" sz="1200" dirty="0">
                <a:latin typeface="+mn-ea"/>
              </a:rPr>
              <a:t>CPU</a:t>
            </a:r>
            <a:r>
              <a:rPr lang="ko-KR" altLang="en-US" sz="1200" dirty="0">
                <a:latin typeface="+mn-ea"/>
              </a:rPr>
              <a:t>가 행렬 연산을 수행하는 동안 </a:t>
            </a:r>
            <a:r>
              <a:rPr lang="en-US" altLang="ko-KR" sz="1200" dirty="0">
                <a:latin typeface="+mn-ea"/>
              </a:rPr>
              <a:t>GPU</a:t>
            </a:r>
            <a:r>
              <a:rPr lang="ko-KR" altLang="en-US" sz="1200" dirty="0">
                <a:latin typeface="+mn-ea"/>
              </a:rPr>
              <a:t>는 다음 그리드 연산을 비동기적으로 준비하므로 두 장치 모두 유휴 시간이 거의 없습니다</a:t>
            </a:r>
            <a:r>
              <a:rPr lang="en-US" altLang="ko-KR" sz="1200" dirty="0">
                <a:latin typeface="+mn-ea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200" dirty="0">
                <a:latin typeface="+mn-ea"/>
              </a:rPr>
              <a:t>CPU → GPU </a:t>
            </a:r>
            <a:r>
              <a:rPr lang="ko-KR" altLang="en-US" sz="1200" dirty="0">
                <a:latin typeface="+mn-ea"/>
              </a:rPr>
              <a:t>방향으로는 전자 밀도 </a:t>
            </a:r>
            <a:r>
              <a:rPr lang="en-US" altLang="ko-KR" sz="1200" dirty="0">
                <a:latin typeface="+mn-ea"/>
              </a:rPr>
              <a:t>ρ(r)</a:t>
            </a:r>
            <a:r>
              <a:rPr lang="ko-KR" altLang="en-US" sz="1200" dirty="0">
                <a:latin typeface="+mn-ea"/>
              </a:rPr>
              <a:t>가 전송되고</a:t>
            </a:r>
            <a:r>
              <a:rPr lang="en-US" altLang="ko-KR" sz="1200" dirty="0">
                <a:latin typeface="+mn-ea"/>
              </a:rPr>
              <a:t>, GPU → CPU </a:t>
            </a:r>
            <a:r>
              <a:rPr lang="ko-KR" altLang="en-US" sz="1200" dirty="0">
                <a:latin typeface="+mn-ea"/>
              </a:rPr>
              <a:t>방향으로는 계산된 </a:t>
            </a:r>
            <a:r>
              <a:rPr lang="en-US" altLang="ko-KR" sz="1200" dirty="0">
                <a:latin typeface="+mn-ea"/>
              </a:rPr>
              <a:t>Hartree </a:t>
            </a:r>
            <a:r>
              <a:rPr lang="ko-KR" altLang="en-US" sz="1200" dirty="0" err="1">
                <a:latin typeface="+mn-ea"/>
              </a:rPr>
              <a:t>포텐셜</a:t>
            </a:r>
            <a:r>
              <a:rPr lang="ko-KR" altLang="en-US" sz="1200" dirty="0">
                <a:latin typeface="+mn-ea"/>
              </a:rPr>
              <a:t> </a:t>
            </a:r>
            <a:r>
              <a:rPr lang="en-US" altLang="ko-KR" sz="1200" dirty="0">
                <a:latin typeface="+mn-ea"/>
              </a:rPr>
              <a:t>V_H(r)</a:t>
            </a:r>
            <a:r>
              <a:rPr lang="ko-KR" altLang="en-US" sz="1200" dirty="0">
                <a:latin typeface="+mn-ea"/>
              </a:rPr>
              <a:t>가 반환되는 양방향 데이터 교환이 매 </a:t>
            </a:r>
            <a:r>
              <a:rPr lang="en-US" altLang="ko-KR" sz="1200" dirty="0">
                <a:latin typeface="+mn-ea"/>
              </a:rPr>
              <a:t>SCF step</a:t>
            </a:r>
            <a:r>
              <a:rPr lang="ko-KR" altLang="en-US" sz="1200" dirty="0">
                <a:latin typeface="+mn-ea"/>
              </a:rPr>
              <a:t>마다 발생합니다</a:t>
            </a:r>
            <a:r>
              <a:rPr lang="en-US" altLang="ko-KR" sz="1200" dirty="0">
                <a:latin typeface="+mn-ea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200" dirty="0">
                <a:latin typeface="+mn-ea"/>
              </a:rPr>
              <a:t>이 분업 구조 덕분에 </a:t>
            </a:r>
            <a:r>
              <a:rPr lang="en-US" altLang="ko-KR" sz="1200" dirty="0">
                <a:latin typeface="+mn-ea"/>
              </a:rPr>
              <a:t>192</a:t>
            </a:r>
            <a:r>
              <a:rPr lang="ko-KR" altLang="en-US" sz="1200" dirty="0">
                <a:latin typeface="+mn-ea"/>
              </a:rPr>
              <a:t>원자 </a:t>
            </a:r>
            <a:r>
              <a:rPr lang="en-US" altLang="ko-KR" sz="1200" dirty="0">
                <a:latin typeface="+mn-ea"/>
              </a:rPr>
              <a:t>PBE-D3 </a:t>
            </a:r>
            <a:r>
              <a:rPr lang="ko-KR" altLang="en-US" sz="1200" dirty="0">
                <a:latin typeface="+mn-ea"/>
              </a:rPr>
              <a:t>계산에서 </a:t>
            </a:r>
            <a:r>
              <a:rPr lang="en-US" altLang="ko-KR" sz="1200" dirty="0">
                <a:latin typeface="+mn-ea"/>
              </a:rPr>
              <a:t>SCF 1 step</a:t>
            </a:r>
            <a:r>
              <a:rPr lang="ko-KR" altLang="en-US" sz="1200" dirty="0">
                <a:latin typeface="+mn-ea"/>
              </a:rPr>
              <a:t>이 약 </a:t>
            </a:r>
            <a:r>
              <a:rPr lang="en-US" altLang="ko-KR" sz="1200" dirty="0">
                <a:latin typeface="+mn-ea"/>
              </a:rPr>
              <a:t>5~6</a:t>
            </a:r>
            <a:r>
              <a:rPr lang="ko-KR" altLang="en-US" sz="1200" dirty="0">
                <a:latin typeface="+mn-ea"/>
              </a:rPr>
              <a:t>초에 완료되며</a:t>
            </a:r>
            <a:r>
              <a:rPr lang="en-US" altLang="ko-KR" sz="1200" dirty="0">
                <a:latin typeface="+mn-ea"/>
              </a:rPr>
              <a:t>, </a:t>
            </a:r>
            <a:r>
              <a:rPr lang="ko-KR" altLang="en-US" sz="1200" dirty="0">
                <a:latin typeface="+mn-ea"/>
              </a:rPr>
              <a:t>순수 </a:t>
            </a:r>
            <a:r>
              <a:rPr lang="en-US" altLang="ko-KR" sz="1200" dirty="0">
                <a:latin typeface="+mn-ea"/>
              </a:rPr>
              <a:t>CPU </a:t>
            </a:r>
            <a:r>
              <a:rPr lang="ko-KR" altLang="en-US" sz="1200" dirty="0">
                <a:latin typeface="+mn-ea"/>
              </a:rPr>
              <a:t>대비 약 </a:t>
            </a:r>
            <a:r>
              <a:rPr lang="en-US" altLang="ko-KR" sz="1200" dirty="0">
                <a:latin typeface="+mn-ea"/>
              </a:rPr>
              <a:t>3~4</a:t>
            </a:r>
            <a:r>
              <a:rPr lang="ko-KR" altLang="en-US" sz="1200" dirty="0">
                <a:latin typeface="+mn-ea"/>
              </a:rPr>
              <a:t>배 빠른 성능을 보입니다</a:t>
            </a:r>
            <a:r>
              <a:rPr lang="en-US" altLang="ko-KR" sz="1200" dirty="0">
                <a:latin typeface="+mn-ea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200" dirty="0" err="1">
                <a:latin typeface="+mn-ea"/>
              </a:rPr>
              <a:t>keti</a:t>
            </a:r>
            <a:r>
              <a:rPr lang="en-US" altLang="ko-KR" sz="1200" dirty="0">
                <a:latin typeface="+mn-ea"/>
              </a:rPr>
              <a:t>/cp2k:2025.2-gpu Docker </a:t>
            </a:r>
            <a:r>
              <a:rPr lang="ko-KR" altLang="en-US" sz="1200" dirty="0">
                <a:latin typeface="+mn-ea"/>
              </a:rPr>
              <a:t>이미지는 이 </a:t>
            </a:r>
            <a:r>
              <a:rPr lang="en-US" altLang="ko-KR" sz="1200" dirty="0">
                <a:latin typeface="+mn-ea"/>
              </a:rPr>
              <a:t>GPU </a:t>
            </a:r>
            <a:r>
              <a:rPr lang="ko-KR" altLang="en-US" sz="1200" dirty="0">
                <a:latin typeface="+mn-ea"/>
              </a:rPr>
              <a:t>가속 경로가 활성화된 </a:t>
            </a:r>
            <a:r>
              <a:rPr lang="en-US" altLang="ko-KR" sz="1200" dirty="0">
                <a:latin typeface="+mn-ea"/>
              </a:rPr>
              <a:t>cp2k.psmp </a:t>
            </a:r>
            <a:r>
              <a:rPr lang="ko-KR" altLang="en-US" sz="1200" dirty="0">
                <a:latin typeface="+mn-ea"/>
              </a:rPr>
              <a:t>바이너리를 포함하고 있어</a:t>
            </a:r>
            <a:r>
              <a:rPr lang="en-US" altLang="ko-KR" sz="1200" dirty="0">
                <a:latin typeface="+mn-ea"/>
              </a:rPr>
              <a:t>, --</a:t>
            </a:r>
            <a:r>
              <a:rPr lang="en-US" altLang="ko-KR" sz="1200" dirty="0" err="1">
                <a:latin typeface="+mn-ea"/>
              </a:rPr>
              <a:t>gpus</a:t>
            </a:r>
            <a:r>
              <a:rPr lang="en-US" altLang="ko-KR" sz="1200" dirty="0">
                <a:latin typeface="+mn-ea"/>
              </a:rPr>
              <a:t>=all </a:t>
            </a:r>
            <a:r>
              <a:rPr lang="ko-KR" altLang="en-US" sz="1200" dirty="0">
                <a:latin typeface="+mn-ea"/>
              </a:rPr>
              <a:t>플래그만으로 </a:t>
            </a:r>
            <a:r>
              <a:rPr lang="en-US" altLang="ko-KR" sz="1200" dirty="0">
                <a:latin typeface="+mn-ea"/>
              </a:rPr>
              <a:t>CUDA </a:t>
            </a:r>
            <a:r>
              <a:rPr lang="ko-KR" altLang="en-US" sz="1200" dirty="0">
                <a:latin typeface="+mn-ea"/>
              </a:rPr>
              <a:t>연산이 자동 활성화됩니다</a:t>
            </a:r>
            <a:r>
              <a:rPr lang="en-US" altLang="ko-KR" sz="1200" dirty="0">
                <a:latin typeface="+mn-ea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altLang="ko-KR" sz="1200" dirty="0">
              <a:latin typeface="+mn-ea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A582074-42CC-4913-96DA-386EC802E292}"/>
              </a:ext>
            </a:extLst>
          </p:cNvPr>
          <p:cNvSpPr txBox="1"/>
          <p:nvPr/>
        </p:nvSpPr>
        <p:spPr>
          <a:xfrm>
            <a:off x="3506723" y="1306524"/>
            <a:ext cx="4812030" cy="2819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ko-KR" altLang="en-US" sz="1350" b="1" spc="0" baseline="0" dirty="0">
                <a:solidFill>
                  <a:srgbClr val="1E293B"/>
                </a:solidFill>
                <a:latin typeface="Arial"/>
                <a:ea typeface="+mn-ea"/>
                <a:cs typeface="Arial"/>
                <a:sym typeface="Arial"/>
                <a:rtl val="0"/>
              </a:rPr>
              <a:t>GPW Hybrid Architecture: CPU ↔ GPU Task Distribution</a:t>
            </a:r>
          </a:p>
        </p:txBody>
      </p:sp>
      <p:sp>
        <p:nvSpPr>
          <p:cNvPr id="15" name="자유형: 도형 14">
            <a:extLst>
              <a:ext uri="{FF2B5EF4-FFF2-40B4-BE49-F238E27FC236}">
                <a16:creationId xmlns:a16="http://schemas.microsoft.com/office/drawing/2014/main" id="{16E91C8F-965E-4B77-8924-329B12717F1E}"/>
              </a:ext>
            </a:extLst>
          </p:cNvPr>
          <p:cNvSpPr/>
          <p:nvPr/>
        </p:nvSpPr>
        <p:spPr>
          <a:xfrm>
            <a:off x="1721738" y="1723719"/>
            <a:ext cx="3048000" cy="2000250"/>
          </a:xfrm>
          <a:custGeom>
            <a:avLst/>
            <a:gdLst>
              <a:gd name="connsiteX0" fmla="*/ 2914650 w 3048000"/>
              <a:gd name="connsiteY0" fmla="*/ 0 h 2000250"/>
              <a:gd name="connsiteX1" fmla="*/ 3048000 w 3048000"/>
              <a:gd name="connsiteY1" fmla="*/ 0 h 2000250"/>
              <a:gd name="connsiteX2" fmla="*/ 3048000 w 3048000"/>
              <a:gd name="connsiteY2" fmla="*/ 2000250 h 2000250"/>
              <a:gd name="connsiteX3" fmla="*/ 2914650 w 3048000"/>
              <a:gd name="connsiteY3" fmla="*/ 2000250 h 2000250"/>
              <a:gd name="connsiteX4" fmla="*/ 133350 w 3048000"/>
              <a:gd name="connsiteY4" fmla="*/ 2000250 h 2000250"/>
              <a:gd name="connsiteX5" fmla="*/ 0 w 3048000"/>
              <a:gd name="connsiteY5" fmla="*/ 2000250 h 2000250"/>
              <a:gd name="connsiteX6" fmla="*/ 0 w 3048000"/>
              <a:gd name="connsiteY6" fmla="*/ 0 h 2000250"/>
              <a:gd name="connsiteX7" fmla="*/ 133350 w 3048000"/>
              <a:gd name="connsiteY7" fmla="*/ 0 h 2000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048000" h="2000250">
                <a:moveTo>
                  <a:pt x="2914650" y="0"/>
                </a:moveTo>
                <a:cubicBezTo>
                  <a:pt x="2988297" y="0"/>
                  <a:pt x="3048000" y="0"/>
                  <a:pt x="3048000" y="0"/>
                </a:cubicBezTo>
                <a:lnTo>
                  <a:pt x="3048000" y="2000250"/>
                </a:lnTo>
                <a:cubicBezTo>
                  <a:pt x="3048000" y="2000250"/>
                  <a:pt x="2988297" y="2000250"/>
                  <a:pt x="2914650" y="2000250"/>
                </a:cubicBezTo>
                <a:lnTo>
                  <a:pt x="133350" y="2000250"/>
                </a:lnTo>
                <a:cubicBezTo>
                  <a:pt x="59703" y="2000250"/>
                  <a:pt x="0" y="2000250"/>
                  <a:pt x="0" y="2000250"/>
                </a:cubicBezTo>
                <a:lnTo>
                  <a:pt x="0" y="0"/>
                </a:lnTo>
                <a:cubicBezTo>
                  <a:pt x="0" y="0"/>
                  <a:pt x="59703" y="0"/>
                  <a:pt x="133350" y="0"/>
                </a:cubicBezTo>
                <a:close/>
              </a:path>
            </a:pathLst>
          </a:custGeom>
          <a:solidFill>
            <a:srgbClr val="3B82F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DEE119A-F7E1-4001-8D2D-39E0D5972362}"/>
              </a:ext>
            </a:extLst>
          </p:cNvPr>
          <p:cNvSpPr txBox="1"/>
          <p:nvPr/>
        </p:nvSpPr>
        <p:spPr>
          <a:xfrm>
            <a:off x="2430398" y="1801824"/>
            <a:ext cx="1630680" cy="2533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ko-KR" altLang="en-US" sz="1125" b="1" spc="0" baseline="0" dirty="0">
                <a:solidFill>
                  <a:srgbClr val="FFFFFF"/>
                </a:solidFill>
                <a:latin typeface="Arial"/>
                <a:ea typeface="+mn-ea"/>
                <a:cs typeface="Arial"/>
                <a:sym typeface="Arial"/>
                <a:rtl val="0"/>
              </a:rPr>
              <a:t>CPU (MPI × OpenMP)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8C9DF58-3BBE-4B81-98B4-B079CEED4624}"/>
              </a:ext>
            </a:extLst>
          </p:cNvPr>
          <p:cNvSpPr txBox="1"/>
          <p:nvPr/>
        </p:nvSpPr>
        <p:spPr>
          <a:xfrm>
            <a:off x="2282760" y="2011374"/>
            <a:ext cx="1925955" cy="2057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ko-KR" altLang="en-US" sz="825" spc="0" baseline="0" dirty="0">
                <a:solidFill>
                  <a:srgbClr val="BFDBFE"/>
                </a:solidFill>
                <a:latin typeface="Arial"/>
                <a:ea typeface="+mn-ea"/>
                <a:cs typeface="Arial"/>
                <a:sym typeface="Arial"/>
                <a:rtl val="0"/>
              </a:rPr>
              <a:t>Threadripper PRO 9965WX · 16 cores</a:t>
            </a:r>
          </a:p>
        </p:txBody>
      </p:sp>
      <p:sp>
        <p:nvSpPr>
          <p:cNvPr id="18" name="자유형: 도형 17">
            <a:extLst>
              <a:ext uri="{FF2B5EF4-FFF2-40B4-BE49-F238E27FC236}">
                <a16:creationId xmlns:a16="http://schemas.microsoft.com/office/drawing/2014/main" id="{2FD8821C-9A9D-4EC6-A05D-04F9AE75D9E9}"/>
              </a:ext>
            </a:extLst>
          </p:cNvPr>
          <p:cNvSpPr/>
          <p:nvPr/>
        </p:nvSpPr>
        <p:spPr>
          <a:xfrm>
            <a:off x="1912238" y="2266644"/>
            <a:ext cx="2667000" cy="285750"/>
          </a:xfrm>
          <a:custGeom>
            <a:avLst/>
            <a:gdLst>
              <a:gd name="connsiteX0" fmla="*/ 2609850 w 2667000"/>
              <a:gd name="connsiteY0" fmla="*/ 0 h 285750"/>
              <a:gd name="connsiteX1" fmla="*/ 2667000 w 2667000"/>
              <a:gd name="connsiteY1" fmla="*/ 0 h 285750"/>
              <a:gd name="connsiteX2" fmla="*/ 2667000 w 2667000"/>
              <a:gd name="connsiteY2" fmla="*/ 285750 h 285750"/>
              <a:gd name="connsiteX3" fmla="*/ 2609850 w 2667000"/>
              <a:gd name="connsiteY3" fmla="*/ 285750 h 285750"/>
              <a:gd name="connsiteX4" fmla="*/ 57150 w 2667000"/>
              <a:gd name="connsiteY4" fmla="*/ 285750 h 285750"/>
              <a:gd name="connsiteX5" fmla="*/ 0 w 2667000"/>
              <a:gd name="connsiteY5" fmla="*/ 285750 h 285750"/>
              <a:gd name="connsiteX6" fmla="*/ 0 w 2667000"/>
              <a:gd name="connsiteY6" fmla="*/ 0 h 285750"/>
              <a:gd name="connsiteX7" fmla="*/ 57150 w 2667000"/>
              <a:gd name="connsiteY7" fmla="*/ 0 h 285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67000" h="285750">
                <a:moveTo>
                  <a:pt x="2609850" y="0"/>
                </a:moveTo>
                <a:cubicBezTo>
                  <a:pt x="2641413" y="0"/>
                  <a:pt x="2667000" y="0"/>
                  <a:pt x="2667000" y="0"/>
                </a:cubicBezTo>
                <a:lnTo>
                  <a:pt x="2667000" y="285750"/>
                </a:lnTo>
                <a:cubicBezTo>
                  <a:pt x="2667000" y="285750"/>
                  <a:pt x="2641413" y="285750"/>
                  <a:pt x="2609850" y="285750"/>
                </a:cubicBezTo>
                <a:lnTo>
                  <a:pt x="57150" y="285750"/>
                </a:lnTo>
                <a:cubicBezTo>
                  <a:pt x="25587" y="285750"/>
                  <a:pt x="0" y="285750"/>
                  <a:pt x="0" y="285750"/>
                </a:cubicBezTo>
                <a:lnTo>
                  <a:pt x="0" y="0"/>
                </a:lnTo>
                <a:cubicBezTo>
                  <a:pt x="0" y="0"/>
                  <a:pt x="25587" y="0"/>
                  <a:pt x="57150" y="0"/>
                </a:cubicBezTo>
                <a:close/>
              </a:path>
            </a:pathLst>
          </a:custGeom>
          <a:solidFill>
            <a:srgbClr val="2563EB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A0BDE01-205E-42F6-B6F4-D4587BC22EE2}"/>
              </a:ext>
            </a:extLst>
          </p:cNvPr>
          <p:cNvSpPr txBox="1"/>
          <p:nvPr/>
        </p:nvSpPr>
        <p:spPr>
          <a:xfrm>
            <a:off x="2582798" y="2287599"/>
            <a:ext cx="1325880" cy="2438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ko-KR" altLang="en-US" sz="900" spc="0" baseline="0" dirty="0">
                <a:solidFill>
                  <a:srgbClr val="FFFFFF"/>
                </a:solidFill>
                <a:latin typeface="Arial"/>
                <a:ea typeface="+mn-ea"/>
                <a:cs typeface="Arial"/>
                <a:sym typeface="Arial"/>
                <a:rtl val="0"/>
              </a:rPr>
              <a:t>Kohn-Sham </a:t>
            </a:r>
            <a:r>
              <a:rPr lang="ko-KR" altLang="en-US" sz="900" spc="0" baseline="0" dirty="0">
                <a:solidFill>
                  <a:srgbClr val="FFFFFF"/>
                </a:solidFill>
                <a:latin typeface="맑은 고딕"/>
                <a:ea typeface="맑은 고딕"/>
                <a:cs typeface="Arial"/>
                <a:sym typeface="맑은 고딕"/>
                <a:rtl val="0"/>
              </a:rPr>
              <a:t>행렬</a:t>
            </a:r>
            <a:r>
              <a:rPr lang="ko-KR" altLang="en-US" sz="900" spc="0" baseline="0" dirty="0">
                <a:solidFill>
                  <a:srgbClr val="FFFFFF"/>
                </a:solidFill>
                <a:latin typeface="Arial"/>
                <a:ea typeface="맑은 고딕"/>
                <a:cs typeface="Arial"/>
                <a:sym typeface="Arial"/>
                <a:rtl val="0"/>
              </a:rPr>
              <a:t> </a:t>
            </a:r>
            <a:r>
              <a:rPr lang="ko-KR" altLang="en-US" sz="900" spc="0" baseline="0" dirty="0">
                <a:solidFill>
                  <a:srgbClr val="FFFFFF"/>
                </a:solidFill>
                <a:latin typeface="맑은 고딕"/>
                <a:ea typeface="맑은 고딕"/>
                <a:cs typeface="Arial"/>
                <a:sym typeface="맑은 고딕"/>
                <a:rtl val="0"/>
              </a:rPr>
              <a:t>조립</a:t>
            </a:r>
          </a:p>
        </p:txBody>
      </p:sp>
      <p:sp>
        <p:nvSpPr>
          <p:cNvPr id="20" name="자유형: 도형 19">
            <a:extLst>
              <a:ext uri="{FF2B5EF4-FFF2-40B4-BE49-F238E27FC236}">
                <a16:creationId xmlns:a16="http://schemas.microsoft.com/office/drawing/2014/main" id="{36E6C4FD-AF15-4007-9806-274EBA31D0B7}"/>
              </a:ext>
            </a:extLst>
          </p:cNvPr>
          <p:cNvSpPr/>
          <p:nvPr/>
        </p:nvSpPr>
        <p:spPr>
          <a:xfrm>
            <a:off x="1912238" y="2609544"/>
            <a:ext cx="2667000" cy="285750"/>
          </a:xfrm>
          <a:custGeom>
            <a:avLst/>
            <a:gdLst>
              <a:gd name="connsiteX0" fmla="*/ 2609850 w 2667000"/>
              <a:gd name="connsiteY0" fmla="*/ 0 h 285750"/>
              <a:gd name="connsiteX1" fmla="*/ 2667000 w 2667000"/>
              <a:gd name="connsiteY1" fmla="*/ 0 h 285750"/>
              <a:gd name="connsiteX2" fmla="*/ 2667000 w 2667000"/>
              <a:gd name="connsiteY2" fmla="*/ 285750 h 285750"/>
              <a:gd name="connsiteX3" fmla="*/ 2609850 w 2667000"/>
              <a:gd name="connsiteY3" fmla="*/ 285750 h 285750"/>
              <a:gd name="connsiteX4" fmla="*/ 57150 w 2667000"/>
              <a:gd name="connsiteY4" fmla="*/ 285750 h 285750"/>
              <a:gd name="connsiteX5" fmla="*/ 0 w 2667000"/>
              <a:gd name="connsiteY5" fmla="*/ 285750 h 285750"/>
              <a:gd name="connsiteX6" fmla="*/ 0 w 2667000"/>
              <a:gd name="connsiteY6" fmla="*/ 0 h 285750"/>
              <a:gd name="connsiteX7" fmla="*/ 57150 w 2667000"/>
              <a:gd name="connsiteY7" fmla="*/ 0 h 285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67000" h="285750">
                <a:moveTo>
                  <a:pt x="2609850" y="0"/>
                </a:moveTo>
                <a:cubicBezTo>
                  <a:pt x="2641413" y="0"/>
                  <a:pt x="2667000" y="0"/>
                  <a:pt x="2667000" y="0"/>
                </a:cubicBezTo>
                <a:lnTo>
                  <a:pt x="2667000" y="285750"/>
                </a:lnTo>
                <a:cubicBezTo>
                  <a:pt x="2667000" y="285750"/>
                  <a:pt x="2641413" y="285750"/>
                  <a:pt x="2609850" y="285750"/>
                </a:cubicBezTo>
                <a:lnTo>
                  <a:pt x="57150" y="285750"/>
                </a:lnTo>
                <a:cubicBezTo>
                  <a:pt x="25587" y="285750"/>
                  <a:pt x="0" y="285750"/>
                  <a:pt x="0" y="285750"/>
                </a:cubicBezTo>
                <a:lnTo>
                  <a:pt x="0" y="0"/>
                </a:lnTo>
                <a:cubicBezTo>
                  <a:pt x="0" y="0"/>
                  <a:pt x="25587" y="0"/>
                  <a:pt x="57150" y="0"/>
                </a:cubicBezTo>
                <a:close/>
              </a:path>
            </a:pathLst>
          </a:custGeom>
          <a:solidFill>
            <a:srgbClr val="2563EB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5E67DB6-30AF-45A0-A62D-27E82B097E85}"/>
              </a:ext>
            </a:extLst>
          </p:cNvPr>
          <p:cNvSpPr txBox="1"/>
          <p:nvPr/>
        </p:nvSpPr>
        <p:spPr>
          <a:xfrm>
            <a:off x="2549460" y="2630499"/>
            <a:ext cx="1392555" cy="2438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ko-KR" altLang="en-US" sz="900" spc="0" baseline="0" dirty="0">
                <a:solidFill>
                  <a:srgbClr val="FFFFFF"/>
                </a:solidFill>
                <a:latin typeface="맑은 고딕"/>
                <a:ea typeface="맑은 고딕"/>
                <a:sym typeface="맑은 고딕"/>
                <a:rtl val="0"/>
              </a:rPr>
              <a:t>행렬</a:t>
            </a:r>
            <a:r>
              <a:rPr lang="ko-KR" altLang="en-US" sz="900" spc="0" baseline="0" dirty="0">
                <a:solidFill>
                  <a:srgbClr val="FFFFFF"/>
                </a:solidFill>
                <a:latin typeface="Arial"/>
                <a:ea typeface="맑은 고딕"/>
                <a:cs typeface="Arial"/>
                <a:sym typeface="Arial"/>
                <a:rtl val="0"/>
              </a:rPr>
              <a:t> </a:t>
            </a:r>
            <a:r>
              <a:rPr lang="ko-KR" altLang="en-US" sz="900" spc="0" baseline="0" dirty="0">
                <a:solidFill>
                  <a:srgbClr val="FFFFFF"/>
                </a:solidFill>
                <a:latin typeface="맑은 고딕"/>
                <a:ea typeface="맑은 고딕"/>
                <a:cs typeface="Arial"/>
                <a:sym typeface="맑은 고딕"/>
                <a:rtl val="0"/>
              </a:rPr>
              <a:t>대각화</a:t>
            </a:r>
            <a:r>
              <a:rPr lang="ko-KR" altLang="en-US" sz="900" spc="0" baseline="0" dirty="0">
                <a:solidFill>
                  <a:srgbClr val="FFFFFF"/>
                </a:solidFill>
                <a:latin typeface="Arial"/>
                <a:ea typeface="맑은 고딕"/>
                <a:cs typeface="Arial"/>
                <a:sym typeface="Arial"/>
                <a:rtl val="0"/>
              </a:rPr>
              <a:t> (DIAG / OT)</a:t>
            </a:r>
          </a:p>
        </p:txBody>
      </p:sp>
      <p:sp>
        <p:nvSpPr>
          <p:cNvPr id="22" name="자유형: 도형 21">
            <a:extLst>
              <a:ext uri="{FF2B5EF4-FFF2-40B4-BE49-F238E27FC236}">
                <a16:creationId xmlns:a16="http://schemas.microsoft.com/office/drawing/2014/main" id="{32C8CACE-CE91-4035-8EC1-34ED4871FD63}"/>
              </a:ext>
            </a:extLst>
          </p:cNvPr>
          <p:cNvSpPr/>
          <p:nvPr/>
        </p:nvSpPr>
        <p:spPr>
          <a:xfrm>
            <a:off x="1912238" y="2952444"/>
            <a:ext cx="2667000" cy="285750"/>
          </a:xfrm>
          <a:custGeom>
            <a:avLst/>
            <a:gdLst>
              <a:gd name="connsiteX0" fmla="*/ 2609850 w 2667000"/>
              <a:gd name="connsiteY0" fmla="*/ 0 h 285750"/>
              <a:gd name="connsiteX1" fmla="*/ 2667000 w 2667000"/>
              <a:gd name="connsiteY1" fmla="*/ 0 h 285750"/>
              <a:gd name="connsiteX2" fmla="*/ 2667000 w 2667000"/>
              <a:gd name="connsiteY2" fmla="*/ 285750 h 285750"/>
              <a:gd name="connsiteX3" fmla="*/ 2609850 w 2667000"/>
              <a:gd name="connsiteY3" fmla="*/ 285750 h 285750"/>
              <a:gd name="connsiteX4" fmla="*/ 57150 w 2667000"/>
              <a:gd name="connsiteY4" fmla="*/ 285750 h 285750"/>
              <a:gd name="connsiteX5" fmla="*/ 0 w 2667000"/>
              <a:gd name="connsiteY5" fmla="*/ 285750 h 285750"/>
              <a:gd name="connsiteX6" fmla="*/ 0 w 2667000"/>
              <a:gd name="connsiteY6" fmla="*/ 0 h 285750"/>
              <a:gd name="connsiteX7" fmla="*/ 57150 w 2667000"/>
              <a:gd name="connsiteY7" fmla="*/ 0 h 285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67000" h="285750">
                <a:moveTo>
                  <a:pt x="2609850" y="0"/>
                </a:moveTo>
                <a:cubicBezTo>
                  <a:pt x="2641413" y="0"/>
                  <a:pt x="2667000" y="0"/>
                  <a:pt x="2667000" y="0"/>
                </a:cubicBezTo>
                <a:lnTo>
                  <a:pt x="2667000" y="285750"/>
                </a:lnTo>
                <a:cubicBezTo>
                  <a:pt x="2667000" y="285750"/>
                  <a:pt x="2641413" y="285750"/>
                  <a:pt x="2609850" y="285750"/>
                </a:cubicBezTo>
                <a:lnTo>
                  <a:pt x="57150" y="285750"/>
                </a:lnTo>
                <a:cubicBezTo>
                  <a:pt x="25587" y="285750"/>
                  <a:pt x="0" y="285750"/>
                  <a:pt x="0" y="285750"/>
                </a:cubicBezTo>
                <a:lnTo>
                  <a:pt x="0" y="0"/>
                </a:lnTo>
                <a:cubicBezTo>
                  <a:pt x="0" y="0"/>
                  <a:pt x="25587" y="0"/>
                  <a:pt x="57150" y="0"/>
                </a:cubicBezTo>
                <a:close/>
              </a:path>
            </a:pathLst>
          </a:custGeom>
          <a:solidFill>
            <a:srgbClr val="2563EB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77CA2F9-510A-4E68-AB3A-157650B6E03E}"/>
              </a:ext>
            </a:extLst>
          </p:cNvPr>
          <p:cNvSpPr txBox="1"/>
          <p:nvPr/>
        </p:nvSpPr>
        <p:spPr>
          <a:xfrm>
            <a:off x="2458973" y="2973399"/>
            <a:ext cx="1573530" cy="2438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ko-KR" altLang="en-US" sz="900" spc="0" baseline="0" dirty="0">
                <a:solidFill>
                  <a:srgbClr val="FFFFFF"/>
                </a:solidFill>
                <a:latin typeface="맑은 고딕"/>
                <a:ea typeface="맑은 고딕"/>
                <a:sym typeface="맑은 고딕"/>
                <a:rtl val="0"/>
              </a:rPr>
              <a:t>밀도</a:t>
            </a:r>
            <a:r>
              <a:rPr lang="ko-KR" altLang="en-US" sz="900" spc="0" baseline="0" dirty="0">
                <a:solidFill>
                  <a:srgbClr val="FFFFFF"/>
                </a:solidFill>
                <a:latin typeface="Arial"/>
                <a:ea typeface="맑은 고딕"/>
                <a:cs typeface="Arial"/>
                <a:sym typeface="Arial"/>
                <a:rtl val="0"/>
              </a:rPr>
              <a:t> </a:t>
            </a:r>
            <a:r>
              <a:rPr lang="ko-KR" altLang="en-US" sz="900" spc="0" baseline="0" dirty="0">
                <a:solidFill>
                  <a:srgbClr val="FFFFFF"/>
                </a:solidFill>
                <a:latin typeface="맑은 고딕"/>
                <a:ea typeface="맑은 고딕"/>
                <a:cs typeface="Arial"/>
                <a:sym typeface="맑은 고딕"/>
                <a:rtl val="0"/>
              </a:rPr>
              <a:t>행렬</a:t>
            </a:r>
            <a:r>
              <a:rPr lang="ko-KR" altLang="en-US" sz="900" spc="0" baseline="0" dirty="0">
                <a:solidFill>
                  <a:srgbClr val="FFFFFF"/>
                </a:solidFill>
                <a:latin typeface="Arial"/>
                <a:ea typeface="맑은 고딕"/>
                <a:cs typeface="Arial"/>
                <a:sym typeface="Arial"/>
                <a:rtl val="0"/>
              </a:rPr>
              <a:t> · Mixing </a:t>
            </a:r>
            <a:r>
              <a:rPr lang="ko-KR" altLang="en-US" sz="900" spc="0" baseline="0" dirty="0">
                <a:solidFill>
                  <a:srgbClr val="FFFFFF"/>
                </a:solidFill>
                <a:latin typeface="맑은 고딕"/>
                <a:ea typeface="맑은 고딕"/>
                <a:cs typeface="Arial"/>
                <a:sym typeface="맑은 고딕"/>
                <a:rtl val="0"/>
              </a:rPr>
              <a:t>업데이트</a:t>
            </a:r>
          </a:p>
        </p:txBody>
      </p:sp>
      <p:sp>
        <p:nvSpPr>
          <p:cNvPr id="24" name="자유형: 도형 23">
            <a:extLst>
              <a:ext uri="{FF2B5EF4-FFF2-40B4-BE49-F238E27FC236}">
                <a16:creationId xmlns:a16="http://schemas.microsoft.com/office/drawing/2014/main" id="{E78D6EA9-5444-4672-BCD7-AEC6472F9080}"/>
              </a:ext>
            </a:extLst>
          </p:cNvPr>
          <p:cNvSpPr/>
          <p:nvPr/>
        </p:nvSpPr>
        <p:spPr>
          <a:xfrm>
            <a:off x="1912238" y="3295344"/>
            <a:ext cx="2667000" cy="285750"/>
          </a:xfrm>
          <a:custGeom>
            <a:avLst/>
            <a:gdLst>
              <a:gd name="connsiteX0" fmla="*/ 2609850 w 2667000"/>
              <a:gd name="connsiteY0" fmla="*/ 0 h 285750"/>
              <a:gd name="connsiteX1" fmla="*/ 2667000 w 2667000"/>
              <a:gd name="connsiteY1" fmla="*/ 0 h 285750"/>
              <a:gd name="connsiteX2" fmla="*/ 2667000 w 2667000"/>
              <a:gd name="connsiteY2" fmla="*/ 285750 h 285750"/>
              <a:gd name="connsiteX3" fmla="*/ 2609850 w 2667000"/>
              <a:gd name="connsiteY3" fmla="*/ 285750 h 285750"/>
              <a:gd name="connsiteX4" fmla="*/ 57150 w 2667000"/>
              <a:gd name="connsiteY4" fmla="*/ 285750 h 285750"/>
              <a:gd name="connsiteX5" fmla="*/ 0 w 2667000"/>
              <a:gd name="connsiteY5" fmla="*/ 285750 h 285750"/>
              <a:gd name="connsiteX6" fmla="*/ 0 w 2667000"/>
              <a:gd name="connsiteY6" fmla="*/ 0 h 285750"/>
              <a:gd name="connsiteX7" fmla="*/ 57150 w 2667000"/>
              <a:gd name="connsiteY7" fmla="*/ 0 h 285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67000" h="285750">
                <a:moveTo>
                  <a:pt x="2609850" y="0"/>
                </a:moveTo>
                <a:cubicBezTo>
                  <a:pt x="2641413" y="0"/>
                  <a:pt x="2667000" y="0"/>
                  <a:pt x="2667000" y="0"/>
                </a:cubicBezTo>
                <a:lnTo>
                  <a:pt x="2667000" y="285750"/>
                </a:lnTo>
                <a:cubicBezTo>
                  <a:pt x="2667000" y="285750"/>
                  <a:pt x="2641413" y="285750"/>
                  <a:pt x="2609850" y="285750"/>
                </a:cubicBezTo>
                <a:lnTo>
                  <a:pt x="57150" y="285750"/>
                </a:lnTo>
                <a:cubicBezTo>
                  <a:pt x="25587" y="285750"/>
                  <a:pt x="0" y="285750"/>
                  <a:pt x="0" y="285750"/>
                </a:cubicBezTo>
                <a:lnTo>
                  <a:pt x="0" y="0"/>
                </a:lnTo>
                <a:cubicBezTo>
                  <a:pt x="0" y="0"/>
                  <a:pt x="25587" y="0"/>
                  <a:pt x="57150" y="0"/>
                </a:cubicBezTo>
                <a:close/>
              </a:path>
            </a:pathLst>
          </a:custGeom>
          <a:solidFill>
            <a:srgbClr val="2563EB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AD05924-CBC7-4BA9-B5FB-4870D4A645DE}"/>
              </a:ext>
            </a:extLst>
          </p:cNvPr>
          <p:cNvSpPr txBox="1"/>
          <p:nvPr/>
        </p:nvSpPr>
        <p:spPr>
          <a:xfrm>
            <a:off x="2535173" y="3316299"/>
            <a:ext cx="1421130" cy="2438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ko-KR" altLang="en-US" sz="900" spc="0" baseline="0" dirty="0">
                <a:solidFill>
                  <a:srgbClr val="FFFFFF"/>
                </a:solidFill>
                <a:latin typeface="맑은 고딕"/>
                <a:ea typeface="맑은 고딕"/>
                <a:sym typeface="맑은 고딕"/>
                <a:rtl val="0"/>
              </a:rPr>
              <a:t>원자</a:t>
            </a:r>
            <a:r>
              <a:rPr lang="ko-KR" altLang="en-US" sz="900" spc="0" baseline="0" dirty="0">
                <a:solidFill>
                  <a:srgbClr val="FFFFFF"/>
                </a:solidFill>
                <a:latin typeface="Arial"/>
                <a:ea typeface="맑은 고딕"/>
                <a:cs typeface="Arial"/>
                <a:sym typeface="Arial"/>
                <a:rtl val="0"/>
              </a:rPr>
              <a:t> </a:t>
            </a:r>
            <a:r>
              <a:rPr lang="ko-KR" altLang="en-US" sz="900" spc="0" baseline="0" dirty="0">
                <a:solidFill>
                  <a:srgbClr val="FFFFFF"/>
                </a:solidFill>
                <a:latin typeface="맑은 고딕"/>
                <a:ea typeface="맑은 고딕"/>
                <a:cs typeface="Arial"/>
                <a:sym typeface="맑은 고딕"/>
                <a:rtl val="0"/>
              </a:rPr>
              <a:t>간</a:t>
            </a:r>
            <a:r>
              <a:rPr lang="ko-KR" altLang="en-US" sz="900" spc="0" baseline="0" dirty="0">
                <a:solidFill>
                  <a:srgbClr val="FFFFFF"/>
                </a:solidFill>
                <a:latin typeface="Arial"/>
                <a:ea typeface="맑은 고딕"/>
                <a:cs typeface="Arial"/>
                <a:sym typeface="Arial"/>
                <a:rtl val="0"/>
              </a:rPr>
              <a:t> </a:t>
            </a:r>
            <a:r>
              <a:rPr lang="ko-KR" altLang="en-US" sz="900" spc="0" baseline="0" dirty="0">
                <a:solidFill>
                  <a:srgbClr val="FFFFFF"/>
                </a:solidFill>
                <a:latin typeface="맑은 고딕"/>
                <a:ea typeface="맑은 고딕"/>
                <a:cs typeface="Arial"/>
                <a:sym typeface="맑은 고딕"/>
                <a:rtl val="0"/>
              </a:rPr>
              <a:t>힘</a:t>
            </a:r>
            <a:r>
              <a:rPr lang="ko-KR" altLang="en-US" sz="900" spc="0" baseline="0" dirty="0">
                <a:solidFill>
                  <a:srgbClr val="FFFFFF"/>
                </a:solidFill>
                <a:latin typeface="Arial"/>
                <a:ea typeface="맑은 고딕"/>
                <a:cs typeface="Arial"/>
                <a:sym typeface="Arial"/>
                <a:rtl val="0"/>
              </a:rPr>
              <a:t> </a:t>
            </a:r>
            <a:r>
              <a:rPr lang="ko-KR" altLang="en-US" sz="900" spc="0" baseline="0" dirty="0">
                <a:solidFill>
                  <a:srgbClr val="FFFFFF"/>
                </a:solidFill>
                <a:latin typeface="맑은 고딕"/>
                <a:ea typeface="맑은 고딕"/>
                <a:cs typeface="Arial"/>
                <a:sym typeface="맑은 고딕"/>
                <a:rtl val="0"/>
              </a:rPr>
              <a:t>계산</a:t>
            </a:r>
            <a:r>
              <a:rPr lang="ko-KR" altLang="en-US" sz="900" spc="0" baseline="0" dirty="0">
                <a:solidFill>
                  <a:srgbClr val="FFFFFF"/>
                </a:solidFill>
                <a:latin typeface="Arial"/>
                <a:ea typeface="맑은 고딕"/>
                <a:cs typeface="Arial"/>
                <a:sym typeface="Arial"/>
                <a:rtl val="0"/>
              </a:rPr>
              <a:t> (Forces)</a:t>
            </a:r>
          </a:p>
        </p:txBody>
      </p:sp>
      <p:sp>
        <p:nvSpPr>
          <p:cNvPr id="26" name="자유형: 도형 25">
            <a:extLst>
              <a:ext uri="{FF2B5EF4-FFF2-40B4-BE49-F238E27FC236}">
                <a16:creationId xmlns:a16="http://schemas.microsoft.com/office/drawing/2014/main" id="{3A22635C-4283-42AD-9F7F-7E672F389FC8}"/>
              </a:ext>
            </a:extLst>
          </p:cNvPr>
          <p:cNvSpPr/>
          <p:nvPr/>
        </p:nvSpPr>
        <p:spPr>
          <a:xfrm>
            <a:off x="4912613" y="2295218"/>
            <a:ext cx="2000250" cy="238125"/>
          </a:xfrm>
          <a:custGeom>
            <a:avLst/>
            <a:gdLst>
              <a:gd name="connsiteX0" fmla="*/ 0 w 2000250"/>
              <a:gd name="connsiteY0" fmla="*/ 238125 h 238125"/>
              <a:gd name="connsiteX1" fmla="*/ 2000250 w 2000250"/>
              <a:gd name="connsiteY1" fmla="*/ 238125 h 2381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000250" h="238125">
                <a:moveTo>
                  <a:pt x="0" y="238125"/>
                </a:moveTo>
                <a:cubicBezTo>
                  <a:pt x="666750" y="-79375"/>
                  <a:pt x="1333500" y="-79375"/>
                  <a:pt x="2000250" y="238125"/>
                </a:cubicBezTo>
              </a:path>
            </a:pathLst>
          </a:custGeom>
          <a:noFill/>
          <a:ln w="28575" cap="flat">
            <a:solidFill>
              <a:srgbClr val="F59E0B"/>
            </a:solidFill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27" name="자유형: 도형 26">
            <a:extLst>
              <a:ext uri="{FF2B5EF4-FFF2-40B4-BE49-F238E27FC236}">
                <a16:creationId xmlns:a16="http://schemas.microsoft.com/office/drawing/2014/main" id="{34867DAB-5362-471D-BFC0-8FAB7B247931}"/>
              </a:ext>
            </a:extLst>
          </p:cNvPr>
          <p:cNvSpPr/>
          <p:nvPr/>
        </p:nvSpPr>
        <p:spPr>
          <a:xfrm>
            <a:off x="4912613" y="3009594"/>
            <a:ext cx="2000250" cy="238124"/>
          </a:xfrm>
          <a:custGeom>
            <a:avLst/>
            <a:gdLst>
              <a:gd name="connsiteX0" fmla="*/ 2000250 w 2000250"/>
              <a:gd name="connsiteY0" fmla="*/ 0 h 238124"/>
              <a:gd name="connsiteX1" fmla="*/ 0 w 2000250"/>
              <a:gd name="connsiteY1" fmla="*/ 0 h 238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000250" h="238124">
                <a:moveTo>
                  <a:pt x="2000250" y="0"/>
                </a:moveTo>
                <a:cubicBezTo>
                  <a:pt x="1333500" y="317500"/>
                  <a:pt x="666750" y="317500"/>
                  <a:pt x="0" y="0"/>
                </a:cubicBezTo>
              </a:path>
            </a:pathLst>
          </a:custGeom>
          <a:noFill/>
          <a:ln w="28575" cap="flat">
            <a:solidFill>
              <a:srgbClr val="F59E0B"/>
            </a:solidFill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CC88FE9-0314-4C15-B4C1-D30D0D5ED85F}"/>
              </a:ext>
            </a:extLst>
          </p:cNvPr>
          <p:cNvSpPr txBox="1"/>
          <p:nvPr/>
        </p:nvSpPr>
        <p:spPr>
          <a:xfrm>
            <a:off x="5530262" y="1996199"/>
            <a:ext cx="764953" cy="3336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1100" b="1" spc="0" baseline="0" dirty="0">
                <a:solidFill>
                  <a:srgbClr val="D97706"/>
                </a:solidFill>
                <a:latin typeface="Arial"/>
                <a:ea typeface="+mn-ea"/>
                <a:cs typeface="Arial"/>
                <a:sym typeface="Arial"/>
                <a:rtl val="0"/>
              </a:rPr>
              <a:t>ρ(r) </a:t>
            </a:r>
            <a:r>
              <a:rPr lang="ko-KR" altLang="en-US" sz="1200" b="1" spc="0" baseline="0" dirty="0">
                <a:solidFill>
                  <a:srgbClr val="D97706"/>
                </a:solidFill>
                <a:latin typeface="맑은 고딕"/>
                <a:ea typeface="맑은 고딕"/>
                <a:cs typeface="Arial"/>
                <a:sym typeface="맑은 고딕"/>
                <a:rtl val="0"/>
              </a:rPr>
              <a:t>전송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70F230E-7760-491F-A284-038B38BA141C}"/>
              </a:ext>
            </a:extLst>
          </p:cNvPr>
          <p:cNvSpPr txBox="1"/>
          <p:nvPr/>
        </p:nvSpPr>
        <p:spPr>
          <a:xfrm>
            <a:off x="5435686" y="3201999"/>
            <a:ext cx="954108" cy="3336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1100" b="1" spc="0" baseline="0" dirty="0">
                <a:solidFill>
                  <a:srgbClr val="D97706"/>
                </a:solidFill>
                <a:latin typeface="Arial"/>
                <a:ea typeface="+mn-ea"/>
                <a:cs typeface="Arial"/>
                <a:sym typeface="Arial"/>
                <a:rtl val="0"/>
              </a:rPr>
              <a:t>V_H(r) </a:t>
            </a:r>
            <a:r>
              <a:rPr lang="ko-KR" altLang="en-US" sz="1200" b="1" spc="0" baseline="0" dirty="0">
                <a:solidFill>
                  <a:srgbClr val="D97706"/>
                </a:solidFill>
                <a:latin typeface="맑은 고딕"/>
                <a:ea typeface="맑은 고딕"/>
                <a:cs typeface="Arial"/>
                <a:sym typeface="맑은 고딕"/>
                <a:rtl val="0"/>
              </a:rPr>
              <a:t>반환</a:t>
            </a:r>
          </a:p>
        </p:txBody>
      </p:sp>
      <p:sp>
        <p:nvSpPr>
          <p:cNvPr id="30" name="자유형: 도형 29">
            <a:extLst>
              <a:ext uri="{FF2B5EF4-FFF2-40B4-BE49-F238E27FC236}">
                <a16:creationId xmlns:a16="http://schemas.microsoft.com/office/drawing/2014/main" id="{0D39A78F-5010-4776-83D7-64CA3B05B40A}"/>
              </a:ext>
            </a:extLst>
          </p:cNvPr>
          <p:cNvSpPr/>
          <p:nvPr/>
        </p:nvSpPr>
        <p:spPr>
          <a:xfrm>
            <a:off x="7055738" y="1723719"/>
            <a:ext cx="3048000" cy="2000250"/>
          </a:xfrm>
          <a:custGeom>
            <a:avLst/>
            <a:gdLst>
              <a:gd name="connsiteX0" fmla="*/ 2914650 w 3048000"/>
              <a:gd name="connsiteY0" fmla="*/ 0 h 2000250"/>
              <a:gd name="connsiteX1" fmla="*/ 3048000 w 3048000"/>
              <a:gd name="connsiteY1" fmla="*/ 0 h 2000250"/>
              <a:gd name="connsiteX2" fmla="*/ 3048000 w 3048000"/>
              <a:gd name="connsiteY2" fmla="*/ 2000250 h 2000250"/>
              <a:gd name="connsiteX3" fmla="*/ 2914650 w 3048000"/>
              <a:gd name="connsiteY3" fmla="*/ 2000250 h 2000250"/>
              <a:gd name="connsiteX4" fmla="*/ 133350 w 3048000"/>
              <a:gd name="connsiteY4" fmla="*/ 2000250 h 2000250"/>
              <a:gd name="connsiteX5" fmla="*/ 0 w 3048000"/>
              <a:gd name="connsiteY5" fmla="*/ 2000250 h 2000250"/>
              <a:gd name="connsiteX6" fmla="*/ 0 w 3048000"/>
              <a:gd name="connsiteY6" fmla="*/ 0 h 2000250"/>
              <a:gd name="connsiteX7" fmla="*/ 133350 w 3048000"/>
              <a:gd name="connsiteY7" fmla="*/ 0 h 2000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048000" h="2000250">
                <a:moveTo>
                  <a:pt x="2914650" y="0"/>
                </a:moveTo>
                <a:cubicBezTo>
                  <a:pt x="2988297" y="0"/>
                  <a:pt x="3048000" y="0"/>
                  <a:pt x="3048000" y="0"/>
                </a:cubicBezTo>
                <a:lnTo>
                  <a:pt x="3048000" y="2000250"/>
                </a:lnTo>
                <a:cubicBezTo>
                  <a:pt x="3048000" y="2000250"/>
                  <a:pt x="2988297" y="2000250"/>
                  <a:pt x="2914650" y="2000250"/>
                </a:cubicBezTo>
                <a:lnTo>
                  <a:pt x="133350" y="2000250"/>
                </a:lnTo>
                <a:cubicBezTo>
                  <a:pt x="59703" y="2000250"/>
                  <a:pt x="0" y="2000250"/>
                  <a:pt x="0" y="2000250"/>
                </a:cubicBezTo>
                <a:lnTo>
                  <a:pt x="0" y="0"/>
                </a:lnTo>
                <a:cubicBezTo>
                  <a:pt x="0" y="0"/>
                  <a:pt x="59703" y="0"/>
                  <a:pt x="133350" y="0"/>
                </a:cubicBezTo>
                <a:close/>
              </a:path>
            </a:pathLst>
          </a:custGeom>
          <a:solidFill>
            <a:srgbClr val="10B98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FFB6068-00F5-49D8-A675-6875A7D85E97}"/>
              </a:ext>
            </a:extLst>
          </p:cNvPr>
          <p:cNvSpPr txBox="1"/>
          <p:nvPr/>
        </p:nvSpPr>
        <p:spPr>
          <a:xfrm>
            <a:off x="7783448" y="1801824"/>
            <a:ext cx="1592580" cy="2533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ko-KR" altLang="en-US" sz="1125" b="1" spc="0" baseline="0" dirty="0">
                <a:solidFill>
                  <a:srgbClr val="FFFFFF"/>
                </a:solidFill>
                <a:latin typeface="Arial"/>
                <a:ea typeface="+mn-ea"/>
                <a:cs typeface="Arial"/>
                <a:sym typeface="Arial"/>
                <a:rtl val="0"/>
              </a:rPr>
              <a:t>GPU (CUDA Kernels)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7B1E816-AC7D-4332-9E0F-4930C62DC770}"/>
              </a:ext>
            </a:extLst>
          </p:cNvPr>
          <p:cNvSpPr txBox="1"/>
          <p:nvPr/>
        </p:nvSpPr>
        <p:spPr>
          <a:xfrm>
            <a:off x="7778685" y="2011374"/>
            <a:ext cx="1602105" cy="2057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ko-KR" altLang="en-US" sz="825" spc="0" baseline="0" dirty="0">
                <a:solidFill>
                  <a:srgbClr val="A7F3D0"/>
                </a:solidFill>
                <a:latin typeface="Arial"/>
                <a:ea typeface="+mn-ea"/>
                <a:cs typeface="Arial"/>
                <a:sym typeface="Arial"/>
                <a:rtl val="0"/>
              </a:rPr>
              <a:t>RTX 5090 · 32 GB · CUDA 13.2</a:t>
            </a:r>
          </a:p>
        </p:txBody>
      </p:sp>
      <p:sp>
        <p:nvSpPr>
          <p:cNvPr id="34" name="자유형: 도형 33">
            <a:extLst>
              <a:ext uri="{FF2B5EF4-FFF2-40B4-BE49-F238E27FC236}">
                <a16:creationId xmlns:a16="http://schemas.microsoft.com/office/drawing/2014/main" id="{8447FEB5-BDAD-413A-AF88-AD0684981147}"/>
              </a:ext>
            </a:extLst>
          </p:cNvPr>
          <p:cNvSpPr/>
          <p:nvPr/>
        </p:nvSpPr>
        <p:spPr>
          <a:xfrm>
            <a:off x="7246238" y="2266644"/>
            <a:ext cx="2667000" cy="285750"/>
          </a:xfrm>
          <a:custGeom>
            <a:avLst/>
            <a:gdLst>
              <a:gd name="connsiteX0" fmla="*/ 2609850 w 2667000"/>
              <a:gd name="connsiteY0" fmla="*/ 0 h 285750"/>
              <a:gd name="connsiteX1" fmla="*/ 2667000 w 2667000"/>
              <a:gd name="connsiteY1" fmla="*/ 0 h 285750"/>
              <a:gd name="connsiteX2" fmla="*/ 2667000 w 2667000"/>
              <a:gd name="connsiteY2" fmla="*/ 285750 h 285750"/>
              <a:gd name="connsiteX3" fmla="*/ 2609850 w 2667000"/>
              <a:gd name="connsiteY3" fmla="*/ 285750 h 285750"/>
              <a:gd name="connsiteX4" fmla="*/ 57150 w 2667000"/>
              <a:gd name="connsiteY4" fmla="*/ 285750 h 285750"/>
              <a:gd name="connsiteX5" fmla="*/ 0 w 2667000"/>
              <a:gd name="connsiteY5" fmla="*/ 285750 h 285750"/>
              <a:gd name="connsiteX6" fmla="*/ 0 w 2667000"/>
              <a:gd name="connsiteY6" fmla="*/ 0 h 285750"/>
              <a:gd name="connsiteX7" fmla="*/ 57150 w 2667000"/>
              <a:gd name="connsiteY7" fmla="*/ 0 h 285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67000" h="285750">
                <a:moveTo>
                  <a:pt x="2609850" y="0"/>
                </a:moveTo>
                <a:cubicBezTo>
                  <a:pt x="2641413" y="0"/>
                  <a:pt x="2667000" y="0"/>
                  <a:pt x="2667000" y="0"/>
                </a:cubicBezTo>
                <a:lnTo>
                  <a:pt x="2667000" y="285750"/>
                </a:lnTo>
                <a:cubicBezTo>
                  <a:pt x="2667000" y="285750"/>
                  <a:pt x="2641413" y="285750"/>
                  <a:pt x="2609850" y="285750"/>
                </a:cubicBezTo>
                <a:lnTo>
                  <a:pt x="57150" y="285750"/>
                </a:lnTo>
                <a:cubicBezTo>
                  <a:pt x="25587" y="285750"/>
                  <a:pt x="0" y="285750"/>
                  <a:pt x="0" y="285750"/>
                </a:cubicBezTo>
                <a:lnTo>
                  <a:pt x="0" y="0"/>
                </a:lnTo>
                <a:cubicBezTo>
                  <a:pt x="0" y="0"/>
                  <a:pt x="25587" y="0"/>
                  <a:pt x="57150" y="0"/>
                </a:cubicBezTo>
                <a:close/>
              </a:path>
            </a:pathLst>
          </a:custGeom>
          <a:solidFill>
            <a:srgbClr val="059669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45343D7-96D7-41D4-B79D-DE453D07DAC6}"/>
              </a:ext>
            </a:extLst>
          </p:cNvPr>
          <p:cNvSpPr txBox="1"/>
          <p:nvPr/>
        </p:nvSpPr>
        <p:spPr>
          <a:xfrm>
            <a:off x="7902510" y="2287599"/>
            <a:ext cx="1354455" cy="2438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ko-KR" altLang="en-US" sz="900" spc="0" baseline="0" dirty="0">
                <a:solidFill>
                  <a:srgbClr val="FFFFFF"/>
                </a:solidFill>
                <a:latin typeface="Arial"/>
                <a:ea typeface="+mn-ea"/>
                <a:cs typeface="Arial"/>
                <a:sym typeface="Arial"/>
                <a:rtl val="0"/>
              </a:rPr>
              <a:t>FFT </a:t>
            </a:r>
            <a:r>
              <a:rPr lang="ko-KR" altLang="en-US" sz="900" spc="0" baseline="0" dirty="0">
                <a:solidFill>
                  <a:srgbClr val="FFFFFF"/>
                </a:solidFill>
                <a:latin typeface="맑은 고딕"/>
                <a:ea typeface="맑은 고딕"/>
                <a:cs typeface="Arial"/>
                <a:sym typeface="맑은 고딕"/>
                <a:rtl val="0"/>
              </a:rPr>
              <a:t>변환</a:t>
            </a:r>
            <a:r>
              <a:rPr lang="ko-KR" altLang="en-US" sz="900" spc="0" baseline="0" dirty="0">
                <a:solidFill>
                  <a:srgbClr val="FFFFFF"/>
                </a:solidFill>
                <a:latin typeface="Arial"/>
                <a:ea typeface="맑은 고딕"/>
                <a:cs typeface="Arial"/>
                <a:sym typeface="Arial"/>
                <a:rtl val="0"/>
              </a:rPr>
              <a:t> (288³ </a:t>
            </a:r>
            <a:r>
              <a:rPr lang="ko-KR" altLang="en-US" sz="900" spc="0" baseline="0" dirty="0">
                <a:solidFill>
                  <a:srgbClr val="FFFFFF"/>
                </a:solidFill>
                <a:latin typeface="맑은 고딕"/>
                <a:ea typeface="맑은 고딕"/>
                <a:cs typeface="Arial"/>
                <a:sym typeface="맑은 고딕"/>
                <a:rtl val="0"/>
              </a:rPr>
              <a:t>그리드</a:t>
            </a:r>
            <a:r>
              <a:rPr lang="ko-KR" altLang="en-US" sz="900" spc="0" baseline="0" dirty="0">
                <a:solidFill>
                  <a:srgbClr val="FFFFFF"/>
                </a:solidFill>
                <a:latin typeface="Arial"/>
                <a:ea typeface="맑은 고딕"/>
                <a:cs typeface="Arial"/>
                <a:sym typeface="Arial"/>
                <a:rtl val="0"/>
              </a:rPr>
              <a:t>)</a:t>
            </a:r>
          </a:p>
        </p:txBody>
      </p:sp>
      <p:sp>
        <p:nvSpPr>
          <p:cNvPr id="36" name="자유형: 도형 35">
            <a:extLst>
              <a:ext uri="{FF2B5EF4-FFF2-40B4-BE49-F238E27FC236}">
                <a16:creationId xmlns:a16="http://schemas.microsoft.com/office/drawing/2014/main" id="{097DC0C4-4237-46B6-9A56-4251923AB5C7}"/>
              </a:ext>
            </a:extLst>
          </p:cNvPr>
          <p:cNvSpPr/>
          <p:nvPr/>
        </p:nvSpPr>
        <p:spPr>
          <a:xfrm>
            <a:off x="7246238" y="2609544"/>
            <a:ext cx="2667000" cy="285750"/>
          </a:xfrm>
          <a:custGeom>
            <a:avLst/>
            <a:gdLst>
              <a:gd name="connsiteX0" fmla="*/ 2609850 w 2667000"/>
              <a:gd name="connsiteY0" fmla="*/ 0 h 285750"/>
              <a:gd name="connsiteX1" fmla="*/ 2667000 w 2667000"/>
              <a:gd name="connsiteY1" fmla="*/ 0 h 285750"/>
              <a:gd name="connsiteX2" fmla="*/ 2667000 w 2667000"/>
              <a:gd name="connsiteY2" fmla="*/ 285750 h 285750"/>
              <a:gd name="connsiteX3" fmla="*/ 2609850 w 2667000"/>
              <a:gd name="connsiteY3" fmla="*/ 285750 h 285750"/>
              <a:gd name="connsiteX4" fmla="*/ 57150 w 2667000"/>
              <a:gd name="connsiteY4" fmla="*/ 285750 h 285750"/>
              <a:gd name="connsiteX5" fmla="*/ 0 w 2667000"/>
              <a:gd name="connsiteY5" fmla="*/ 285750 h 285750"/>
              <a:gd name="connsiteX6" fmla="*/ 0 w 2667000"/>
              <a:gd name="connsiteY6" fmla="*/ 0 h 285750"/>
              <a:gd name="connsiteX7" fmla="*/ 57150 w 2667000"/>
              <a:gd name="connsiteY7" fmla="*/ 0 h 285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67000" h="285750">
                <a:moveTo>
                  <a:pt x="2609850" y="0"/>
                </a:moveTo>
                <a:cubicBezTo>
                  <a:pt x="2641413" y="0"/>
                  <a:pt x="2667000" y="0"/>
                  <a:pt x="2667000" y="0"/>
                </a:cubicBezTo>
                <a:lnTo>
                  <a:pt x="2667000" y="285750"/>
                </a:lnTo>
                <a:cubicBezTo>
                  <a:pt x="2667000" y="285750"/>
                  <a:pt x="2641413" y="285750"/>
                  <a:pt x="2609850" y="285750"/>
                </a:cubicBezTo>
                <a:lnTo>
                  <a:pt x="57150" y="285750"/>
                </a:lnTo>
                <a:cubicBezTo>
                  <a:pt x="25587" y="285750"/>
                  <a:pt x="0" y="285750"/>
                  <a:pt x="0" y="285750"/>
                </a:cubicBezTo>
                <a:lnTo>
                  <a:pt x="0" y="0"/>
                </a:lnTo>
                <a:cubicBezTo>
                  <a:pt x="0" y="0"/>
                  <a:pt x="25587" y="0"/>
                  <a:pt x="57150" y="0"/>
                </a:cubicBezTo>
                <a:close/>
              </a:path>
            </a:pathLst>
          </a:custGeom>
          <a:solidFill>
            <a:srgbClr val="059669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27A0148-1EFC-4E50-A0C4-019D1790230B}"/>
              </a:ext>
            </a:extLst>
          </p:cNvPr>
          <p:cNvSpPr txBox="1"/>
          <p:nvPr/>
        </p:nvSpPr>
        <p:spPr>
          <a:xfrm>
            <a:off x="7664385" y="2630499"/>
            <a:ext cx="1830705" cy="2438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ko-KR" altLang="en-US" sz="900" spc="0" baseline="0" dirty="0">
                <a:solidFill>
                  <a:srgbClr val="FFFFFF"/>
                </a:solidFill>
                <a:latin typeface="맑은 고딕"/>
                <a:ea typeface="맑은 고딕"/>
                <a:sym typeface="맑은 고딕"/>
                <a:rtl val="0"/>
              </a:rPr>
              <a:t>콜로케이션</a:t>
            </a:r>
            <a:r>
              <a:rPr lang="ko-KR" altLang="en-US" sz="900" spc="0" baseline="0" dirty="0">
                <a:solidFill>
                  <a:srgbClr val="FFFFFF"/>
                </a:solidFill>
                <a:latin typeface="Arial"/>
                <a:ea typeface="맑은 고딕"/>
                <a:cs typeface="Arial"/>
                <a:sym typeface="Arial"/>
                <a:rtl val="0"/>
              </a:rPr>
              <a:t> (</a:t>
            </a:r>
            <a:r>
              <a:rPr lang="ko-KR" altLang="en-US" sz="900" spc="0" baseline="0" dirty="0">
                <a:solidFill>
                  <a:srgbClr val="FFFFFF"/>
                </a:solidFill>
                <a:latin typeface="맑은 고딕"/>
                <a:ea typeface="맑은 고딕"/>
                <a:cs typeface="Arial"/>
                <a:sym typeface="맑은 고딕"/>
                <a:rtl val="0"/>
              </a:rPr>
              <a:t>가우시안</a:t>
            </a:r>
            <a:r>
              <a:rPr lang="ko-KR" altLang="en-US" sz="900" spc="0" baseline="0" dirty="0">
                <a:solidFill>
                  <a:srgbClr val="FFFFFF"/>
                </a:solidFill>
                <a:latin typeface="Arial"/>
                <a:ea typeface="맑은 고딕"/>
                <a:cs typeface="Arial"/>
                <a:sym typeface="Arial"/>
                <a:rtl val="0"/>
              </a:rPr>
              <a:t> → </a:t>
            </a:r>
            <a:r>
              <a:rPr lang="ko-KR" altLang="en-US" sz="900" spc="0" baseline="0" dirty="0">
                <a:solidFill>
                  <a:srgbClr val="FFFFFF"/>
                </a:solidFill>
                <a:latin typeface="맑은 고딕"/>
                <a:ea typeface="맑은 고딕"/>
                <a:cs typeface="Arial"/>
                <a:sym typeface="맑은 고딕"/>
                <a:rtl val="0"/>
              </a:rPr>
              <a:t>그리드</a:t>
            </a:r>
            <a:r>
              <a:rPr lang="ko-KR" altLang="en-US" sz="900" spc="0" baseline="0" dirty="0">
                <a:solidFill>
                  <a:srgbClr val="FFFFFF"/>
                </a:solidFill>
                <a:latin typeface="Arial"/>
                <a:ea typeface="맑은 고딕"/>
                <a:cs typeface="Arial"/>
                <a:sym typeface="Arial"/>
                <a:rtl val="0"/>
              </a:rPr>
              <a:t>)</a:t>
            </a:r>
          </a:p>
        </p:txBody>
      </p:sp>
      <p:sp>
        <p:nvSpPr>
          <p:cNvPr id="38" name="자유형: 도형 37">
            <a:extLst>
              <a:ext uri="{FF2B5EF4-FFF2-40B4-BE49-F238E27FC236}">
                <a16:creationId xmlns:a16="http://schemas.microsoft.com/office/drawing/2014/main" id="{F2E671A0-B173-42EA-90AA-DB25B1D5B175}"/>
              </a:ext>
            </a:extLst>
          </p:cNvPr>
          <p:cNvSpPr/>
          <p:nvPr/>
        </p:nvSpPr>
        <p:spPr>
          <a:xfrm>
            <a:off x="7246238" y="2952444"/>
            <a:ext cx="2667000" cy="285750"/>
          </a:xfrm>
          <a:custGeom>
            <a:avLst/>
            <a:gdLst>
              <a:gd name="connsiteX0" fmla="*/ 2609850 w 2667000"/>
              <a:gd name="connsiteY0" fmla="*/ 0 h 285750"/>
              <a:gd name="connsiteX1" fmla="*/ 2667000 w 2667000"/>
              <a:gd name="connsiteY1" fmla="*/ 0 h 285750"/>
              <a:gd name="connsiteX2" fmla="*/ 2667000 w 2667000"/>
              <a:gd name="connsiteY2" fmla="*/ 285750 h 285750"/>
              <a:gd name="connsiteX3" fmla="*/ 2609850 w 2667000"/>
              <a:gd name="connsiteY3" fmla="*/ 285750 h 285750"/>
              <a:gd name="connsiteX4" fmla="*/ 57150 w 2667000"/>
              <a:gd name="connsiteY4" fmla="*/ 285750 h 285750"/>
              <a:gd name="connsiteX5" fmla="*/ 0 w 2667000"/>
              <a:gd name="connsiteY5" fmla="*/ 285750 h 285750"/>
              <a:gd name="connsiteX6" fmla="*/ 0 w 2667000"/>
              <a:gd name="connsiteY6" fmla="*/ 0 h 285750"/>
              <a:gd name="connsiteX7" fmla="*/ 57150 w 2667000"/>
              <a:gd name="connsiteY7" fmla="*/ 0 h 285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67000" h="285750">
                <a:moveTo>
                  <a:pt x="2609850" y="0"/>
                </a:moveTo>
                <a:cubicBezTo>
                  <a:pt x="2641413" y="0"/>
                  <a:pt x="2667000" y="0"/>
                  <a:pt x="2667000" y="0"/>
                </a:cubicBezTo>
                <a:lnTo>
                  <a:pt x="2667000" y="285750"/>
                </a:lnTo>
                <a:cubicBezTo>
                  <a:pt x="2667000" y="285750"/>
                  <a:pt x="2641413" y="285750"/>
                  <a:pt x="2609850" y="285750"/>
                </a:cubicBezTo>
                <a:lnTo>
                  <a:pt x="57150" y="285750"/>
                </a:lnTo>
                <a:cubicBezTo>
                  <a:pt x="25587" y="285750"/>
                  <a:pt x="0" y="285750"/>
                  <a:pt x="0" y="285750"/>
                </a:cubicBezTo>
                <a:lnTo>
                  <a:pt x="0" y="0"/>
                </a:lnTo>
                <a:cubicBezTo>
                  <a:pt x="0" y="0"/>
                  <a:pt x="25587" y="0"/>
                  <a:pt x="57150" y="0"/>
                </a:cubicBezTo>
                <a:close/>
              </a:path>
            </a:pathLst>
          </a:custGeom>
          <a:solidFill>
            <a:srgbClr val="059669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E354171-DB7B-4DF4-B2B4-EFF489CCE246}"/>
              </a:ext>
            </a:extLst>
          </p:cNvPr>
          <p:cNvSpPr txBox="1"/>
          <p:nvPr/>
        </p:nvSpPr>
        <p:spPr>
          <a:xfrm>
            <a:off x="7697723" y="2973399"/>
            <a:ext cx="1764030" cy="2438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ko-KR" altLang="en-US" sz="900" spc="0" baseline="0" dirty="0">
                <a:solidFill>
                  <a:srgbClr val="FFFFFF"/>
                </a:solidFill>
                <a:latin typeface="Arial"/>
                <a:ea typeface="+mn-ea"/>
                <a:cs typeface="Arial"/>
                <a:sym typeface="Arial"/>
                <a:rtl val="0"/>
              </a:rPr>
              <a:t>Hartree </a:t>
            </a:r>
            <a:r>
              <a:rPr lang="ko-KR" altLang="en-US" sz="900" spc="0" baseline="0" dirty="0">
                <a:solidFill>
                  <a:srgbClr val="FFFFFF"/>
                </a:solidFill>
                <a:latin typeface="맑은 고딕"/>
                <a:ea typeface="맑은 고딕"/>
                <a:cs typeface="Arial"/>
                <a:sym typeface="맑은 고딕"/>
                <a:rtl val="0"/>
              </a:rPr>
              <a:t>포텐셜</a:t>
            </a:r>
            <a:r>
              <a:rPr lang="ko-KR" altLang="en-US" sz="900" spc="0" baseline="0" dirty="0">
                <a:solidFill>
                  <a:srgbClr val="FFFFFF"/>
                </a:solidFill>
                <a:latin typeface="Arial"/>
                <a:ea typeface="맑은 고딕"/>
                <a:cs typeface="Arial"/>
                <a:sym typeface="Arial"/>
                <a:rtl val="0"/>
              </a:rPr>
              <a:t> (</a:t>
            </a:r>
            <a:r>
              <a:rPr lang="ko-KR" altLang="en-US" sz="900" spc="0" baseline="0" dirty="0">
                <a:solidFill>
                  <a:srgbClr val="FFFFFF"/>
                </a:solidFill>
                <a:latin typeface="맑은 고딕"/>
                <a:ea typeface="맑은 고딕"/>
                <a:cs typeface="Arial"/>
                <a:sym typeface="맑은 고딕"/>
                <a:rtl val="0"/>
              </a:rPr>
              <a:t>포아송</a:t>
            </a:r>
            <a:r>
              <a:rPr lang="ko-KR" altLang="en-US" sz="900" spc="0" baseline="0" dirty="0">
                <a:solidFill>
                  <a:srgbClr val="FFFFFF"/>
                </a:solidFill>
                <a:latin typeface="Arial"/>
                <a:ea typeface="맑은 고딕"/>
                <a:cs typeface="Arial"/>
                <a:sym typeface="Arial"/>
                <a:rtl val="0"/>
              </a:rPr>
              <a:t> </a:t>
            </a:r>
            <a:r>
              <a:rPr lang="ko-KR" altLang="en-US" sz="900" spc="0" baseline="0" dirty="0">
                <a:solidFill>
                  <a:srgbClr val="FFFFFF"/>
                </a:solidFill>
                <a:latin typeface="맑은 고딕"/>
                <a:ea typeface="맑은 고딕"/>
                <a:cs typeface="Arial"/>
                <a:sym typeface="맑은 고딕"/>
                <a:rtl val="0"/>
              </a:rPr>
              <a:t>방정식</a:t>
            </a:r>
            <a:r>
              <a:rPr lang="ko-KR" altLang="en-US" sz="900" spc="0" baseline="0" dirty="0">
                <a:solidFill>
                  <a:srgbClr val="FFFFFF"/>
                </a:solidFill>
                <a:latin typeface="Arial"/>
                <a:ea typeface="맑은 고딕"/>
                <a:cs typeface="Arial"/>
                <a:sym typeface="Arial"/>
                <a:rtl val="0"/>
              </a:rPr>
              <a:t>)</a:t>
            </a:r>
          </a:p>
        </p:txBody>
      </p:sp>
      <p:sp>
        <p:nvSpPr>
          <p:cNvPr id="41" name="자유형: 도형 40">
            <a:extLst>
              <a:ext uri="{FF2B5EF4-FFF2-40B4-BE49-F238E27FC236}">
                <a16:creationId xmlns:a16="http://schemas.microsoft.com/office/drawing/2014/main" id="{94B118A4-B49C-47B5-938B-818B87628363}"/>
              </a:ext>
            </a:extLst>
          </p:cNvPr>
          <p:cNvSpPr/>
          <p:nvPr/>
        </p:nvSpPr>
        <p:spPr>
          <a:xfrm>
            <a:off x="7246238" y="3295344"/>
            <a:ext cx="2667000" cy="285750"/>
          </a:xfrm>
          <a:custGeom>
            <a:avLst/>
            <a:gdLst>
              <a:gd name="connsiteX0" fmla="*/ 2609850 w 2667000"/>
              <a:gd name="connsiteY0" fmla="*/ 0 h 285750"/>
              <a:gd name="connsiteX1" fmla="*/ 2667000 w 2667000"/>
              <a:gd name="connsiteY1" fmla="*/ 0 h 285750"/>
              <a:gd name="connsiteX2" fmla="*/ 2667000 w 2667000"/>
              <a:gd name="connsiteY2" fmla="*/ 285750 h 285750"/>
              <a:gd name="connsiteX3" fmla="*/ 2609850 w 2667000"/>
              <a:gd name="connsiteY3" fmla="*/ 285750 h 285750"/>
              <a:gd name="connsiteX4" fmla="*/ 57150 w 2667000"/>
              <a:gd name="connsiteY4" fmla="*/ 285750 h 285750"/>
              <a:gd name="connsiteX5" fmla="*/ 0 w 2667000"/>
              <a:gd name="connsiteY5" fmla="*/ 285750 h 285750"/>
              <a:gd name="connsiteX6" fmla="*/ 0 w 2667000"/>
              <a:gd name="connsiteY6" fmla="*/ 0 h 285750"/>
              <a:gd name="connsiteX7" fmla="*/ 57150 w 2667000"/>
              <a:gd name="connsiteY7" fmla="*/ 0 h 285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67000" h="285750">
                <a:moveTo>
                  <a:pt x="2609850" y="0"/>
                </a:moveTo>
                <a:cubicBezTo>
                  <a:pt x="2641413" y="0"/>
                  <a:pt x="2667000" y="0"/>
                  <a:pt x="2667000" y="0"/>
                </a:cubicBezTo>
                <a:lnTo>
                  <a:pt x="2667000" y="285750"/>
                </a:lnTo>
                <a:cubicBezTo>
                  <a:pt x="2667000" y="285750"/>
                  <a:pt x="2641413" y="285750"/>
                  <a:pt x="2609850" y="285750"/>
                </a:cubicBezTo>
                <a:lnTo>
                  <a:pt x="57150" y="285750"/>
                </a:lnTo>
                <a:cubicBezTo>
                  <a:pt x="25587" y="285750"/>
                  <a:pt x="0" y="285750"/>
                  <a:pt x="0" y="285750"/>
                </a:cubicBezTo>
                <a:lnTo>
                  <a:pt x="0" y="0"/>
                </a:lnTo>
                <a:cubicBezTo>
                  <a:pt x="0" y="0"/>
                  <a:pt x="25587" y="0"/>
                  <a:pt x="57150" y="0"/>
                </a:cubicBezTo>
                <a:close/>
              </a:path>
            </a:pathLst>
          </a:custGeom>
          <a:solidFill>
            <a:srgbClr val="059669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99ED688-A9BC-4B6B-93A2-4FF7C485F51C}"/>
              </a:ext>
            </a:extLst>
          </p:cNvPr>
          <p:cNvSpPr txBox="1"/>
          <p:nvPr/>
        </p:nvSpPr>
        <p:spPr>
          <a:xfrm>
            <a:off x="7912035" y="3316299"/>
            <a:ext cx="1335405" cy="2438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ko-KR" altLang="en-US" sz="900" spc="0" baseline="0" dirty="0">
                <a:solidFill>
                  <a:srgbClr val="FFFFFF"/>
                </a:solidFill>
                <a:latin typeface="Arial"/>
                <a:ea typeface="+mn-ea"/>
                <a:cs typeface="Arial"/>
                <a:sym typeface="Arial"/>
                <a:rtl val="0"/>
              </a:rPr>
              <a:t>XC </a:t>
            </a:r>
            <a:r>
              <a:rPr lang="ko-KR" altLang="en-US" sz="900" spc="0" baseline="0" dirty="0">
                <a:solidFill>
                  <a:srgbClr val="FFFFFF"/>
                </a:solidFill>
                <a:latin typeface="맑은 고딕"/>
                <a:ea typeface="맑은 고딕"/>
                <a:cs typeface="Arial"/>
                <a:sym typeface="맑은 고딕"/>
                <a:rtl val="0"/>
              </a:rPr>
              <a:t>포텐셜</a:t>
            </a:r>
            <a:r>
              <a:rPr lang="ko-KR" altLang="en-US" sz="900" spc="0" baseline="0" dirty="0">
                <a:solidFill>
                  <a:srgbClr val="FFFFFF"/>
                </a:solidFill>
                <a:latin typeface="Arial"/>
                <a:ea typeface="맑은 고딕"/>
                <a:cs typeface="Arial"/>
                <a:sym typeface="Arial"/>
                <a:rtl val="0"/>
              </a:rPr>
              <a:t> </a:t>
            </a:r>
            <a:r>
              <a:rPr lang="ko-KR" altLang="en-US" sz="900" spc="0" baseline="0" dirty="0">
                <a:solidFill>
                  <a:srgbClr val="FFFFFF"/>
                </a:solidFill>
                <a:latin typeface="맑은 고딕"/>
                <a:ea typeface="맑은 고딕"/>
                <a:cs typeface="Arial"/>
                <a:sym typeface="맑은 고딕"/>
                <a:rtl val="0"/>
              </a:rPr>
              <a:t>그리드</a:t>
            </a:r>
            <a:r>
              <a:rPr lang="ko-KR" altLang="en-US" sz="900" spc="0" baseline="0" dirty="0">
                <a:solidFill>
                  <a:srgbClr val="FFFFFF"/>
                </a:solidFill>
                <a:latin typeface="Arial"/>
                <a:ea typeface="맑은 고딕"/>
                <a:cs typeface="Arial"/>
                <a:sym typeface="Arial"/>
                <a:rtl val="0"/>
              </a:rPr>
              <a:t> </a:t>
            </a:r>
            <a:r>
              <a:rPr lang="ko-KR" altLang="en-US" sz="900" spc="0" baseline="0" dirty="0">
                <a:solidFill>
                  <a:srgbClr val="FFFFFF"/>
                </a:solidFill>
                <a:latin typeface="맑은 고딕"/>
                <a:ea typeface="맑은 고딕"/>
                <a:cs typeface="Arial"/>
                <a:sym typeface="맑은 고딕"/>
                <a:rtl val="0"/>
              </a:rPr>
              <a:t>적분</a:t>
            </a:r>
          </a:p>
        </p:txBody>
      </p:sp>
      <p:sp>
        <p:nvSpPr>
          <p:cNvPr id="44" name="자유형: 도형 43">
            <a:extLst>
              <a:ext uri="{FF2B5EF4-FFF2-40B4-BE49-F238E27FC236}">
                <a16:creationId xmlns:a16="http://schemas.microsoft.com/office/drawing/2014/main" id="{596D44AA-48B9-4A7C-8A86-23057B613C02}"/>
              </a:ext>
            </a:extLst>
          </p:cNvPr>
          <p:cNvSpPr/>
          <p:nvPr/>
        </p:nvSpPr>
        <p:spPr>
          <a:xfrm>
            <a:off x="1721738" y="3819219"/>
            <a:ext cx="8382000" cy="171450"/>
          </a:xfrm>
          <a:custGeom>
            <a:avLst/>
            <a:gdLst>
              <a:gd name="connsiteX0" fmla="*/ 8343900 w 8382000"/>
              <a:gd name="connsiteY0" fmla="*/ 0 h 171450"/>
              <a:gd name="connsiteX1" fmla="*/ 8382000 w 8382000"/>
              <a:gd name="connsiteY1" fmla="*/ 0 h 171450"/>
              <a:gd name="connsiteX2" fmla="*/ 8382000 w 8382000"/>
              <a:gd name="connsiteY2" fmla="*/ 171450 h 171450"/>
              <a:gd name="connsiteX3" fmla="*/ 8343900 w 8382000"/>
              <a:gd name="connsiteY3" fmla="*/ 171450 h 171450"/>
              <a:gd name="connsiteX4" fmla="*/ 38100 w 8382000"/>
              <a:gd name="connsiteY4" fmla="*/ 171450 h 171450"/>
              <a:gd name="connsiteX5" fmla="*/ 0 w 8382000"/>
              <a:gd name="connsiteY5" fmla="*/ 171450 h 171450"/>
              <a:gd name="connsiteX6" fmla="*/ 0 w 8382000"/>
              <a:gd name="connsiteY6" fmla="*/ 0 h 171450"/>
              <a:gd name="connsiteX7" fmla="*/ 38100 w 8382000"/>
              <a:gd name="connsiteY7" fmla="*/ 0 h 1714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382000" h="171450">
                <a:moveTo>
                  <a:pt x="8343900" y="0"/>
                </a:moveTo>
                <a:cubicBezTo>
                  <a:pt x="8364943" y="0"/>
                  <a:pt x="8382000" y="0"/>
                  <a:pt x="8382000" y="0"/>
                </a:cubicBezTo>
                <a:lnTo>
                  <a:pt x="8382000" y="171450"/>
                </a:lnTo>
                <a:cubicBezTo>
                  <a:pt x="8382000" y="171450"/>
                  <a:pt x="8364943" y="171450"/>
                  <a:pt x="8343900" y="171450"/>
                </a:cubicBezTo>
                <a:lnTo>
                  <a:pt x="38100" y="171450"/>
                </a:lnTo>
                <a:cubicBezTo>
                  <a:pt x="17058" y="171450"/>
                  <a:pt x="0" y="171450"/>
                  <a:pt x="0" y="171450"/>
                </a:cubicBezTo>
                <a:lnTo>
                  <a:pt x="0" y="0"/>
                </a:lnTo>
                <a:cubicBezTo>
                  <a:pt x="0" y="0"/>
                  <a:pt x="17058" y="0"/>
                  <a:pt x="38100" y="0"/>
                </a:cubicBezTo>
                <a:close/>
              </a:path>
            </a:pathLst>
          </a:custGeom>
          <a:solidFill>
            <a:srgbClr val="FEF3C7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F811D3C-D85A-4046-A279-94DED84AFED9}"/>
              </a:ext>
            </a:extLst>
          </p:cNvPr>
          <p:cNvSpPr txBox="1"/>
          <p:nvPr/>
        </p:nvSpPr>
        <p:spPr>
          <a:xfrm>
            <a:off x="3686811" y="3715442"/>
            <a:ext cx="4451861" cy="31354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1050" b="1" spc="0" baseline="0" dirty="0">
                <a:solidFill>
                  <a:srgbClr val="92400E"/>
                </a:solidFill>
                <a:latin typeface="Arial"/>
                <a:ea typeface="+mn-ea"/>
                <a:cs typeface="Arial"/>
                <a:sym typeface="Arial"/>
                <a:rtl val="0"/>
              </a:rPr>
              <a:t>SCF 1 step ≈ 5~6 s │ CPU-only </a:t>
            </a:r>
            <a:r>
              <a:rPr lang="ko-KR" altLang="en-US" sz="1100" b="1" spc="0" baseline="0" dirty="0">
                <a:solidFill>
                  <a:srgbClr val="92400E"/>
                </a:solidFill>
                <a:latin typeface="맑은 고딕"/>
                <a:ea typeface="맑은 고딕"/>
                <a:cs typeface="Arial"/>
                <a:sym typeface="맑은 고딕"/>
                <a:rtl val="0"/>
              </a:rPr>
              <a:t>시</a:t>
            </a:r>
            <a:r>
              <a:rPr lang="ko-KR" altLang="en-US" sz="1050" b="1" spc="0" baseline="0" dirty="0">
                <a:solidFill>
                  <a:srgbClr val="92400E"/>
                </a:solidFill>
                <a:latin typeface="Arial"/>
                <a:ea typeface="맑은 고딕"/>
                <a:cs typeface="Arial"/>
                <a:sym typeface="Arial"/>
                <a:rtl val="0"/>
              </a:rPr>
              <a:t> 15~25 s </a:t>
            </a:r>
            <a:r>
              <a:rPr lang="ko-KR" altLang="en-US" sz="1100" b="1" spc="0" baseline="0" dirty="0">
                <a:solidFill>
                  <a:srgbClr val="92400E"/>
                </a:solidFill>
                <a:latin typeface="맑은 고딕"/>
                <a:ea typeface="맑은 고딕"/>
                <a:cs typeface="Arial"/>
                <a:sym typeface="맑은 고딕"/>
                <a:rtl val="0"/>
              </a:rPr>
              <a:t>예상</a:t>
            </a:r>
            <a:r>
              <a:rPr lang="ko-KR" altLang="en-US" sz="1050" b="1" spc="0" baseline="0" dirty="0">
                <a:solidFill>
                  <a:srgbClr val="92400E"/>
                </a:solidFill>
                <a:latin typeface="Arial"/>
                <a:ea typeface="맑은 고딕"/>
                <a:cs typeface="Arial"/>
                <a:sym typeface="Arial"/>
                <a:rtl val="0"/>
              </a:rPr>
              <a:t> │ GPU </a:t>
            </a:r>
            <a:r>
              <a:rPr lang="ko-KR" altLang="en-US" sz="1100" b="1" spc="0" baseline="0" dirty="0">
                <a:solidFill>
                  <a:srgbClr val="92400E"/>
                </a:solidFill>
                <a:latin typeface="맑은 고딕"/>
                <a:ea typeface="맑은 고딕"/>
                <a:cs typeface="Arial"/>
                <a:sym typeface="맑은 고딕"/>
                <a:rtl val="0"/>
              </a:rPr>
              <a:t>가속</a:t>
            </a:r>
            <a:r>
              <a:rPr lang="ko-KR" altLang="en-US" sz="1050" b="1" spc="0" baseline="0" dirty="0">
                <a:solidFill>
                  <a:srgbClr val="92400E"/>
                </a:solidFill>
                <a:latin typeface="Arial"/>
                <a:ea typeface="맑은 고딕"/>
                <a:cs typeface="Arial"/>
                <a:sym typeface="Arial"/>
                <a:rtl val="0"/>
              </a:rPr>
              <a:t> </a:t>
            </a:r>
            <a:r>
              <a:rPr lang="ko-KR" altLang="en-US" sz="1100" b="1" spc="0" baseline="0" dirty="0">
                <a:solidFill>
                  <a:srgbClr val="92400E"/>
                </a:solidFill>
                <a:latin typeface="맑은 고딕"/>
                <a:ea typeface="맑은 고딕"/>
                <a:cs typeface="Arial"/>
                <a:sym typeface="맑은 고딕"/>
                <a:rtl val="0"/>
              </a:rPr>
              <a:t>약</a:t>
            </a:r>
            <a:r>
              <a:rPr lang="ko-KR" altLang="en-US" sz="1050" b="1" spc="0" baseline="0" dirty="0">
                <a:solidFill>
                  <a:srgbClr val="92400E"/>
                </a:solidFill>
                <a:latin typeface="Arial"/>
                <a:ea typeface="맑은 고딕"/>
                <a:cs typeface="Arial"/>
                <a:sym typeface="Arial"/>
                <a:rtl val="0"/>
              </a:rPr>
              <a:t> 3~4×</a:t>
            </a:r>
          </a:p>
        </p:txBody>
      </p:sp>
    </p:spTree>
    <p:extLst>
      <p:ext uri="{BB962C8B-B14F-4D97-AF65-F5344CB8AC3E}">
        <p14:creationId xmlns:p14="http://schemas.microsoft.com/office/powerpoint/2010/main" val="15649559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9E7424-D86F-C1F3-AC53-4F6C5EC0C9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0" name="Google Shape;13;p2">
            <a:extLst>
              <a:ext uri="{FF2B5EF4-FFF2-40B4-BE49-F238E27FC236}">
                <a16:creationId xmlns:a16="http://schemas.microsoft.com/office/drawing/2014/main" id="{09B5769D-8AE7-651F-5CE9-35B85A72288D}"/>
              </a:ext>
            </a:extLst>
          </p:cNvPr>
          <p:cNvSpPr/>
          <p:nvPr/>
        </p:nvSpPr>
        <p:spPr>
          <a:xfrm rot="5400000">
            <a:off x="114786" y="321006"/>
            <a:ext cx="431337" cy="69652"/>
          </a:xfrm>
          <a:prstGeom prst="rect">
            <a:avLst/>
          </a:prstGeom>
          <a:solidFill>
            <a:srgbClr val="A4362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+mn-ea"/>
              <a:cs typeface="Microsoft GothicNeo" panose="020B0500000101010101" pitchFamily="50" charset="-127"/>
            </a:endParaRPr>
          </a:p>
        </p:txBody>
      </p:sp>
      <p:sp>
        <p:nvSpPr>
          <p:cNvPr id="2231" name="Google Shape;94;p13">
            <a:extLst>
              <a:ext uri="{FF2B5EF4-FFF2-40B4-BE49-F238E27FC236}">
                <a16:creationId xmlns:a16="http://schemas.microsoft.com/office/drawing/2014/main" id="{BA001928-329A-BFAB-50A0-5FD9E5FD91F8}"/>
              </a:ext>
            </a:extLst>
          </p:cNvPr>
          <p:cNvSpPr txBox="1"/>
          <p:nvPr/>
        </p:nvSpPr>
        <p:spPr>
          <a:xfrm>
            <a:off x="365281" y="-14672"/>
            <a:ext cx="11531090" cy="666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spcBef>
                <a:spcPts val="600"/>
              </a:spcBef>
            </a:pPr>
            <a:r>
              <a:rPr lang="ko-KR" altLang="en-US" sz="2800" b="1" dirty="0">
                <a:solidFill>
                  <a:srgbClr val="931A1B"/>
                </a:solidFill>
                <a:latin typeface="+mn-ea"/>
                <a:cs typeface="Microsoft GothicNeo" panose="020B0500000101010101" pitchFamily="50" charset="-127"/>
              </a:rPr>
              <a:t>하드웨어 리소스 사용 현황 분석</a:t>
            </a:r>
            <a:endParaRPr lang="en-US" altLang="ko-KR" sz="2800" b="1" dirty="0">
              <a:solidFill>
                <a:srgbClr val="931A1B"/>
              </a:solidFill>
              <a:latin typeface="+mn-ea"/>
              <a:cs typeface="Microsoft GothicNeo" panose="020B0500000101010101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C8BD7CD-C82B-A964-1C12-1903A1D9BA66}"/>
              </a:ext>
            </a:extLst>
          </p:cNvPr>
          <p:cNvSpPr txBox="1"/>
          <p:nvPr/>
        </p:nvSpPr>
        <p:spPr>
          <a:xfrm>
            <a:off x="365281" y="594049"/>
            <a:ext cx="11258550" cy="4178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600" b="1" dirty="0">
                <a:latin typeface="+mn-ea"/>
              </a:rPr>
              <a:t>1. </a:t>
            </a:r>
            <a:r>
              <a:rPr lang="ko-KR" altLang="en-US" sz="1600" b="1" dirty="0">
                <a:latin typeface="+mn-ea"/>
              </a:rPr>
              <a:t>프로젝트 목적</a:t>
            </a:r>
            <a:endParaRPr lang="en-US" altLang="ko-KR" sz="1600" b="1" dirty="0">
              <a:latin typeface="+mn-ea"/>
            </a:endParaRPr>
          </a:p>
        </p:txBody>
      </p:sp>
      <p:sp>
        <p:nvSpPr>
          <p:cNvPr id="2" name="이등변 삼각형 1">
            <a:extLst>
              <a:ext uri="{FF2B5EF4-FFF2-40B4-BE49-F238E27FC236}">
                <a16:creationId xmlns:a16="http://schemas.microsoft.com/office/drawing/2014/main" id="{26503D02-D966-A29E-B223-0EF85362C68C}"/>
              </a:ext>
            </a:extLst>
          </p:cNvPr>
          <p:cNvSpPr/>
          <p:nvPr/>
        </p:nvSpPr>
        <p:spPr bwMode="auto">
          <a:xfrm rot="5400000">
            <a:off x="409315" y="764610"/>
            <a:ext cx="192717" cy="160137"/>
          </a:xfrm>
          <a:prstGeom prst="triangle">
            <a:avLst/>
          </a:prstGeom>
          <a:solidFill>
            <a:schemeClr val="tx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8311455-4400-2150-DC6A-B42DB4EF5645}"/>
              </a:ext>
            </a:extLst>
          </p:cNvPr>
          <p:cNvSpPr txBox="1"/>
          <p:nvPr/>
        </p:nvSpPr>
        <p:spPr>
          <a:xfrm>
            <a:off x="585742" y="3880198"/>
            <a:ext cx="11258550" cy="28552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100" dirty="0">
                <a:latin typeface="+mn-ea"/>
              </a:rPr>
              <a:t>GPU-Util 100%</a:t>
            </a:r>
            <a:r>
              <a:rPr lang="ko-KR" altLang="en-US" sz="1100" dirty="0">
                <a:latin typeface="+mn-ea"/>
              </a:rPr>
              <a:t>는 </a:t>
            </a:r>
            <a:r>
              <a:rPr lang="en-US" altLang="ko-KR" sz="1100" dirty="0">
                <a:latin typeface="+mn-ea"/>
              </a:rPr>
              <a:t>FFT</a:t>
            </a:r>
            <a:r>
              <a:rPr lang="ko-KR" altLang="en-US" sz="1100" dirty="0">
                <a:latin typeface="+mn-ea"/>
              </a:rPr>
              <a:t>와 </a:t>
            </a:r>
            <a:r>
              <a:rPr lang="ko-KR" altLang="en-US" sz="1100" dirty="0" err="1">
                <a:latin typeface="+mn-ea"/>
              </a:rPr>
              <a:t>콜로케이션</a:t>
            </a:r>
            <a:r>
              <a:rPr lang="ko-KR" altLang="en-US" sz="1100" dirty="0">
                <a:latin typeface="+mn-ea"/>
              </a:rPr>
              <a:t> </a:t>
            </a:r>
            <a:r>
              <a:rPr lang="en-US" altLang="ko-KR" sz="1100" dirty="0">
                <a:latin typeface="+mn-ea"/>
              </a:rPr>
              <a:t>CUDA </a:t>
            </a:r>
            <a:r>
              <a:rPr lang="ko-KR" altLang="en-US" sz="1100" dirty="0">
                <a:latin typeface="+mn-ea"/>
              </a:rPr>
              <a:t>커널이 </a:t>
            </a:r>
            <a:r>
              <a:rPr lang="en-US" altLang="ko-KR" sz="1100" dirty="0">
                <a:latin typeface="+mn-ea"/>
              </a:rPr>
              <a:t>SCF </a:t>
            </a:r>
            <a:r>
              <a:rPr lang="ko-KR" altLang="en-US" sz="1100" dirty="0">
                <a:latin typeface="+mn-ea"/>
              </a:rPr>
              <a:t>단계 내내 연속적으로 호출되기 때문이며</a:t>
            </a:r>
            <a:r>
              <a:rPr lang="en-US" altLang="ko-KR" sz="1100" dirty="0">
                <a:latin typeface="+mn-ea"/>
              </a:rPr>
              <a:t>, CPU </a:t>
            </a:r>
            <a:r>
              <a:rPr lang="ko-KR" altLang="en-US" sz="1100" dirty="0">
                <a:latin typeface="+mn-ea"/>
              </a:rPr>
              <a:t>연산과 비동기적으로 겹쳐 실행되어 </a:t>
            </a:r>
            <a:r>
              <a:rPr lang="en-US" altLang="ko-KR" sz="1100" dirty="0">
                <a:latin typeface="+mn-ea"/>
              </a:rPr>
              <a:t>GPU </a:t>
            </a:r>
            <a:r>
              <a:rPr lang="ko-KR" altLang="en-US" sz="1100" dirty="0">
                <a:latin typeface="+mn-ea"/>
              </a:rPr>
              <a:t>유휴 시간이 거의 발생하지 않습니다</a:t>
            </a:r>
            <a:r>
              <a:rPr lang="en-US" altLang="ko-KR" sz="1100" dirty="0">
                <a:latin typeface="+mn-ea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100" dirty="0">
                <a:latin typeface="+mn-ea"/>
              </a:rPr>
              <a:t>GPU </a:t>
            </a:r>
            <a:r>
              <a:rPr lang="ko-KR" altLang="en-US" sz="1100" dirty="0">
                <a:latin typeface="+mn-ea"/>
              </a:rPr>
              <a:t>메모리 </a:t>
            </a:r>
            <a:r>
              <a:rPr lang="en-US" altLang="ko-KR" sz="1100" dirty="0">
                <a:latin typeface="+mn-ea"/>
              </a:rPr>
              <a:t>39%(12.8 GB / 32.6 GB)</a:t>
            </a:r>
            <a:r>
              <a:rPr lang="ko-KR" altLang="en-US" sz="1100" dirty="0">
                <a:latin typeface="+mn-ea"/>
              </a:rPr>
              <a:t>만 사용되는 이유는 </a:t>
            </a:r>
            <a:r>
              <a:rPr lang="en-US" altLang="ko-KR" sz="1100" dirty="0">
                <a:latin typeface="+mn-ea"/>
              </a:rPr>
              <a:t>192</a:t>
            </a:r>
            <a:r>
              <a:rPr lang="ko-KR" altLang="en-US" sz="1100" dirty="0">
                <a:latin typeface="+mn-ea"/>
              </a:rPr>
              <a:t>원자가 </a:t>
            </a:r>
            <a:r>
              <a:rPr lang="en-US" altLang="ko-KR" sz="1100" dirty="0">
                <a:latin typeface="+mn-ea"/>
              </a:rPr>
              <a:t>GPU </a:t>
            </a:r>
            <a:r>
              <a:rPr lang="ko-KR" altLang="en-US" sz="1100" dirty="0">
                <a:latin typeface="+mn-ea"/>
              </a:rPr>
              <a:t>관점에서 중간 규모이기 때문으로</a:t>
            </a:r>
            <a:r>
              <a:rPr lang="en-US" altLang="ko-KR" sz="1100" dirty="0">
                <a:latin typeface="+mn-ea"/>
              </a:rPr>
              <a:t>, 640 Ry </a:t>
            </a:r>
            <a:r>
              <a:rPr lang="ko-KR" altLang="en-US" sz="1100" dirty="0">
                <a:latin typeface="+mn-ea"/>
              </a:rPr>
              <a:t>그리드 데이터와 </a:t>
            </a:r>
            <a:r>
              <a:rPr lang="en-US" altLang="ko-KR" sz="1100" dirty="0">
                <a:latin typeface="+mn-ea"/>
              </a:rPr>
              <a:t>FFT </a:t>
            </a:r>
            <a:r>
              <a:rPr lang="ko-KR" altLang="en-US" sz="1100" dirty="0">
                <a:latin typeface="+mn-ea"/>
              </a:rPr>
              <a:t>버퍼가 약 </a:t>
            </a:r>
            <a:r>
              <a:rPr lang="en-US" altLang="ko-KR" sz="1100" dirty="0">
                <a:latin typeface="+mn-ea"/>
              </a:rPr>
              <a:t>10~12 GB</a:t>
            </a:r>
            <a:r>
              <a:rPr lang="ko-KR" altLang="en-US" sz="1100" dirty="0">
                <a:latin typeface="+mn-ea"/>
              </a:rPr>
              <a:t>를 차지하고 나머지 </a:t>
            </a:r>
            <a:r>
              <a:rPr lang="en-US" altLang="ko-KR" sz="1100" dirty="0">
                <a:latin typeface="+mn-ea"/>
              </a:rPr>
              <a:t>20 GB</a:t>
            </a:r>
            <a:r>
              <a:rPr lang="ko-KR" altLang="en-US" sz="1100" dirty="0">
                <a:latin typeface="+mn-ea"/>
              </a:rPr>
              <a:t>는 여유 상태입니다</a:t>
            </a:r>
            <a:r>
              <a:rPr lang="en-US" altLang="ko-KR" sz="1100" dirty="0">
                <a:latin typeface="+mn-ea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100" dirty="0">
                <a:latin typeface="+mn-ea"/>
              </a:rPr>
              <a:t>GPU </a:t>
            </a:r>
            <a:r>
              <a:rPr lang="ko-KR" altLang="en-US" sz="1100" dirty="0">
                <a:latin typeface="+mn-ea"/>
              </a:rPr>
              <a:t>전력이 </a:t>
            </a:r>
            <a:r>
              <a:rPr lang="en-US" altLang="ko-KR" sz="1100" dirty="0">
                <a:latin typeface="+mn-ea"/>
              </a:rPr>
              <a:t>252W / 575W(44%)</a:t>
            </a:r>
            <a:r>
              <a:rPr lang="ko-KR" altLang="en-US" sz="1100" dirty="0">
                <a:latin typeface="+mn-ea"/>
              </a:rPr>
              <a:t>에 머무는 것은 </a:t>
            </a:r>
            <a:r>
              <a:rPr lang="en-US" altLang="ko-KR" sz="1100" dirty="0">
                <a:latin typeface="+mn-ea"/>
              </a:rPr>
              <a:t>DFT </a:t>
            </a:r>
            <a:r>
              <a:rPr lang="ko-KR" altLang="en-US" sz="1100" dirty="0">
                <a:latin typeface="+mn-ea"/>
              </a:rPr>
              <a:t>계산이 주로 </a:t>
            </a:r>
            <a:r>
              <a:rPr lang="en-US" altLang="ko-KR" sz="1100" dirty="0">
                <a:latin typeface="+mn-ea"/>
              </a:rPr>
              <a:t>FP64(</a:t>
            </a:r>
            <a:r>
              <a:rPr lang="ko-KR" altLang="en-US" sz="1100" dirty="0">
                <a:latin typeface="+mn-ea"/>
              </a:rPr>
              <a:t>배정밀도</a:t>
            </a:r>
            <a:r>
              <a:rPr lang="en-US" altLang="ko-KR" sz="1100" dirty="0">
                <a:latin typeface="+mn-ea"/>
              </a:rPr>
              <a:t>)</a:t>
            </a:r>
            <a:r>
              <a:rPr lang="ko-KR" altLang="en-US" sz="1100" dirty="0">
                <a:latin typeface="+mn-ea"/>
              </a:rPr>
              <a:t>를 사용하는데</a:t>
            </a:r>
            <a:r>
              <a:rPr lang="en-US" altLang="ko-KR" sz="1100" dirty="0">
                <a:latin typeface="+mn-ea"/>
              </a:rPr>
              <a:t>, </a:t>
            </a:r>
            <a:r>
              <a:rPr lang="ko-KR" altLang="en-US" sz="1100" dirty="0">
                <a:latin typeface="+mn-ea"/>
              </a:rPr>
              <a:t>소비자용 </a:t>
            </a:r>
            <a:r>
              <a:rPr lang="en-US" altLang="ko-KR" sz="1100" dirty="0">
                <a:latin typeface="+mn-ea"/>
              </a:rPr>
              <a:t>GPU</a:t>
            </a:r>
            <a:r>
              <a:rPr lang="ko-KR" altLang="en-US" sz="1100" dirty="0">
                <a:latin typeface="+mn-ea"/>
              </a:rPr>
              <a:t>의 </a:t>
            </a:r>
            <a:r>
              <a:rPr lang="en-US" altLang="ko-KR" sz="1100" dirty="0">
                <a:latin typeface="+mn-ea"/>
              </a:rPr>
              <a:t>FP64 </a:t>
            </a:r>
            <a:r>
              <a:rPr lang="ko-KR" altLang="en-US" sz="1100" dirty="0">
                <a:latin typeface="+mn-ea"/>
              </a:rPr>
              <a:t>유닛이 </a:t>
            </a:r>
            <a:r>
              <a:rPr lang="en-US" altLang="ko-KR" sz="1100" dirty="0">
                <a:latin typeface="+mn-ea"/>
              </a:rPr>
              <a:t>FP32 </a:t>
            </a:r>
            <a:r>
              <a:rPr lang="ko-KR" altLang="en-US" sz="1100" dirty="0">
                <a:latin typeface="+mn-ea"/>
              </a:rPr>
              <a:t>대비 </a:t>
            </a:r>
            <a:r>
              <a:rPr lang="en-US" altLang="ko-KR" sz="1100" dirty="0">
                <a:latin typeface="+mn-ea"/>
              </a:rPr>
              <a:t>1/32~1/64 </a:t>
            </a:r>
            <a:r>
              <a:rPr lang="ko-KR" altLang="en-US" sz="1100" dirty="0">
                <a:latin typeface="+mn-ea"/>
              </a:rPr>
              <a:t>수준이라 전체 칩이 최대 부하에 이르지 않기 때문입니다</a:t>
            </a:r>
            <a:r>
              <a:rPr lang="en-US" altLang="ko-KR" sz="1100" dirty="0">
                <a:latin typeface="+mn-ea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100" dirty="0">
                <a:latin typeface="+mn-ea"/>
              </a:rPr>
              <a:t>그럼에도 </a:t>
            </a:r>
            <a:r>
              <a:rPr lang="en-US" altLang="ko-KR" sz="1100" dirty="0">
                <a:latin typeface="+mn-ea"/>
              </a:rPr>
              <a:t>GPU-Util</a:t>
            </a:r>
            <a:r>
              <a:rPr lang="ko-KR" altLang="en-US" sz="1100" dirty="0">
                <a:latin typeface="+mn-ea"/>
              </a:rPr>
              <a:t>이 </a:t>
            </a:r>
            <a:r>
              <a:rPr lang="en-US" altLang="ko-KR" sz="1100" dirty="0">
                <a:latin typeface="+mn-ea"/>
              </a:rPr>
              <a:t>100%</a:t>
            </a:r>
            <a:r>
              <a:rPr lang="ko-KR" altLang="en-US" sz="1100" dirty="0">
                <a:latin typeface="+mn-ea"/>
              </a:rPr>
              <a:t>인 이유는 </a:t>
            </a:r>
            <a:r>
              <a:rPr lang="en-US" altLang="ko-KR" sz="1100" dirty="0">
                <a:latin typeface="+mn-ea"/>
              </a:rPr>
              <a:t>FFT</a:t>
            </a:r>
            <a:r>
              <a:rPr lang="ko-KR" altLang="en-US" sz="1100" dirty="0">
                <a:latin typeface="+mn-ea"/>
              </a:rPr>
              <a:t>가 연산 유닛보다 메모리 대역폭에 병목이 걸리는 연산이라</a:t>
            </a:r>
            <a:r>
              <a:rPr lang="en-US" altLang="ko-KR" sz="1100" dirty="0">
                <a:latin typeface="+mn-ea"/>
              </a:rPr>
              <a:t>, </a:t>
            </a:r>
            <a:r>
              <a:rPr lang="ko-KR" altLang="en-US" sz="1100" dirty="0">
                <a:latin typeface="+mn-ea"/>
              </a:rPr>
              <a:t>연산 코어는 여유가 있어도 메모리 버스가 포화 상태이기 때문입니다</a:t>
            </a:r>
            <a:r>
              <a:rPr lang="en-US" altLang="ko-KR" sz="1100" dirty="0">
                <a:latin typeface="+mn-ea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100" dirty="0">
                <a:latin typeface="+mn-ea"/>
              </a:rPr>
              <a:t>CPU </a:t>
            </a:r>
            <a:r>
              <a:rPr lang="ko-KR" altLang="en-US" sz="1100" dirty="0">
                <a:latin typeface="+mn-ea"/>
              </a:rPr>
              <a:t>사용량 </a:t>
            </a:r>
            <a:r>
              <a:rPr lang="en-US" altLang="ko-KR" sz="1100" dirty="0">
                <a:latin typeface="+mn-ea"/>
              </a:rPr>
              <a:t>404%</a:t>
            </a:r>
            <a:r>
              <a:rPr lang="ko-KR" altLang="en-US" sz="1100" dirty="0">
                <a:latin typeface="+mn-ea"/>
              </a:rPr>
              <a:t>는 </a:t>
            </a:r>
            <a:r>
              <a:rPr lang="en-US" altLang="ko-KR" sz="1100" dirty="0">
                <a:latin typeface="+mn-ea"/>
              </a:rPr>
              <a:t>MPI 4</a:t>
            </a:r>
            <a:r>
              <a:rPr lang="ko-KR" altLang="en-US" sz="1100" dirty="0">
                <a:latin typeface="+mn-ea"/>
              </a:rPr>
              <a:t>프로세스가 각각 약 </a:t>
            </a:r>
            <a:r>
              <a:rPr lang="en-US" altLang="ko-KR" sz="1100" dirty="0">
                <a:latin typeface="+mn-ea"/>
              </a:rPr>
              <a:t>100% CPU</a:t>
            </a:r>
            <a:r>
              <a:rPr lang="ko-KR" altLang="en-US" sz="1100" dirty="0">
                <a:latin typeface="+mn-ea"/>
              </a:rPr>
              <a:t>를 점유하는 것을 의미하며</a:t>
            </a:r>
            <a:r>
              <a:rPr lang="en-US" altLang="ko-KR" sz="1100" dirty="0">
                <a:latin typeface="+mn-ea"/>
              </a:rPr>
              <a:t>, </a:t>
            </a:r>
            <a:r>
              <a:rPr lang="en-US" altLang="ko-KR" sz="1100" dirty="0" err="1">
                <a:latin typeface="+mn-ea"/>
              </a:rPr>
              <a:t>Threadripper</a:t>
            </a:r>
            <a:r>
              <a:rPr lang="ko-KR" altLang="en-US" sz="1100" dirty="0">
                <a:latin typeface="+mn-ea"/>
              </a:rPr>
              <a:t>의 </a:t>
            </a:r>
            <a:r>
              <a:rPr lang="en-US" altLang="ko-KR" sz="1100" dirty="0">
                <a:latin typeface="+mn-ea"/>
              </a:rPr>
              <a:t>128</a:t>
            </a:r>
            <a:r>
              <a:rPr lang="ko-KR" altLang="en-US" sz="1100" dirty="0">
                <a:latin typeface="+mn-ea"/>
              </a:rPr>
              <a:t>스레드 중 </a:t>
            </a:r>
            <a:r>
              <a:rPr lang="en-US" altLang="ko-KR" sz="1100" dirty="0">
                <a:latin typeface="+mn-ea"/>
              </a:rPr>
              <a:t>16</a:t>
            </a:r>
            <a:r>
              <a:rPr lang="ko-KR" altLang="en-US" sz="1100" dirty="0">
                <a:latin typeface="+mn-ea"/>
              </a:rPr>
              <a:t>개</a:t>
            </a:r>
            <a:r>
              <a:rPr lang="en-US" altLang="ko-KR" sz="1100" dirty="0">
                <a:latin typeface="+mn-ea"/>
              </a:rPr>
              <a:t>(12.5%)</a:t>
            </a:r>
            <a:r>
              <a:rPr lang="ko-KR" altLang="en-US" sz="1100" dirty="0">
                <a:latin typeface="+mn-ea"/>
              </a:rPr>
              <a:t>만 사용 중이므로 시스템 전체로는 여유가 충분합니다</a:t>
            </a:r>
            <a:r>
              <a:rPr lang="en-US" altLang="ko-KR" sz="1100" dirty="0">
                <a:latin typeface="+mn-ea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100" dirty="0">
                <a:latin typeface="+mn-ea"/>
              </a:rPr>
              <a:t>Host RAM 15.7 GB / 62.5 GB(25%)</a:t>
            </a:r>
            <a:r>
              <a:rPr lang="ko-KR" altLang="en-US" sz="1100" dirty="0">
                <a:latin typeface="+mn-ea"/>
              </a:rPr>
              <a:t>는 기저함수 테이블</a:t>
            </a:r>
            <a:r>
              <a:rPr lang="en-US" altLang="ko-KR" sz="1100" dirty="0">
                <a:latin typeface="+mn-ea"/>
              </a:rPr>
              <a:t>, </a:t>
            </a:r>
            <a:r>
              <a:rPr lang="ko-KR" altLang="en-US" sz="1100" dirty="0">
                <a:latin typeface="+mn-ea"/>
              </a:rPr>
              <a:t>밀도 행렬</a:t>
            </a:r>
            <a:r>
              <a:rPr lang="en-US" altLang="ko-KR" sz="1100" dirty="0">
                <a:latin typeface="+mn-ea"/>
              </a:rPr>
              <a:t>, </a:t>
            </a:r>
            <a:r>
              <a:rPr lang="ko-KR" altLang="en-US" sz="1100" dirty="0">
                <a:latin typeface="+mn-ea"/>
              </a:rPr>
              <a:t>중첩 행렬 등의 선형대수 데이터를 저장하는 데 사용되며</a:t>
            </a:r>
            <a:r>
              <a:rPr lang="en-US" altLang="ko-KR" sz="1100" dirty="0">
                <a:latin typeface="+mn-ea"/>
              </a:rPr>
              <a:t>, </a:t>
            </a:r>
            <a:r>
              <a:rPr lang="ko-KR" altLang="en-US" sz="1100" dirty="0">
                <a:latin typeface="+mn-ea"/>
              </a:rPr>
              <a:t>원자 수가 </a:t>
            </a:r>
            <a:r>
              <a:rPr lang="en-US" altLang="ko-KR" sz="1100" dirty="0">
                <a:latin typeface="+mn-ea"/>
              </a:rPr>
              <a:t>500</a:t>
            </a:r>
            <a:r>
              <a:rPr lang="ko-KR" altLang="en-US" sz="1100" dirty="0">
                <a:latin typeface="+mn-ea"/>
              </a:rPr>
              <a:t>개 이상으로 늘어나면 메모리 사용률이 크게 증가합니다</a:t>
            </a:r>
            <a:r>
              <a:rPr lang="en-US" altLang="ko-KR" sz="1100" dirty="0">
                <a:latin typeface="+mn-ea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100" dirty="0">
                <a:latin typeface="+mn-ea"/>
              </a:rPr>
              <a:t>MPI </a:t>
            </a:r>
            <a:r>
              <a:rPr lang="ko-KR" altLang="en-US" sz="1100" dirty="0">
                <a:latin typeface="+mn-ea"/>
              </a:rPr>
              <a:t>프로세스 수를 </a:t>
            </a:r>
            <a:r>
              <a:rPr lang="en-US" altLang="ko-KR" sz="1100" dirty="0">
                <a:latin typeface="+mn-ea"/>
              </a:rPr>
              <a:t>8</a:t>
            </a:r>
            <a:r>
              <a:rPr lang="ko-KR" altLang="en-US" sz="1100" dirty="0">
                <a:latin typeface="+mn-ea"/>
              </a:rPr>
              <a:t>로 늘리면</a:t>
            </a:r>
            <a:r>
              <a:rPr lang="en-US" altLang="ko-KR" sz="1100" dirty="0">
                <a:latin typeface="+mn-ea"/>
              </a:rPr>
              <a:t>(-n 8 -x OMP_NUM_THREADS=4, 32</a:t>
            </a:r>
            <a:r>
              <a:rPr lang="ko-KR" altLang="en-US" sz="1100" dirty="0">
                <a:latin typeface="+mn-ea"/>
              </a:rPr>
              <a:t>코어</a:t>
            </a:r>
            <a:r>
              <a:rPr lang="en-US" altLang="ko-KR" sz="1100" dirty="0">
                <a:latin typeface="+mn-ea"/>
              </a:rPr>
              <a:t>) </a:t>
            </a:r>
            <a:r>
              <a:rPr lang="ko-KR" altLang="en-US" sz="1100" dirty="0">
                <a:latin typeface="+mn-ea"/>
              </a:rPr>
              <a:t>행렬 대각화 속도가 향상될 수 있으나</a:t>
            </a:r>
            <a:r>
              <a:rPr lang="en-US" altLang="ko-KR" sz="1100" dirty="0">
                <a:latin typeface="+mn-ea"/>
              </a:rPr>
              <a:t>, MPI </a:t>
            </a:r>
            <a:r>
              <a:rPr lang="ko-KR" altLang="en-US" sz="1100" dirty="0">
                <a:latin typeface="+mn-ea"/>
              </a:rPr>
              <a:t>통신 오버헤드와의 균형을 고려해야 하며</a:t>
            </a:r>
            <a:r>
              <a:rPr lang="en-US" altLang="ko-KR" sz="1100" dirty="0">
                <a:latin typeface="+mn-ea"/>
              </a:rPr>
              <a:t>, 192</a:t>
            </a:r>
            <a:r>
              <a:rPr lang="ko-KR" altLang="en-US" sz="1100" dirty="0">
                <a:latin typeface="+mn-ea"/>
              </a:rPr>
              <a:t>원자 규모에서는 현재 </a:t>
            </a:r>
            <a:r>
              <a:rPr lang="en-US" altLang="ko-KR" sz="1100" dirty="0">
                <a:latin typeface="+mn-ea"/>
              </a:rPr>
              <a:t>-n 4</a:t>
            </a:r>
            <a:r>
              <a:rPr lang="ko-KR" altLang="en-US" sz="1100" dirty="0">
                <a:latin typeface="+mn-ea"/>
              </a:rPr>
              <a:t>가 효율적인 설정입니다</a:t>
            </a:r>
            <a:r>
              <a:rPr lang="en-US" altLang="ko-KR" sz="1100" dirty="0">
                <a:latin typeface="+mn-ea"/>
              </a:rPr>
              <a:t>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617BB59-81D3-4A70-8072-9A319DDB97C9}"/>
              </a:ext>
            </a:extLst>
          </p:cNvPr>
          <p:cNvSpPr txBox="1"/>
          <p:nvPr/>
        </p:nvSpPr>
        <p:spPr>
          <a:xfrm>
            <a:off x="1182065" y="943263"/>
            <a:ext cx="8426044" cy="4160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1600" b="1" spc="0" baseline="0" dirty="0">
                <a:solidFill>
                  <a:srgbClr val="1E293B"/>
                </a:solidFill>
                <a:latin typeface="Arial"/>
                <a:ea typeface="+mn-ea"/>
                <a:cs typeface="Arial"/>
                <a:sym typeface="Arial"/>
                <a:rtl val="0"/>
              </a:rPr>
              <a:t>Hardware Resource Utilisation (nvidia-smi / docker stats)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948B1EC-201F-4228-BBC5-FB18DD9DBEF2}"/>
              </a:ext>
            </a:extLst>
          </p:cNvPr>
          <p:cNvSpPr txBox="1"/>
          <p:nvPr/>
        </p:nvSpPr>
        <p:spPr>
          <a:xfrm>
            <a:off x="1170573" y="1399299"/>
            <a:ext cx="1087755" cy="2343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ko-KR" altLang="en-US" sz="975" b="1" spc="0" baseline="0" dirty="0">
                <a:solidFill>
                  <a:srgbClr val="374151"/>
                </a:solidFill>
                <a:latin typeface="Arial"/>
                <a:ea typeface="+mn-ea"/>
                <a:cs typeface="Arial"/>
                <a:sym typeface="Arial"/>
                <a:rtl val="0"/>
              </a:rPr>
              <a:t>GPU Utilisation</a:t>
            </a:r>
          </a:p>
        </p:txBody>
      </p:sp>
      <p:sp>
        <p:nvSpPr>
          <p:cNvPr id="46" name="자유형: 도형 45">
            <a:extLst>
              <a:ext uri="{FF2B5EF4-FFF2-40B4-BE49-F238E27FC236}">
                <a16:creationId xmlns:a16="http://schemas.microsoft.com/office/drawing/2014/main" id="{AD41476D-78B3-4663-8601-D6656C145AC0}"/>
              </a:ext>
            </a:extLst>
          </p:cNvPr>
          <p:cNvSpPr/>
          <p:nvPr/>
        </p:nvSpPr>
        <p:spPr>
          <a:xfrm>
            <a:off x="2690763" y="1425969"/>
            <a:ext cx="6667500" cy="266700"/>
          </a:xfrm>
          <a:custGeom>
            <a:avLst/>
            <a:gdLst>
              <a:gd name="connsiteX0" fmla="*/ 6610350 w 6667500"/>
              <a:gd name="connsiteY0" fmla="*/ 0 h 266700"/>
              <a:gd name="connsiteX1" fmla="*/ 6667500 w 6667500"/>
              <a:gd name="connsiteY1" fmla="*/ 0 h 266700"/>
              <a:gd name="connsiteX2" fmla="*/ 6667500 w 6667500"/>
              <a:gd name="connsiteY2" fmla="*/ 266700 h 266700"/>
              <a:gd name="connsiteX3" fmla="*/ 6610350 w 6667500"/>
              <a:gd name="connsiteY3" fmla="*/ 266700 h 266700"/>
              <a:gd name="connsiteX4" fmla="*/ 57150 w 6667500"/>
              <a:gd name="connsiteY4" fmla="*/ 266700 h 266700"/>
              <a:gd name="connsiteX5" fmla="*/ 0 w 6667500"/>
              <a:gd name="connsiteY5" fmla="*/ 266700 h 266700"/>
              <a:gd name="connsiteX6" fmla="*/ 0 w 6667500"/>
              <a:gd name="connsiteY6" fmla="*/ 0 h 266700"/>
              <a:gd name="connsiteX7" fmla="*/ 57150 w 6667500"/>
              <a:gd name="connsiteY7" fmla="*/ 0 h 266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667500" h="266700">
                <a:moveTo>
                  <a:pt x="6610350" y="0"/>
                </a:moveTo>
                <a:cubicBezTo>
                  <a:pt x="6641913" y="0"/>
                  <a:pt x="6667500" y="0"/>
                  <a:pt x="6667500" y="0"/>
                </a:cubicBezTo>
                <a:lnTo>
                  <a:pt x="6667500" y="266700"/>
                </a:lnTo>
                <a:cubicBezTo>
                  <a:pt x="6667500" y="266700"/>
                  <a:pt x="6641913" y="266700"/>
                  <a:pt x="6610350" y="266700"/>
                </a:cubicBezTo>
                <a:lnTo>
                  <a:pt x="57150" y="266700"/>
                </a:lnTo>
                <a:cubicBezTo>
                  <a:pt x="25587" y="266700"/>
                  <a:pt x="0" y="266700"/>
                  <a:pt x="0" y="266700"/>
                </a:cubicBezTo>
                <a:lnTo>
                  <a:pt x="0" y="0"/>
                </a:lnTo>
                <a:cubicBezTo>
                  <a:pt x="0" y="0"/>
                  <a:pt x="25587" y="0"/>
                  <a:pt x="57150" y="0"/>
                </a:cubicBezTo>
                <a:close/>
              </a:path>
            </a:pathLst>
          </a:custGeom>
          <a:solidFill>
            <a:srgbClr val="E5E7EB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47" name="자유형: 도형 46">
            <a:extLst>
              <a:ext uri="{FF2B5EF4-FFF2-40B4-BE49-F238E27FC236}">
                <a16:creationId xmlns:a16="http://schemas.microsoft.com/office/drawing/2014/main" id="{0EE041CD-3C98-46F5-A985-D8310A862256}"/>
              </a:ext>
            </a:extLst>
          </p:cNvPr>
          <p:cNvSpPr/>
          <p:nvPr/>
        </p:nvSpPr>
        <p:spPr>
          <a:xfrm>
            <a:off x="2690763" y="1425969"/>
            <a:ext cx="6667500" cy="266700"/>
          </a:xfrm>
          <a:custGeom>
            <a:avLst/>
            <a:gdLst>
              <a:gd name="connsiteX0" fmla="*/ 6610350 w 6667500"/>
              <a:gd name="connsiteY0" fmla="*/ 0 h 266700"/>
              <a:gd name="connsiteX1" fmla="*/ 6667500 w 6667500"/>
              <a:gd name="connsiteY1" fmla="*/ 0 h 266700"/>
              <a:gd name="connsiteX2" fmla="*/ 6667500 w 6667500"/>
              <a:gd name="connsiteY2" fmla="*/ 266700 h 266700"/>
              <a:gd name="connsiteX3" fmla="*/ 6610350 w 6667500"/>
              <a:gd name="connsiteY3" fmla="*/ 266700 h 266700"/>
              <a:gd name="connsiteX4" fmla="*/ 57150 w 6667500"/>
              <a:gd name="connsiteY4" fmla="*/ 266700 h 266700"/>
              <a:gd name="connsiteX5" fmla="*/ 0 w 6667500"/>
              <a:gd name="connsiteY5" fmla="*/ 266700 h 266700"/>
              <a:gd name="connsiteX6" fmla="*/ 0 w 6667500"/>
              <a:gd name="connsiteY6" fmla="*/ 0 h 266700"/>
              <a:gd name="connsiteX7" fmla="*/ 57150 w 6667500"/>
              <a:gd name="connsiteY7" fmla="*/ 0 h 266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667500" h="266700">
                <a:moveTo>
                  <a:pt x="6610350" y="0"/>
                </a:moveTo>
                <a:cubicBezTo>
                  <a:pt x="6641913" y="0"/>
                  <a:pt x="6667500" y="0"/>
                  <a:pt x="6667500" y="0"/>
                </a:cubicBezTo>
                <a:lnTo>
                  <a:pt x="6667500" y="266700"/>
                </a:lnTo>
                <a:cubicBezTo>
                  <a:pt x="6667500" y="266700"/>
                  <a:pt x="6641913" y="266700"/>
                  <a:pt x="6610350" y="266700"/>
                </a:cubicBezTo>
                <a:lnTo>
                  <a:pt x="57150" y="266700"/>
                </a:lnTo>
                <a:cubicBezTo>
                  <a:pt x="25587" y="266700"/>
                  <a:pt x="0" y="266700"/>
                  <a:pt x="0" y="266700"/>
                </a:cubicBezTo>
                <a:lnTo>
                  <a:pt x="0" y="0"/>
                </a:lnTo>
                <a:cubicBezTo>
                  <a:pt x="0" y="0"/>
                  <a:pt x="25587" y="0"/>
                  <a:pt x="57150" y="0"/>
                </a:cubicBezTo>
                <a:close/>
              </a:path>
            </a:pathLst>
          </a:custGeom>
          <a:solidFill>
            <a:srgbClr val="10B98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9B64D1C-373B-4799-A540-E4D7E00F5077}"/>
              </a:ext>
            </a:extLst>
          </p:cNvPr>
          <p:cNvSpPr txBox="1"/>
          <p:nvPr/>
        </p:nvSpPr>
        <p:spPr>
          <a:xfrm>
            <a:off x="5646191" y="1390938"/>
            <a:ext cx="831292" cy="3047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1050" b="1" spc="0" baseline="0" dirty="0">
                <a:solidFill>
                  <a:srgbClr val="FFFFFF"/>
                </a:solidFill>
                <a:latin typeface="Arial"/>
                <a:ea typeface="+mn-ea"/>
                <a:cs typeface="Arial"/>
                <a:sym typeface="Arial"/>
                <a:rtl val="0"/>
              </a:rPr>
              <a:t>100 %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C53F5BC-8DE0-4EE9-8A73-BD963A06943A}"/>
              </a:ext>
            </a:extLst>
          </p:cNvPr>
          <p:cNvSpPr txBox="1"/>
          <p:nvPr/>
        </p:nvSpPr>
        <p:spPr>
          <a:xfrm>
            <a:off x="9033047" y="1400463"/>
            <a:ext cx="2340386" cy="2741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900" spc="0" baseline="0" dirty="0">
                <a:solidFill>
                  <a:srgbClr val="6B7280"/>
                </a:solidFill>
                <a:latin typeface="Arial"/>
                <a:ea typeface="+mn-ea"/>
                <a:cs typeface="Arial"/>
                <a:sym typeface="Arial"/>
                <a:rtl val="0"/>
              </a:rPr>
              <a:t>FFT + collocation </a:t>
            </a:r>
            <a:r>
              <a:rPr lang="ko-KR" altLang="en-US" sz="900" spc="0" baseline="0" dirty="0">
                <a:solidFill>
                  <a:srgbClr val="6B7280"/>
                </a:solidFill>
                <a:latin typeface="맑은 고딕"/>
                <a:ea typeface="맑은 고딕"/>
                <a:cs typeface="Arial"/>
                <a:sym typeface="맑은 고딕"/>
                <a:rtl val="0"/>
              </a:rPr>
              <a:t>호출</a:t>
            </a:r>
            <a:r>
              <a:rPr lang="ko-KR" altLang="en-US" sz="900" spc="0" baseline="0" dirty="0">
                <a:solidFill>
                  <a:srgbClr val="6B7280"/>
                </a:solidFill>
                <a:latin typeface="Arial"/>
                <a:ea typeface="맑은 고딕"/>
                <a:cs typeface="Arial"/>
                <a:sym typeface="Arial"/>
                <a:rtl val="0"/>
              </a:rPr>
              <a:t> </a:t>
            </a:r>
            <a:r>
              <a:rPr lang="ko-KR" altLang="en-US" sz="900" spc="0" baseline="0" dirty="0">
                <a:solidFill>
                  <a:srgbClr val="6B7280"/>
                </a:solidFill>
                <a:latin typeface="맑은 고딕"/>
                <a:ea typeface="맑은 고딕"/>
                <a:cs typeface="Arial"/>
                <a:sym typeface="맑은 고딕"/>
                <a:rtl val="0"/>
              </a:rPr>
              <a:t>연속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9F26734-D981-443F-B040-AC98F4ACCA5E}"/>
              </a:ext>
            </a:extLst>
          </p:cNvPr>
          <p:cNvSpPr txBox="1"/>
          <p:nvPr/>
        </p:nvSpPr>
        <p:spPr>
          <a:xfrm>
            <a:off x="1170573" y="1856499"/>
            <a:ext cx="973455" cy="2896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ko-KR" altLang="en-US" sz="975" b="1" spc="0" baseline="0" dirty="0">
                <a:solidFill>
                  <a:srgbClr val="374151"/>
                </a:solidFill>
                <a:latin typeface="Arial"/>
                <a:ea typeface="+mn-ea"/>
                <a:cs typeface="Arial"/>
                <a:sym typeface="Arial"/>
                <a:rtl val="0"/>
              </a:rPr>
              <a:t>GPU Memory</a:t>
            </a:r>
          </a:p>
        </p:txBody>
      </p:sp>
      <p:sp>
        <p:nvSpPr>
          <p:cNvPr id="52" name="자유형: 도형 51">
            <a:extLst>
              <a:ext uri="{FF2B5EF4-FFF2-40B4-BE49-F238E27FC236}">
                <a16:creationId xmlns:a16="http://schemas.microsoft.com/office/drawing/2014/main" id="{F652E83F-5CFF-4B78-BF9E-9BA11AD499C5}"/>
              </a:ext>
            </a:extLst>
          </p:cNvPr>
          <p:cNvSpPr/>
          <p:nvPr/>
        </p:nvSpPr>
        <p:spPr>
          <a:xfrm>
            <a:off x="2690763" y="1883169"/>
            <a:ext cx="6667500" cy="266700"/>
          </a:xfrm>
          <a:custGeom>
            <a:avLst/>
            <a:gdLst>
              <a:gd name="connsiteX0" fmla="*/ 6610350 w 6667500"/>
              <a:gd name="connsiteY0" fmla="*/ 0 h 266700"/>
              <a:gd name="connsiteX1" fmla="*/ 6667500 w 6667500"/>
              <a:gd name="connsiteY1" fmla="*/ 0 h 266700"/>
              <a:gd name="connsiteX2" fmla="*/ 6667500 w 6667500"/>
              <a:gd name="connsiteY2" fmla="*/ 266700 h 266700"/>
              <a:gd name="connsiteX3" fmla="*/ 6610350 w 6667500"/>
              <a:gd name="connsiteY3" fmla="*/ 266700 h 266700"/>
              <a:gd name="connsiteX4" fmla="*/ 57150 w 6667500"/>
              <a:gd name="connsiteY4" fmla="*/ 266700 h 266700"/>
              <a:gd name="connsiteX5" fmla="*/ 0 w 6667500"/>
              <a:gd name="connsiteY5" fmla="*/ 266700 h 266700"/>
              <a:gd name="connsiteX6" fmla="*/ 0 w 6667500"/>
              <a:gd name="connsiteY6" fmla="*/ 0 h 266700"/>
              <a:gd name="connsiteX7" fmla="*/ 57150 w 6667500"/>
              <a:gd name="connsiteY7" fmla="*/ 0 h 266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667500" h="266700">
                <a:moveTo>
                  <a:pt x="6610350" y="0"/>
                </a:moveTo>
                <a:cubicBezTo>
                  <a:pt x="6641913" y="0"/>
                  <a:pt x="6667500" y="0"/>
                  <a:pt x="6667500" y="0"/>
                </a:cubicBezTo>
                <a:lnTo>
                  <a:pt x="6667500" y="266700"/>
                </a:lnTo>
                <a:cubicBezTo>
                  <a:pt x="6667500" y="266700"/>
                  <a:pt x="6641913" y="266700"/>
                  <a:pt x="6610350" y="266700"/>
                </a:cubicBezTo>
                <a:lnTo>
                  <a:pt x="57150" y="266700"/>
                </a:lnTo>
                <a:cubicBezTo>
                  <a:pt x="25587" y="266700"/>
                  <a:pt x="0" y="266700"/>
                  <a:pt x="0" y="266700"/>
                </a:cubicBezTo>
                <a:lnTo>
                  <a:pt x="0" y="0"/>
                </a:lnTo>
                <a:cubicBezTo>
                  <a:pt x="0" y="0"/>
                  <a:pt x="25587" y="0"/>
                  <a:pt x="57150" y="0"/>
                </a:cubicBezTo>
                <a:close/>
              </a:path>
            </a:pathLst>
          </a:custGeom>
          <a:solidFill>
            <a:srgbClr val="E5E7EB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53" name="자유형: 도형 52">
            <a:extLst>
              <a:ext uri="{FF2B5EF4-FFF2-40B4-BE49-F238E27FC236}">
                <a16:creationId xmlns:a16="http://schemas.microsoft.com/office/drawing/2014/main" id="{16CE6C7F-C7FF-44F9-9E85-C2AA51FDEB9F}"/>
              </a:ext>
            </a:extLst>
          </p:cNvPr>
          <p:cNvSpPr/>
          <p:nvPr/>
        </p:nvSpPr>
        <p:spPr>
          <a:xfrm>
            <a:off x="2690763" y="1883169"/>
            <a:ext cx="2609850" cy="266700"/>
          </a:xfrm>
          <a:custGeom>
            <a:avLst/>
            <a:gdLst>
              <a:gd name="connsiteX0" fmla="*/ 2552700 w 2609850"/>
              <a:gd name="connsiteY0" fmla="*/ 0 h 266700"/>
              <a:gd name="connsiteX1" fmla="*/ 2609850 w 2609850"/>
              <a:gd name="connsiteY1" fmla="*/ 0 h 266700"/>
              <a:gd name="connsiteX2" fmla="*/ 2609850 w 2609850"/>
              <a:gd name="connsiteY2" fmla="*/ 266700 h 266700"/>
              <a:gd name="connsiteX3" fmla="*/ 2552700 w 2609850"/>
              <a:gd name="connsiteY3" fmla="*/ 266700 h 266700"/>
              <a:gd name="connsiteX4" fmla="*/ 57150 w 2609850"/>
              <a:gd name="connsiteY4" fmla="*/ 266700 h 266700"/>
              <a:gd name="connsiteX5" fmla="*/ 0 w 2609850"/>
              <a:gd name="connsiteY5" fmla="*/ 266700 h 266700"/>
              <a:gd name="connsiteX6" fmla="*/ 0 w 2609850"/>
              <a:gd name="connsiteY6" fmla="*/ 0 h 266700"/>
              <a:gd name="connsiteX7" fmla="*/ 57150 w 2609850"/>
              <a:gd name="connsiteY7" fmla="*/ 0 h 266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09850" h="266700">
                <a:moveTo>
                  <a:pt x="2552700" y="0"/>
                </a:moveTo>
                <a:cubicBezTo>
                  <a:pt x="2584263" y="0"/>
                  <a:pt x="2609850" y="0"/>
                  <a:pt x="2609850" y="0"/>
                </a:cubicBezTo>
                <a:lnTo>
                  <a:pt x="2609850" y="266700"/>
                </a:lnTo>
                <a:cubicBezTo>
                  <a:pt x="2609850" y="266700"/>
                  <a:pt x="2584263" y="266700"/>
                  <a:pt x="2552700" y="266700"/>
                </a:cubicBezTo>
                <a:lnTo>
                  <a:pt x="57150" y="266700"/>
                </a:lnTo>
                <a:cubicBezTo>
                  <a:pt x="25587" y="266700"/>
                  <a:pt x="0" y="266700"/>
                  <a:pt x="0" y="266700"/>
                </a:cubicBezTo>
                <a:lnTo>
                  <a:pt x="0" y="0"/>
                </a:lnTo>
                <a:cubicBezTo>
                  <a:pt x="0" y="0"/>
                  <a:pt x="25587" y="0"/>
                  <a:pt x="57150" y="0"/>
                </a:cubicBezTo>
                <a:close/>
              </a:path>
            </a:pathLst>
          </a:custGeom>
          <a:solidFill>
            <a:srgbClr val="3B82F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17A7AAD-08B0-4D9E-9822-9BA0E5973B82}"/>
              </a:ext>
            </a:extLst>
          </p:cNvPr>
          <p:cNvSpPr txBox="1"/>
          <p:nvPr/>
        </p:nvSpPr>
        <p:spPr>
          <a:xfrm>
            <a:off x="3599304" y="1857663"/>
            <a:ext cx="867414" cy="5471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1050" b="1" spc="0" baseline="0" dirty="0">
                <a:solidFill>
                  <a:srgbClr val="FFFFFF"/>
                </a:solidFill>
                <a:latin typeface="Arial"/>
                <a:ea typeface="+mn-ea"/>
                <a:cs typeface="Arial"/>
                <a:sym typeface="Arial"/>
                <a:rtl val="0"/>
              </a:rPr>
              <a:t>12.8 GB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6D931131-E1E1-4B52-9FEB-D3016AF2AD43}"/>
              </a:ext>
            </a:extLst>
          </p:cNvPr>
          <p:cNvSpPr txBox="1"/>
          <p:nvPr/>
        </p:nvSpPr>
        <p:spPr>
          <a:xfrm>
            <a:off x="5384084" y="1867188"/>
            <a:ext cx="1355507" cy="5254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1000" spc="0" baseline="0" dirty="0">
                <a:solidFill>
                  <a:srgbClr val="6B7280"/>
                </a:solidFill>
                <a:latin typeface="Arial"/>
                <a:ea typeface="+mn-ea"/>
                <a:cs typeface="Arial"/>
                <a:sym typeface="Arial"/>
                <a:rtl val="0"/>
              </a:rPr>
              <a:t>/ 32.6 GB (39%)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97B00D76-3F8F-4B92-98A3-6EAFE2EA1F0C}"/>
              </a:ext>
            </a:extLst>
          </p:cNvPr>
          <p:cNvSpPr txBox="1"/>
          <p:nvPr/>
        </p:nvSpPr>
        <p:spPr>
          <a:xfrm>
            <a:off x="9697962" y="1857663"/>
            <a:ext cx="1439182" cy="4810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900" spc="0" baseline="0" dirty="0">
                <a:solidFill>
                  <a:srgbClr val="6B7280"/>
                </a:solidFill>
                <a:latin typeface="Arial"/>
                <a:ea typeface="+mn-ea"/>
                <a:cs typeface="Arial"/>
                <a:sym typeface="Arial"/>
                <a:rtl val="0"/>
              </a:rPr>
              <a:t> </a:t>
            </a:r>
            <a:r>
              <a:rPr lang="ko-KR" altLang="en-US" sz="900" spc="0" baseline="0" dirty="0">
                <a:solidFill>
                  <a:srgbClr val="6B7280"/>
                </a:solidFill>
                <a:latin typeface="맑은 고딕"/>
                <a:ea typeface="맑은 고딕"/>
                <a:cs typeface="Arial"/>
                <a:sym typeface="맑은 고딕"/>
                <a:rtl val="0"/>
              </a:rPr>
              <a:t>그리드</a:t>
            </a:r>
            <a:r>
              <a:rPr lang="ko-KR" altLang="en-US" sz="900" spc="0" baseline="0" dirty="0">
                <a:solidFill>
                  <a:srgbClr val="6B7280"/>
                </a:solidFill>
                <a:latin typeface="Arial"/>
                <a:ea typeface="맑은 고딕"/>
                <a:cs typeface="Arial"/>
                <a:sym typeface="Arial"/>
                <a:rtl val="0"/>
              </a:rPr>
              <a:t>+ FFT </a:t>
            </a:r>
            <a:r>
              <a:rPr lang="ko-KR" altLang="en-US" sz="900" spc="0" baseline="0" dirty="0">
                <a:solidFill>
                  <a:srgbClr val="6B7280"/>
                </a:solidFill>
                <a:latin typeface="맑은 고딕"/>
                <a:ea typeface="맑은 고딕"/>
                <a:cs typeface="Arial"/>
                <a:sym typeface="맑은 고딕"/>
                <a:rtl val="0"/>
              </a:rPr>
              <a:t>버퍼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7168879A-BD3C-4A50-8C65-9F2C752848F1}"/>
              </a:ext>
            </a:extLst>
          </p:cNvPr>
          <p:cNvSpPr txBox="1"/>
          <p:nvPr/>
        </p:nvSpPr>
        <p:spPr>
          <a:xfrm>
            <a:off x="1170573" y="2313699"/>
            <a:ext cx="878205" cy="2896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ko-KR" altLang="en-US" sz="975" b="1" spc="0" baseline="0" dirty="0">
                <a:solidFill>
                  <a:srgbClr val="374151"/>
                </a:solidFill>
                <a:latin typeface="Arial"/>
                <a:ea typeface="+mn-ea"/>
                <a:cs typeface="Arial"/>
                <a:sym typeface="Arial"/>
                <a:rtl val="0"/>
              </a:rPr>
              <a:t>GPU Power</a:t>
            </a:r>
          </a:p>
        </p:txBody>
      </p:sp>
      <p:sp>
        <p:nvSpPr>
          <p:cNvPr id="58" name="자유형: 도형 57">
            <a:extLst>
              <a:ext uri="{FF2B5EF4-FFF2-40B4-BE49-F238E27FC236}">
                <a16:creationId xmlns:a16="http://schemas.microsoft.com/office/drawing/2014/main" id="{D8998A05-CD21-402E-A853-CD49A977E735}"/>
              </a:ext>
            </a:extLst>
          </p:cNvPr>
          <p:cNvSpPr/>
          <p:nvPr/>
        </p:nvSpPr>
        <p:spPr>
          <a:xfrm>
            <a:off x="2690763" y="2340369"/>
            <a:ext cx="6667500" cy="266700"/>
          </a:xfrm>
          <a:custGeom>
            <a:avLst/>
            <a:gdLst>
              <a:gd name="connsiteX0" fmla="*/ 6610350 w 6667500"/>
              <a:gd name="connsiteY0" fmla="*/ 0 h 266700"/>
              <a:gd name="connsiteX1" fmla="*/ 6667500 w 6667500"/>
              <a:gd name="connsiteY1" fmla="*/ 0 h 266700"/>
              <a:gd name="connsiteX2" fmla="*/ 6667500 w 6667500"/>
              <a:gd name="connsiteY2" fmla="*/ 266700 h 266700"/>
              <a:gd name="connsiteX3" fmla="*/ 6610350 w 6667500"/>
              <a:gd name="connsiteY3" fmla="*/ 266700 h 266700"/>
              <a:gd name="connsiteX4" fmla="*/ 57150 w 6667500"/>
              <a:gd name="connsiteY4" fmla="*/ 266700 h 266700"/>
              <a:gd name="connsiteX5" fmla="*/ 0 w 6667500"/>
              <a:gd name="connsiteY5" fmla="*/ 266700 h 266700"/>
              <a:gd name="connsiteX6" fmla="*/ 0 w 6667500"/>
              <a:gd name="connsiteY6" fmla="*/ 0 h 266700"/>
              <a:gd name="connsiteX7" fmla="*/ 57150 w 6667500"/>
              <a:gd name="connsiteY7" fmla="*/ 0 h 266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667500" h="266700">
                <a:moveTo>
                  <a:pt x="6610350" y="0"/>
                </a:moveTo>
                <a:cubicBezTo>
                  <a:pt x="6641913" y="0"/>
                  <a:pt x="6667500" y="0"/>
                  <a:pt x="6667500" y="0"/>
                </a:cubicBezTo>
                <a:lnTo>
                  <a:pt x="6667500" y="266700"/>
                </a:lnTo>
                <a:cubicBezTo>
                  <a:pt x="6667500" y="266700"/>
                  <a:pt x="6641913" y="266700"/>
                  <a:pt x="6610350" y="266700"/>
                </a:cubicBezTo>
                <a:lnTo>
                  <a:pt x="57150" y="266700"/>
                </a:lnTo>
                <a:cubicBezTo>
                  <a:pt x="25587" y="266700"/>
                  <a:pt x="0" y="266700"/>
                  <a:pt x="0" y="266700"/>
                </a:cubicBezTo>
                <a:lnTo>
                  <a:pt x="0" y="0"/>
                </a:lnTo>
                <a:cubicBezTo>
                  <a:pt x="0" y="0"/>
                  <a:pt x="25587" y="0"/>
                  <a:pt x="57150" y="0"/>
                </a:cubicBezTo>
                <a:close/>
              </a:path>
            </a:pathLst>
          </a:custGeom>
          <a:solidFill>
            <a:srgbClr val="E5E7EB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59" name="자유형: 도형 58">
            <a:extLst>
              <a:ext uri="{FF2B5EF4-FFF2-40B4-BE49-F238E27FC236}">
                <a16:creationId xmlns:a16="http://schemas.microsoft.com/office/drawing/2014/main" id="{DACF49D5-EE93-4CD3-84B2-82361C372AF8}"/>
              </a:ext>
            </a:extLst>
          </p:cNvPr>
          <p:cNvSpPr/>
          <p:nvPr/>
        </p:nvSpPr>
        <p:spPr>
          <a:xfrm>
            <a:off x="2690763" y="2340369"/>
            <a:ext cx="2924175" cy="266700"/>
          </a:xfrm>
          <a:custGeom>
            <a:avLst/>
            <a:gdLst>
              <a:gd name="connsiteX0" fmla="*/ 2867025 w 2924175"/>
              <a:gd name="connsiteY0" fmla="*/ 0 h 266700"/>
              <a:gd name="connsiteX1" fmla="*/ 2924175 w 2924175"/>
              <a:gd name="connsiteY1" fmla="*/ 0 h 266700"/>
              <a:gd name="connsiteX2" fmla="*/ 2924175 w 2924175"/>
              <a:gd name="connsiteY2" fmla="*/ 266700 h 266700"/>
              <a:gd name="connsiteX3" fmla="*/ 2867025 w 2924175"/>
              <a:gd name="connsiteY3" fmla="*/ 266700 h 266700"/>
              <a:gd name="connsiteX4" fmla="*/ 57150 w 2924175"/>
              <a:gd name="connsiteY4" fmla="*/ 266700 h 266700"/>
              <a:gd name="connsiteX5" fmla="*/ 0 w 2924175"/>
              <a:gd name="connsiteY5" fmla="*/ 266700 h 266700"/>
              <a:gd name="connsiteX6" fmla="*/ 0 w 2924175"/>
              <a:gd name="connsiteY6" fmla="*/ 0 h 266700"/>
              <a:gd name="connsiteX7" fmla="*/ 57150 w 2924175"/>
              <a:gd name="connsiteY7" fmla="*/ 0 h 266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924175" h="266700">
                <a:moveTo>
                  <a:pt x="2867025" y="0"/>
                </a:moveTo>
                <a:cubicBezTo>
                  <a:pt x="2898588" y="0"/>
                  <a:pt x="2924175" y="0"/>
                  <a:pt x="2924175" y="0"/>
                </a:cubicBezTo>
                <a:lnTo>
                  <a:pt x="2924175" y="266700"/>
                </a:lnTo>
                <a:cubicBezTo>
                  <a:pt x="2924175" y="266700"/>
                  <a:pt x="2898588" y="266700"/>
                  <a:pt x="2867025" y="266700"/>
                </a:cubicBezTo>
                <a:lnTo>
                  <a:pt x="57150" y="266700"/>
                </a:lnTo>
                <a:cubicBezTo>
                  <a:pt x="25587" y="266700"/>
                  <a:pt x="0" y="266700"/>
                  <a:pt x="0" y="266700"/>
                </a:cubicBezTo>
                <a:lnTo>
                  <a:pt x="0" y="0"/>
                </a:lnTo>
                <a:cubicBezTo>
                  <a:pt x="0" y="0"/>
                  <a:pt x="25587" y="0"/>
                  <a:pt x="57150" y="0"/>
                </a:cubicBezTo>
                <a:close/>
              </a:path>
            </a:pathLst>
          </a:custGeom>
          <a:solidFill>
            <a:srgbClr val="F59E0B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735943F4-1A94-4176-AA64-2FB1CE6CBB67}"/>
              </a:ext>
            </a:extLst>
          </p:cNvPr>
          <p:cNvSpPr txBox="1"/>
          <p:nvPr/>
        </p:nvSpPr>
        <p:spPr>
          <a:xfrm>
            <a:off x="3800515" y="2314863"/>
            <a:ext cx="769794" cy="5471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1050" b="1" spc="0" baseline="0" dirty="0">
                <a:solidFill>
                  <a:srgbClr val="FFFFFF"/>
                </a:solidFill>
                <a:latin typeface="Arial"/>
                <a:ea typeface="+mn-ea"/>
                <a:cs typeface="Arial"/>
                <a:sym typeface="Arial"/>
                <a:rtl val="0"/>
              </a:rPr>
              <a:t>252 W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D50CB7DF-A55F-45AB-A237-D22616C7A58E}"/>
              </a:ext>
            </a:extLst>
          </p:cNvPr>
          <p:cNvSpPr txBox="1"/>
          <p:nvPr/>
        </p:nvSpPr>
        <p:spPr>
          <a:xfrm>
            <a:off x="5630366" y="2324388"/>
            <a:ext cx="1243943" cy="5254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1000" spc="0" baseline="0" dirty="0">
                <a:solidFill>
                  <a:srgbClr val="6B7280"/>
                </a:solidFill>
                <a:latin typeface="Arial"/>
                <a:ea typeface="+mn-ea"/>
                <a:cs typeface="Arial"/>
                <a:sym typeface="Arial"/>
                <a:rtl val="0"/>
              </a:rPr>
              <a:t>/ 575 W (44%)</a:t>
            </a:r>
          </a:p>
        </p:txBody>
      </p:sp>
      <p:sp>
        <p:nvSpPr>
          <p:cNvPr id="2189" name="TextBox 2188">
            <a:extLst>
              <a:ext uri="{FF2B5EF4-FFF2-40B4-BE49-F238E27FC236}">
                <a16:creationId xmlns:a16="http://schemas.microsoft.com/office/drawing/2014/main" id="{ACA464CD-D609-403C-B887-71378C850407}"/>
              </a:ext>
            </a:extLst>
          </p:cNvPr>
          <p:cNvSpPr txBox="1"/>
          <p:nvPr/>
        </p:nvSpPr>
        <p:spPr>
          <a:xfrm>
            <a:off x="9310698" y="2314863"/>
            <a:ext cx="1899385" cy="4810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900" spc="0" baseline="0" dirty="0">
                <a:solidFill>
                  <a:srgbClr val="6B7280"/>
                </a:solidFill>
                <a:latin typeface="Arial"/>
                <a:ea typeface="+mn-ea"/>
                <a:cs typeface="Arial"/>
                <a:sym typeface="Arial"/>
                <a:rtl val="0"/>
              </a:rPr>
              <a:t>FP64  </a:t>
            </a:r>
            <a:r>
              <a:rPr lang="ko-KR" altLang="en-US" sz="900" spc="0" baseline="0" dirty="0">
                <a:solidFill>
                  <a:srgbClr val="6B7280"/>
                </a:solidFill>
                <a:latin typeface="맑은 고딕"/>
                <a:ea typeface="맑은 고딕"/>
                <a:cs typeface="Arial"/>
                <a:sym typeface="맑은 고딕"/>
                <a:rtl val="0"/>
              </a:rPr>
              <a:t>제한</a:t>
            </a:r>
            <a:r>
              <a:rPr lang="ko-KR" altLang="en-US" sz="900" spc="0" baseline="0" dirty="0">
                <a:solidFill>
                  <a:srgbClr val="6B7280"/>
                </a:solidFill>
                <a:latin typeface="Arial"/>
                <a:ea typeface="맑은 고딕"/>
                <a:cs typeface="Arial"/>
                <a:sym typeface="Arial"/>
                <a:rtl val="0"/>
              </a:rPr>
              <a:t>→ </a:t>
            </a:r>
            <a:r>
              <a:rPr lang="ko-KR" altLang="en-US" sz="900" spc="0" baseline="0" dirty="0">
                <a:solidFill>
                  <a:srgbClr val="6B7280"/>
                </a:solidFill>
                <a:latin typeface="맑은 고딕"/>
                <a:ea typeface="맑은 고딕"/>
                <a:cs typeface="Arial"/>
                <a:sym typeface="맑은 고딕"/>
                <a:rtl val="0"/>
              </a:rPr>
              <a:t>미포화</a:t>
            </a:r>
            <a:r>
              <a:rPr lang="ko-KR" altLang="en-US" sz="900" spc="0" baseline="0" dirty="0">
                <a:solidFill>
                  <a:srgbClr val="6B7280"/>
                </a:solidFill>
                <a:latin typeface="Arial"/>
                <a:ea typeface="맑은 고딕"/>
                <a:cs typeface="Arial"/>
                <a:sym typeface="Arial"/>
                <a:rtl val="0"/>
              </a:rPr>
              <a:t> </a:t>
            </a:r>
            <a:r>
              <a:rPr lang="ko-KR" altLang="en-US" sz="900" spc="0" baseline="0" dirty="0">
                <a:solidFill>
                  <a:srgbClr val="6B7280"/>
                </a:solidFill>
                <a:latin typeface="맑은 고딕"/>
                <a:ea typeface="맑은 고딕"/>
                <a:cs typeface="Arial"/>
                <a:sym typeface="맑은 고딕"/>
                <a:rtl val="0"/>
              </a:rPr>
              <a:t>전력</a:t>
            </a:r>
          </a:p>
        </p:txBody>
      </p:sp>
      <p:sp>
        <p:nvSpPr>
          <p:cNvPr id="2191" name="TextBox 2190">
            <a:extLst>
              <a:ext uri="{FF2B5EF4-FFF2-40B4-BE49-F238E27FC236}">
                <a16:creationId xmlns:a16="http://schemas.microsoft.com/office/drawing/2014/main" id="{B27C2098-FB4E-4017-BD78-8D7B2DAF9185}"/>
              </a:ext>
            </a:extLst>
          </p:cNvPr>
          <p:cNvSpPr txBox="1"/>
          <p:nvPr/>
        </p:nvSpPr>
        <p:spPr>
          <a:xfrm>
            <a:off x="1170573" y="2770899"/>
            <a:ext cx="849630" cy="2896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ko-KR" altLang="en-US" sz="975" b="1" spc="0" baseline="0" dirty="0">
                <a:solidFill>
                  <a:srgbClr val="374151"/>
                </a:solidFill>
                <a:latin typeface="Arial"/>
                <a:ea typeface="+mn-ea"/>
                <a:cs typeface="Arial"/>
                <a:sym typeface="Arial"/>
                <a:rtl val="0"/>
              </a:rPr>
              <a:t>CPU Usage</a:t>
            </a:r>
          </a:p>
        </p:txBody>
      </p:sp>
      <p:sp>
        <p:nvSpPr>
          <p:cNvPr id="2192" name="자유형: 도형 2191">
            <a:extLst>
              <a:ext uri="{FF2B5EF4-FFF2-40B4-BE49-F238E27FC236}">
                <a16:creationId xmlns:a16="http://schemas.microsoft.com/office/drawing/2014/main" id="{A0C9536E-68EC-4BBC-AE59-123D22CB2884}"/>
              </a:ext>
            </a:extLst>
          </p:cNvPr>
          <p:cNvSpPr/>
          <p:nvPr/>
        </p:nvSpPr>
        <p:spPr>
          <a:xfrm>
            <a:off x="2690763" y="2797569"/>
            <a:ext cx="6667500" cy="266700"/>
          </a:xfrm>
          <a:custGeom>
            <a:avLst/>
            <a:gdLst>
              <a:gd name="connsiteX0" fmla="*/ 6610350 w 6667500"/>
              <a:gd name="connsiteY0" fmla="*/ 0 h 266700"/>
              <a:gd name="connsiteX1" fmla="*/ 6667500 w 6667500"/>
              <a:gd name="connsiteY1" fmla="*/ 0 h 266700"/>
              <a:gd name="connsiteX2" fmla="*/ 6667500 w 6667500"/>
              <a:gd name="connsiteY2" fmla="*/ 266700 h 266700"/>
              <a:gd name="connsiteX3" fmla="*/ 6610350 w 6667500"/>
              <a:gd name="connsiteY3" fmla="*/ 266700 h 266700"/>
              <a:gd name="connsiteX4" fmla="*/ 57150 w 6667500"/>
              <a:gd name="connsiteY4" fmla="*/ 266700 h 266700"/>
              <a:gd name="connsiteX5" fmla="*/ 0 w 6667500"/>
              <a:gd name="connsiteY5" fmla="*/ 266700 h 266700"/>
              <a:gd name="connsiteX6" fmla="*/ 0 w 6667500"/>
              <a:gd name="connsiteY6" fmla="*/ 0 h 266700"/>
              <a:gd name="connsiteX7" fmla="*/ 57150 w 6667500"/>
              <a:gd name="connsiteY7" fmla="*/ 0 h 266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667500" h="266700">
                <a:moveTo>
                  <a:pt x="6610350" y="0"/>
                </a:moveTo>
                <a:cubicBezTo>
                  <a:pt x="6641913" y="0"/>
                  <a:pt x="6667500" y="0"/>
                  <a:pt x="6667500" y="0"/>
                </a:cubicBezTo>
                <a:lnTo>
                  <a:pt x="6667500" y="266700"/>
                </a:lnTo>
                <a:cubicBezTo>
                  <a:pt x="6667500" y="266700"/>
                  <a:pt x="6641913" y="266700"/>
                  <a:pt x="6610350" y="266700"/>
                </a:cubicBezTo>
                <a:lnTo>
                  <a:pt x="57150" y="266700"/>
                </a:lnTo>
                <a:cubicBezTo>
                  <a:pt x="25587" y="266700"/>
                  <a:pt x="0" y="266700"/>
                  <a:pt x="0" y="266700"/>
                </a:cubicBezTo>
                <a:lnTo>
                  <a:pt x="0" y="0"/>
                </a:lnTo>
                <a:cubicBezTo>
                  <a:pt x="0" y="0"/>
                  <a:pt x="25587" y="0"/>
                  <a:pt x="57150" y="0"/>
                </a:cubicBezTo>
                <a:close/>
              </a:path>
            </a:pathLst>
          </a:custGeom>
          <a:solidFill>
            <a:srgbClr val="E5E7EB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2193" name="자유형: 도형 2192">
            <a:extLst>
              <a:ext uri="{FF2B5EF4-FFF2-40B4-BE49-F238E27FC236}">
                <a16:creationId xmlns:a16="http://schemas.microsoft.com/office/drawing/2014/main" id="{AAF638FC-DCCB-4ADA-8E14-748AD8B88FE5}"/>
              </a:ext>
            </a:extLst>
          </p:cNvPr>
          <p:cNvSpPr/>
          <p:nvPr/>
        </p:nvSpPr>
        <p:spPr>
          <a:xfrm>
            <a:off x="2690763" y="2797569"/>
            <a:ext cx="828675" cy="266700"/>
          </a:xfrm>
          <a:custGeom>
            <a:avLst/>
            <a:gdLst>
              <a:gd name="connsiteX0" fmla="*/ 771525 w 828675"/>
              <a:gd name="connsiteY0" fmla="*/ 0 h 266700"/>
              <a:gd name="connsiteX1" fmla="*/ 828675 w 828675"/>
              <a:gd name="connsiteY1" fmla="*/ 0 h 266700"/>
              <a:gd name="connsiteX2" fmla="*/ 828675 w 828675"/>
              <a:gd name="connsiteY2" fmla="*/ 266700 h 266700"/>
              <a:gd name="connsiteX3" fmla="*/ 771525 w 828675"/>
              <a:gd name="connsiteY3" fmla="*/ 266700 h 266700"/>
              <a:gd name="connsiteX4" fmla="*/ 57150 w 828675"/>
              <a:gd name="connsiteY4" fmla="*/ 266700 h 266700"/>
              <a:gd name="connsiteX5" fmla="*/ 0 w 828675"/>
              <a:gd name="connsiteY5" fmla="*/ 266700 h 266700"/>
              <a:gd name="connsiteX6" fmla="*/ 0 w 828675"/>
              <a:gd name="connsiteY6" fmla="*/ 0 h 266700"/>
              <a:gd name="connsiteX7" fmla="*/ 57150 w 828675"/>
              <a:gd name="connsiteY7" fmla="*/ 0 h 266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28675" h="266700">
                <a:moveTo>
                  <a:pt x="771525" y="0"/>
                </a:moveTo>
                <a:cubicBezTo>
                  <a:pt x="803088" y="0"/>
                  <a:pt x="828675" y="0"/>
                  <a:pt x="828675" y="0"/>
                </a:cubicBezTo>
                <a:lnTo>
                  <a:pt x="828675" y="266700"/>
                </a:lnTo>
                <a:cubicBezTo>
                  <a:pt x="828675" y="266700"/>
                  <a:pt x="803088" y="266700"/>
                  <a:pt x="771525" y="266700"/>
                </a:cubicBezTo>
                <a:lnTo>
                  <a:pt x="57150" y="266700"/>
                </a:lnTo>
                <a:cubicBezTo>
                  <a:pt x="25587" y="266700"/>
                  <a:pt x="0" y="266700"/>
                  <a:pt x="0" y="266700"/>
                </a:cubicBezTo>
                <a:lnTo>
                  <a:pt x="0" y="0"/>
                </a:lnTo>
                <a:cubicBezTo>
                  <a:pt x="0" y="0"/>
                  <a:pt x="25587" y="0"/>
                  <a:pt x="57150" y="0"/>
                </a:cubicBezTo>
                <a:close/>
              </a:path>
            </a:pathLst>
          </a:custGeom>
          <a:solidFill>
            <a:srgbClr val="3B82F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2194" name="TextBox 2193">
            <a:extLst>
              <a:ext uri="{FF2B5EF4-FFF2-40B4-BE49-F238E27FC236}">
                <a16:creationId xmlns:a16="http://schemas.microsoft.com/office/drawing/2014/main" id="{E1FC1D9C-9574-455A-A93C-23FA33BFB2DA}"/>
              </a:ext>
            </a:extLst>
          </p:cNvPr>
          <p:cNvSpPr txBox="1"/>
          <p:nvPr/>
        </p:nvSpPr>
        <p:spPr>
          <a:xfrm>
            <a:off x="2794602" y="2772063"/>
            <a:ext cx="686121" cy="5471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1050" b="1" spc="0" baseline="0" dirty="0">
                <a:solidFill>
                  <a:srgbClr val="FFFFFF"/>
                </a:solidFill>
                <a:latin typeface="Arial"/>
                <a:ea typeface="+mn-ea"/>
                <a:cs typeface="Arial"/>
                <a:sym typeface="Arial"/>
                <a:rtl val="0"/>
              </a:rPr>
              <a:t>404%</a:t>
            </a:r>
          </a:p>
        </p:txBody>
      </p:sp>
      <p:sp>
        <p:nvSpPr>
          <p:cNvPr id="2195" name="TextBox 2194">
            <a:extLst>
              <a:ext uri="{FF2B5EF4-FFF2-40B4-BE49-F238E27FC236}">
                <a16:creationId xmlns:a16="http://schemas.microsoft.com/office/drawing/2014/main" id="{47F83718-13A4-4530-9C2D-800F7D0CA94A}"/>
              </a:ext>
            </a:extLst>
          </p:cNvPr>
          <p:cNvSpPr txBox="1"/>
          <p:nvPr/>
        </p:nvSpPr>
        <p:spPr>
          <a:xfrm>
            <a:off x="3859680" y="2781588"/>
            <a:ext cx="3070812" cy="5254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1000" spc="0" baseline="0" dirty="0">
                <a:solidFill>
                  <a:srgbClr val="6B7280"/>
                </a:solidFill>
                <a:latin typeface="Arial"/>
                <a:ea typeface="+mn-ea"/>
                <a:cs typeface="Arial"/>
                <a:sym typeface="Arial"/>
                <a:rtl val="0"/>
              </a:rPr>
              <a:t>4 MPI × 4 OMP = 16 / 128 threads (12.5%)</a:t>
            </a:r>
          </a:p>
        </p:txBody>
      </p:sp>
      <p:sp>
        <p:nvSpPr>
          <p:cNvPr id="2196" name="TextBox 2195">
            <a:extLst>
              <a:ext uri="{FF2B5EF4-FFF2-40B4-BE49-F238E27FC236}">
                <a16:creationId xmlns:a16="http://schemas.microsoft.com/office/drawing/2014/main" id="{64450F66-60A9-44A6-9002-68BAE2619258}"/>
              </a:ext>
            </a:extLst>
          </p:cNvPr>
          <p:cNvSpPr txBox="1"/>
          <p:nvPr/>
        </p:nvSpPr>
        <p:spPr>
          <a:xfrm>
            <a:off x="9545403" y="2772063"/>
            <a:ext cx="1620475" cy="4821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900" spc="0" baseline="0" dirty="0">
                <a:solidFill>
                  <a:srgbClr val="6B7280"/>
                </a:solidFill>
                <a:latin typeface="Arial"/>
                <a:ea typeface="+mn-ea"/>
                <a:cs typeface="Arial"/>
                <a:sym typeface="Arial"/>
                <a:rtl val="0"/>
              </a:rPr>
              <a:t> </a:t>
            </a:r>
            <a:r>
              <a:rPr lang="ko-KR" altLang="en-US" sz="900" spc="0" baseline="0" dirty="0">
                <a:solidFill>
                  <a:srgbClr val="6B7280"/>
                </a:solidFill>
                <a:latin typeface="맑은 고딕"/>
                <a:ea typeface="맑은 고딕"/>
                <a:cs typeface="Arial"/>
                <a:sym typeface="맑은 고딕"/>
                <a:rtl val="0"/>
              </a:rPr>
              <a:t>대각화</a:t>
            </a:r>
            <a:r>
              <a:rPr lang="ko-KR" altLang="en-US" sz="900" spc="0" baseline="0" dirty="0">
                <a:solidFill>
                  <a:srgbClr val="6B7280"/>
                </a:solidFill>
                <a:latin typeface="Arial"/>
                <a:ea typeface="맑은 고딕"/>
                <a:cs typeface="Arial"/>
                <a:sym typeface="Arial"/>
                <a:rtl val="0"/>
              </a:rPr>
              <a:t> </a:t>
            </a:r>
            <a:r>
              <a:rPr lang="ko-KR" altLang="en-US" sz="900" spc="0" baseline="0" dirty="0">
                <a:solidFill>
                  <a:srgbClr val="6B7280"/>
                </a:solidFill>
                <a:latin typeface="맑은 고딕"/>
                <a:ea typeface="맑은 고딕"/>
                <a:cs typeface="Arial"/>
                <a:sym typeface="맑은 고딕"/>
                <a:rtl val="0"/>
              </a:rPr>
              <a:t>행렬</a:t>
            </a:r>
            <a:r>
              <a:rPr lang="ko-KR" altLang="en-US" sz="900" spc="0" baseline="0" dirty="0">
                <a:solidFill>
                  <a:srgbClr val="6B7280"/>
                </a:solidFill>
                <a:latin typeface="Arial"/>
                <a:ea typeface="맑은 고딕"/>
                <a:cs typeface="Arial"/>
                <a:sym typeface="Arial"/>
                <a:rtl val="0"/>
              </a:rPr>
              <a:t>+ mixing</a:t>
            </a:r>
          </a:p>
        </p:txBody>
      </p:sp>
      <p:sp>
        <p:nvSpPr>
          <p:cNvPr id="2197" name="TextBox 2196">
            <a:extLst>
              <a:ext uri="{FF2B5EF4-FFF2-40B4-BE49-F238E27FC236}">
                <a16:creationId xmlns:a16="http://schemas.microsoft.com/office/drawing/2014/main" id="{B12BEB86-6013-497C-ABBA-CA3F03E067B7}"/>
              </a:ext>
            </a:extLst>
          </p:cNvPr>
          <p:cNvSpPr txBox="1"/>
          <p:nvPr/>
        </p:nvSpPr>
        <p:spPr>
          <a:xfrm>
            <a:off x="1170573" y="3228099"/>
            <a:ext cx="754380" cy="5146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ko-KR" altLang="en-US" sz="975" b="1" spc="0" baseline="0" dirty="0">
                <a:solidFill>
                  <a:srgbClr val="374151"/>
                </a:solidFill>
                <a:latin typeface="Arial"/>
                <a:ea typeface="+mn-ea"/>
                <a:cs typeface="Arial"/>
                <a:sym typeface="Arial"/>
                <a:rtl val="0"/>
              </a:rPr>
              <a:t>Host RAM</a:t>
            </a:r>
          </a:p>
        </p:txBody>
      </p:sp>
      <p:sp>
        <p:nvSpPr>
          <p:cNvPr id="2198" name="자유형: 도형 2197">
            <a:extLst>
              <a:ext uri="{FF2B5EF4-FFF2-40B4-BE49-F238E27FC236}">
                <a16:creationId xmlns:a16="http://schemas.microsoft.com/office/drawing/2014/main" id="{1F74AC1E-ABA0-411C-8F2B-57FD585201C8}"/>
              </a:ext>
            </a:extLst>
          </p:cNvPr>
          <p:cNvSpPr/>
          <p:nvPr/>
        </p:nvSpPr>
        <p:spPr>
          <a:xfrm>
            <a:off x="2690763" y="3254769"/>
            <a:ext cx="6667500" cy="266700"/>
          </a:xfrm>
          <a:custGeom>
            <a:avLst/>
            <a:gdLst>
              <a:gd name="connsiteX0" fmla="*/ 6610350 w 6667500"/>
              <a:gd name="connsiteY0" fmla="*/ 0 h 266700"/>
              <a:gd name="connsiteX1" fmla="*/ 6667500 w 6667500"/>
              <a:gd name="connsiteY1" fmla="*/ 0 h 266700"/>
              <a:gd name="connsiteX2" fmla="*/ 6667500 w 6667500"/>
              <a:gd name="connsiteY2" fmla="*/ 266700 h 266700"/>
              <a:gd name="connsiteX3" fmla="*/ 6610350 w 6667500"/>
              <a:gd name="connsiteY3" fmla="*/ 266700 h 266700"/>
              <a:gd name="connsiteX4" fmla="*/ 57150 w 6667500"/>
              <a:gd name="connsiteY4" fmla="*/ 266700 h 266700"/>
              <a:gd name="connsiteX5" fmla="*/ 0 w 6667500"/>
              <a:gd name="connsiteY5" fmla="*/ 266700 h 266700"/>
              <a:gd name="connsiteX6" fmla="*/ 0 w 6667500"/>
              <a:gd name="connsiteY6" fmla="*/ 0 h 266700"/>
              <a:gd name="connsiteX7" fmla="*/ 57150 w 6667500"/>
              <a:gd name="connsiteY7" fmla="*/ 0 h 266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667500" h="266700">
                <a:moveTo>
                  <a:pt x="6610350" y="0"/>
                </a:moveTo>
                <a:cubicBezTo>
                  <a:pt x="6641913" y="0"/>
                  <a:pt x="6667500" y="0"/>
                  <a:pt x="6667500" y="0"/>
                </a:cubicBezTo>
                <a:lnTo>
                  <a:pt x="6667500" y="266700"/>
                </a:lnTo>
                <a:cubicBezTo>
                  <a:pt x="6667500" y="266700"/>
                  <a:pt x="6641913" y="266700"/>
                  <a:pt x="6610350" y="266700"/>
                </a:cubicBezTo>
                <a:lnTo>
                  <a:pt x="57150" y="266700"/>
                </a:lnTo>
                <a:cubicBezTo>
                  <a:pt x="25587" y="266700"/>
                  <a:pt x="0" y="266700"/>
                  <a:pt x="0" y="266700"/>
                </a:cubicBezTo>
                <a:lnTo>
                  <a:pt x="0" y="0"/>
                </a:lnTo>
                <a:cubicBezTo>
                  <a:pt x="0" y="0"/>
                  <a:pt x="25587" y="0"/>
                  <a:pt x="57150" y="0"/>
                </a:cubicBezTo>
                <a:close/>
              </a:path>
            </a:pathLst>
          </a:custGeom>
          <a:solidFill>
            <a:srgbClr val="E5E7EB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2199" name="자유형: 도형 2198">
            <a:extLst>
              <a:ext uri="{FF2B5EF4-FFF2-40B4-BE49-F238E27FC236}">
                <a16:creationId xmlns:a16="http://schemas.microsoft.com/office/drawing/2014/main" id="{3E7F7B8D-18EE-4025-B3A0-F846DC0A06EF}"/>
              </a:ext>
            </a:extLst>
          </p:cNvPr>
          <p:cNvSpPr/>
          <p:nvPr/>
        </p:nvSpPr>
        <p:spPr>
          <a:xfrm>
            <a:off x="2690763" y="3254769"/>
            <a:ext cx="1666875" cy="266700"/>
          </a:xfrm>
          <a:custGeom>
            <a:avLst/>
            <a:gdLst>
              <a:gd name="connsiteX0" fmla="*/ 1609725 w 1666875"/>
              <a:gd name="connsiteY0" fmla="*/ 0 h 266700"/>
              <a:gd name="connsiteX1" fmla="*/ 1666875 w 1666875"/>
              <a:gd name="connsiteY1" fmla="*/ 0 h 266700"/>
              <a:gd name="connsiteX2" fmla="*/ 1666875 w 1666875"/>
              <a:gd name="connsiteY2" fmla="*/ 266700 h 266700"/>
              <a:gd name="connsiteX3" fmla="*/ 1609725 w 1666875"/>
              <a:gd name="connsiteY3" fmla="*/ 266700 h 266700"/>
              <a:gd name="connsiteX4" fmla="*/ 57150 w 1666875"/>
              <a:gd name="connsiteY4" fmla="*/ 266700 h 266700"/>
              <a:gd name="connsiteX5" fmla="*/ 0 w 1666875"/>
              <a:gd name="connsiteY5" fmla="*/ 266700 h 266700"/>
              <a:gd name="connsiteX6" fmla="*/ 0 w 1666875"/>
              <a:gd name="connsiteY6" fmla="*/ 0 h 266700"/>
              <a:gd name="connsiteX7" fmla="*/ 57150 w 1666875"/>
              <a:gd name="connsiteY7" fmla="*/ 0 h 266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666875" h="266700">
                <a:moveTo>
                  <a:pt x="1609725" y="0"/>
                </a:moveTo>
                <a:cubicBezTo>
                  <a:pt x="1641288" y="0"/>
                  <a:pt x="1666875" y="0"/>
                  <a:pt x="1666875" y="0"/>
                </a:cubicBezTo>
                <a:lnTo>
                  <a:pt x="1666875" y="266700"/>
                </a:lnTo>
                <a:cubicBezTo>
                  <a:pt x="1666875" y="266700"/>
                  <a:pt x="1641288" y="266700"/>
                  <a:pt x="1609725" y="266700"/>
                </a:cubicBezTo>
                <a:lnTo>
                  <a:pt x="57150" y="266700"/>
                </a:lnTo>
                <a:cubicBezTo>
                  <a:pt x="25587" y="266700"/>
                  <a:pt x="0" y="266700"/>
                  <a:pt x="0" y="266700"/>
                </a:cubicBezTo>
                <a:lnTo>
                  <a:pt x="0" y="0"/>
                </a:lnTo>
                <a:cubicBezTo>
                  <a:pt x="0" y="0"/>
                  <a:pt x="25587" y="0"/>
                  <a:pt x="57150" y="0"/>
                </a:cubicBezTo>
                <a:close/>
              </a:path>
            </a:pathLst>
          </a:custGeom>
          <a:solidFill>
            <a:srgbClr val="10B98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2200" name="TextBox 2199">
            <a:extLst>
              <a:ext uri="{FF2B5EF4-FFF2-40B4-BE49-F238E27FC236}">
                <a16:creationId xmlns:a16="http://schemas.microsoft.com/office/drawing/2014/main" id="{D44EF6F3-4969-4700-81CE-B67A9D400DD9}"/>
              </a:ext>
            </a:extLst>
          </p:cNvPr>
          <p:cNvSpPr txBox="1"/>
          <p:nvPr/>
        </p:nvSpPr>
        <p:spPr>
          <a:xfrm>
            <a:off x="3123054" y="3229263"/>
            <a:ext cx="867414" cy="5471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1050" b="1" spc="0" baseline="0" dirty="0">
                <a:solidFill>
                  <a:srgbClr val="FFFFFF"/>
                </a:solidFill>
                <a:latin typeface="Arial"/>
                <a:ea typeface="+mn-ea"/>
                <a:cs typeface="Arial"/>
                <a:sym typeface="Arial"/>
                <a:rtl val="0"/>
              </a:rPr>
              <a:t>15.7 GB</a:t>
            </a:r>
          </a:p>
        </p:txBody>
      </p:sp>
      <p:sp>
        <p:nvSpPr>
          <p:cNvPr id="2201" name="TextBox 2200">
            <a:extLst>
              <a:ext uri="{FF2B5EF4-FFF2-40B4-BE49-F238E27FC236}">
                <a16:creationId xmlns:a16="http://schemas.microsoft.com/office/drawing/2014/main" id="{B1C87240-2A1D-436A-A7D0-B3B0C7373EEA}"/>
              </a:ext>
            </a:extLst>
          </p:cNvPr>
          <p:cNvSpPr txBox="1"/>
          <p:nvPr/>
        </p:nvSpPr>
        <p:spPr>
          <a:xfrm>
            <a:off x="5098334" y="3238788"/>
            <a:ext cx="1355507" cy="5254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1000" spc="0" baseline="0" dirty="0">
                <a:solidFill>
                  <a:srgbClr val="6B7280"/>
                </a:solidFill>
                <a:latin typeface="Arial"/>
                <a:ea typeface="+mn-ea"/>
                <a:cs typeface="Arial"/>
                <a:sym typeface="Arial"/>
                <a:rtl val="0"/>
              </a:rPr>
              <a:t>/ 62.5 GB (25%)</a:t>
            </a:r>
          </a:p>
        </p:txBody>
      </p:sp>
      <p:sp>
        <p:nvSpPr>
          <p:cNvPr id="2202" name="TextBox 2201">
            <a:extLst>
              <a:ext uri="{FF2B5EF4-FFF2-40B4-BE49-F238E27FC236}">
                <a16:creationId xmlns:a16="http://schemas.microsoft.com/office/drawing/2014/main" id="{C787610D-66CD-4B40-934E-C8A224806BD8}"/>
              </a:ext>
            </a:extLst>
          </p:cNvPr>
          <p:cNvSpPr txBox="1"/>
          <p:nvPr/>
        </p:nvSpPr>
        <p:spPr>
          <a:xfrm>
            <a:off x="9334168" y="3229263"/>
            <a:ext cx="1871494" cy="4810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900" spc="0" baseline="0" dirty="0">
                <a:solidFill>
                  <a:srgbClr val="6B7280"/>
                </a:solidFill>
                <a:latin typeface="Arial"/>
                <a:ea typeface="+mn-ea"/>
                <a:cs typeface="Arial"/>
                <a:sym typeface="Arial"/>
                <a:rtl val="0"/>
              </a:rPr>
              <a:t> </a:t>
            </a:r>
            <a:r>
              <a:rPr lang="ko-KR" altLang="en-US" sz="900" spc="0" baseline="0" dirty="0">
                <a:solidFill>
                  <a:srgbClr val="6B7280"/>
                </a:solidFill>
                <a:latin typeface="맑은 고딕"/>
                <a:ea typeface="맑은 고딕"/>
                <a:cs typeface="Arial"/>
                <a:sym typeface="맑은 고딕"/>
                <a:rtl val="0"/>
              </a:rPr>
              <a:t>기저함수</a:t>
            </a:r>
            <a:r>
              <a:rPr lang="ko-KR" altLang="en-US" sz="900" spc="0" baseline="0" dirty="0">
                <a:solidFill>
                  <a:srgbClr val="6B7280"/>
                </a:solidFill>
                <a:latin typeface="Arial"/>
                <a:ea typeface="맑은 고딕"/>
                <a:cs typeface="Arial"/>
                <a:sym typeface="Arial"/>
                <a:rtl val="0"/>
              </a:rPr>
              <a:t>+ </a:t>
            </a:r>
            <a:r>
              <a:rPr lang="ko-KR" altLang="en-US" sz="900" spc="0" baseline="0" dirty="0">
                <a:solidFill>
                  <a:srgbClr val="6B7280"/>
                </a:solidFill>
                <a:latin typeface="맑은 고딕"/>
                <a:ea typeface="맑은 고딕"/>
                <a:cs typeface="Arial"/>
                <a:sym typeface="맑은 고딕"/>
                <a:rtl val="0"/>
              </a:rPr>
              <a:t>저장</a:t>
            </a:r>
            <a:r>
              <a:rPr lang="ko-KR" altLang="en-US" sz="900" spc="0" baseline="0" dirty="0">
                <a:solidFill>
                  <a:srgbClr val="6B7280"/>
                </a:solidFill>
                <a:latin typeface="Arial"/>
                <a:ea typeface="맑은 고딕"/>
                <a:cs typeface="Arial"/>
                <a:sym typeface="Arial"/>
                <a:rtl val="0"/>
              </a:rPr>
              <a:t> </a:t>
            </a:r>
            <a:r>
              <a:rPr lang="ko-KR" altLang="en-US" sz="900" spc="0" baseline="0" dirty="0">
                <a:solidFill>
                  <a:srgbClr val="6B7280"/>
                </a:solidFill>
                <a:latin typeface="맑은 고딕"/>
                <a:ea typeface="맑은 고딕"/>
                <a:cs typeface="Arial"/>
                <a:sym typeface="맑은 고딕"/>
                <a:rtl val="0"/>
              </a:rPr>
              <a:t>밀도행렬</a:t>
            </a:r>
          </a:p>
        </p:txBody>
      </p:sp>
    </p:spTree>
    <p:extLst>
      <p:ext uri="{BB962C8B-B14F-4D97-AF65-F5344CB8AC3E}">
        <p14:creationId xmlns:p14="http://schemas.microsoft.com/office/powerpoint/2010/main" val="274925483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9E7424-D86F-C1F3-AC53-4F6C5EC0C9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0" name="Google Shape;13;p2">
            <a:extLst>
              <a:ext uri="{FF2B5EF4-FFF2-40B4-BE49-F238E27FC236}">
                <a16:creationId xmlns:a16="http://schemas.microsoft.com/office/drawing/2014/main" id="{09B5769D-8AE7-651F-5CE9-35B85A72288D}"/>
              </a:ext>
            </a:extLst>
          </p:cNvPr>
          <p:cNvSpPr/>
          <p:nvPr/>
        </p:nvSpPr>
        <p:spPr>
          <a:xfrm rot="5400000">
            <a:off x="114786" y="321006"/>
            <a:ext cx="431337" cy="69652"/>
          </a:xfrm>
          <a:prstGeom prst="rect">
            <a:avLst/>
          </a:prstGeom>
          <a:solidFill>
            <a:srgbClr val="A4362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+mn-ea"/>
              <a:cs typeface="Microsoft GothicNeo" panose="020B0500000101010101" pitchFamily="50" charset="-127"/>
            </a:endParaRPr>
          </a:p>
        </p:txBody>
      </p:sp>
      <p:sp>
        <p:nvSpPr>
          <p:cNvPr id="2231" name="Google Shape;94;p13">
            <a:extLst>
              <a:ext uri="{FF2B5EF4-FFF2-40B4-BE49-F238E27FC236}">
                <a16:creationId xmlns:a16="http://schemas.microsoft.com/office/drawing/2014/main" id="{BA001928-329A-BFAB-50A0-5FD9E5FD91F8}"/>
              </a:ext>
            </a:extLst>
          </p:cNvPr>
          <p:cNvSpPr txBox="1"/>
          <p:nvPr/>
        </p:nvSpPr>
        <p:spPr>
          <a:xfrm>
            <a:off x="365281" y="-14672"/>
            <a:ext cx="11531090" cy="666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spcBef>
                <a:spcPts val="600"/>
              </a:spcBef>
            </a:pPr>
            <a:r>
              <a:rPr lang="en-US" altLang="ko-KR" sz="2800" b="1" dirty="0">
                <a:solidFill>
                  <a:srgbClr val="931A1B"/>
                </a:solidFill>
                <a:latin typeface="+mn-ea"/>
                <a:cs typeface="Microsoft GothicNeo" panose="020B0500000101010101" pitchFamily="50" charset="-127"/>
              </a:rPr>
              <a:t>GPU </a:t>
            </a:r>
            <a:r>
              <a:rPr lang="ko-KR" altLang="en-US" sz="2800" b="1" dirty="0">
                <a:solidFill>
                  <a:srgbClr val="931A1B"/>
                </a:solidFill>
                <a:latin typeface="+mn-ea"/>
                <a:cs typeface="Microsoft GothicNeo" panose="020B0500000101010101" pitchFamily="50" charset="-127"/>
              </a:rPr>
              <a:t>가속 효과와 성능 병목 요인</a:t>
            </a:r>
            <a:endParaRPr lang="en-US" altLang="ko-KR" sz="2800" b="1" dirty="0">
              <a:solidFill>
                <a:srgbClr val="931A1B"/>
              </a:solidFill>
              <a:latin typeface="+mn-ea"/>
              <a:cs typeface="Microsoft GothicNeo" panose="020B0500000101010101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C8BD7CD-C82B-A964-1C12-1903A1D9BA66}"/>
              </a:ext>
            </a:extLst>
          </p:cNvPr>
          <p:cNvSpPr txBox="1"/>
          <p:nvPr/>
        </p:nvSpPr>
        <p:spPr>
          <a:xfrm>
            <a:off x="365281" y="594049"/>
            <a:ext cx="11258550" cy="4178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600" b="1" dirty="0">
                <a:latin typeface="+mn-ea"/>
              </a:rPr>
              <a:t>1. </a:t>
            </a:r>
            <a:r>
              <a:rPr lang="ko-KR" altLang="en-US" sz="1600" b="1" dirty="0">
                <a:latin typeface="+mn-ea"/>
              </a:rPr>
              <a:t>프로젝트 목적</a:t>
            </a:r>
            <a:endParaRPr lang="en-US" altLang="ko-KR" sz="1600" b="1" dirty="0">
              <a:latin typeface="+mn-ea"/>
            </a:endParaRPr>
          </a:p>
        </p:txBody>
      </p:sp>
      <p:sp>
        <p:nvSpPr>
          <p:cNvPr id="2" name="이등변 삼각형 1">
            <a:extLst>
              <a:ext uri="{FF2B5EF4-FFF2-40B4-BE49-F238E27FC236}">
                <a16:creationId xmlns:a16="http://schemas.microsoft.com/office/drawing/2014/main" id="{26503D02-D966-A29E-B223-0EF85362C68C}"/>
              </a:ext>
            </a:extLst>
          </p:cNvPr>
          <p:cNvSpPr/>
          <p:nvPr/>
        </p:nvSpPr>
        <p:spPr bwMode="auto">
          <a:xfrm rot="5400000">
            <a:off x="409315" y="764610"/>
            <a:ext cx="192717" cy="160137"/>
          </a:xfrm>
          <a:prstGeom prst="triangle">
            <a:avLst/>
          </a:prstGeom>
          <a:solidFill>
            <a:schemeClr val="tx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8311455-4400-2150-DC6A-B42DB4EF5645}"/>
              </a:ext>
            </a:extLst>
          </p:cNvPr>
          <p:cNvSpPr txBox="1"/>
          <p:nvPr/>
        </p:nvSpPr>
        <p:spPr>
          <a:xfrm>
            <a:off x="427121" y="3973504"/>
            <a:ext cx="11258550" cy="24872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050" dirty="0">
                <a:latin typeface="+mn-ea"/>
              </a:rPr>
              <a:t>GPU </a:t>
            </a:r>
            <a:r>
              <a:rPr lang="ko-KR" altLang="en-US" sz="1050" dirty="0">
                <a:latin typeface="+mn-ea"/>
              </a:rPr>
              <a:t>가속의 핵심 효과는 그리드 연산</a:t>
            </a:r>
            <a:r>
              <a:rPr lang="en-US" altLang="ko-KR" sz="1050" dirty="0">
                <a:latin typeface="+mn-ea"/>
              </a:rPr>
              <a:t>(FFT, </a:t>
            </a:r>
            <a:r>
              <a:rPr lang="ko-KR" altLang="en-US" sz="1050" dirty="0" err="1">
                <a:latin typeface="+mn-ea"/>
              </a:rPr>
              <a:t>콜로케이션</a:t>
            </a:r>
            <a:r>
              <a:rPr lang="en-US" altLang="ko-KR" sz="1050" dirty="0">
                <a:latin typeface="+mn-ea"/>
              </a:rPr>
              <a:t>, Hartree </a:t>
            </a:r>
            <a:r>
              <a:rPr lang="ko-KR" altLang="en-US" sz="1050" dirty="0" err="1">
                <a:latin typeface="+mn-ea"/>
              </a:rPr>
              <a:t>포텐셜</a:t>
            </a:r>
            <a:r>
              <a:rPr lang="en-US" altLang="ko-KR" sz="1050" dirty="0">
                <a:latin typeface="+mn-ea"/>
              </a:rPr>
              <a:t>)</a:t>
            </a:r>
            <a:r>
              <a:rPr lang="ko-KR" altLang="en-US" sz="1050" dirty="0">
                <a:latin typeface="+mn-ea"/>
              </a:rPr>
              <a:t>에서 나타나며</a:t>
            </a:r>
            <a:r>
              <a:rPr lang="en-US" altLang="ko-KR" sz="1050" dirty="0">
                <a:latin typeface="+mn-ea"/>
              </a:rPr>
              <a:t>, </a:t>
            </a:r>
            <a:r>
              <a:rPr lang="ko-KR" altLang="en-US" sz="1050" dirty="0">
                <a:latin typeface="+mn-ea"/>
              </a:rPr>
              <a:t>이 부분이 전체 </a:t>
            </a:r>
            <a:r>
              <a:rPr lang="en-US" altLang="ko-KR" sz="1050" dirty="0">
                <a:latin typeface="+mn-ea"/>
              </a:rPr>
              <a:t>SCF step </a:t>
            </a:r>
            <a:r>
              <a:rPr lang="ko-KR" altLang="en-US" sz="1050" dirty="0">
                <a:latin typeface="+mn-ea"/>
              </a:rPr>
              <a:t>시간의 약 </a:t>
            </a:r>
            <a:r>
              <a:rPr lang="en-US" altLang="ko-KR" sz="1050" dirty="0">
                <a:latin typeface="+mn-ea"/>
              </a:rPr>
              <a:t>60~70%</a:t>
            </a:r>
            <a:r>
              <a:rPr lang="ko-KR" altLang="en-US" sz="1050" dirty="0">
                <a:latin typeface="+mn-ea"/>
              </a:rPr>
              <a:t>를 차지하기 때문에 </a:t>
            </a:r>
            <a:r>
              <a:rPr lang="en-US" altLang="ko-KR" sz="1050" dirty="0">
                <a:latin typeface="+mn-ea"/>
              </a:rPr>
              <a:t>GPU </a:t>
            </a:r>
            <a:r>
              <a:rPr lang="ko-KR" altLang="en-US" sz="1050" dirty="0">
                <a:latin typeface="+mn-ea"/>
              </a:rPr>
              <a:t>가속만으로 전체 속도가 </a:t>
            </a:r>
            <a:r>
              <a:rPr lang="en-US" altLang="ko-KR" sz="1050" dirty="0">
                <a:latin typeface="+mn-ea"/>
              </a:rPr>
              <a:t>3~4</a:t>
            </a:r>
            <a:r>
              <a:rPr lang="ko-KR" altLang="en-US" sz="1050" dirty="0">
                <a:latin typeface="+mn-ea"/>
              </a:rPr>
              <a:t>배 향상됩니다</a:t>
            </a:r>
            <a:r>
              <a:rPr lang="en-US" altLang="ko-KR" sz="1050" dirty="0">
                <a:latin typeface="+mn-ea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050" dirty="0">
                <a:latin typeface="+mn-ea"/>
              </a:rPr>
              <a:t>순수 </a:t>
            </a:r>
            <a:r>
              <a:rPr lang="en-US" altLang="ko-KR" sz="1050" dirty="0">
                <a:latin typeface="+mn-ea"/>
              </a:rPr>
              <a:t>CPU </a:t>
            </a:r>
            <a:r>
              <a:rPr lang="ko-KR" altLang="en-US" sz="1050" dirty="0">
                <a:latin typeface="+mn-ea"/>
              </a:rPr>
              <a:t>모드에서는 동일 </a:t>
            </a:r>
            <a:r>
              <a:rPr lang="en-US" altLang="ko-KR" sz="1050" dirty="0">
                <a:latin typeface="+mn-ea"/>
              </a:rPr>
              <a:t>FFT</a:t>
            </a:r>
            <a:r>
              <a:rPr lang="ko-KR" altLang="en-US" sz="1050" dirty="0">
                <a:latin typeface="+mn-ea"/>
              </a:rPr>
              <a:t>를 </a:t>
            </a:r>
            <a:r>
              <a:rPr lang="en-US" altLang="ko-KR" sz="1050" dirty="0">
                <a:latin typeface="+mn-ea"/>
              </a:rPr>
              <a:t>16</a:t>
            </a:r>
            <a:r>
              <a:rPr lang="ko-KR" altLang="en-US" sz="1050" dirty="0">
                <a:latin typeface="+mn-ea"/>
              </a:rPr>
              <a:t>코어로 병렬 처리해도 </a:t>
            </a:r>
            <a:r>
              <a:rPr lang="en-US" altLang="ko-KR" sz="1050" dirty="0">
                <a:latin typeface="+mn-ea"/>
              </a:rPr>
              <a:t>step</a:t>
            </a:r>
            <a:r>
              <a:rPr lang="ko-KR" altLang="en-US" sz="1050" dirty="0">
                <a:latin typeface="+mn-ea"/>
              </a:rPr>
              <a:t>당 </a:t>
            </a:r>
            <a:r>
              <a:rPr lang="en-US" altLang="ko-KR" sz="1050" dirty="0">
                <a:latin typeface="+mn-ea"/>
              </a:rPr>
              <a:t>15~25</a:t>
            </a:r>
            <a:r>
              <a:rPr lang="ko-KR" altLang="en-US" sz="1050" dirty="0">
                <a:latin typeface="+mn-ea"/>
              </a:rPr>
              <a:t>초가 예상되므로</a:t>
            </a:r>
            <a:r>
              <a:rPr lang="en-US" altLang="ko-KR" sz="1050" dirty="0">
                <a:latin typeface="+mn-ea"/>
              </a:rPr>
              <a:t>, 300 SCF step × 2 GEO_OPT step </a:t>
            </a:r>
            <a:r>
              <a:rPr lang="ko-KR" altLang="en-US" sz="1050" dirty="0">
                <a:latin typeface="+mn-ea"/>
              </a:rPr>
              <a:t>기준으로 </a:t>
            </a:r>
            <a:r>
              <a:rPr lang="en-US" altLang="ko-KR" sz="1050" dirty="0">
                <a:latin typeface="+mn-ea"/>
              </a:rPr>
              <a:t>CPU-only</a:t>
            </a:r>
            <a:r>
              <a:rPr lang="ko-KR" altLang="en-US" sz="1050" dirty="0">
                <a:latin typeface="+mn-ea"/>
              </a:rPr>
              <a:t>는 약 </a:t>
            </a:r>
            <a:r>
              <a:rPr lang="en-US" altLang="ko-KR" sz="1050" dirty="0">
                <a:latin typeface="+mn-ea"/>
              </a:rPr>
              <a:t>90</a:t>
            </a:r>
            <a:r>
              <a:rPr lang="ko-KR" altLang="en-US" sz="1050" dirty="0">
                <a:latin typeface="+mn-ea"/>
              </a:rPr>
              <a:t>분</a:t>
            </a:r>
            <a:r>
              <a:rPr lang="en-US" altLang="ko-KR" sz="1050" dirty="0">
                <a:latin typeface="+mn-ea"/>
              </a:rPr>
              <a:t>, GPU </a:t>
            </a:r>
            <a:r>
              <a:rPr lang="ko-KR" altLang="en-US" sz="1050" dirty="0">
                <a:latin typeface="+mn-ea"/>
              </a:rPr>
              <a:t>가속 시 약 </a:t>
            </a:r>
            <a:r>
              <a:rPr lang="en-US" altLang="ko-KR" sz="1050" dirty="0">
                <a:latin typeface="+mn-ea"/>
              </a:rPr>
              <a:t>28</a:t>
            </a:r>
            <a:r>
              <a:rPr lang="ko-KR" altLang="en-US" sz="1050" dirty="0">
                <a:latin typeface="+mn-ea"/>
              </a:rPr>
              <a:t>분으로 단축됩니다</a:t>
            </a:r>
            <a:r>
              <a:rPr lang="en-US" altLang="ko-KR" sz="1050" dirty="0">
                <a:latin typeface="+mn-ea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050" dirty="0">
                <a:latin typeface="+mn-ea"/>
              </a:rPr>
              <a:t>현재 성능의 주요 병목은 </a:t>
            </a:r>
            <a:r>
              <a:rPr lang="en-US" altLang="ko-KR" sz="1050" dirty="0">
                <a:latin typeface="+mn-ea"/>
              </a:rPr>
              <a:t>FP64 </a:t>
            </a:r>
            <a:r>
              <a:rPr lang="ko-KR" altLang="en-US" sz="1050" dirty="0">
                <a:latin typeface="+mn-ea"/>
              </a:rPr>
              <a:t>처리량으로</a:t>
            </a:r>
            <a:r>
              <a:rPr lang="en-US" altLang="ko-KR" sz="1050" dirty="0">
                <a:latin typeface="+mn-ea"/>
              </a:rPr>
              <a:t>, RTX 5090</a:t>
            </a:r>
            <a:r>
              <a:rPr lang="ko-KR" altLang="en-US" sz="1050" dirty="0">
                <a:latin typeface="+mn-ea"/>
              </a:rPr>
              <a:t>은 소비자용 </a:t>
            </a:r>
            <a:r>
              <a:rPr lang="en-US" altLang="ko-KR" sz="1050" dirty="0">
                <a:latin typeface="+mn-ea"/>
              </a:rPr>
              <a:t>GPU</a:t>
            </a:r>
            <a:r>
              <a:rPr lang="ko-KR" altLang="en-US" sz="1050" dirty="0">
                <a:latin typeface="+mn-ea"/>
              </a:rPr>
              <a:t>라 </a:t>
            </a:r>
            <a:r>
              <a:rPr lang="en-US" altLang="ko-KR" sz="1050" dirty="0">
                <a:latin typeface="+mn-ea"/>
              </a:rPr>
              <a:t>FP64 </a:t>
            </a:r>
            <a:r>
              <a:rPr lang="ko-KR" altLang="en-US" sz="1050" dirty="0">
                <a:latin typeface="+mn-ea"/>
              </a:rPr>
              <a:t>성능이 </a:t>
            </a:r>
            <a:r>
              <a:rPr lang="en-US" altLang="ko-KR" sz="1050" dirty="0">
                <a:latin typeface="+mn-ea"/>
              </a:rPr>
              <a:t>FP32</a:t>
            </a:r>
            <a:r>
              <a:rPr lang="ko-KR" altLang="en-US" sz="1050" dirty="0">
                <a:latin typeface="+mn-ea"/>
              </a:rPr>
              <a:t>의 </a:t>
            </a:r>
            <a:r>
              <a:rPr lang="en-US" altLang="ko-KR" sz="1050" dirty="0">
                <a:latin typeface="+mn-ea"/>
              </a:rPr>
              <a:t>1/32 </a:t>
            </a:r>
            <a:r>
              <a:rPr lang="ko-KR" altLang="en-US" sz="1050" dirty="0">
                <a:latin typeface="+mn-ea"/>
              </a:rPr>
              <a:t>수준이며</a:t>
            </a:r>
            <a:r>
              <a:rPr lang="en-US" altLang="ko-KR" sz="1050" dirty="0">
                <a:latin typeface="+mn-ea"/>
              </a:rPr>
              <a:t>, HPC</a:t>
            </a:r>
            <a:r>
              <a:rPr lang="ko-KR" altLang="en-US" sz="1050" dirty="0">
                <a:latin typeface="+mn-ea"/>
              </a:rPr>
              <a:t>용 </a:t>
            </a:r>
            <a:r>
              <a:rPr lang="en-US" altLang="ko-KR" sz="1050" dirty="0">
                <a:latin typeface="+mn-ea"/>
              </a:rPr>
              <a:t>A100(FP64 = FP32/2)</a:t>
            </a:r>
            <a:r>
              <a:rPr lang="ko-KR" altLang="en-US" sz="1050" dirty="0">
                <a:latin typeface="+mn-ea"/>
              </a:rPr>
              <a:t>이나 </a:t>
            </a:r>
            <a:r>
              <a:rPr lang="en-US" altLang="ko-KR" sz="1050" dirty="0">
                <a:latin typeface="+mn-ea"/>
              </a:rPr>
              <a:t>H100 </a:t>
            </a:r>
            <a:r>
              <a:rPr lang="ko-KR" altLang="en-US" sz="1050" dirty="0">
                <a:latin typeface="+mn-ea"/>
              </a:rPr>
              <a:t>대비 약 </a:t>
            </a:r>
            <a:r>
              <a:rPr lang="en-US" altLang="ko-KR" sz="1050" dirty="0">
                <a:latin typeface="+mn-ea"/>
              </a:rPr>
              <a:t>1/10 </a:t>
            </a:r>
            <a:r>
              <a:rPr lang="ko-KR" altLang="en-US" sz="1050" dirty="0">
                <a:latin typeface="+mn-ea"/>
              </a:rPr>
              <a:t>수준의 배정밀도 성능만 제공합니다</a:t>
            </a:r>
            <a:r>
              <a:rPr lang="en-US" altLang="ko-KR" sz="1050" dirty="0">
                <a:latin typeface="+mn-ea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050" dirty="0">
                <a:latin typeface="+mn-ea"/>
              </a:rPr>
              <a:t>그럼에도 불구하고 </a:t>
            </a:r>
            <a:r>
              <a:rPr lang="en-US" altLang="ko-KR" sz="1050" dirty="0">
                <a:latin typeface="+mn-ea"/>
              </a:rPr>
              <a:t>GPU</a:t>
            </a:r>
            <a:r>
              <a:rPr lang="ko-KR" altLang="en-US" sz="1050" dirty="0">
                <a:latin typeface="+mn-ea"/>
              </a:rPr>
              <a:t>가 효과적인 이유는 </a:t>
            </a:r>
            <a:r>
              <a:rPr lang="en-US" altLang="ko-KR" sz="1050" dirty="0">
                <a:latin typeface="+mn-ea"/>
              </a:rPr>
              <a:t>FFT</a:t>
            </a:r>
            <a:r>
              <a:rPr lang="ko-KR" altLang="en-US" sz="1050" dirty="0">
                <a:latin typeface="+mn-ea"/>
              </a:rPr>
              <a:t>가 </a:t>
            </a:r>
            <a:r>
              <a:rPr lang="ko-KR" altLang="en-US" sz="1050" dirty="0" err="1">
                <a:latin typeface="+mn-ea"/>
              </a:rPr>
              <a:t>연산량보다</a:t>
            </a:r>
            <a:r>
              <a:rPr lang="ko-KR" altLang="en-US" sz="1050" dirty="0">
                <a:latin typeface="+mn-ea"/>
              </a:rPr>
              <a:t> 메모리 대역폭에 의해 성능이 결정되는 연산이기 때문으로</a:t>
            </a:r>
            <a:r>
              <a:rPr lang="en-US" altLang="ko-KR" sz="1050" dirty="0">
                <a:latin typeface="+mn-ea"/>
              </a:rPr>
              <a:t>, RTX 5090</a:t>
            </a:r>
            <a:r>
              <a:rPr lang="ko-KR" altLang="en-US" sz="1050" dirty="0">
                <a:latin typeface="+mn-ea"/>
              </a:rPr>
              <a:t>의 높은 메모리 대역폭</a:t>
            </a:r>
            <a:r>
              <a:rPr lang="en-US" altLang="ko-KR" sz="1050" dirty="0">
                <a:latin typeface="+mn-ea"/>
              </a:rPr>
              <a:t>(~1.8 TB/s)</a:t>
            </a:r>
            <a:r>
              <a:rPr lang="ko-KR" altLang="en-US" sz="1050" dirty="0">
                <a:latin typeface="+mn-ea"/>
              </a:rPr>
              <a:t>이 이 병목을 완화합니다</a:t>
            </a:r>
            <a:r>
              <a:rPr lang="en-US" altLang="ko-KR" sz="1050" dirty="0">
                <a:latin typeface="+mn-ea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050" dirty="0">
                <a:latin typeface="+mn-ea"/>
              </a:rPr>
              <a:t>CPU ↔ GPU </a:t>
            </a:r>
            <a:r>
              <a:rPr lang="ko-KR" altLang="en-US" sz="1050" dirty="0">
                <a:latin typeface="+mn-ea"/>
              </a:rPr>
              <a:t>간 데이터 전송은 </a:t>
            </a:r>
            <a:r>
              <a:rPr lang="en-US" altLang="ko-KR" sz="1050" dirty="0">
                <a:latin typeface="+mn-ea"/>
              </a:rPr>
              <a:t>PCIe 5.0 ×16(</a:t>
            </a:r>
            <a:r>
              <a:rPr lang="ko-KR" altLang="en-US" sz="1050" dirty="0">
                <a:latin typeface="+mn-ea"/>
              </a:rPr>
              <a:t>이론 </a:t>
            </a:r>
            <a:r>
              <a:rPr lang="en-US" altLang="ko-KR" sz="1050" dirty="0">
                <a:latin typeface="+mn-ea"/>
              </a:rPr>
              <a:t>~64 GB/s)</a:t>
            </a:r>
            <a:r>
              <a:rPr lang="ko-KR" altLang="en-US" sz="1050" dirty="0">
                <a:latin typeface="+mn-ea"/>
              </a:rPr>
              <a:t>을 통해 이루어지며</a:t>
            </a:r>
            <a:r>
              <a:rPr lang="en-US" altLang="ko-KR" sz="1050" dirty="0">
                <a:latin typeface="+mn-ea"/>
              </a:rPr>
              <a:t>, </a:t>
            </a:r>
            <a:r>
              <a:rPr lang="ko-KR" altLang="en-US" sz="1050" dirty="0">
                <a:latin typeface="+mn-ea"/>
              </a:rPr>
              <a:t>전자 밀도 그리드</a:t>
            </a:r>
            <a:r>
              <a:rPr lang="en-US" altLang="ko-KR" sz="1050" dirty="0">
                <a:latin typeface="+mn-ea"/>
              </a:rPr>
              <a:t>(~</a:t>
            </a:r>
            <a:r>
              <a:rPr lang="ko-KR" altLang="en-US" sz="1050" dirty="0">
                <a:latin typeface="+mn-ea"/>
              </a:rPr>
              <a:t>수백 </a:t>
            </a:r>
            <a:r>
              <a:rPr lang="en-US" altLang="ko-KR" sz="1050" dirty="0">
                <a:latin typeface="+mn-ea"/>
              </a:rPr>
              <a:t>MB)</a:t>
            </a:r>
            <a:r>
              <a:rPr lang="ko-KR" altLang="en-US" sz="1050" dirty="0">
                <a:latin typeface="+mn-ea"/>
              </a:rPr>
              <a:t>가 매 </a:t>
            </a:r>
            <a:r>
              <a:rPr lang="en-US" altLang="ko-KR" sz="1050" dirty="0">
                <a:latin typeface="+mn-ea"/>
              </a:rPr>
              <a:t>SCF step</a:t>
            </a:r>
            <a:r>
              <a:rPr lang="ko-KR" altLang="en-US" sz="1050" dirty="0">
                <a:latin typeface="+mn-ea"/>
              </a:rPr>
              <a:t>마다 왕복하지만 비동기 전송으로 연산과 겹쳐 처리됩니다</a:t>
            </a:r>
            <a:r>
              <a:rPr lang="en-US" altLang="ko-KR" sz="1050" dirty="0">
                <a:latin typeface="+mn-ea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050" dirty="0">
                <a:latin typeface="+mn-ea"/>
              </a:rPr>
              <a:t>행렬 대각화</a:t>
            </a:r>
            <a:r>
              <a:rPr lang="en-US" altLang="ko-KR" sz="1050" dirty="0">
                <a:latin typeface="+mn-ea"/>
              </a:rPr>
              <a:t>(O(N³) </a:t>
            </a:r>
            <a:r>
              <a:rPr lang="ko-KR" altLang="en-US" sz="1050" dirty="0">
                <a:latin typeface="+mn-ea"/>
              </a:rPr>
              <a:t>스케일링</a:t>
            </a:r>
            <a:r>
              <a:rPr lang="en-US" altLang="ko-KR" sz="1050" dirty="0">
                <a:latin typeface="+mn-ea"/>
              </a:rPr>
              <a:t>)</a:t>
            </a:r>
            <a:r>
              <a:rPr lang="ko-KR" altLang="en-US" sz="1050" dirty="0">
                <a:latin typeface="+mn-ea"/>
              </a:rPr>
              <a:t>는 </a:t>
            </a:r>
            <a:r>
              <a:rPr lang="en-US" altLang="ko-KR" sz="1050" dirty="0">
                <a:latin typeface="+mn-ea"/>
              </a:rPr>
              <a:t>CPU</a:t>
            </a:r>
            <a:r>
              <a:rPr lang="ko-KR" altLang="en-US" sz="1050" dirty="0">
                <a:latin typeface="+mn-ea"/>
              </a:rPr>
              <a:t>에서만 실행되므로</a:t>
            </a:r>
            <a:r>
              <a:rPr lang="en-US" altLang="ko-KR" sz="1050" dirty="0">
                <a:latin typeface="+mn-ea"/>
              </a:rPr>
              <a:t>, </a:t>
            </a:r>
            <a:r>
              <a:rPr lang="ko-KR" altLang="en-US" sz="1050" dirty="0">
                <a:latin typeface="+mn-ea"/>
              </a:rPr>
              <a:t>원자 수가 </a:t>
            </a:r>
            <a:r>
              <a:rPr lang="en-US" altLang="ko-KR" sz="1050" dirty="0">
                <a:latin typeface="+mn-ea"/>
              </a:rPr>
              <a:t>500</a:t>
            </a:r>
            <a:r>
              <a:rPr lang="ko-KR" altLang="en-US" sz="1050" dirty="0">
                <a:latin typeface="+mn-ea"/>
              </a:rPr>
              <a:t>개 이상으로 증가하면 이 부분이 새로운 병목이 되며</a:t>
            </a:r>
            <a:r>
              <a:rPr lang="en-US" altLang="ko-KR" sz="1050" dirty="0">
                <a:latin typeface="+mn-ea"/>
              </a:rPr>
              <a:t>, </a:t>
            </a:r>
            <a:r>
              <a:rPr lang="ko-KR" altLang="en-US" sz="1050" dirty="0">
                <a:latin typeface="+mn-ea"/>
              </a:rPr>
              <a:t>이 경우 </a:t>
            </a:r>
            <a:r>
              <a:rPr lang="en-US" altLang="ko-KR" sz="1050" dirty="0">
                <a:latin typeface="+mn-ea"/>
              </a:rPr>
              <a:t>OT method(O(N) ~ O(N²))</a:t>
            </a:r>
            <a:r>
              <a:rPr lang="ko-KR" altLang="en-US" sz="1050" dirty="0">
                <a:latin typeface="+mn-ea"/>
              </a:rPr>
              <a:t>로 전환하는 것이 유리합니다</a:t>
            </a:r>
            <a:r>
              <a:rPr lang="en-US" altLang="ko-KR" sz="1050" dirty="0">
                <a:latin typeface="+mn-ea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050" dirty="0">
                <a:latin typeface="+mn-ea"/>
              </a:rPr>
              <a:t>현재 </a:t>
            </a:r>
            <a:r>
              <a:rPr lang="en-US" altLang="ko-KR" sz="1050" dirty="0">
                <a:latin typeface="+mn-ea"/>
              </a:rPr>
              <a:t>192</a:t>
            </a:r>
            <a:r>
              <a:rPr lang="ko-KR" altLang="en-US" sz="1050" dirty="0">
                <a:latin typeface="+mn-ea"/>
              </a:rPr>
              <a:t>원자 시스템에서는 </a:t>
            </a:r>
            <a:r>
              <a:rPr lang="en-US" altLang="ko-KR" sz="1050" dirty="0">
                <a:latin typeface="+mn-ea"/>
              </a:rPr>
              <a:t>CPU 16</a:t>
            </a:r>
            <a:r>
              <a:rPr lang="ko-KR" altLang="en-US" sz="1050" dirty="0">
                <a:latin typeface="+mn-ea"/>
              </a:rPr>
              <a:t>코어 </a:t>
            </a:r>
            <a:r>
              <a:rPr lang="en-US" altLang="ko-KR" sz="1050" dirty="0">
                <a:latin typeface="+mn-ea"/>
              </a:rPr>
              <a:t>+ GPU RTX 5090 </a:t>
            </a:r>
            <a:r>
              <a:rPr lang="ko-KR" altLang="en-US" sz="1050" dirty="0">
                <a:latin typeface="+mn-ea"/>
              </a:rPr>
              <a:t>조합이 비용 대비 성능의 최적점에 가까우며</a:t>
            </a:r>
            <a:r>
              <a:rPr lang="en-US" altLang="ko-KR" sz="1050" dirty="0">
                <a:latin typeface="+mn-ea"/>
              </a:rPr>
              <a:t>, MPI </a:t>
            </a:r>
            <a:r>
              <a:rPr lang="ko-KR" altLang="en-US" sz="1050" dirty="0">
                <a:latin typeface="+mn-ea"/>
              </a:rPr>
              <a:t>프로세스를 더 늘리거나 </a:t>
            </a:r>
            <a:r>
              <a:rPr lang="en-US" altLang="ko-KR" sz="1050" dirty="0">
                <a:latin typeface="+mn-ea"/>
              </a:rPr>
              <a:t>HPC GPU</a:t>
            </a:r>
            <a:r>
              <a:rPr lang="ko-KR" altLang="en-US" sz="1050" dirty="0">
                <a:latin typeface="+mn-ea"/>
              </a:rPr>
              <a:t>로 교체하더라도 극적인 추가 향상은 기대하기 어렵습니다</a:t>
            </a:r>
            <a:r>
              <a:rPr lang="en-US" altLang="ko-KR" sz="1050" dirty="0">
                <a:latin typeface="+mn-ea"/>
              </a:rPr>
              <a:t>.</a:t>
            </a:r>
          </a:p>
        </p:txBody>
      </p:sp>
      <p:sp>
        <p:nvSpPr>
          <p:cNvPr id="2215" name="TextBox 2214">
            <a:extLst>
              <a:ext uri="{FF2B5EF4-FFF2-40B4-BE49-F238E27FC236}">
                <a16:creationId xmlns:a16="http://schemas.microsoft.com/office/drawing/2014/main" id="{534CDD76-56B4-4A64-AA29-FA48A15A2BE0}"/>
              </a:ext>
            </a:extLst>
          </p:cNvPr>
          <p:cNvSpPr txBox="1"/>
          <p:nvPr/>
        </p:nvSpPr>
        <p:spPr>
          <a:xfrm>
            <a:off x="3007892" y="827444"/>
            <a:ext cx="5332695" cy="2995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ko-KR" altLang="en-US" sz="1475" b="1" spc="0" baseline="0" dirty="0">
                <a:solidFill>
                  <a:srgbClr val="1E293B"/>
                </a:solidFill>
                <a:latin typeface="Arial"/>
                <a:ea typeface="+mn-ea"/>
                <a:cs typeface="Arial"/>
                <a:sym typeface="Arial"/>
                <a:rtl val="0"/>
              </a:rPr>
              <a:t>Performance: GPU-Accelerated vs CPU-Only (estimated)</a:t>
            </a:r>
          </a:p>
        </p:txBody>
      </p:sp>
      <p:sp>
        <p:nvSpPr>
          <p:cNvPr id="2216" name="TextBox 2215">
            <a:extLst>
              <a:ext uri="{FF2B5EF4-FFF2-40B4-BE49-F238E27FC236}">
                <a16:creationId xmlns:a16="http://schemas.microsoft.com/office/drawing/2014/main" id="{C1E5AD03-04BF-43F1-81A8-4A843503B1EF}"/>
              </a:ext>
            </a:extLst>
          </p:cNvPr>
          <p:cNvSpPr txBox="1"/>
          <p:nvPr/>
        </p:nvSpPr>
        <p:spPr>
          <a:xfrm>
            <a:off x="1109223" y="1304426"/>
            <a:ext cx="713467" cy="2370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ko-KR" altLang="en-US" sz="983" b="1" spc="0" baseline="0" dirty="0">
                <a:solidFill>
                  <a:srgbClr val="374151"/>
                </a:solidFill>
                <a:latin typeface="Arial"/>
                <a:ea typeface="+mn-ea"/>
                <a:cs typeface="Arial"/>
                <a:sym typeface="Arial"/>
                <a:rtl val="0"/>
              </a:rPr>
              <a:t>SCF Step</a:t>
            </a:r>
          </a:p>
        </p:txBody>
      </p:sp>
      <p:sp>
        <p:nvSpPr>
          <p:cNvPr id="2217" name="TextBox 2216">
            <a:extLst>
              <a:ext uri="{FF2B5EF4-FFF2-40B4-BE49-F238E27FC236}">
                <a16:creationId xmlns:a16="http://schemas.microsoft.com/office/drawing/2014/main" id="{D89D6F8A-F898-43A5-841D-62D9E45616C4}"/>
              </a:ext>
            </a:extLst>
          </p:cNvPr>
          <p:cNvSpPr txBox="1"/>
          <p:nvPr/>
        </p:nvSpPr>
        <p:spPr>
          <a:xfrm>
            <a:off x="1109223" y="2032683"/>
            <a:ext cx="755081" cy="2370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ko-KR" altLang="en-US" sz="983" b="1" spc="0" baseline="0" dirty="0">
                <a:solidFill>
                  <a:srgbClr val="374151"/>
                </a:solidFill>
                <a:latin typeface="Arial"/>
                <a:ea typeface="+mn-ea"/>
                <a:cs typeface="Arial"/>
                <a:sym typeface="Arial"/>
                <a:rtl val="0"/>
              </a:rPr>
              <a:t>GEO_OPT</a:t>
            </a:r>
          </a:p>
        </p:txBody>
      </p:sp>
      <p:sp>
        <p:nvSpPr>
          <p:cNvPr id="2218" name="TextBox 2217">
            <a:extLst>
              <a:ext uri="{FF2B5EF4-FFF2-40B4-BE49-F238E27FC236}">
                <a16:creationId xmlns:a16="http://schemas.microsoft.com/office/drawing/2014/main" id="{B346D6BA-29B6-4A3B-AF20-B05ECABBBD43}"/>
              </a:ext>
            </a:extLst>
          </p:cNvPr>
          <p:cNvSpPr txBox="1"/>
          <p:nvPr/>
        </p:nvSpPr>
        <p:spPr>
          <a:xfrm>
            <a:off x="1109223" y="1502096"/>
            <a:ext cx="744678" cy="2058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ko-KR" altLang="en-US" sz="819" spc="0" baseline="0" dirty="0">
                <a:solidFill>
                  <a:srgbClr val="6B7280"/>
                </a:solidFill>
                <a:latin typeface="Arial"/>
                <a:ea typeface="+mn-ea"/>
                <a:cs typeface="Arial"/>
                <a:sym typeface="Arial"/>
                <a:rtl val="0"/>
              </a:rPr>
              <a:t>(1 iteration)</a:t>
            </a:r>
          </a:p>
        </p:txBody>
      </p:sp>
      <p:sp>
        <p:nvSpPr>
          <p:cNvPr id="2219" name="TextBox 2218">
            <a:extLst>
              <a:ext uri="{FF2B5EF4-FFF2-40B4-BE49-F238E27FC236}">
                <a16:creationId xmlns:a16="http://schemas.microsoft.com/office/drawing/2014/main" id="{1DD84CC5-BF77-4C07-A839-5DCFE393F7F4}"/>
              </a:ext>
            </a:extLst>
          </p:cNvPr>
          <p:cNvSpPr txBox="1"/>
          <p:nvPr/>
        </p:nvSpPr>
        <p:spPr>
          <a:xfrm>
            <a:off x="1109223" y="2230353"/>
            <a:ext cx="703063" cy="2058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ko-KR" altLang="en-US" sz="819" spc="0" baseline="0" dirty="0">
                <a:solidFill>
                  <a:srgbClr val="6B7280"/>
                </a:solidFill>
                <a:latin typeface="Arial"/>
                <a:ea typeface="+mn-ea"/>
                <a:cs typeface="Arial"/>
                <a:sym typeface="Arial"/>
                <a:rtl val="0"/>
              </a:rPr>
              <a:t>(300 steps)</a:t>
            </a:r>
          </a:p>
        </p:txBody>
      </p:sp>
      <p:sp>
        <p:nvSpPr>
          <p:cNvPr id="2220" name="TextBox 2219">
            <a:extLst>
              <a:ext uri="{FF2B5EF4-FFF2-40B4-BE49-F238E27FC236}">
                <a16:creationId xmlns:a16="http://schemas.microsoft.com/office/drawing/2014/main" id="{D077796D-543B-4AE9-A5A2-E2BFAD649D95}"/>
              </a:ext>
            </a:extLst>
          </p:cNvPr>
          <p:cNvSpPr txBox="1"/>
          <p:nvPr/>
        </p:nvSpPr>
        <p:spPr>
          <a:xfrm>
            <a:off x="2149590" y="1253994"/>
            <a:ext cx="755081" cy="2058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ko-KR" altLang="en-US" sz="819" spc="0" baseline="0" dirty="0">
                <a:solidFill>
                  <a:srgbClr val="1D4ED8"/>
                </a:solidFill>
                <a:latin typeface="Arial"/>
                <a:ea typeface="+mn-ea"/>
                <a:cs typeface="Arial"/>
                <a:sym typeface="Arial"/>
                <a:rtl val="0"/>
              </a:rPr>
              <a:t>CPU + GPU</a:t>
            </a:r>
          </a:p>
        </p:txBody>
      </p:sp>
      <p:sp>
        <p:nvSpPr>
          <p:cNvPr id="2221" name="자유형: 도형 2220">
            <a:extLst>
              <a:ext uri="{FF2B5EF4-FFF2-40B4-BE49-F238E27FC236}">
                <a16:creationId xmlns:a16="http://schemas.microsoft.com/office/drawing/2014/main" id="{6C992CE2-3373-43C9-9D6A-E8156F54AAF8}"/>
              </a:ext>
            </a:extLst>
          </p:cNvPr>
          <p:cNvSpPr/>
          <p:nvPr/>
        </p:nvSpPr>
        <p:spPr>
          <a:xfrm>
            <a:off x="2969286" y="1289310"/>
            <a:ext cx="1248440" cy="208073"/>
          </a:xfrm>
          <a:custGeom>
            <a:avLst/>
            <a:gdLst>
              <a:gd name="connsiteX0" fmla="*/ 1206825 w 1248440"/>
              <a:gd name="connsiteY0" fmla="*/ 0 h 208073"/>
              <a:gd name="connsiteX1" fmla="*/ 1248440 w 1248440"/>
              <a:gd name="connsiteY1" fmla="*/ 0 h 208073"/>
              <a:gd name="connsiteX2" fmla="*/ 1248440 w 1248440"/>
              <a:gd name="connsiteY2" fmla="*/ 208073 h 208073"/>
              <a:gd name="connsiteX3" fmla="*/ 1206825 w 1248440"/>
              <a:gd name="connsiteY3" fmla="*/ 208073 h 208073"/>
              <a:gd name="connsiteX4" fmla="*/ 41615 w 1248440"/>
              <a:gd name="connsiteY4" fmla="*/ 208073 h 208073"/>
              <a:gd name="connsiteX5" fmla="*/ 0 w 1248440"/>
              <a:gd name="connsiteY5" fmla="*/ 208073 h 208073"/>
              <a:gd name="connsiteX6" fmla="*/ 0 w 1248440"/>
              <a:gd name="connsiteY6" fmla="*/ 0 h 208073"/>
              <a:gd name="connsiteX7" fmla="*/ 41615 w 1248440"/>
              <a:gd name="connsiteY7" fmla="*/ 0 h 2080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48440" h="208073">
                <a:moveTo>
                  <a:pt x="1206825" y="0"/>
                </a:moveTo>
                <a:cubicBezTo>
                  <a:pt x="1229809" y="0"/>
                  <a:pt x="1248440" y="0"/>
                  <a:pt x="1248440" y="0"/>
                </a:cubicBezTo>
                <a:lnTo>
                  <a:pt x="1248440" y="208073"/>
                </a:lnTo>
                <a:cubicBezTo>
                  <a:pt x="1248440" y="208073"/>
                  <a:pt x="1229809" y="208073"/>
                  <a:pt x="1206825" y="208073"/>
                </a:cubicBezTo>
                <a:lnTo>
                  <a:pt x="41615" y="208073"/>
                </a:lnTo>
                <a:cubicBezTo>
                  <a:pt x="18632" y="208073"/>
                  <a:pt x="0" y="208073"/>
                  <a:pt x="0" y="208073"/>
                </a:cubicBezTo>
                <a:lnTo>
                  <a:pt x="0" y="0"/>
                </a:lnTo>
                <a:cubicBezTo>
                  <a:pt x="0" y="0"/>
                  <a:pt x="18632" y="0"/>
                  <a:pt x="41615" y="0"/>
                </a:cubicBezTo>
                <a:close/>
              </a:path>
            </a:pathLst>
          </a:custGeom>
          <a:solidFill>
            <a:srgbClr val="10B981"/>
          </a:solidFill>
          <a:ln w="10398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2222" name="TextBox 2221">
            <a:extLst>
              <a:ext uri="{FF2B5EF4-FFF2-40B4-BE49-F238E27FC236}">
                <a16:creationId xmlns:a16="http://schemas.microsoft.com/office/drawing/2014/main" id="{BEBDA573-0193-48BC-BB74-A620F5C31E49}"/>
              </a:ext>
            </a:extLst>
          </p:cNvPr>
          <p:cNvSpPr txBox="1"/>
          <p:nvPr/>
        </p:nvSpPr>
        <p:spPr>
          <a:xfrm>
            <a:off x="4178305" y="1239485"/>
            <a:ext cx="536604" cy="2370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ko-KR" altLang="en-US" sz="983" b="1" spc="0" baseline="0" dirty="0">
                <a:solidFill>
                  <a:srgbClr val="059669"/>
                </a:solidFill>
                <a:latin typeface="Arial"/>
                <a:ea typeface="+mn-ea"/>
                <a:cs typeface="Arial"/>
                <a:sym typeface="Arial"/>
                <a:rtl val="0"/>
              </a:rPr>
              <a:t>~5.5 s</a:t>
            </a:r>
          </a:p>
        </p:txBody>
      </p:sp>
      <p:sp>
        <p:nvSpPr>
          <p:cNvPr id="2223" name="TextBox 2222">
            <a:extLst>
              <a:ext uri="{FF2B5EF4-FFF2-40B4-BE49-F238E27FC236}">
                <a16:creationId xmlns:a16="http://schemas.microsoft.com/office/drawing/2014/main" id="{718FC14D-4D6D-4E9C-B006-A07717F933EB}"/>
              </a:ext>
            </a:extLst>
          </p:cNvPr>
          <p:cNvSpPr txBox="1"/>
          <p:nvPr/>
        </p:nvSpPr>
        <p:spPr>
          <a:xfrm>
            <a:off x="2149590" y="1566104"/>
            <a:ext cx="640641" cy="2058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ko-KR" altLang="en-US" sz="819" spc="0" baseline="0" dirty="0">
                <a:solidFill>
                  <a:srgbClr val="6B7280"/>
                </a:solidFill>
                <a:latin typeface="Arial"/>
                <a:ea typeface="+mn-ea"/>
                <a:cs typeface="Arial"/>
                <a:sym typeface="Arial"/>
                <a:rtl val="0"/>
              </a:rPr>
              <a:t>CPU only</a:t>
            </a:r>
          </a:p>
        </p:txBody>
      </p:sp>
      <p:sp>
        <p:nvSpPr>
          <p:cNvPr id="2224" name="자유형: 도형 2223">
            <a:extLst>
              <a:ext uri="{FF2B5EF4-FFF2-40B4-BE49-F238E27FC236}">
                <a16:creationId xmlns:a16="http://schemas.microsoft.com/office/drawing/2014/main" id="{F8D3188D-8FDB-42FE-B970-6AC591841C40}"/>
              </a:ext>
            </a:extLst>
          </p:cNvPr>
          <p:cNvSpPr/>
          <p:nvPr/>
        </p:nvSpPr>
        <p:spPr>
          <a:xfrm>
            <a:off x="2969286" y="1580613"/>
            <a:ext cx="4369540" cy="208073"/>
          </a:xfrm>
          <a:custGeom>
            <a:avLst/>
            <a:gdLst>
              <a:gd name="connsiteX0" fmla="*/ 4327926 w 4369540"/>
              <a:gd name="connsiteY0" fmla="*/ 0 h 208073"/>
              <a:gd name="connsiteX1" fmla="*/ 4369540 w 4369540"/>
              <a:gd name="connsiteY1" fmla="*/ 0 h 208073"/>
              <a:gd name="connsiteX2" fmla="*/ 4369540 w 4369540"/>
              <a:gd name="connsiteY2" fmla="*/ 208073 h 208073"/>
              <a:gd name="connsiteX3" fmla="*/ 4327926 w 4369540"/>
              <a:gd name="connsiteY3" fmla="*/ 208073 h 208073"/>
              <a:gd name="connsiteX4" fmla="*/ 41615 w 4369540"/>
              <a:gd name="connsiteY4" fmla="*/ 208073 h 208073"/>
              <a:gd name="connsiteX5" fmla="*/ 0 w 4369540"/>
              <a:gd name="connsiteY5" fmla="*/ 208073 h 208073"/>
              <a:gd name="connsiteX6" fmla="*/ 0 w 4369540"/>
              <a:gd name="connsiteY6" fmla="*/ 0 h 208073"/>
              <a:gd name="connsiteX7" fmla="*/ 41615 w 4369540"/>
              <a:gd name="connsiteY7" fmla="*/ 0 h 2080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369540" h="208073">
                <a:moveTo>
                  <a:pt x="4327926" y="0"/>
                </a:moveTo>
                <a:cubicBezTo>
                  <a:pt x="4350909" y="0"/>
                  <a:pt x="4369540" y="0"/>
                  <a:pt x="4369540" y="0"/>
                </a:cubicBezTo>
                <a:lnTo>
                  <a:pt x="4369540" y="208073"/>
                </a:lnTo>
                <a:cubicBezTo>
                  <a:pt x="4369540" y="208073"/>
                  <a:pt x="4350909" y="208073"/>
                  <a:pt x="4327926" y="208073"/>
                </a:cubicBezTo>
                <a:lnTo>
                  <a:pt x="41615" y="208073"/>
                </a:lnTo>
                <a:cubicBezTo>
                  <a:pt x="18632" y="208073"/>
                  <a:pt x="0" y="208073"/>
                  <a:pt x="0" y="208073"/>
                </a:cubicBezTo>
                <a:lnTo>
                  <a:pt x="0" y="0"/>
                </a:lnTo>
                <a:cubicBezTo>
                  <a:pt x="0" y="0"/>
                  <a:pt x="18632" y="0"/>
                  <a:pt x="41615" y="0"/>
                </a:cubicBezTo>
                <a:close/>
              </a:path>
            </a:pathLst>
          </a:custGeom>
          <a:solidFill>
            <a:srgbClr val="3B82F6">
              <a:alpha val="50000"/>
            </a:srgbClr>
          </a:solidFill>
          <a:ln w="10398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2225" name="TextBox 2224">
            <a:extLst>
              <a:ext uri="{FF2B5EF4-FFF2-40B4-BE49-F238E27FC236}">
                <a16:creationId xmlns:a16="http://schemas.microsoft.com/office/drawing/2014/main" id="{90FABBFA-2A3F-4ECA-B125-5132707AE8CE}"/>
              </a:ext>
            </a:extLst>
          </p:cNvPr>
          <p:cNvSpPr txBox="1"/>
          <p:nvPr/>
        </p:nvSpPr>
        <p:spPr>
          <a:xfrm>
            <a:off x="7299405" y="1530788"/>
            <a:ext cx="838311" cy="2370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ko-KR" altLang="en-US" sz="983" b="1" spc="0" baseline="0" dirty="0">
                <a:solidFill>
                  <a:srgbClr val="1D4ED8"/>
                </a:solidFill>
                <a:latin typeface="Arial"/>
                <a:ea typeface="+mn-ea"/>
                <a:cs typeface="Arial"/>
                <a:sym typeface="Arial"/>
                <a:rtl val="0"/>
              </a:rPr>
              <a:t>~18 s (est.)</a:t>
            </a:r>
          </a:p>
        </p:txBody>
      </p:sp>
      <p:sp>
        <p:nvSpPr>
          <p:cNvPr id="2226" name="TextBox 2225">
            <a:extLst>
              <a:ext uri="{FF2B5EF4-FFF2-40B4-BE49-F238E27FC236}">
                <a16:creationId xmlns:a16="http://schemas.microsoft.com/office/drawing/2014/main" id="{1F0A2CCA-4BF0-43B3-97B7-AF7C5D12982F}"/>
              </a:ext>
            </a:extLst>
          </p:cNvPr>
          <p:cNvSpPr txBox="1"/>
          <p:nvPr/>
        </p:nvSpPr>
        <p:spPr>
          <a:xfrm>
            <a:off x="8391790" y="1541191"/>
            <a:ext cx="911136" cy="2162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ko-KR" altLang="en-US" sz="901" spc="0" baseline="0" dirty="0">
                <a:solidFill>
                  <a:srgbClr val="EF4444"/>
                </a:solidFill>
                <a:latin typeface="Cambria Math"/>
                <a:ea typeface="+mn-ea"/>
                <a:sym typeface="Cambria Math"/>
                <a:rtl val="0"/>
              </a:rPr>
              <a:t>▸</a:t>
            </a:r>
            <a:r>
              <a:rPr lang="ko-KR" altLang="en-US" sz="901" spc="0" baseline="0" dirty="0">
                <a:solidFill>
                  <a:srgbClr val="EF4444"/>
                </a:solidFill>
                <a:latin typeface="Arial"/>
                <a:ea typeface="+mn-ea"/>
                <a:cs typeface="Arial"/>
                <a:sym typeface="Arial"/>
                <a:rtl val="0"/>
              </a:rPr>
              <a:t> 3.3× slower</a:t>
            </a:r>
          </a:p>
        </p:txBody>
      </p:sp>
      <p:sp>
        <p:nvSpPr>
          <p:cNvPr id="2227" name="TextBox 2226">
            <a:extLst>
              <a:ext uri="{FF2B5EF4-FFF2-40B4-BE49-F238E27FC236}">
                <a16:creationId xmlns:a16="http://schemas.microsoft.com/office/drawing/2014/main" id="{74AFB4C0-ADA6-4D5E-98A0-4A98380D0050}"/>
              </a:ext>
            </a:extLst>
          </p:cNvPr>
          <p:cNvSpPr txBox="1"/>
          <p:nvPr/>
        </p:nvSpPr>
        <p:spPr>
          <a:xfrm>
            <a:off x="2149590" y="1982251"/>
            <a:ext cx="755081" cy="2058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ko-KR" altLang="en-US" sz="819" spc="0" baseline="0" dirty="0">
                <a:solidFill>
                  <a:srgbClr val="1D4ED8"/>
                </a:solidFill>
                <a:latin typeface="Arial"/>
                <a:ea typeface="+mn-ea"/>
                <a:cs typeface="Arial"/>
                <a:sym typeface="Arial"/>
                <a:rtl val="0"/>
              </a:rPr>
              <a:t>CPU + GPU</a:t>
            </a:r>
          </a:p>
        </p:txBody>
      </p:sp>
      <p:sp>
        <p:nvSpPr>
          <p:cNvPr id="2228" name="자유형: 도형 2227">
            <a:extLst>
              <a:ext uri="{FF2B5EF4-FFF2-40B4-BE49-F238E27FC236}">
                <a16:creationId xmlns:a16="http://schemas.microsoft.com/office/drawing/2014/main" id="{34ABE976-5D09-4836-B50D-9D913E893AA5}"/>
              </a:ext>
            </a:extLst>
          </p:cNvPr>
          <p:cNvSpPr/>
          <p:nvPr/>
        </p:nvSpPr>
        <p:spPr>
          <a:xfrm>
            <a:off x="2969286" y="2017567"/>
            <a:ext cx="2080733" cy="208073"/>
          </a:xfrm>
          <a:custGeom>
            <a:avLst/>
            <a:gdLst>
              <a:gd name="connsiteX0" fmla="*/ 2039119 w 2080733"/>
              <a:gd name="connsiteY0" fmla="*/ 0 h 208073"/>
              <a:gd name="connsiteX1" fmla="*/ 2080733 w 2080733"/>
              <a:gd name="connsiteY1" fmla="*/ 0 h 208073"/>
              <a:gd name="connsiteX2" fmla="*/ 2080733 w 2080733"/>
              <a:gd name="connsiteY2" fmla="*/ 208073 h 208073"/>
              <a:gd name="connsiteX3" fmla="*/ 2039119 w 2080733"/>
              <a:gd name="connsiteY3" fmla="*/ 208073 h 208073"/>
              <a:gd name="connsiteX4" fmla="*/ 41615 w 2080733"/>
              <a:gd name="connsiteY4" fmla="*/ 208073 h 208073"/>
              <a:gd name="connsiteX5" fmla="*/ 0 w 2080733"/>
              <a:gd name="connsiteY5" fmla="*/ 208073 h 208073"/>
              <a:gd name="connsiteX6" fmla="*/ 0 w 2080733"/>
              <a:gd name="connsiteY6" fmla="*/ 0 h 208073"/>
              <a:gd name="connsiteX7" fmla="*/ 41615 w 2080733"/>
              <a:gd name="connsiteY7" fmla="*/ 0 h 2080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080733" h="208073">
                <a:moveTo>
                  <a:pt x="2039119" y="0"/>
                </a:moveTo>
                <a:cubicBezTo>
                  <a:pt x="2062102" y="0"/>
                  <a:pt x="2080733" y="0"/>
                  <a:pt x="2080733" y="0"/>
                </a:cubicBezTo>
                <a:lnTo>
                  <a:pt x="2080733" y="208073"/>
                </a:lnTo>
                <a:cubicBezTo>
                  <a:pt x="2080733" y="208073"/>
                  <a:pt x="2062102" y="208073"/>
                  <a:pt x="2039119" y="208073"/>
                </a:cubicBezTo>
                <a:lnTo>
                  <a:pt x="41615" y="208073"/>
                </a:lnTo>
                <a:cubicBezTo>
                  <a:pt x="18632" y="208073"/>
                  <a:pt x="0" y="208073"/>
                  <a:pt x="0" y="208073"/>
                </a:cubicBezTo>
                <a:lnTo>
                  <a:pt x="0" y="0"/>
                </a:lnTo>
                <a:cubicBezTo>
                  <a:pt x="0" y="0"/>
                  <a:pt x="18632" y="0"/>
                  <a:pt x="41615" y="0"/>
                </a:cubicBezTo>
                <a:close/>
              </a:path>
            </a:pathLst>
          </a:custGeom>
          <a:solidFill>
            <a:srgbClr val="10B981"/>
          </a:solidFill>
          <a:ln w="10398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2229" name="TextBox 2228">
            <a:extLst>
              <a:ext uri="{FF2B5EF4-FFF2-40B4-BE49-F238E27FC236}">
                <a16:creationId xmlns:a16="http://schemas.microsoft.com/office/drawing/2014/main" id="{4A6F58CB-6509-4A42-BA93-39301CF58F71}"/>
              </a:ext>
            </a:extLst>
          </p:cNvPr>
          <p:cNvSpPr txBox="1"/>
          <p:nvPr/>
        </p:nvSpPr>
        <p:spPr>
          <a:xfrm>
            <a:off x="5010598" y="1967742"/>
            <a:ext cx="651045" cy="2370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ko-KR" altLang="en-US" sz="983" b="1" spc="0" baseline="0" dirty="0">
                <a:solidFill>
                  <a:srgbClr val="059669"/>
                </a:solidFill>
                <a:latin typeface="Arial"/>
                <a:ea typeface="+mn-ea"/>
                <a:cs typeface="Arial"/>
                <a:sym typeface="Arial"/>
                <a:rtl val="0"/>
              </a:rPr>
              <a:t>~28 min</a:t>
            </a:r>
          </a:p>
        </p:txBody>
      </p:sp>
      <p:sp>
        <p:nvSpPr>
          <p:cNvPr id="2232" name="TextBox 2231">
            <a:extLst>
              <a:ext uri="{FF2B5EF4-FFF2-40B4-BE49-F238E27FC236}">
                <a16:creationId xmlns:a16="http://schemas.microsoft.com/office/drawing/2014/main" id="{B6C0D273-1BD4-49BA-8BD5-D0D2E5D6B6E6}"/>
              </a:ext>
            </a:extLst>
          </p:cNvPr>
          <p:cNvSpPr txBox="1"/>
          <p:nvPr/>
        </p:nvSpPr>
        <p:spPr>
          <a:xfrm>
            <a:off x="2149590" y="2294361"/>
            <a:ext cx="640641" cy="2058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ko-KR" altLang="en-US" sz="819" spc="0" baseline="0" dirty="0">
                <a:solidFill>
                  <a:srgbClr val="6B7280"/>
                </a:solidFill>
                <a:latin typeface="Arial"/>
                <a:ea typeface="+mn-ea"/>
                <a:cs typeface="Arial"/>
                <a:sym typeface="Arial"/>
                <a:rtl val="0"/>
              </a:rPr>
              <a:t>CPU only</a:t>
            </a:r>
          </a:p>
        </p:txBody>
      </p:sp>
      <p:sp>
        <p:nvSpPr>
          <p:cNvPr id="2233" name="자유형: 도형 2232">
            <a:extLst>
              <a:ext uri="{FF2B5EF4-FFF2-40B4-BE49-F238E27FC236}">
                <a16:creationId xmlns:a16="http://schemas.microsoft.com/office/drawing/2014/main" id="{7527F099-E00C-4D5A-ABDF-3D10B8311BAB}"/>
              </a:ext>
            </a:extLst>
          </p:cNvPr>
          <p:cNvSpPr/>
          <p:nvPr/>
        </p:nvSpPr>
        <p:spPr>
          <a:xfrm>
            <a:off x="2969286" y="2308870"/>
            <a:ext cx="6866420" cy="208073"/>
          </a:xfrm>
          <a:custGeom>
            <a:avLst/>
            <a:gdLst>
              <a:gd name="connsiteX0" fmla="*/ 6824806 w 6866420"/>
              <a:gd name="connsiteY0" fmla="*/ 0 h 208073"/>
              <a:gd name="connsiteX1" fmla="*/ 6866420 w 6866420"/>
              <a:gd name="connsiteY1" fmla="*/ 0 h 208073"/>
              <a:gd name="connsiteX2" fmla="*/ 6866420 w 6866420"/>
              <a:gd name="connsiteY2" fmla="*/ 208073 h 208073"/>
              <a:gd name="connsiteX3" fmla="*/ 6824806 w 6866420"/>
              <a:gd name="connsiteY3" fmla="*/ 208073 h 208073"/>
              <a:gd name="connsiteX4" fmla="*/ 41615 w 6866420"/>
              <a:gd name="connsiteY4" fmla="*/ 208073 h 208073"/>
              <a:gd name="connsiteX5" fmla="*/ 0 w 6866420"/>
              <a:gd name="connsiteY5" fmla="*/ 208073 h 208073"/>
              <a:gd name="connsiteX6" fmla="*/ 0 w 6866420"/>
              <a:gd name="connsiteY6" fmla="*/ 0 h 208073"/>
              <a:gd name="connsiteX7" fmla="*/ 41615 w 6866420"/>
              <a:gd name="connsiteY7" fmla="*/ 0 h 2080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866420" h="208073">
                <a:moveTo>
                  <a:pt x="6824806" y="0"/>
                </a:moveTo>
                <a:cubicBezTo>
                  <a:pt x="6847789" y="0"/>
                  <a:pt x="6866420" y="0"/>
                  <a:pt x="6866420" y="0"/>
                </a:cubicBezTo>
                <a:lnTo>
                  <a:pt x="6866420" y="208073"/>
                </a:lnTo>
                <a:cubicBezTo>
                  <a:pt x="6866420" y="208073"/>
                  <a:pt x="6847789" y="208073"/>
                  <a:pt x="6824806" y="208073"/>
                </a:cubicBezTo>
                <a:lnTo>
                  <a:pt x="41615" y="208073"/>
                </a:lnTo>
                <a:cubicBezTo>
                  <a:pt x="18632" y="208073"/>
                  <a:pt x="0" y="208073"/>
                  <a:pt x="0" y="208073"/>
                </a:cubicBezTo>
                <a:lnTo>
                  <a:pt x="0" y="0"/>
                </a:lnTo>
                <a:cubicBezTo>
                  <a:pt x="0" y="0"/>
                  <a:pt x="18632" y="0"/>
                  <a:pt x="41615" y="0"/>
                </a:cubicBezTo>
                <a:close/>
              </a:path>
            </a:pathLst>
          </a:custGeom>
          <a:solidFill>
            <a:srgbClr val="3B82F6">
              <a:alpha val="50000"/>
            </a:srgbClr>
          </a:solidFill>
          <a:ln w="10398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2234" name="TextBox 2233">
            <a:extLst>
              <a:ext uri="{FF2B5EF4-FFF2-40B4-BE49-F238E27FC236}">
                <a16:creationId xmlns:a16="http://schemas.microsoft.com/office/drawing/2014/main" id="{A2A9D751-A956-40E2-9B74-72F1FF02D71B}"/>
              </a:ext>
            </a:extLst>
          </p:cNvPr>
          <p:cNvSpPr txBox="1"/>
          <p:nvPr/>
        </p:nvSpPr>
        <p:spPr>
          <a:xfrm>
            <a:off x="9796285" y="2259044"/>
            <a:ext cx="651045" cy="2370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ko-KR" altLang="en-US" sz="983" b="1" spc="0" baseline="0" dirty="0">
                <a:solidFill>
                  <a:srgbClr val="1D4ED8"/>
                </a:solidFill>
                <a:latin typeface="Arial"/>
                <a:ea typeface="+mn-ea"/>
                <a:cs typeface="Arial"/>
                <a:sym typeface="Arial"/>
                <a:rtl val="0"/>
              </a:rPr>
              <a:t>~90 min</a:t>
            </a:r>
          </a:p>
        </p:txBody>
      </p:sp>
      <p:sp>
        <p:nvSpPr>
          <p:cNvPr id="2235" name="자유형: 도형 2234">
            <a:extLst>
              <a:ext uri="{FF2B5EF4-FFF2-40B4-BE49-F238E27FC236}">
                <a16:creationId xmlns:a16="http://schemas.microsoft.com/office/drawing/2014/main" id="{103BA06A-15ED-4CBF-8283-F8B7730071DF}"/>
              </a:ext>
            </a:extLst>
          </p:cNvPr>
          <p:cNvSpPr/>
          <p:nvPr/>
        </p:nvSpPr>
        <p:spPr>
          <a:xfrm>
            <a:off x="1096626" y="2672998"/>
            <a:ext cx="9155226" cy="1092385"/>
          </a:xfrm>
          <a:custGeom>
            <a:avLst/>
            <a:gdLst>
              <a:gd name="connsiteX0" fmla="*/ 9051190 w 9155226"/>
              <a:gd name="connsiteY0" fmla="*/ 0 h 1092385"/>
              <a:gd name="connsiteX1" fmla="*/ 9155227 w 9155226"/>
              <a:gd name="connsiteY1" fmla="*/ 0 h 1092385"/>
              <a:gd name="connsiteX2" fmla="*/ 9155227 w 9155226"/>
              <a:gd name="connsiteY2" fmla="*/ 1092385 h 1092385"/>
              <a:gd name="connsiteX3" fmla="*/ 9051190 w 9155226"/>
              <a:gd name="connsiteY3" fmla="*/ 1092385 h 1092385"/>
              <a:gd name="connsiteX4" fmla="*/ 104037 w 9155226"/>
              <a:gd name="connsiteY4" fmla="*/ 1092385 h 1092385"/>
              <a:gd name="connsiteX5" fmla="*/ 0 w 9155226"/>
              <a:gd name="connsiteY5" fmla="*/ 1092385 h 1092385"/>
              <a:gd name="connsiteX6" fmla="*/ 0 w 9155226"/>
              <a:gd name="connsiteY6" fmla="*/ 0 h 1092385"/>
              <a:gd name="connsiteX7" fmla="*/ 104037 w 9155226"/>
              <a:gd name="connsiteY7" fmla="*/ 0 h 10923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155226" h="1092385">
                <a:moveTo>
                  <a:pt x="9051190" y="0"/>
                </a:moveTo>
                <a:cubicBezTo>
                  <a:pt x="9108648" y="0"/>
                  <a:pt x="9155227" y="0"/>
                  <a:pt x="9155227" y="0"/>
                </a:cubicBezTo>
                <a:lnTo>
                  <a:pt x="9155227" y="1092385"/>
                </a:lnTo>
                <a:cubicBezTo>
                  <a:pt x="9155227" y="1092385"/>
                  <a:pt x="9108648" y="1092385"/>
                  <a:pt x="9051190" y="1092385"/>
                </a:cubicBezTo>
                <a:lnTo>
                  <a:pt x="104037" y="1092385"/>
                </a:lnTo>
                <a:cubicBezTo>
                  <a:pt x="46579" y="1092385"/>
                  <a:pt x="0" y="1092385"/>
                  <a:pt x="0" y="1092385"/>
                </a:cubicBezTo>
                <a:lnTo>
                  <a:pt x="0" y="0"/>
                </a:lnTo>
                <a:cubicBezTo>
                  <a:pt x="0" y="0"/>
                  <a:pt x="46579" y="0"/>
                  <a:pt x="104037" y="0"/>
                </a:cubicBezTo>
                <a:close/>
              </a:path>
            </a:pathLst>
          </a:custGeom>
          <a:solidFill>
            <a:srgbClr val="FFF7ED"/>
          </a:solidFill>
          <a:ln w="10398" cap="flat">
            <a:solidFill>
              <a:srgbClr val="FDBA74"/>
            </a:solidFill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2236" name="TextBox 2235">
            <a:extLst>
              <a:ext uri="{FF2B5EF4-FFF2-40B4-BE49-F238E27FC236}">
                <a16:creationId xmlns:a16="http://schemas.microsoft.com/office/drawing/2014/main" id="{D90D0447-8D3E-4A25-BEA4-A8001112D79B}"/>
              </a:ext>
            </a:extLst>
          </p:cNvPr>
          <p:cNvSpPr txBox="1"/>
          <p:nvPr/>
        </p:nvSpPr>
        <p:spPr>
          <a:xfrm>
            <a:off x="4386378" y="2700104"/>
            <a:ext cx="2575723" cy="2578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ko-KR" altLang="en-US" sz="1147" b="1" spc="0" baseline="0" dirty="0">
                <a:solidFill>
                  <a:srgbClr val="9A3412"/>
                </a:solidFill>
                <a:latin typeface="Arial"/>
                <a:ea typeface="+mn-ea"/>
                <a:cs typeface="Arial"/>
                <a:sym typeface="Arial"/>
                <a:rtl val="0"/>
              </a:rPr>
              <a:t>Performance Bottleneck Analysis</a:t>
            </a:r>
          </a:p>
        </p:txBody>
      </p:sp>
      <p:sp>
        <p:nvSpPr>
          <p:cNvPr id="2237" name="자유형: 도형 2236">
            <a:extLst>
              <a:ext uri="{FF2B5EF4-FFF2-40B4-BE49-F238E27FC236}">
                <a16:creationId xmlns:a16="http://schemas.microsoft.com/office/drawing/2014/main" id="{3B529957-FBFF-4600-B6E7-6F8155F69A49}"/>
              </a:ext>
            </a:extLst>
          </p:cNvPr>
          <p:cNvSpPr/>
          <p:nvPr/>
        </p:nvSpPr>
        <p:spPr>
          <a:xfrm>
            <a:off x="1304700" y="3016319"/>
            <a:ext cx="1664586" cy="572201"/>
          </a:xfrm>
          <a:custGeom>
            <a:avLst/>
            <a:gdLst>
              <a:gd name="connsiteX0" fmla="*/ 1581357 w 1664586"/>
              <a:gd name="connsiteY0" fmla="*/ 0 h 572201"/>
              <a:gd name="connsiteX1" fmla="*/ 1664587 w 1664586"/>
              <a:gd name="connsiteY1" fmla="*/ 0 h 572201"/>
              <a:gd name="connsiteX2" fmla="*/ 1664587 w 1664586"/>
              <a:gd name="connsiteY2" fmla="*/ 572202 h 572201"/>
              <a:gd name="connsiteX3" fmla="*/ 1581357 w 1664586"/>
              <a:gd name="connsiteY3" fmla="*/ 572202 h 572201"/>
              <a:gd name="connsiteX4" fmla="*/ 83229 w 1664586"/>
              <a:gd name="connsiteY4" fmla="*/ 572202 h 572201"/>
              <a:gd name="connsiteX5" fmla="*/ 0 w 1664586"/>
              <a:gd name="connsiteY5" fmla="*/ 572202 h 572201"/>
              <a:gd name="connsiteX6" fmla="*/ 0 w 1664586"/>
              <a:gd name="connsiteY6" fmla="*/ 0 h 572201"/>
              <a:gd name="connsiteX7" fmla="*/ 83229 w 1664586"/>
              <a:gd name="connsiteY7" fmla="*/ 0 h 5722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664586" h="572201">
                <a:moveTo>
                  <a:pt x="1581357" y="0"/>
                </a:moveTo>
                <a:cubicBezTo>
                  <a:pt x="1627324" y="0"/>
                  <a:pt x="1664587" y="0"/>
                  <a:pt x="1664587" y="0"/>
                </a:cubicBezTo>
                <a:lnTo>
                  <a:pt x="1664587" y="572202"/>
                </a:lnTo>
                <a:cubicBezTo>
                  <a:pt x="1664587" y="572202"/>
                  <a:pt x="1627324" y="572202"/>
                  <a:pt x="1581357" y="572202"/>
                </a:cubicBezTo>
                <a:lnTo>
                  <a:pt x="83229" y="572202"/>
                </a:lnTo>
                <a:cubicBezTo>
                  <a:pt x="37263" y="572202"/>
                  <a:pt x="0" y="572202"/>
                  <a:pt x="0" y="572202"/>
                </a:cubicBezTo>
                <a:lnTo>
                  <a:pt x="0" y="0"/>
                </a:lnTo>
                <a:cubicBezTo>
                  <a:pt x="0" y="0"/>
                  <a:pt x="37263" y="0"/>
                  <a:pt x="83229" y="0"/>
                </a:cubicBezTo>
                <a:close/>
              </a:path>
            </a:pathLst>
          </a:custGeom>
          <a:solidFill>
            <a:srgbClr val="DBEAFE"/>
          </a:solidFill>
          <a:ln w="15597" cap="flat">
            <a:solidFill>
              <a:srgbClr val="3B82F6"/>
            </a:solidFill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2238" name="TextBox 2237">
            <a:extLst>
              <a:ext uri="{FF2B5EF4-FFF2-40B4-BE49-F238E27FC236}">
                <a16:creationId xmlns:a16="http://schemas.microsoft.com/office/drawing/2014/main" id="{0BB0B4FF-FCD2-4668-B9C0-4CFAF31A7C51}"/>
              </a:ext>
            </a:extLst>
          </p:cNvPr>
          <p:cNvSpPr txBox="1"/>
          <p:nvPr/>
        </p:nvSpPr>
        <p:spPr>
          <a:xfrm>
            <a:off x="1523307" y="3000224"/>
            <a:ext cx="1227371" cy="2934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1000" b="1" spc="0" baseline="0" dirty="0">
                <a:solidFill>
                  <a:srgbClr val="1E40AF"/>
                </a:solidFill>
                <a:latin typeface="맑은 고딕"/>
                <a:ea typeface="맑은 고딕"/>
                <a:sym typeface="맑은 고딕"/>
                <a:rtl val="0"/>
              </a:rPr>
              <a:t>행렬</a:t>
            </a:r>
            <a:r>
              <a:rPr lang="ko-KR" altLang="en-US" sz="1000" b="1" spc="0" baseline="0" dirty="0">
                <a:solidFill>
                  <a:srgbClr val="1E40AF"/>
                </a:solidFill>
                <a:latin typeface="Arial"/>
                <a:ea typeface="맑은 고딕"/>
                <a:cs typeface="Arial"/>
                <a:sym typeface="Arial"/>
                <a:rtl val="0"/>
              </a:rPr>
              <a:t> </a:t>
            </a:r>
            <a:r>
              <a:rPr lang="ko-KR" altLang="en-US" sz="1000" b="1" spc="0" baseline="0" dirty="0">
                <a:solidFill>
                  <a:srgbClr val="1E40AF"/>
                </a:solidFill>
                <a:latin typeface="맑은 고딕"/>
                <a:ea typeface="맑은 고딕"/>
                <a:cs typeface="Arial"/>
                <a:sym typeface="맑은 고딕"/>
                <a:rtl val="0"/>
              </a:rPr>
              <a:t>대각화</a:t>
            </a:r>
          </a:p>
        </p:txBody>
      </p:sp>
      <p:sp>
        <p:nvSpPr>
          <p:cNvPr id="2239" name="TextBox 2238">
            <a:extLst>
              <a:ext uri="{FF2B5EF4-FFF2-40B4-BE49-F238E27FC236}">
                <a16:creationId xmlns:a16="http://schemas.microsoft.com/office/drawing/2014/main" id="{B668BB7F-DD9C-497F-A580-3D027E375B2C}"/>
              </a:ext>
            </a:extLst>
          </p:cNvPr>
          <p:cNvSpPr txBox="1"/>
          <p:nvPr/>
        </p:nvSpPr>
        <p:spPr>
          <a:xfrm>
            <a:off x="1591851" y="3208297"/>
            <a:ext cx="1090284" cy="2743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900" spc="0" baseline="0" dirty="0">
                <a:solidFill>
                  <a:srgbClr val="3B82F6"/>
                </a:solidFill>
                <a:latin typeface="Arial"/>
                <a:ea typeface="+mn-ea"/>
                <a:cs typeface="Arial"/>
                <a:sym typeface="Arial"/>
                <a:rtl val="0"/>
              </a:rPr>
              <a:t>CPU-bound</a:t>
            </a:r>
          </a:p>
        </p:txBody>
      </p:sp>
      <p:sp>
        <p:nvSpPr>
          <p:cNvPr id="2240" name="TextBox 2239">
            <a:extLst>
              <a:ext uri="{FF2B5EF4-FFF2-40B4-BE49-F238E27FC236}">
                <a16:creationId xmlns:a16="http://schemas.microsoft.com/office/drawing/2014/main" id="{EE4A3B88-DCE0-4193-A902-6775253BD87F}"/>
              </a:ext>
            </a:extLst>
          </p:cNvPr>
          <p:cNvSpPr txBox="1"/>
          <p:nvPr/>
        </p:nvSpPr>
        <p:spPr>
          <a:xfrm>
            <a:off x="1584235" y="3343545"/>
            <a:ext cx="1105514" cy="2541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800" spc="0" baseline="0" dirty="0">
                <a:solidFill>
                  <a:srgbClr val="6B7280"/>
                </a:solidFill>
                <a:latin typeface="Arial"/>
                <a:ea typeface="+mn-ea"/>
                <a:cs typeface="Arial"/>
                <a:sym typeface="Arial"/>
                <a:rtl val="0"/>
              </a:rPr>
              <a:t>O(N³) scaling</a:t>
            </a:r>
          </a:p>
        </p:txBody>
      </p:sp>
      <p:sp>
        <p:nvSpPr>
          <p:cNvPr id="2241" name="TextBox 2240">
            <a:extLst>
              <a:ext uri="{FF2B5EF4-FFF2-40B4-BE49-F238E27FC236}">
                <a16:creationId xmlns:a16="http://schemas.microsoft.com/office/drawing/2014/main" id="{1D1062A2-3D6E-4F6D-98E7-500839D30FBE}"/>
              </a:ext>
            </a:extLst>
          </p:cNvPr>
          <p:cNvSpPr txBox="1"/>
          <p:nvPr/>
        </p:nvSpPr>
        <p:spPr>
          <a:xfrm>
            <a:off x="2867452" y="3027330"/>
            <a:ext cx="655738" cy="4160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1600" spc="0" baseline="0" dirty="0">
                <a:solidFill>
                  <a:srgbClr val="9CA3AF"/>
                </a:solidFill>
                <a:latin typeface="Arial"/>
                <a:ea typeface="+mn-ea"/>
                <a:cs typeface="Arial"/>
                <a:sym typeface="Arial"/>
                <a:rtl val="0"/>
              </a:rPr>
              <a:t>→</a:t>
            </a:r>
          </a:p>
        </p:txBody>
      </p:sp>
      <p:sp>
        <p:nvSpPr>
          <p:cNvPr id="2242" name="자유형: 도형 2241">
            <a:extLst>
              <a:ext uri="{FF2B5EF4-FFF2-40B4-BE49-F238E27FC236}">
                <a16:creationId xmlns:a16="http://schemas.microsoft.com/office/drawing/2014/main" id="{72A6ADDC-DABF-42E9-A736-DDA2EFFCAFC2}"/>
              </a:ext>
            </a:extLst>
          </p:cNvPr>
          <p:cNvSpPr/>
          <p:nvPr/>
        </p:nvSpPr>
        <p:spPr>
          <a:xfrm>
            <a:off x="3385433" y="3016319"/>
            <a:ext cx="1664586" cy="572201"/>
          </a:xfrm>
          <a:custGeom>
            <a:avLst/>
            <a:gdLst>
              <a:gd name="connsiteX0" fmla="*/ 1581357 w 1664586"/>
              <a:gd name="connsiteY0" fmla="*/ 0 h 572201"/>
              <a:gd name="connsiteX1" fmla="*/ 1664587 w 1664586"/>
              <a:gd name="connsiteY1" fmla="*/ 0 h 572201"/>
              <a:gd name="connsiteX2" fmla="*/ 1664587 w 1664586"/>
              <a:gd name="connsiteY2" fmla="*/ 572202 h 572201"/>
              <a:gd name="connsiteX3" fmla="*/ 1581357 w 1664586"/>
              <a:gd name="connsiteY3" fmla="*/ 572202 h 572201"/>
              <a:gd name="connsiteX4" fmla="*/ 83229 w 1664586"/>
              <a:gd name="connsiteY4" fmla="*/ 572202 h 572201"/>
              <a:gd name="connsiteX5" fmla="*/ 0 w 1664586"/>
              <a:gd name="connsiteY5" fmla="*/ 572202 h 572201"/>
              <a:gd name="connsiteX6" fmla="*/ 0 w 1664586"/>
              <a:gd name="connsiteY6" fmla="*/ 0 h 572201"/>
              <a:gd name="connsiteX7" fmla="*/ 83229 w 1664586"/>
              <a:gd name="connsiteY7" fmla="*/ 0 h 5722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664586" h="572201">
                <a:moveTo>
                  <a:pt x="1581357" y="0"/>
                </a:moveTo>
                <a:cubicBezTo>
                  <a:pt x="1627324" y="0"/>
                  <a:pt x="1664587" y="0"/>
                  <a:pt x="1664587" y="0"/>
                </a:cubicBezTo>
                <a:lnTo>
                  <a:pt x="1664587" y="572202"/>
                </a:lnTo>
                <a:cubicBezTo>
                  <a:pt x="1664587" y="572202"/>
                  <a:pt x="1627324" y="572202"/>
                  <a:pt x="1581357" y="572202"/>
                </a:cubicBezTo>
                <a:lnTo>
                  <a:pt x="83229" y="572202"/>
                </a:lnTo>
                <a:cubicBezTo>
                  <a:pt x="37263" y="572202"/>
                  <a:pt x="0" y="572202"/>
                  <a:pt x="0" y="572202"/>
                </a:cubicBezTo>
                <a:lnTo>
                  <a:pt x="0" y="0"/>
                </a:lnTo>
                <a:cubicBezTo>
                  <a:pt x="0" y="0"/>
                  <a:pt x="37263" y="0"/>
                  <a:pt x="83229" y="0"/>
                </a:cubicBezTo>
                <a:close/>
              </a:path>
            </a:pathLst>
          </a:custGeom>
          <a:solidFill>
            <a:srgbClr val="D1FAE5"/>
          </a:solidFill>
          <a:ln w="15597" cap="flat">
            <a:solidFill>
              <a:srgbClr val="10B981"/>
            </a:solidFill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2243" name="TextBox 2242">
            <a:extLst>
              <a:ext uri="{FF2B5EF4-FFF2-40B4-BE49-F238E27FC236}">
                <a16:creationId xmlns:a16="http://schemas.microsoft.com/office/drawing/2014/main" id="{6D1AB847-95C3-4B0F-A8E0-BAD24EC01EE9}"/>
              </a:ext>
            </a:extLst>
          </p:cNvPr>
          <p:cNvSpPr txBox="1"/>
          <p:nvPr/>
        </p:nvSpPr>
        <p:spPr>
          <a:xfrm>
            <a:off x="3390793" y="3000224"/>
            <a:ext cx="1653865" cy="294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1000" b="1" spc="0" baseline="0" dirty="0">
                <a:solidFill>
                  <a:srgbClr val="047857"/>
                </a:solidFill>
                <a:latin typeface="Arial"/>
                <a:ea typeface="+mn-ea"/>
                <a:cs typeface="Arial"/>
                <a:sym typeface="Arial"/>
                <a:rtl val="0"/>
              </a:rPr>
              <a:t>FFT + </a:t>
            </a:r>
            <a:r>
              <a:rPr lang="ko-KR" altLang="en-US" sz="1000" b="1" spc="0" baseline="0" dirty="0">
                <a:solidFill>
                  <a:srgbClr val="047857"/>
                </a:solidFill>
                <a:latin typeface="맑은 고딕"/>
                <a:ea typeface="맑은 고딕"/>
                <a:cs typeface="Arial"/>
                <a:sym typeface="맑은 고딕"/>
                <a:rtl val="0"/>
              </a:rPr>
              <a:t>콜로케이션</a:t>
            </a:r>
          </a:p>
        </p:txBody>
      </p:sp>
      <p:sp>
        <p:nvSpPr>
          <p:cNvPr id="2244" name="TextBox 2243">
            <a:extLst>
              <a:ext uri="{FF2B5EF4-FFF2-40B4-BE49-F238E27FC236}">
                <a16:creationId xmlns:a16="http://schemas.microsoft.com/office/drawing/2014/main" id="{B5B4017D-F153-4347-A643-BFEC979CE651}"/>
              </a:ext>
            </a:extLst>
          </p:cNvPr>
          <p:cNvSpPr txBox="1"/>
          <p:nvPr/>
        </p:nvSpPr>
        <p:spPr>
          <a:xfrm>
            <a:off x="3474569" y="3208297"/>
            <a:ext cx="1486315" cy="2743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900" spc="0" baseline="0" dirty="0">
                <a:solidFill>
                  <a:srgbClr val="10B981"/>
                </a:solidFill>
                <a:latin typeface="Arial"/>
                <a:ea typeface="+mn-ea"/>
                <a:cs typeface="Arial"/>
                <a:sym typeface="Arial"/>
                <a:rtl val="0"/>
              </a:rPr>
              <a:t>GPU-accelerated</a:t>
            </a:r>
          </a:p>
        </p:txBody>
      </p:sp>
      <p:sp>
        <p:nvSpPr>
          <p:cNvPr id="2245" name="TextBox 2244">
            <a:extLst>
              <a:ext uri="{FF2B5EF4-FFF2-40B4-BE49-F238E27FC236}">
                <a16:creationId xmlns:a16="http://schemas.microsoft.com/office/drawing/2014/main" id="{F1613884-B1CF-432C-B665-C184FF7CA4B1}"/>
              </a:ext>
            </a:extLst>
          </p:cNvPr>
          <p:cNvSpPr txBox="1"/>
          <p:nvPr/>
        </p:nvSpPr>
        <p:spPr>
          <a:xfrm>
            <a:off x="3253704" y="3343545"/>
            <a:ext cx="1928043" cy="2541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800" spc="0" baseline="0" dirty="0">
                <a:solidFill>
                  <a:srgbClr val="6B7280"/>
                </a:solidFill>
                <a:latin typeface="Arial"/>
                <a:ea typeface="+mn-ea"/>
                <a:cs typeface="Arial"/>
                <a:sym typeface="Arial"/>
                <a:rtl val="0"/>
              </a:rPr>
              <a:t>memory-bandwidth limited</a:t>
            </a:r>
          </a:p>
        </p:txBody>
      </p:sp>
      <p:sp>
        <p:nvSpPr>
          <p:cNvPr id="2246" name="TextBox 2245">
            <a:extLst>
              <a:ext uri="{FF2B5EF4-FFF2-40B4-BE49-F238E27FC236}">
                <a16:creationId xmlns:a16="http://schemas.microsoft.com/office/drawing/2014/main" id="{168D4F51-9E14-4F5D-8E3E-D290CED854F1}"/>
              </a:ext>
            </a:extLst>
          </p:cNvPr>
          <p:cNvSpPr txBox="1"/>
          <p:nvPr/>
        </p:nvSpPr>
        <p:spPr>
          <a:xfrm>
            <a:off x="4948186" y="3027330"/>
            <a:ext cx="655738" cy="4160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1600" spc="0" baseline="0" dirty="0">
                <a:solidFill>
                  <a:srgbClr val="9CA3AF"/>
                </a:solidFill>
                <a:latin typeface="Arial"/>
                <a:ea typeface="+mn-ea"/>
                <a:cs typeface="Arial"/>
                <a:sym typeface="Arial"/>
                <a:rtl val="0"/>
              </a:rPr>
              <a:t>→</a:t>
            </a:r>
          </a:p>
        </p:txBody>
      </p:sp>
      <p:sp>
        <p:nvSpPr>
          <p:cNvPr id="2247" name="자유형: 도형 2246">
            <a:extLst>
              <a:ext uri="{FF2B5EF4-FFF2-40B4-BE49-F238E27FC236}">
                <a16:creationId xmlns:a16="http://schemas.microsoft.com/office/drawing/2014/main" id="{1751D44A-FCAE-45ED-A475-62CFC48314EC}"/>
              </a:ext>
            </a:extLst>
          </p:cNvPr>
          <p:cNvSpPr/>
          <p:nvPr/>
        </p:nvSpPr>
        <p:spPr>
          <a:xfrm>
            <a:off x="5466166" y="3016319"/>
            <a:ext cx="1664586" cy="572201"/>
          </a:xfrm>
          <a:custGeom>
            <a:avLst/>
            <a:gdLst>
              <a:gd name="connsiteX0" fmla="*/ 1581357 w 1664586"/>
              <a:gd name="connsiteY0" fmla="*/ 0 h 572201"/>
              <a:gd name="connsiteX1" fmla="*/ 1664587 w 1664586"/>
              <a:gd name="connsiteY1" fmla="*/ 0 h 572201"/>
              <a:gd name="connsiteX2" fmla="*/ 1664587 w 1664586"/>
              <a:gd name="connsiteY2" fmla="*/ 572202 h 572201"/>
              <a:gd name="connsiteX3" fmla="*/ 1581357 w 1664586"/>
              <a:gd name="connsiteY3" fmla="*/ 572202 h 572201"/>
              <a:gd name="connsiteX4" fmla="*/ 83229 w 1664586"/>
              <a:gd name="connsiteY4" fmla="*/ 572202 h 572201"/>
              <a:gd name="connsiteX5" fmla="*/ 0 w 1664586"/>
              <a:gd name="connsiteY5" fmla="*/ 572202 h 572201"/>
              <a:gd name="connsiteX6" fmla="*/ 0 w 1664586"/>
              <a:gd name="connsiteY6" fmla="*/ 0 h 572201"/>
              <a:gd name="connsiteX7" fmla="*/ 83229 w 1664586"/>
              <a:gd name="connsiteY7" fmla="*/ 0 h 5722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664586" h="572201">
                <a:moveTo>
                  <a:pt x="1581357" y="0"/>
                </a:moveTo>
                <a:cubicBezTo>
                  <a:pt x="1627324" y="0"/>
                  <a:pt x="1664587" y="0"/>
                  <a:pt x="1664587" y="0"/>
                </a:cubicBezTo>
                <a:lnTo>
                  <a:pt x="1664587" y="572202"/>
                </a:lnTo>
                <a:cubicBezTo>
                  <a:pt x="1664587" y="572202"/>
                  <a:pt x="1627324" y="572202"/>
                  <a:pt x="1581357" y="572202"/>
                </a:cubicBezTo>
                <a:lnTo>
                  <a:pt x="83229" y="572202"/>
                </a:lnTo>
                <a:cubicBezTo>
                  <a:pt x="37263" y="572202"/>
                  <a:pt x="0" y="572202"/>
                  <a:pt x="0" y="572202"/>
                </a:cubicBezTo>
                <a:lnTo>
                  <a:pt x="0" y="0"/>
                </a:lnTo>
                <a:cubicBezTo>
                  <a:pt x="0" y="0"/>
                  <a:pt x="37263" y="0"/>
                  <a:pt x="83229" y="0"/>
                </a:cubicBezTo>
                <a:close/>
              </a:path>
            </a:pathLst>
          </a:custGeom>
          <a:solidFill>
            <a:srgbClr val="FEF3C7"/>
          </a:solidFill>
          <a:ln w="15597" cap="flat">
            <a:solidFill>
              <a:srgbClr val="F59E0B"/>
            </a:solidFill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2248" name="TextBox 2247">
            <a:extLst>
              <a:ext uri="{FF2B5EF4-FFF2-40B4-BE49-F238E27FC236}">
                <a16:creationId xmlns:a16="http://schemas.microsoft.com/office/drawing/2014/main" id="{0735064F-DB58-45DA-8A2F-1D456CB66891}"/>
              </a:ext>
            </a:extLst>
          </p:cNvPr>
          <p:cNvSpPr txBox="1"/>
          <p:nvPr/>
        </p:nvSpPr>
        <p:spPr>
          <a:xfrm>
            <a:off x="5494374" y="3000224"/>
            <a:ext cx="1608170" cy="2955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1000" b="1" spc="0" baseline="0" dirty="0">
                <a:solidFill>
                  <a:srgbClr val="92400E"/>
                </a:solidFill>
                <a:latin typeface="Arial"/>
                <a:ea typeface="+mn-ea"/>
                <a:cs typeface="Arial"/>
                <a:sym typeface="Arial"/>
                <a:rtl val="0"/>
              </a:rPr>
              <a:t>CPU ↔ GPU </a:t>
            </a:r>
            <a:r>
              <a:rPr lang="ko-KR" altLang="en-US" sz="1000" b="1" spc="0" baseline="0" dirty="0">
                <a:solidFill>
                  <a:srgbClr val="92400E"/>
                </a:solidFill>
                <a:latin typeface="맑은 고딕"/>
                <a:ea typeface="맑은 고딕"/>
                <a:cs typeface="Arial"/>
                <a:sym typeface="맑은 고딕"/>
                <a:rtl val="0"/>
              </a:rPr>
              <a:t>전송</a:t>
            </a:r>
          </a:p>
        </p:txBody>
      </p:sp>
      <p:sp>
        <p:nvSpPr>
          <p:cNvPr id="2249" name="TextBox 2248">
            <a:extLst>
              <a:ext uri="{FF2B5EF4-FFF2-40B4-BE49-F238E27FC236}">
                <a16:creationId xmlns:a16="http://schemas.microsoft.com/office/drawing/2014/main" id="{6ABDFC4D-9641-45D5-88FF-A33214028049}"/>
              </a:ext>
            </a:extLst>
          </p:cNvPr>
          <p:cNvSpPr txBox="1"/>
          <p:nvPr/>
        </p:nvSpPr>
        <p:spPr>
          <a:xfrm>
            <a:off x="5669542" y="3208297"/>
            <a:ext cx="1257835" cy="2752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900" spc="0" baseline="0" dirty="0">
                <a:solidFill>
                  <a:srgbClr val="D97706"/>
                </a:solidFill>
                <a:latin typeface="Arial"/>
                <a:ea typeface="+mn-ea"/>
                <a:cs typeface="Arial"/>
                <a:sym typeface="Arial"/>
                <a:rtl val="0"/>
              </a:rPr>
              <a:t>PCIe 5.0 × 16</a:t>
            </a:r>
          </a:p>
        </p:txBody>
      </p:sp>
      <p:sp>
        <p:nvSpPr>
          <p:cNvPr id="2250" name="TextBox 2249">
            <a:extLst>
              <a:ext uri="{FF2B5EF4-FFF2-40B4-BE49-F238E27FC236}">
                <a16:creationId xmlns:a16="http://schemas.microsoft.com/office/drawing/2014/main" id="{28E82951-157C-438A-9EEF-09408AA4E443}"/>
              </a:ext>
            </a:extLst>
          </p:cNvPr>
          <p:cNvSpPr txBox="1"/>
          <p:nvPr/>
        </p:nvSpPr>
        <p:spPr>
          <a:xfrm>
            <a:off x="5532454" y="3343545"/>
            <a:ext cx="1532010" cy="2541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800" spc="0" baseline="0" dirty="0">
                <a:solidFill>
                  <a:srgbClr val="6B7280"/>
                </a:solidFill>
                <a:latin typeface="Arial"/>
                <a:ea typeface="+mn-ea"/>
                <a:cs typeface="Arial"/>
                <a:sym typeface="Arial"/>
                <a:rtl val="0"/>
              </a:rPr>
              <a:t>~64 GB/s bandwidth</a:t>
            </a:r>
          </a:p>
        </p:txBody>
      </p:sp>
      <p:sp>
        <p:nvSpPr>
          <p:cNvPr id="2251" name="TextBox 2250">
            <a:extLst>
              <a:ext uri="{FF2B5EF4-FFF2-40B4-BE49-F238E27FC236}">
                <a16:creationId xmlns:a16="http://schemas.microsoft.com/office/drawing/2014/main" id="{7A5C9088-6EE7-402E-AF0A-34818CD02744}"/>
              </a:ext>
            </a:extLst>
          </p:cNvPr>
          <p:cNvSpPr txBox="1"/>
          <p:nvPr/>
        </p:nvSpPr>
        <p:spPr>
          <a:xfrm>
            <a:off x="7028919" y="3027330"/>
            <a:ext cx="655738" cy="4160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1600" spc="0" baseline="0" dirty="0">
                <a:solidFill>
                  <a:srgbClr val="9CA3AF"/>
                </a:solidFill>
                <a:latin typeface="Arial"/>
                <a:ea typeface="+mn-ea"/>
                <a:cs typeface="Arial"/>
                <a:sym typeface="Arial"/>
                <a:rtl val="0"/>
              </a:rPr>
              <a:t>→</a:t>
            </a:r>
          </a:p>
        </p:txBody>
      </p:sp>
      <p:sp>
        <p:nvSpPr>
          <p:cNvPr id="2252" name="자유형: 도형 2251">
            <a:extLst>
              <a:ext uri="{FF2B5EF4-FFF2-40B4-BE49-F238E27FC236}">
                <a16:creationId xmlns:a16="http://schemas.microsoft.com/office/drawing/2014/main" id="{9F8BB321-7E9C-4E82-8814-4568166C0AE6}"/>
              </a:ext>
            </a:extLst>
          </p:cNvPr>
          <p:cNvSpPr/>
          <p:nvPr/>
        </p:nvSpPr>
        <p:spPr>
          <a:xfrm>
            <a:off x="7546900" y="3016319"/>
            <a:ext cx="2496880" cy="572201"/>
          </a:xfrm>
          <a:custGeom>
            <a:avLst/>
            <a:gdLst>
              <a:gd name="connsiteX0" fmla="*/ 2413651 w 2496880"/>
              <a:gd name="connsiteY0" fmla="*/ 0 h 572201"/>
              <a:gd name="connsiteX1" fmla="*/ 2496880 w 2496880"/>
              <a:gd name="connsiteY1" fmla="*/ 0 h 572201"/>
              <a:gd name="connsiteX2" fmla="*/ 2496880 w 2496880"/>
              <a:gd name="connsiteY2" fmla="*/ 572202 h 572201"/>
              <a:gd name="connsiteX3" fmla="*/ 2413651 w 2496880"/>
              <a:gd name="connsiteY3" fmla="*/ 572202 h 572201"/>
              <a:gd name="connsiteX4" fmla="*/ 83229 w 2496880"/>
              <a:gd name="connsiteY4" fmla="*/ 572202 h 572201"/>
              <a:gd name="connsiteX5" fmla="*/ 0 w 2496880"/>
              <a:gd name="connsiteY5" fmla="*/ 572202 h 572201"/>
              <a:gd name="connsiteX6" fmla="*/ 0 w 2496880"/>
              <a:gd name="connsiteY6" fmla="*/ 0 h 572201"/>
              <a:gd name="connsiteX7" fmla="*/ 83229 w 2496880"/>
              <a:gd name="connsiteY7" fmla="*/ 0 h 5722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496880" h="572201">
                <a:moveTo>
                  <a:pt x="2413651" y="0"/>
                </a:moveTo>
                <a:cubicBezTo>
                  <a:pt x="2459617" y="0"/>
                  <a:pt x="2496880" y="0"/>
                  <a:pt x="2496880" y="0"/>
                </a:cubicBezTo>
                <a:lnTo>
                  <a:pt x="2496880" y="572202"/>
                </a:lnTo>
                <a:cubicBezTo>
                  <a:pt x="2496880" y="572202"/>
                  <a:pt x="2459617" y="572202"/>
                  <a:pt x="2413651" y="572202"/>
                </a:cubicBezTo>
                <a:lnTo>
                  <a:pt x="83229" y="572202"/>
                </a:lnTo>
                <a:cubicBezTo>
                  <a:pt x="37263" y="572202"/>
                  <a:pt x="0" y="572202"/>
                  <a:pt x="0" y="572202"/>
                </a:cubicBezTo>
                <a:lnTo>
                  <a:pt x="0" y="0"/>
                </a:lnTo>
                <a:cubicBezTo>
                  <a:pt x="0" y="0"/>
                  <a:pt x="37263" y="0"/>
                  <a:pt x="83229" y="0"/>
                </a:cubicBezTo>
                <a:close/>
              </a:path>
            </a:pathLst>
          </a:custGeom>
          <a:solidFill>
            <a:srgbClr val="FEE2E2"/>
          </a:solidFill>
          <a:ln w="15597" cap="flat">
            <a:solidFill>
              <a:srgbClr val="EF4444"/>
            </a:solidFill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2253" name="TextBox 2252">
            <a:extLst>
              <a:ext uri="{FF2B5EF4-FFF2-40B4-BE49-F238E27FC236}">
                <a16:creationId xmlns:a16="http://schemas.microsoft.com/office/drawing/2014/main" id="{80017CFA-7C0C-4895-8AE8-9D6B187D86F0}"/>
              </a:ext>
            </a:extLst>
          </p:cNvPr>
          <p:cNvSpPr txBox="1"/>
          <p:nvPr/>
        </p:nvSpPr>
        <p:spPr>
          <a:xfrm>
            <a:off x="7968407" y="3000224"/>
            <a:ext cx="1653865" cy="294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1000" b="1" spc="0" baseline="0" dirty="0">
                <a:solidFill>
                  <a:srgbClr val="991B1B"/>
                </a:solidFill>
                <a:latin typeface="Arial"/>
                <a:ea typeface="+mn-ea"/>
                <a:cs typeface="Arial"/>
                <a:sym typeface="Arial"/>
                <a:rtl val="0"/>
              </a:rPr>
              <a:t>FP64 </a:t>
            </a:r>
            <a:r>
              <a:rPr lang="ko-KR" altLang="en-US" sz="1000" b="1" spc="0" baseline="0" dirty="0">
                <a:solidFill>
                  <a:srgbClr val="991B1B"/>
                </a:solidFill>
                <a:latin typeface="맑은 고딕"/>
                <a:ea typeface="맑은 고딕"/>
                <a:cs typeface="Arial"/>
                <a:sym typeface="맑은 고딕"/>
                <a:rtl val="0"/>
              </a:rPr>
              <a:t>처리량</a:t>
            </a:r>
            <a:r>
              <a:rPr lang="ko-KR" altLang="en-US" sz="1000" b="1" spc="0" baseline="0" dirty="0">
                <a:solidFill>
                  <a:srgbClr val="991B1B"/>
                </a:solidFill>
                <a:latin typeface="Arial"/>
                <a:ea typeface="맑은 고딕"/>
                <a:cs typeface="Arial"/>
                <a:sym typeface="Arial"/>
                <a:rtl val="0"/>
              </a:rPr>
              <a:t> </a:t>
            </a:r>
            <a:r>
              <a:rPr lang="ko-KR" altLang="en-US" sz="1000" b="1" spc="0" baseline="0" dirty="0">
                <a:solidFill>
                  <a:srgbClr val="991B1B"/>
                </a:solidFill>
                <a:latin typeface="맑은 고딕"/>
                <a:ea typeface="맑은 고딕"/>
                <a:cs typeface="Arial"/>
                <a:sym typeface="맑은 고딕"/>
                <a:rtl val="0"/>
              </a:rPr>
              <a:t>제한</a:t>
            </a:r>
          </a:p>
        </p:txBody>
      </p:sp>
      <p:sp>
        <p:nvSpPr>
          <p:cNvPr id="2254" name="TextBox 2253">
            <a:extLst>
              <a:ext uri="{FF2B5EF4-FFF2-40B4-BE49-F238E27FC236}">
                <a16:creationId xmlns:a16="http://schemas.microsoft.com/office/drawing/2014/main" id="{C23A88EC-3BFD-4CE8-8520-B3D6EDC03652}"/>
              </a:ext>
            </a:extLst>
          </p:cNvPr>
          <p:cNvSpPr txBox="1"/>
          <p:nvPr/>
        </p:nvSpPr>
        <p:spPr>
          <a:xfrm>
            <a:off x="7663765" y="3208297"/>
            <a:ext cx="2263148" cy="2743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900" spc="0" baseline="0" dirty="0">
                <a:solidFill>
                  <a:srgbClr val="EF4444"/>
                </a:solidFill>
                <a:latin typeface="Arial"/>
                <a:ea typeface="+mn-ea"/>
                <a:cs typeface="Arial"/>
                <a:sym typeface="Arial"/>
                <a:rtl val="0"/>
              </a:rPr>
              <a:t>RTX 5090: FP64 = FP32/32</a:t>
            </a:r>
          </a:p>
        </p:txBody>
      </p:sp>
      <p:sp>
        <p:nvSpPr>
          <p:cNvPr id="2255" name="TextBox 2254">
            <a:extLst>
              <a:ext uri="{FF2B5EF4-FFF2-40B4-BE49-F238E27FC236}">
                <a16:creationId xmlns:a16="http://schemas.microsoft.com/office/drawing/2014/main" id="{F0E0907B-341B-4FBB-A50F-23F926D27520}"/>
              </a:ext>
            </a:extLst>
          </p:cNvPr>
          <p:cNvSpPr txBox="1"/>
          <p:nvPr/>
        </p:nvSpPr>
        <p:spPr>
          <a:xfrm>
            <a:off x="7579990" y="3322738"/>
            <a:ext cx="2430699" cy="2539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800" spc="0" baseline="0" dirty="0">
                <a:solidFill>
                  <a:srgbClr val="6B7280"/>
                </a:solidFill>
                <a:latin typeface="Arial"/>
                <a:ea typeface="+mn-ea"/>
                <a:cs typeface="Arial"/>
                <a:sym typeface="Arial"/>
                <a:rtl val="0"/>
              </a:rPr>
              <a:t>HPC GPU(A100) </a:t>
            </a:r>
            <a:r>
              <a:rPr lang="ko-KR" altLang="en-US" sz="800" spc="0" baseline="0" dirty="0">
                <a:solidFill>
                  <a:srgbClr val="6B7280"/>
                </a:solidFill>
                <a:latin typeface="맑은 고딕"/>
                <a:ea typeface="맑은 고딕"/>
                <a:cs typeface="Arial"/>
                <a:sym typeface="맑은 고딕"/>
                <a:rtl val="0"/>
              </a:rPr>
              <a:t>대비</a:t>
            </a:r>
            <a:r>
              <a:rPr lang="ko-KR" altLang="en-US" sz="800" spc="0" baseline="0" dirty="0">
                <a:solidFill>
                  <a:srgbClr val="6B7280"/>
                </a:solidFill>
                <a:latin typeface="Arial"/>
                <a:ea typeface="맑은 고딕"/>
                <a:cs typeface="Arial"/>
                <a:sym typeface="Arial"/>
                <a:rtl val="0"/>
              </a:rPr>
              <a:t> ~1/10 FP64</a:t>
            </a:r>
          </a:p>
        </p:txBody>
      </p:sp>
    </p:spTree>
    <p:extLst>
      <p:ext uri="{BB962C8B-B14F-4D97-AF65-F5344CB8AC3E}">
        <p14:creationId xmlns:p14="http://schemas.microsoft.com/office/powerpoint/2010/main" val="283067295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>
          <a:extLst>
            <a:ext uri="{FF2B5EF4-FFF2-40B4-BE49-F238E27FC236}">
              <a16:creationId xmlns:a16="http://schemas.microsoft.com/office/drawing/2014/main" id="{28DF55BD-148B-54C1-0CE0-9B83DF6F02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직사각형 11">
            <a:extLst>
              <a:ext uri="{FF2B5EF4-FFF2-40B4-BE49-F238E27FC236}">
                <a16:creationId xmlns:a16="http://schemas.microsoft.com/office/drawing/2014/main" id="{4EC1EFF2-AED7-F2CE-2708-48C146AD3C0E}"/>
              </a:ext>
            </a:extLst>
          </p:cNvPr>
          <p:cNvSpPr/>
          <p:nvPr/>
        </p:nvSpPr>
        <p:spPr bwMode="auto">
          <a:xfrm>
            <a:off x="7461862" y="1949"/>
            <a:ext cx="4736816" cy="6870567"/>
          </a:xfrm>
          <a:prstGeom prst="rect">
            <a:avLst/>
          </a:prstGeom>
          <a:solidFill>
            <a:schemeClr val="accent6">
              <a:lumMod val="75000"/>
              <a:alpha val="26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Microsoft GothicNeo" panose="020B0500000101010101" pitchFamily="50" charset="-127"/>
              <a:ea typeface="Microsoft GothicNeo" panose="020B0500000101010101" pitchFamily="50" charset="-127"/>
              <a:cs typeface="Microsoft GothicNeo" panose="020B0500000101010101" pitchFamily="50" charset="-127"/>
            </a:endParaRPr>
          </a:p>
        </p:txBody>
      </p:sp>
      <p:sp>
        <p:nvSpPr>
          <p:cNvPr id="9" name="평행 사변형 8">
            <a:extLst>
              <a:ext uri="{FF2B5EF4-FFF2-40B4-BE49-F238E27FC236}">
                <a16:creationId xmlns:a16="http://schemas.microsoft.com/office/drawing/2014/main" id="{3BC96E5E-BC2E-58AA-F8E1-2FF8A16CB811}"/>
              </a:ext>
            </a:extLst>
          </p:cNvPr>
          <p:cNvSpPr/>
          <p:nvPr/>
        </p:nvSpPr>
        <p:spPr>
          <a:xfrm flipH="1">
            <a:off x="6585769" y="0"/>
            <a:ext cx="4154146" cy="6858000"/>
          </a:xfrm>
          <a:prstGeom prst="parallelogram">
            <a:avLst>
              <a:gd name="adj" fmla="val 36654"/>
            </a:avLst>
          </a:prstGeom>
          <a:solidFill>
            <a:srgbClr val="A43624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Microsoft GothicNeo" panose="020B0500000101010101" pitchFamily="50" charset="-127"/>
              <a:ea typeface="Microsoft GothicNeo" panose="020B0500000101010101" pitchFamily="50" charset="-127"/>
              <a:cs typeface="Microsoft GothicNeo" panose="020B0500000101010101" pitchFamily="50" charset="-127"/>
            </a:endParaRPr>
          </a:p>
        </p:txBody>
      </p:sp>
      <p:sp>
        <p:nvSpPr>
          <p:cNvPr id="13" name="평행 사변형 12">
            <a:extLst>
              <a:ext uri="{FF2B5EF4-FFF2-40B4-BE49-F238E27FC236}">
                <a16:creationId xmlns:a16="http://schemas.microsoft.com/office/drawing/2014/main" id="{0C2FD315-FC3D-2EC1-8EDA-FAE7A42B292E}"/>
              </a:ext>
            </a:extLst>
          </p:cNvPr>
          <p:cNvSpPr/>
          <p:nvPr/>
        </p:nvSpPr>
        <p:spPr>
          <a:xfrm flipH="1">
            <a:off x="5961548" y="0"/>
            <a:ext cx="4154146" cy="6858000"/>
          </a:xfrm>
          <a:prstGeom prst="parallelogram">
            <a:avLst>
              <a:gd name="adj" fmla="val 36654"/>
            </a:avLst>
          </a:prstGeom>
          <a:solidFill>
            <a:srgbClr val="9B8873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Microsoft GothicNeo" panose="020B0500000101010101" pitchFamily="50" charset="-127"/>
              <a:ea typeface="Microsoft GothicNeo" panose="020B0500000101010101" pitchFamily="50" charset="-127"/>
              <a:cs typeface="Microsoft GothicNeo" panose="020B0500000101010101" pitchFamily="50" charset="-127"/>
            </a:endParaRPr>
          </a:p>
        </p:txBody>
      </p:sp>
      <p:sp>
        <p:nvSpPr>
          <p:cNvPr id="14" name="평행 사변형 13">
            <a:extLst>
              <a:ext uri="{FF2B5EF4-FFF2-40B4-BE49-F238E27FC236}">
                <a16:creationId xmlns:a16="http://schemas.microsoft.com/office/drawing/2014/main" id="{6B532978-9601-BEBD-9509-6EE7A575C331}"/>
              </a:ext>
            </a:extLst>
          </p:cNvPr>
          <p:cNvSpPr/>
          <p:nvPr/>
        </p:nvSpPr>
        <p:spPr>
          <a:xfrm flipH="1">
            <a:off x="-1" y="-14516"/>
            <a:ext cx="9439479" cy="6901543"/>
          </a:xfrm>
          <a:custGeom>
            <a:avLst/>
            <a:gdLst>
              <a:gd name="connsiteX0" fmla="*/ 0 w 3410857"/>
              <a:gd name="connsiteY0" fmla="*/ 6858000 h 6858000"/>
              <a:gd name="connsiteX1" fmla="*/ 1250216 w 3410857"/>
              <a:gd name="connsiteY1" fmla="*/ 0 h 6858000"/>
              <a:gd name="connsiteX2" fmla="*/ 3410857 w 3410857"/>
              <a:gd name="connsiteY2" fmla="*/ 0 h 6858000"/>
              <a:gd name="connsiteX3" fmla="*/ 2160641 w 3410857"/>
              <a:gd name="connsiteY3" fmla="*/ 6858000 h 6858000"/>
              <a:gd name="connsiteX4" fmla="*/ 0 w 3410857"/>
              <a:gd name="connsiteY4" fmla="*/ 6858000 h 6858000"/>
              <a:gd name="connsiteX0" fmla="*/ 0 w 6705600"/>
              <a:gd name="connsiteY0" fmla="*/ 6887029 h 6887029"/>
              <a:gd name="connsiteX1" fmla="*/ 1250216 w 6705600"/>
              <a:gd name="connsiteY1" fmla="*/ 29029 h 6887029"/>
              <a:gd name="connsiteX2" fmla="*/ 6705600 w 6705600"/>
              <a:gd name="connsiteY2" fmla="*/ 0 h 6887029"/>
              <a:gd name="connsiteX3" fmla="*/ 2160641 w 6705600"/>
              <a:gd name="connsiteY3" fmla="*/ 6887029 h 6887029"/>
              <a:gd name="connsiteX4" fmla="*/ 0 w 6705600"/>
              <a:gd name="connsiteY4" fmla="*/ 6887029 h 6887029"/>
              <a:gd name="connsiteX0" fmla="*/ 0 w 6747155"/>
              <a:gd name="connsiteY0" fmla="*/ 6887029 h 6901543"/>
              <a:gd name="connsiteX1" fmla="*/ 1250216 w 6747155"/>
              <a:gd name="connsiteY1" fmla="*/ 29029 h 6901543"/>
              <a:gd name="connsiteX2" fmla="*/ 6705600 w 6747155"/>
              <a:gd name="connsiteY2" fmla="*/ 0 h 6901543"/>
              <a:gd name="connsiteX3" fmla="*/ 6747155 w 6747155"/>
              <a:gd name="connsiteY3" fmla="*/ 6901543 h 6901543"/>
              <a:gd name="connsiteX4" fmla="*/ 0 w 6747155"/>
              <a:gd name="connsiteY4" fmla="*/ 6887029 h 6901543"/>
              <a:gd name="connsiteX0" fmla="*/ 0 w 6747155"/>
              <a:gd name="connsiteY0" fmla="*/ 6887029 h 6901543"/>
              <a:gd name="connsiteX1" fmla="*/ 1250216 w 6747155"/>
              <a:gd name="connsiteY1" fmla="*/ 29029 h 6901543"/>
              <a:gd name="connsiteX2" fmla="*/ 6444343 w 6747155"/>
              <a:gd name="connsiteY2" fmla="*/ 0 h 6901543"/>
              <a:gd name="connsiteX3" fmla="*/ 6747155 w 6747155"/>
              <a:gd name="connsiteY3" fmla="*/ 6901543 h 6901543"/>
              <a:gd name="connsiteX4" fmla="*/ 0 w 6747155"/>
              <a:gd name="connsiteY4" fmla="*/ 6887029 h 6901543"/>
              <a:gd name="connsiteX0" fmla="*/ 0 w 6747155"/>
              <a:gd name="connsiteY0" fmla="*/ 6887029 h 6901543"/>
              <a:gd name="connsiteX1" fmla="*/ 1250216 w 6747155"/>
              <a:gd name="connsiteY1" fmla="*/ 29029 h 6901543"/>
              <a:gd name="connsiteX2" fmla="*/ 6458857 w 6747155"/>
              <a:gd name="connsiteY2" fmla="*/ 0 h 6901543"/>
              <a:gd name="connsiteX3" fmla="*/ 6747155 w 6747155"/>
              <a:gd name="connsiteY3" fmla="*/ 6901543 h 6901543"/>
              <a:gd name="connsiteX4" fmla="*/ 0 w 6747155"/>
              <a:gd name="connsiteY4" fmla="*/ 6887029 h 6901543"/>
              <a:gd name="connsiteX0" fmla="*/ 0 w 6458857"/>
              <a:gd name="connsiteY0" fmla="*/ 6887029 h 6959600"/>
              <a:gd name="connsiteX1" fmla="*/ 1250216 w 6458857"/>
              <a:gd name="connsiteY1" fmla="*/ 29029 h 6959600"/>
              <a:gd name="connsiteX2" fmla="*/ 6458857 w 6458857"/>
              <a:gd name="connsiteY2" fmla="*/ 0 h 6959600"/>
              <a:gd name="connsiteX3" fmla="*/ 6166583 w 6458857"/>
              <a:gd name="connsiteY3" fmla="*/ 6959600 h 6959600"/>
              <a:gd name="connsiteX4" fmla="*/ 0 w 6458857"/>
              <a:gd name="connsiteY4" fmla="*/ 6887029 h 6959600"/>
              <a:gd name="connsiteX0" fmla="*/ 0 w 6471383"/>
              <a:gd name="connsiteY0" fmla="*/ 6887029 h 6887029"/>
              <a:gd name="connsiteX1" fmla="*/ 1250216 w 6471383"/>
              <a:gd name="connsiteY1" fmla="*/ 29029 h 6887029"/>
              <a:gd name="connsiteX2" fmla="*/ 6458857 w 6471383"/>
              <a:gd name="connsiteY2" fmla="*/ 0 h 6887029"/>
              <a:gd name="connsiteX3" fmla="*/ 6471383 w 6471383"/>
              <a:gd name="connsiteY3" fmla="*/ 6887029 h 6887029"/>
              <a:gd name="connsiteX4" fmla="*/ 0 w 6471383"/>
              <a:gd name="connsiteY4" fmla="*/ 6887029 h 6887029"/>
              <a:gd name="connsiteX0" fmla="*/ 0 w 7257159"/>
              <a:gd name="connsiteY0" fmla="*/ 6872515 h 6872515"/>
              <a:gd name="connsiteX1" fmla="*/ 1250216 w 7257159"/>
              <a:gd name="connsiteY1" fmla="*/ 14515 h 6872515"/>
              <a:gd name="connsiteX2" fmla="*/ 7257143 w 7257159"/>
              <a:gd name="connsiteY2" fmla="*/ 0 h 6872515"/>
              <a:gd name="connsiteX3" fmla="*/ 6471383 w 7257159"/>
              <a:gd name="connsiteY3" fmla="*/ 6872515 h 6872515"/>
              <a:gd name="connsiteX4" fmla="*/ 0 w 7257159"/>
              <a:gd name="connsiteY4" fmla="*/ 6872515 h 6872515"/>
              <a:gd name="connsiteX0" fmla="*/ 0 w 7284183"/>
              <a:gd name="connsiteY0" fmla="*/ 6872515 h 6901543"/>
              <a:gd name="connsiteX1" fmla="*/ 1250216 w 7284183"/>
              <a:gd name="connsiteY1" fmla="*/ 14515 h 6901543"/>
              <a:gd name="connsiteX2" fmla="*/ 7257143 w 7284183"/>
              <a:gd name="connsiteY2" fmla="*/ 0 h 6901543"/>
              <a:gd name="connsiteX3" fmla="*/ 7284183 w 7284183"/>
              <a:gd name="connsiteY3" fmla="*/ 6901543 h 6901543"/>
              <a:gd name="connsiteX4" fmla="*/ 0 w 7284183"/>
              <a:gd name="connsiteY4" fmla="*/ 6872515 h 6901543"/>
              <a:gd name="connsiteX0" fmla="*/ 0 w 7547476"/>
              <a:gd name="connsiteY0" fmla="*/ 6872515 h 6901543"/>
              <a:gd name="connsiteX1" fmla="*/ 1250216 w 7547476"/>
              <a:gd name="connsiteY1" fmla="*/ 14515 h 6901543"/>
              <a:gd name="connsiteX2" fmla="*/ 7547429 w 7547476"/>
              <a:gd name="connsiteY2" fmla="*/ 0 h 6901543"/>
              <a:gd name="connsiteX3" fmla="*/ 7284183 w 7547476"/>
              <a:gd name="connsiteY3" fmla="*/ 6901543 h 6901543"/>
              <a:gd name="connsiteX4" fmla="*/ 0 w 7547476"/>
              <a:gd name="connsiteY4" fmla="*/ 6872515 h 6901543"/>
              <a:gd name="connsiteX0" fmla="*/ 0 w 7547612"/>
              <a:gd name="connsiteY0" fmla="*/ 6872515 h 6901543"/>
              <a:gd name="connsiteX1" fmla="*/ 1250216 w 7547612"/>
              <a:gd name="connsiteY1" fmla="*/ 14515 h 6901543"/>
              <a:gd name="connsiteX2" fmla="*/ 7547429 w 7547612"/>
              <a:gd name="connsiteY2" fmla="*/ 0 h 6901543"/>
              <a:gd name="connsiteX3" fmla="*/ 7487383 w 7547612"/>
              <a:gd name="connsiteY3" fmla="*/ 6901543 h 6901543"/>
              <a:gd name="connsiteX4" fmla="*/ 0 w 7547612"/>
              <a:gd name="connsiteY4" fmla="*/ 6872515 h 6901543"/>
              <a:gd name="connsiteX0" fmla="*/ 0 w 7533145"/>
              <a:gd name="connsiteY0" fmla="*/ 6872515 h 6901543"/>
              <a:gd name="connsiteX1" fmla="*/ 1250216 w 7533145"/>
              <a:gd name="connsiteY1" fmla="*/ 14515 h 6901543"/>
              <a:gd name="connsiteX2" fmla="*/ 7532915 w 7533145"/>
              <a:gd name="connsiteY2" fmla="*/ 0 h 6901543"/>
              <a:gd name="connsiteX3" fmla="*/ 7487383 w 7533145"/>
              <a:gd name="connsiteY3" fmla="*/ 6901543 h 6901543"/>
              <a:gd name="connsiteX4" fmla="*/ 0 w 7533145"/>
              <a:gd name="connsiteY4" fmla="*/ 6872515 h 6901543"/>
              <a:gd name="connsiteX0" fmla="*/ 0 w 7533928"/>
              <a:gd name="connsiteY0" fmla="*/ 6872515 h 6901543"/>
              <a:gd name="connsiteX1" fmla="*/ 1250216 w 7533928"/>
              <a:gd name="connsiteY1" fmla="*/ 14515 h 6901543"/>
              <a:gd name="connsiteX2" fmla="*/ 7532915 w 7533928"/>
              <a:gd name="connsiteY2" fmla="*/ 0 h 6901543"/>
              <a:gd name="connsiteX3" fmla="*/ 7530926 w 7533928"/>
              <a:gd name="connsiteY3" fmla="*/ 6901543 h 6901543"/>
              <a:gd name="connsiteX4" fmla="*/ 0 w 7533928"/>
              <a:gd name="connsiteY4" fmla="*/ 6872515 h 6901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533928" h="6901543">
                <a:moveTo>
                  <a:pt x="0" y="6872515"/>
                </a:moveTo>
                <a:lnTo>
                  <a:pt x="1250216" y="14515"/>
                </a:lnTo>
                <a:lnTo>
                  <a:pt x="7532915" y="0"/>
                </a:lnTo>
                <a:cubicBezTo>
                  <a:pt x="7537090" y="2295676"/>
                  <a:pt x="7526751" y="4605867"/>
                  <a:pt x="7530926" y="6901543"/>
                </a:cubicBezTo>
                <a:lnTo>
                  <a:pt x="0" y="6872515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Microsoft GothicNeo" panose="020B0500000101010101" pitchFamily="50" charset="-127"/>
              <a:ea typeface="Microsoft GothicNeo" panose="020B0500000101010101" pitchFamily="50" charset="-127"/>
              <a:cs typeface="Microsoft GothicNeo" panose="020B0500000101010101" pitchFamily="50" charset="-127"/>
            </a:endParaRP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EDFA242A-83D7-A262-CB5F-828BDBB1360E}"/>
              </a:ext>
            </a:extLst>
          </p:cNvPr>
          <p:cNvGrpSpPr/>
          <p:nvPr/>
        </p:nvGrpSpPr>
        <p:grpSpPr>
          <a:xfrm>
            <a:off x="231580" y="85060"/>
            <a:ext cx="2920394" cy="661066"/>
            <a:chOff x="231580" y="85060"/>
            <a:chExt cx="2534216" cy="573650"/>
          </a:xfrm>
        </p:grpSpPr>
        <p:pic>
          <p:nvPicPr>
            <p:cNvPr id="7" name="그림 6" descr="텍스트, 로고, 엠블럼, 폰트이(가) 표시된 사진&#10;&#10;자동 생성된 설명">
              <a:extLst>
                <a:ext uri="{FF2B5EF4-FFF2-40B4-BE49-F238E27FC236}">
                  <a16:creationId xmlns:a16="http://schemas.microsoft.com/office/drawing/2014/main" id="{877B623B-B99C-3880-04CC-1E6D815B03E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1580" y="215111"/>
              <a:ext cx="1539333" cy="375191"/>
            </a:xfrm>
            <a:prstGeom prst="rect">
              <a:avLst/>
            </a:prstGeom>
          </p:spPr>
        </p:pic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697EE38A-F703-1ADB-7BEA-DE357B4DC45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219" t="10161" r="5433" b="11878"/>
            <a:stretch/>
          </p:blipFill>
          <p:spPr>
            <a:xfrm>
              <a:off x="1868209" y="85060"/>
              <a:ext cx="897587" cy="573650"/>
            </a:xfrm>
            <a:prstGeom prst="rect">
              <a:avLst/>
            </a:prstGeom>
          </p:spPr>
        </p:pic>
      </p:grpSp>
      <p:sp>
        <p:nvSpPr>
          <p:cNvPr id="11" name="Google Shape;93;p13">
            <a:extLst>
              <a:ext uri="{FF2B5EF4-FFF2-40B4-BE49-F238E27FC236}">
                <a16:creationId xmlns:a16="http://schemas.microsoft.com/office/drawing/2014/main" id="{A462B7C3-1BE7-3653-4083-473D68284EDD}"/>
              </a:ext>
            </a:extLst>
          </p:cNvPr>
          <p:cNvSpPr txBox="1">
            <a:spLocks/>
          </p:cNvSpPr>
          <p:nvPr/>
        </p:nvSpPr>
        <p:spPr>
          <a:xfrm>
            <a:off x="62807" y="1767075"/>
            <a:ext cx="6590799" cy="1954797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Raleway"/>
              <a:buNone/>
              <a:defRPr sz="4400" b="0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Raleway"/>
              <a:buNone/>
              <a:defRPr sz="4400" b="0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Raleway"/>
              <a:buNone/>
              <a:defRPr sz="4400" b="0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Raleway"/>
              <a:buNone/>
              <a:defRPr sz="4400" b="0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Raleway"/>
              <a:buNone/>
              <a:defRPr sz="4400" b="0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Raleway"/>
              <a:buNone/>
              <a:defRPr sz="4400" b="0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Raleway"/>
              <a:buNone/>
              <a:defRPr sz="4400" b="0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Raleway"/>
              <a:buNone/>
              <a:defRPr sz="4400" b="0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Raleway"/>
              <a:buNone/>
              <a:defRPr sz="4400" b="0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3838"/>
              </a:buClr>
              <a:buSzPts val="4400"/>
              <a:buFont typeface="Raleway"/>
              <a:buNone/>
              <a:tabLst/>
              <a:defRPr/>
            </a:pPr>
            <a:r>
              <a:rPr kumimoji="1" lang="en-US" altLang="ko-KR" sz="4000" b="1" i="0" u="none" strike="noStrike" kern="1200" cap="none" spc="0" normalizeH="0" baseline="0" noProof="0" dirty="0">
                <a:ln>
                  <a:noFill/>
                </a:ln>
                <a:solidFill>
                  <a:schemeClr val="accent5"/>
                </a:solidFill>
                <a:effectLst>
                  <a:outerShdw blurRad="50800" dist="38100" dir="2700000" algn="tl" rotWithShape="0">
                    <a:schemeClr val="bg2">
                      <a:lumMod val="75000"/>
                      <a:alpha val="40000"/>
                    </a:schemeClr>
                  </a:outerShdw>
                </a:effectLst>
                <a:uLnTx/>
                <a:uFillTx/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  <a:sym typeface="Raleway"/>
              </a:rPr>
              <a:t>Thank you for attention</a:t>
            </a:r>
            <a:endParaRPr kumimoji="1" lang="en-US" altLang="ko-KR" sz="4000" b="1" dirty="0">
              <a:solidFill>
                <a:schemeClr val="accent5"/>
              </a:solidFill>
              <a:effectLst>
                <a:outerShdw blurRad="50800" dist="38100" dir="2700000" algn="tl" rotWithShape="0">
                  <a:schemeClr val="bg2">
                    <a:lumMod val="75000"/>
                    <a:alpha val="40000"/>
                  </a:schemeClr>
                </a:outerShdw>
              </a:effectLst>
              <a:latin typeface="Microsoft GothicNeo" panose="020B0500000101010101" pitchFamily="50" charset="-127"/>
              <a:ea typeface="Microsoft GothicNeo" panose="020B0500000101010101" pitchFamily="50" charset="-127"/>
              <a:cs typeface="Microsoft GothicNeo" panose="020B0500000101010101" pitchFamily="50" charset="-127"/>
            </a:endParaRPr>
          </a:p>
        </p:txBody>
      </p:sp>
      <p:sp>
        <p:nvSpPr>
          <p:cNvPr id="2" name="Google Shape;153;p20">
            <a:extLst>
              <a:ext uri="{FF2B5EF4-FFF2-40B4-BE49-F238E27FC236}">
                <a16:creationId xmlns:a16="http://schemas.microsoft.com/office/drawing/2014/main" id="{AABDCCFB-E987-1685-FD05-447F733BB717}"/>
              </a:ext>
            </a:extLst>
          </p:cNvPr>
          <p:cNvSpPr txBox="1">
            <a:spLocks/>
          </p:cNvSpPr>
          <p:nvPr/>
        </p:nvSpPr>
        <p:spPr>
          <a:xfrm>
            <a:off x="105320" y="4706528"/>
            <a:ext cx="6548286" cy="178929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spcBef>
                <a:spcPts val="600"/>
              </a:spcBef>
            </a:pPr>
            <a:r>
              <a:rPr lang="ko-KR" altLang="en-US" sz="2000" b="1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안 용 상</a:t>
            </a:r>
            <a:endParaRPr lang="en-US" altLang="ko-KR" sz="2000" b="1" dirty="0">
              <a:latin typeface="Microsoft GothicNeo" panose="020B0500000101010101" pitchFamily="50" charset="-127"/>
              <a:ea typeface="Microsoft GothicNeo" panose="020B0500000101010101" pitchFamily="50" charset="-127"/>
              <a:cs typeface="Microsoft GothicNeo" panose="020B0500000101010101" pitchFamily="50" charset="-127"/>
            </a:endParaRPr>
          </a:p>
          <a:p>
            <a:pPr>
              <a:spcBef>
                <a:spcPts val="600"/>
              </a:spcBef>
            </a:pPr>
            <a:r>
              <a:rPr lang="en-US" altLang="ko-KR" sz="15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Process Systems Engineering &amp; Intelligence Design Lab</a:t>
            </a:r>
          </a:p>
          <a:p>
            <a:pPr>
              <a:spcBef>
                <a:spcPts val="600"/>
              </a:spcBef>
            </a:pPr>
            <a:r>
              <a:rPr lang="en-US" sz="15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Department of Chemical Engineering</a:t>
            </a:r>
          </a:p>
          <a:p>
            <a:pPr>
              <a:spcBef>
                <a:spcPts val="600"/>
              </a:spcBef>
            </a:pPr>
            <a:r>
              <a:rPr lang="en-US" altLang="ko-KR" sz="15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Kyung </a:t>
            </a:r>
            <a:r>
              <a:rPr lang="en-US" altLang="ko-KR" sz="1500" dirty="0" err="1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Hee</a:t>
            </a:r>
            <a:r>
              <a:rPr lang="en-US" altLang="ko-KR" sz="15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 University </a:t>
            </a:r>
          </a:p>
        </p:txBody>
      </p:sp>
    </p:spTree>
    <p:extLst>
      <p:ext uri="{BB962C8B-B14F-4D97-AF65-F5344CB8AC3E}">
        <p14:creationId xmlns:p14="http://schemas.microsoft.com/office/powerpoint/2010/main" val="4271435972"/>
      </p:ext>
    </p:extLst>
  </p:cSld>
  <p:clrMapOvr>
    <a:masterClrMapping/>
  </p:clrMapOvr>
</p:sld>
</file>

<file path=ppt/theme/theme1.xml><?xml version="1.0" encoding="utf-8"?>
<a:theme xmlns:a="http://schemas.openxmlformats.org/drawingml/2006/main" name="1_077tgp_business_v2">
  <a:themeElements>
    <a:clrScheme name="사용자 지정 1">
      <a:dk1>
        <a:srgbClr val="3A3838"/>
      </a:dk1>
      <a:lt1>
        <a:srgbClr val="FFFFFF"/>
      </a:lt1>
      <a:dk2>
        <a:srgbClr val="3A3838"/>
      </a:dk2>
      <a:lt2>
        <a:srgbClr val="F2F2F2"/>
      </a:lt2>
      <a:accent1>
        <a:srgbClr val="313B6D"/>
      </a:accent1>
      <a:accent2>
        <a:srgbClr val="A43624"/>
      </a:accent2>
      <a:accent3>
        <a:srgbClr val="C0B7AE"/>
      </a:accent3>
      <a:accent4>
        <a:srgbClr val="9B8873"/>
      </a:accent4>
      <a:accent5>
        <a:srgbClr val="931A1B"/>
      </a:accent5>
      <a:accent6>
        <a:srgbClr val="FDFCFC"/>
      </a:accent6>
      <a:hlink>
        <a:srgbClr val="757070"/>
      </a:hlink>
      <a:folHlink>
        <a:srgbClr val="757070"/>
      </a:folHlink>
    </a:clrScheme>
    <a:fontScheme name="사용자 지정 10">
      <a:majorFont>
        <a:latin typeface="Microsoft GothicNeo"/>
        <a:ea typeface="Microsoft GothicNeo"/>
        <a:cs typeface=""/>
      </a:majorFont>
      <a:minorFont>
        <a:latin typeface="Microsoft GothicNeo Light"/>
        <a:ea typeface="Microsoft GothicNeo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rtlCol="0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굴림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ko-KR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굴림" charset="-127"/>
          </a:defRPr>
        </a:defPPr>
      </a:lstStyle>
    </a:lnDef>
    <a:txDef>
      <a:spPr>
        <a:noFill/>
      </a:spPr>
      <a:bodyPr wrap="none" rtlCol="0">
        <a:spAutoFit/>
      </a:bodyPr>
      <a:lstStyle>
        <a:defPPr algn="l">
          <a:lnSpc>
            <a:spcPct val="150000"/>
          </a:lnSpc>
          <a:defRPr dirty="0">
            <a:latin typeface="+mn-ea"/>
            <a:ea typeface="+mn-ea"/>
          </a:defRPr>
        </a:defPPr>
      </a:lstStyle>
    </a:txDef>
  </a:objectDefaults>
  <a:extraClrSchemeLst>
    <a:extraClrScheme>
      <a:clrScheme name="077tgp_business_v2 1">
        <a:dk1>
          <a:srgbClr val="666699"/>
        </a:dk1>
        <a:lt1>
          <a:srgbClr val="FFFFFF"/>
        </a:lt1>
        <a:dk2>
          <a:srgbClr val="000000"/>
        </a:dk2>
        <a:lt2>
          <a:srgbClr val="DDDDDD"/>
        </a:lt2>
        <a:accent1>
          <a:srgbClr val="72B88E"/>
        </a:accent1>
        <a:accent2>
          <a:srgbClr val="C78DD7"/>
        </a:accent2>
        <a:accent3>
          <a:srgbClr val="FFFFFF"/>
        </a:accent3>
        <a:accent4>
          <a:srgbClr val="565682"/>
        </a:accent4>
        <a:accent5>
          <a:srgbClr val="BCD8C6"/>
        </a:accent5>
        <a:accent6>
          <a:srgbClr val="B47FC3"/>
        </a:accent6>
        <a:hlink>
          <a:srgbClr val="3197BB"/>
        </a:hlink>
        <a:folHlink>
          <a:srgbClr val="878FA5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77tgp_business_v2 2">
        <a:dk1>
          <a:srgbClr val="1D528D"/>
        </a:dk1>
        <a:lt1>
          <a:srgbClr val="FFFFFF"/>
        </a:lt1>
        <a:dk2>
          <a:srgbClr val="000000"/>
        </a:dk2>
        <a:lt2>
          <a:srgbClr val="CACACA"/>
        </a:lt2>
        <a:accent1>
          <a:srgbClr val="0099CC"/>
        </a:accent1>
        <a:accent2>
          <a:srgbClr val="CC9900"/>
        </a:accent2>
        <a:accent3>
          <a:srgbClr val="FFFFFF"/>
        </a:accent3>
        <a:accent4>
          <a:srgbClr val="174578"/>
        </a:accent4>
        <a:accent5>
          <a:srgbClr val="AACAE2"/>
        </a:accent5>
        <a:accent6>
          <a:srgbClr val="B98A00"/>
        </a:accent6>
        <a:hlink>
          <a:srgbClr val="6E81E0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77tgp_business_v2 3">
        <a:dk1>
          <a:srgbClr val="4E40A4"/>
        </a:dk1>
        <a:lt1>
          <a:srgbClr val="FFFFFF"/>
        </a:lt1>
        <a:dk2>
          <a:srgbClr val="000000"/>
        </a:dk2>
        <a:lt2>
          <a:srgbClr val="CCCCCC"/>
        </a:lt2>
        <a:accent1>
          <a:srgbClr val="8B65E9"/>
        </a:accent1>
        <a:accent2>
          <a:srgbClr val="008080"/>
        </a:accent2>
        <a:accent3>
          <a:srgbClr val="FFFFFF"/>
        </a:accent3>
        <a:accent4>
          <a:srgbClr val="41358B"/>
        </a:accent4>
        <a:accent5>
          <a:srgbClr val="C4B8F2"/>
        </a:accent5>
        <a:accent6>
          <a:srgbClr val="007373"/>
        </a:accent6>
        <a:hlink>
          <a:srgbClr val="0066CC"/>
        </a:hlink>
        <a:folHlink>
          <a:srgbClr val="8AB151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32445</TotalTime>
  <Words>1100</Words>
  <Application>Microsoft Office PowerPoint</Application>
  <PresentationFormat>와이드스크린</PresentationFormat>
  <Paragraphs>108</Paragraphs>
  <Slides>5</Slides>
  <Notes>5</Notes>
  <HiddenSlides>0</HiddenSlides>
  <MMClips>0</MMClips>
  <ScaleCrop>false</ScaleCrop>
  <HeadingPairs>
    <vt:vector size="6" baseType="variant">
      <vt:variant>
        <vt:lpstr>사용한 글꼴</vt:lpstr>
      </vt:variant>
      <vt:variant>
        <vt:i4>10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16" baseType="lpstr">
      <vt:lpstr>Wingdings</vt:lpstr>
      <vt:lpstr>Times New Roman</vt:lpstr>
      <vt:lpstr>Microsoft GothicNeo</vt:lpstr>
      <vt:lpstr>Microsoft GothicNeo Light</vt:lpstr>
      <vt:lpstr>Raleway</vt:lpstr>
      <vt:lpstr>Verdana</vt:lpstr>
      <vt:lpstr>맑은 고딕</vt:lpstr>
      <vt:lpstr>Noto Sans KR</vt:lpstr>
      <vt:lpstr>Cambria Math</vt:lpstr>
      <vt:lpstr>Arial</vt:lpstr>
      <vt:lpstr>1_077tgp_business_v2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김유림</dc:creator>
  <cp:lastModifiedBy>안용상</cp:lastModifiedBy>
  <cp:revision>1055</cp:revision>
  <dcterms:created xsi:type="dcterms:W3CDTF">2023-12-10T14:48:54Z</dcterms:created>
  <dcterms:modified xsi:type="dcterms:W3CDTF">2026-04-02T15:46:57Z</dcterms:modified>
</cp:coreProperties>
</file>