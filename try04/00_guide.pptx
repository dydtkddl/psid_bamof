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8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9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10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11.xml" ContentType="application/vnd.openxmlformats-officedocument.presentationml.notesSlide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1190" r:id="rId2"/>
    <p:sldId id="1321" r:id="rId3"/>
    <p:sldId id="1322" r:id="rId4"/>
    <p:sldId id="1323" r:id="rId5"/>
    <p:sldId id="1324" r:id="rId6"/>
    <p:sldId id="1325" r:id="rId7"/>
    <p:sldId id="1326" r:id="rId8"/>
    <p:sldId id="1327" r:id="rId9"/>
    <p:sldId id="1328" r:id="rId10"/>
    <p:sldId id="1329" r:id="rId11"/>
    <p:sldId id="1330" r:id="rId12"/>
    <p:sldId id="1331" r:id="rId13"/>
    <p:sldId id="1204" r:id="rId14"/>
    <p:sldId id="1332" r:id="rId15"/>
    <p:sldId id="1333" r:id="rId16"/>
    <p:sldId id="1334" r:id="rId17"/>
  </p:sldIdLst>
  <p:sldSz cx="12192000" cy="6858000"/>
  <p:notesSz cx="6858000" cy="9144000"/>
  <p:embeddedFontLst>
    <p:embeddedFont>
      <p:font typeface="맑은 고딕" panose="020B0503020000020004" pitchFamily="50" charset="-127"/>
      <p:regular r:id="rId20"/>
      <p:bold r:id="rId21"/>
    </p:embeddedFont>
    <p:embeddedFont>
      <p:font typeface="Microsoft GothicNeo" panose="020B0500000101010101" pitchFamily="50" charset="-127"/>
      <p:regular r:id="rId22"/>
      <p:bold r:id="rId23"/>
    </p:embeddedFont>
    <p:embeddedFont>
      <p:font typeface="Microsoft GothicNeo Light" panose="020B0300000101010101" pitchFamily="50" charset="-127"/>
      <p:regular r:id="rId24"/>
    </p:embeddedFont>
    <p:embeddedFont>
      <p:font typeface="Raleway" pitchFamily="2" charset="0"/>
      <p:regular r:id="rId25"/>
      <p:bold r:id="rId26"/>
      <p:italic r:id="rId27"/>
      <p:boldItalic r:id="rId28"/>
    </p:embeddedFont>
    <p:embeddedFont>
      <p:font typeface="Verdana" panose="020B0604030504040204" pitchFamily="34" charset="0"/>
      <p:regular r:id="rId29"/>
      <p:bold r:id="rId30"/>
      <p:italic r:id="rId31"/>
      <p:boldItalic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8F1"/>
    <a:srgbClr val="617481"/>
    <a:srgbClr val="74838D"/>
    <a:srgbClr val="FBFBF3"/>
    <a:srgbClr val="EBF0F3"/>
    <a:srgbClr val="CBA45A"/>
    <a:srgbClr val="ECC979"/>
    <a:srgbClr val="FDFDFB"/>
    <a:srgbClr val="0C243F"/>
    <a:srgbClr val="2F3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3587" autoAdjust="0"/>
  </p:normalViewPr>
  <p:slideViewPr>
    <p:cSldViewPr snapToGrid="0">
      <p:cViewPr>
        <p:scale>
          <a:sx n="100" d="100"/>
          <a:sy n="100" d="100"/>
        </p:scale>
        <p:origin x="1116" y="20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D39546C-1EC6-D7CA-6FC8-DCDB798445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AA104A-68B4-840A-97AB-76C72A506B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26888-051B-4C99-BCB4-37C922E41D73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E1443D-D1B0-0F0A-BBCC-87E1008B73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C68F17-0D7F-B3D7-5621-C83BF91D6C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990BE-6869-407E-BEE1-20864D10C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023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7:04.81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57,'30'-2,"0"-1,0-2,30-8,39-5,87 4,216 13,-183 4,1432-3,-1596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7:50.0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2177 1672,'-858'0,"823"-3,0-1,0-1,0-2,-47-17,-33-6,-138-23,198 37,1-3,-100-50,120 53,-138-78,155 84,0 0,1-1,0-1,1 0,1-2,0 1,0-2,2 0,0 0,0-1,-17-34,17 23,1 0,1 0,1-1,2-1,1 1,1-1,-2-40,3-207,6 242,1-1,3 1,0 0,2 0,24-61,-26 81,1 0,1 1,0 0,1 1,0 0,1 0,0 1,1 0,0 1,18-13,2 2,0 2,2 2,38-16,-17 9,-30 12,0 1,1 1,1 1,-1 1,44-7,54 7,171 9,-118 3,419-4,-553 2,0 2,55 13,1 0,-57-9,-1 2,62 24,-25-8,4-1,-1 4,-2 3,-1 4,-2 3,117 81,135 124,-309-230,-2 1,0 0,-1 1,-1 1,0 0,-1 1,-1 1,-1 0,0 0,-2 1,0 0,-1 1,-1 0,-1 0,-1 1,-1 0,-1-1,-1 1,0 0,-2 1,-1-1,0 0,-2 0,-6 24,4-32,0-1,-1 1,-1-1,0 0,-1-1,0 0,-1 0,-18 18,-12 8,-44 34,39-36,-29 21,-2-3,-3-3,-2-4,-149 63,166-80,24-11,-49 16,-112 24,-47 12,178-51,27-8,0-1,-81 10,87-16,0 2,-64 20,2-1,51-16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7:51.7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136 1,'-1'2,"1"1,-1-1,0 0,0 1,0-1,0 0,-1 1,1-1,-1 0,1 0,-1 0,-2 2,-9 13,4 2,1 0,1 1,1 0,0 0,-3 30,-2 5,-7 33,5 1,-4 121,17 182,3-168,-6-32,7 210,3-343,15 59,-3-22,-9-42,2-1,2-1,3 0,2-1,39 76,31 48,-73-140,21 71,-27-72,2 0,22 47,-14-41,16 51,-23-55,1 0,26 43,-13-36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7:54.05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57,'52'-3,"0"-2,60-13,-51 6,65-2,499 10,-320 7,2604-3,-2854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7:56.8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785 1944,'23'0,"14"1,-1-1,1-2,0-2,-1-1,64-17,-49 8,0 1,2 3,-1 2,58-1,218 11,-144 2,875-4,-1008-3,0-2,61-14,-52 8,63-3,-60 11,-27 3,0-2,0-1,-1-2,60-16,-82 17,0 0,-1-1,1-1,-1 0,13-9,-19 11,-1 0,-1-1,1 1,-1-1,0 0,0 0,0 0,0-1,-1 1,0-1,0 0,-1 0,3-8,5-17,9-28,-2 0,-2-2,11-114,-24-390,-5 268,3 270,0-26,-6-55,4 94,0 0,-1 1,0-1,-1 1,0 0,-1 0,-1 0,0 1,-10-15,11 20,-1 1,0 0,-1 1,1-1,-1 1,0 0,0 1,-1 0,1 0,-1 0,0 1,0 0,0 1,-1 0,1 0,-10-1,-19 0,0 0,-52 5,57-1,-1495 9,1061-11,414 3,1 3,-61 14,53-8,-65 4,-499-11,320-7,289 2,1 2,-1 0,0 0,0 1,-22 7,31-7,0 0,1 0,-1 0,0 1,1-1,0 1,0 0,0 1,0-1,0 1,1-1,-1 1,1 0,0 1,0-1,1 0,-1 1,-2 7,-1 6,1 0,0 0,2 0,0 0,0 37,9 100,-1-71,2 651,-8-475,1-204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7:57.97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1648 1195,'-5'0,"0"1,0 0,1 1,-1-1,0 1,1 0,-1 0,-4 3,-28 11,-89 25,92-28,0-1,0-2,-49 8,-49-8,-202-10,139-4,161 4,-19 1,1-3,-103-16,141 16,0-2,0 0,0 0,1-1,0-1,0 0,1-1,0 0,0-1,0 0,1-1,0-1,1 1,0-2,-17-21,17 15,0 0,0-1,2 0,0-1,1 1,1-2,-6-31,6 6,2-1,2-56,1 28,-1 15,10-81,-6 123,0 0,2 0,0 0,1 1,1 0,0 0,1 0,1 1,13-20,-14 26,0 1,1-1,1 1,-1 0,1 1,1 0,-1 1,16-8,12-4,40-14,-28 14,28-11,2 4,154-27,-174 44,75 1,4-1,-106 3,0-2,44-14,-43 10,0 3,34-6,68 4,200 9,-150 5,1667-4,-1790 3,107 19,-3 1,-97-14,0 3,68 22,-82-19,158 46,-173-47,1 1,-2 3,66 39,-97-52,-1 1,1 1,-1-1,-1 1,1 0,-1 0,0 1,-1 0,0 0,0 0,-1 1,0 0,0 0,-1 0,0 0,-1 0,2 11,1 17,-1 0,-2 1,-4 38,2-47,-1 1,-2 0,0-1,-2 1,-2-1,0 0,-2-1,-1 0,-25 49,23-54,-1-1,-1 0,-1-2,0 1,-2-2,0 0,-2-1,0-1,0-1,-2 0,0-2,0 0,-27 11,47-24,-40 21,0-2,-68 24,61-29,13-3,-1-2,-47 8,42-11,-76 25,78-19,0-2,-49 6,-80 7,54-7,-128 3,-781-20,458-2,495-2,-111-19,-30-2,99 22,58 4,0-4,-96-15,89 6,-103-6,108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06.1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930 1,'-12'0,"1"1,-1 1,0 0,1 0,0 1,-1 1,1-1,1 2,-1 0,1 0,-1 1,1 0,1 1,0 0,-13 12,-7 11,1 1,1 1,-21 37,-13 13,16-23,2 3,2 2,4 1,-57 138,73-150,-90 247,90-233,4 0,-15 110,-10 34,27-149,-15 130,27 337,6-265,-3-217,4 110,-1-138,0 1,1 0,1-1,0 0,17 36,14 16,4-2,2-2,68 84,-29-46,73 86,-142-177,-1 2,14 21,7 12,-5-17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08.2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1,'2827'0,"-2525"26,-47-1,574-21,-428-7,2110 3,-2456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09.31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85,'21'-1,"-1"-1,1-1,-1-1,0-1,33-12,0 1,-8 5,2 1,0 3,65-2,147 11,-120 1,2324 0,-1288-5,-1132 4,0 3,60 13,-15-2,-38-9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09.7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1,'3383'0,"-3325"0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11.1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83,'140'2,"161"-6,-250-4,73-20,38-5,-4 21,202 12,-150 4,3822-4,-3976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11.8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1 215,'70'0,"-3"2,1-3,-1-3,129-24,-123 12,1 3,114-6,150 17,-212 3,-54-4,109-18,2-2,482 15,-377 11,1300-3,-1546-3,0-1,0-3,63-17,61-9,163 22,-271 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16.79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1,'11'1,"-1"0,0 1,1 0,-1 1,14 5,26 7,67-1,0-4,204-10,-144-3,3639 1,-1944 4,-1827 0,-1 3,62 14,-23-4,-36-8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17.70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1,'2193'0,"-2122"3,110 20,30 3,-69-26,46 4,-157 1,-1 2,52 16,-50-13,66 13,-20-16,107-5,4 0,-162 1,52 12,-34-4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18.69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1,'2327'0,"-2257"3,112 20,28 3,-21-24,-117-4,1 4,-1 2,111 23,-111-11,0-3,123 8,-130-16,70 15,61 5,-161-21,0 1,-1 2,60 20,-71-20,23 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19.03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2,'59'-1,"2"0,0 2,0 3,69 14,-29-3,2-3,0-5,111-7,-172-1,-7 3,0 2,-1 1,1 2,42 13,-36-8,1-2,59 6,221-11,-201-7,189 22,-140-2,244-2,-301-13,477 44,-268-18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23.38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1 110,'13'0,"14"0,2-9,10-3,7 0,9 3,-4-6,-3-2,5 4,2 3,5 3,2 4,3 1,0 2,-11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23.7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49,'13'0,"14"0,16 0,9 0,9 0,-5-9,-3-3,2 0,2 3,-10 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24.0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818 1,'17'1,"0"1,-1 0,1 2,-1 0,0 0,0 2,0 0,0 1,16 10,10 7,72 58,-91-64,-1 1,0 1,-2 1,21 27,-32-36,-1 0,0 1,-1 0,-1 1,0-1,-1 1,0 0,-1 1,4 28,-6-30,-1-1,0 1,-1 0,0 0,-1-1,-1 1,0 0,0-1,-2 1,1-1,-2 0,1 0,-2-1,1 1,-2-1,1 0,-2 0,1-1,-1 0,-1-1,0 0,0 0,-1-1,0 0,0 0,-14 7,-195 130,134-86,-133 105,-336 234,540-386,0 1,1 1,1 0,-16 21,10-11,-6 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26.02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4499 1380,'0'1,"-1"1,1-1,-1 1,1-1,-1 1,0-1,0 1,1-1,-1 0,0 1,0-1,0 0,-1 0,1 0,0 0,0 0,-1 0,1 0,0 0,-1-1,1 1,-1 0,1-1,-1 1,-2 0,-45 10,44-10,-96 10,0-5,-135-8,87-1,11 0,-188 8,277 2,-71 21,68-15,-57 8,-48-10,-204-11,151-3,102 3,8 2,1-4,-123-19,74-1,67 12,-87-24,-106-24,-47-15,170 35,101 27,0-1,1-3,-90-40,107 39,1-2,0-1,2-2,0-1,1-1,-48-52,66 63,0 0,1-1,1 0,0-1,1 1,0-1,1-1,1 1,0-1,1 0,0 0,2-1,-1 1,2-1,0 1,1-1,1 1,4-28,-1 26,0-1,1 1,1 0,1 0,1 1,0 0,0 0,20-25,-10 20,0 0,1 1,2 1,0 0,24-15,8 0,1 3,2 2,1 2,76-24,64-2,-61 19,-12 4,173-19,-94 32,278 13,-246 8,1689-4,-1565 26,-64 0,-136-13,278 60,-351-56,152 25,-90-18,226 66,151 85,-452-145,-1 4,-1 3,95 66,-164-102,34 22,-2 2,0 1,-1 2,44 48,-64-60,0 0,0 1,-2 1,0-1,-1 2,-1 0,-1 0,0 0,-2 1,0 0,4 28,-7-29,-1 0,-1 0,0 0,-2 0,0 0,-1 0,-1-1,-1 1,0 0,-1-1,-1 0,-1 0,-1-1,0 0,-1 0,-1-1,-20 26,0-7,0-2,-2-1,-2-1,-38 26,-159 98,219-147,-43 22,-1-3,-1-2,-2-3,-61 15,28-8,16-8,-97 14,89-19,-162 11,171-22,-126 24,108-10,0-5,-127 3,-191-18,162-2,-410 3,604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26.87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6740 1380,'0'2,"0"0,-1 1,1-1,-1 0,1 1,-1-1,0 0,0 0,0 0,0 1,0-1,-1-1,1 1,-1 0,1 0,-1 0,1-1,-1 1,0-1,0 1,0-1,0 0,0 1,0-1,-3 1,-7 2,0 0,0 0,-20 3,12-3,-40 12,10-3,0-2,-61 6,46-9,-95 24,98-17,-112 11,83-22,39-3,0 2,-60 13,35-3,-1-2,-81 0,-160-13,132-1,-929 3,1045-4,-104-17,-9-2,-184-22,286 33,-196-48,-29-5,217 49,-114-34,-14-3,-129-43,239 61,-373-104,118 8,225 59,102 51,18 12,2-2,0 0,0-1,1 0,0-1,1-1,1 0,-23-32,32 40,0 0,1 0,-1 0,1-1,0 1,1-1,0 0,0 0,0 0,1 0,0 0,0 0,1 0,0 0,0 0,1 0,0 0,0 0,0 0,1 0,0 0,1 0,0 1,-1-1,2 1,-1 0,8-10,1 2,1 0,0 0,1 1,0 1,1 1,17-10,105-56,-104 60,6-1,1 2,78-20,-47 16,-50 14,52-18,1 4,1 3,103-11,80-9,-5 0,504 27,-450 14,3637-4,-3435 25,-150-2,104 17,-75-3,220 16,-406-19,21 3,375 25,-156 26,-248-44,25 13,22 5,-198-53,0 3,75 30,-93-32,-1 2,-1 2,0 0,0 1,37 33,-53-41,-1 1,0-1,0 1,-1 0,0 1,-1-1,1 1,-2 0,1 0,-1 0,0 0,-1 1,0-1,-1 1,0-1,-1 1,1-1,-2 1,1 0,-2-1,1 1,-1-1,0 1,-1-1,0 0,-1 0,0 0,0 0,-1-1,0 0,0 0,-1 0,0-1,-1 1,-9 7,-6 3,-1-1,-1-1,-1-2,0 0,-51 20,-138 28,199-58,-203 67,150-51,-1-4,-1-3,-105 6,114-14,0 3,-59 15,-76 11,-281 16,345-42,-71 10,-1 12,-314 6,355-36,-358 18,-31 17,-3-35,214-3,-186 3,469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27.2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1,'5088'0,"-5033"0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27.6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1,'3491'0,"-3421"3,111 20,29 3,-186-25,-1 1,0 2,0 0,0 2,33 12,-15-1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28.0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60,'9'-1,"-1"0,1-1,-1 0,1 0,-1 0,9-5,31-8,23 3,129-3,78 17,-96 2,3323-3,-1794-2,-1383 28,-23 0,-8-27,-239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32.0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583 1,'-2'0,"1"0,-1 1,1-1,-1 1,1-1,-1 1,1 0,-1 0,1 0,0 0,-1 0,1 0,0 0,0 0,0 0,0 0,0 1,0-1,-2 3,-16 35,11-23,-10 25,2 1,2 0,1 2,-7 47,-1 1,-6 42,-8 28,-14 66,30-125,-4 23,-18 80,26-136,2 1,-5 126,14-138,-19 121,-1 36,22-169,1 9,-3 0,-2 0,-15 60,5-47,-11 129,13 76,11-204,-37 1841,41-1874,2 0,1 0,2 0,2-1,1 1,15 35,-2-18,2-2,2 0,39 56,-54-92,1-2,0 1,0-2,1 0,1 0,27 18,-7-4,525 368,-489-350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8:59.1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02.3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1,'1520'0,"-1443"3,106 20,49 3,583-22,-419-7,3256 3,-3594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05.38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1 136,'55'1,"0"-3,1-2,-2-2,56-14,-39 4,0 3,107-4,145 13,-293 4,38-2,119-21,20-2,467 21,-345 7,1711-3,-2010 0,-1 2,1 1,52 13,-41-5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07.1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54,'1273'-54,"770"55,-1988-1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07.53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1,'4110'0,"-4055"0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07.97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3,'106'-1,"-3"-1,0 5,121 18,-101-4,155 2,128-20,-151-2,1399 3,-1611 2,1 3,-1 2,64 17,51 9,-100-26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09.87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13492 591,'3'1,"-1"0,1 0,-1 0,1 0,-1 0,0 1,0-1,1 1,-1 0,0 0,0 0,-1 0,1 0,3 4,7 7,178 165,-169-155,-1 2,-2 0,17 28,14 20,0-7,-3 2,51 102,-81-135,-1 0,-1 2,-3-1,-1 2,-1-1,-2 1,2 50,-7-57,1 36,-5 69,1-117,-1 1,-2-1,0 1,0-1,-2 0,-1 0,0-1,-11 20,-2-5,-1-2,-1-1,-2 0,-50 47,28-36,-2-3,-66 40,58-41,1 0,-2-2,-1-2,-1-3,-94 33,-23 2,111-38,-117 30,43-19,84-22,-1-1,-64 7,-47 4,96-13,-93 6,-278-17,224-4,176 4,1 3,0 1,-66 19,-59 9,11-23,-208-11,153-3,-4023 3,4162-4,-110-19,-30-2,104 24,64 2,1-2,0-2,-55-10,-11-10,-1 5,-1 4,-159 1,263 13,-74 1,-1-3,-83-15,12-1,-2 6,-177 10,242 2,59 0,0-2,-46-9,-350-34,-13 1,331 29,-177-2,255 15,0-1,1-2,-1-1,-40-14,30 9,-62-11,40 16,38 5,0-1,1-2,-1 0,-29-11,45 13,1-1,1-1,-1 1,0-1,1 0,0-1,0 0,0 0,1 0,-1 0,1-1,0 0,1 0,0 0,0-1,0 1,-5-15,2 2,1-1,1 0,1 0,1 0,-1-37,9-108,-1 91,3-793,-8 539,3 289,11-62,-9 72,-3 25,0 0,-1-1,1 1,-1 0,0 0,-1-1,1 1,-1 0,0 0,0 0,0 0,0 0,-1 0,-3-7,3 8,0 1,0 0,0 0,0 1,0-1,0 0,0 1,-1-1,1 1,-1 0,1-1,-1 1,1 0,-1 1,0-1,1 0,-1 1,0 0,0-1,1 1,-1 0,0 1,-4-1,-16 5,0 0,1 1,0 1,0 1,0 1,-33 19,-36 15,-89 25,-119 50,199-71,61-26,-69 24,58-26,-63 33,71-31,-1-1,-59 18,85-34,1 0,0 0,0 1,0 0,1 1,-1 1,2 1,-1 0,-15 12,27-12,16-7,29-9,-30 5,28-7,67-26,-73 23,0 2,1 1,41-7,49 7,217 9,-149 6,1394-5,-1530 3,-1 3,66 14,14 3,-131-22,-24-2,-36-6,-47-18,2-4,-98-44,74 28,84 32,0-1,-47-26,-252-121,84 43,-40-45,255 140,-221-109,-2 1,-2-2,196 99,44 22,0 0,0-1,-44-34,39 20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15.8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1114 1,'-10'0,"0"1,0 0,0 1,0 1,0-1,1 1,-1 1,1 0,0 0,0 1,0 0,1 0,-1 1,1 0,1 1,-1 0,-11 13,-6 11,2 2,0 0,-21 44,8-12,5-9,-37 97,16-31,-52 121,40-86,-38 83,74-172,3 1,-18 80,-8 22,28-105,4 1,3 1,-11 91,18-89,-21 85,15-91,-10 111,-1 97,9-105,3 517,17-418,-3 462,-1-704,2 0,0 1,2-1,0 0,2-1,0 1,2-1,1 0,0 0,2-1,1 0,0-1,2 0,0-1,17 20,-12-20,1 0,1-2,1 0,1-1,0-1,1-1,1-1,0-1,1-1,0-2,1 0,0-1,0-2,1-1,0-1,45 3,-9-6,-8-2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16.4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4826 1,'0'3,"1"0,-1 0,1-1,0 1,0 0,0 0,0-1,1 1,-1 0,1-1,0 1,-1-1,1 0,3 4,38 31,-23-19,83 71,70 70,-108-91,171 185,-166-169,71 107,-116-153,228 380,-211-335,-3 1,50 161,-62-157,-12-40,12 64,-14-36,10 61,8 166,-30 225,-3-247,0-231,-2-1,-2 0,-16 60,-51 139,52-192,-2 0,-3-2,-47 75,18-47,-86 97,51-68,54-63,-3-1,-1-3,-88 76,-222 121,158-114,54-42,-3-5,-3-7,-169 59,77-34,-225 83,422-168,-735 221,98-81,181-42,262-61,-278 23,-147 6,518-53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20.22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1,'590'0,"-538"2,0 3,60 14,-51-8,63 4,506-11,-322-7,4768 3,-4083 0,-938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21.2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719 1,'-2'7,"0"1,0 0,0-1,-1 1,-1-1,-6 12,1-1,-40 73,31-61,1 0,2 2,-17 50,-29 85,6-18,5-19,-4 12,9 40,30-115,-30 72,19-64,13-35,0-3,2 0,1 1,-7 66,11-59,-2 1,-18 54,14-56,2 0,-8 71,13 26,3-63,-14 98,-1-49,-1 147,19 130,2-149,2-168,28 157,-22-180,3-1,3 0,28 71,1 1,136 355,-108-346,-55-109,53 72,-13-21,-44-62,1-1,1 0,1-1,1-1,0-1,2-1,0 0,40 25,-16-18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24.58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3,'81'-1,"-18"-1,1 3,-1 3,81 15,-43-4,0-3,1-5,113-7,-175-1,7 4,0 1,0 3,67 18,-58-11,98 10,382-19,-279-8,999 3,-1198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25.1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1,'2366'0,"-2304"3,1 4,101 22,-88-13,87 6,375-17,-284-8,-199 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27.03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1174,'5'-1,"-1"0,1 0,-1 0,0-1,1 1,-1-1,0 0,5-4,25-9,29 4,1 3,0 2,0 4,75 5,-34-1,2173 1,-1246-4,-1018 1,0 0,0-1,-1-1,1 0,23-7,-32 8,-1-1,1 0,0-1,-1 1,1-1,-1 0,0 0,0 0,0-1,0 0,-1 1,1-1,-1 0,0-1,0 1,-1-1,1 1,2-8,-2 3,0-1,-1 1,0-1,-1 0,0 1,0-1,-1 0,0 0,-2-11,-4-16,-12-41,-3-22,-6-63,-7-70,33 215,0 0,-2-1,0 1,-7-19,8 32,0 0,0-1,-1 1,1 0,-1 0,-1 0,1 1,-1-1,1 1,-1 0,-1 0,1 0,0 0,-1 1,0 0,0 0,-7-4,-4 1,0 1,0 0,-1 1,1 1,-1 1,-31-1,-109 9,79-1,-1049 3,661-10,341 3,-146-4,226-2,-52-13,-34-5,55 18,40 3,-1-1,1-1,0-3,-37-10,63 13,-6-2,-1 1,1 1,-1 0,-32-2,45 5,0 1,0 1,0-1,0 0,0 1,0 0,0 0,1 0,-1 0,0 1,0-1,1 1,-1 0,1 0,0 0,0 1,-1-1,1 1,1 0,-1 0,0 0,1 0,0 0,-1 0,1 1,-3 6,0 4,0 0,1 1,0 0,1-1,1 1,-1 23,6 97,-1-84,-2 29,-3 0,-18 101,12-116,2-7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27.57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1,'1862'0,"-1820"2,0 3,0 1,63 18,61 10,-9-23,204-11,-151-3,-79 3,-73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29.52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700 1018,'120'2,"144"-7,-231 0,-1-2,50-16,-48 12,67-12,27 12,214 10,-158 5,3454-4,-3635 0,14 0,1 0,0-1,-1-1,19-5,-31 6,0 0,0-1,0 0,-1 0,1-1,-1 1,1-1,-1 0,0 0,0 0,0 0,0-1,-1 0,0 0,1 0,-1 0,-1 0,5-9,-3 4,-1 0,-1 0,0-1,0 1,-1 0,0-1,0 1,-1-1,0 0,-1 1,-2-10,-4-20,-17-50,21 79,-30-88,17 55,-17-70,24 62,-15-66,20 103,0 0,-1 0,-1 0,0 1,-13-22,14 29,-1 0,0 0,0 0,0 1,-1 0,1 0,-1 1,-1-1,1 2,0-1,-1 1,0 0,0 0,0 1,0 0,-12-1,-16 0,1 0,-55 5,58-1,-2164 10,1340-13,-1260 2,2114 0,-14-1,1 1,0 1,-1 1,1 0,-22 6,33-7,1 1,0-1,0 0,0 1,0 0,0 0,0 0,0 0,0 0,1 0,-1 1,1-1,0 1,0 0,0-1,0 1,0 0,0 0,1 1,0-1,-1 0,1 0,0 1,1-1,-1 1,1-1,-1 0,1 1,0-1,1 7,17 152,1 30,-17 140,-2-263,-1-14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30.38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56,'1797'0,"-1745"-3,0-2,58-13,-49 7,62-3,499 10,-319 7,357-3,-602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33.13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58,'0'-2,"0"1,1-1,-1 1,0 0,1-1,-1 1,1 0,0-1,-1 1,1 0,0 0,0-1,0 1,0 0,0 0,0 0,0 0,0 0,0 0,0 1,1-1,-1 0,0 1,1-1,-1 0,2 1,41-11,-38 10,89-10,0 5,109 8,-93-1,315 27,26 1,865-31,-1266 4,1 3,59 14,-51-8,64 4,290-12,-234-5,-139 4,1 3,-1 1,67 19,57 9,65-26,-66-5,-117 2,55 14,20 1,-72-15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33.8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1,'3370'0,"-3335"2,-1 2,0 1,0 2,42 14,-35-9,-1-2,65 7,389-12,-262-8,1022 3,-1199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39.4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3,'194'-3,"215"7,-364 2,54 12,32 5,-15-18,-79-4,0 0,1 3,-1 1,61 16,-50-7,1-2,0-3,99 7,154-17,-145-2,-68 6,154 26,-84-13,2-6,162-12,-107-1,973 3,-1134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40.07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1,'858'0,"-824"2,0 2,0 1,0 2,43 14,-37-9,0-2,65 7,388-12,-260-8,2940 3,-3115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40.4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1,'2247'0,"-2196"2,0 3,61 14,-52-8,63 4,-21-12,-46-2,0 1,0 4,69 15,-47-4,0-4,1-3,150 0,-201-10,-1 1,39 6,-22 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44.6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348 1,'-1'2,"1"0,-1 0,0 0,0 0,0 0,0 0,0 0,0 0,-1 0,1 0,0 0,-1-1,0 1,-2 2,-9 9,-4 13,0 1,2 1,1 0,2 1,-15 49,-4 6,19-47,2 0,1 1,1 1,-2 58,-12 58,9-68,3 0,3 163,4-201,-2 0,-2 0,-16 59,9-49,-9 94,18 384,8-281,-4-151,-1-6,4 1,20 125,-8-132,5 145,-16-200,2 1,2-1,17 55,-13-50,-1 0,7 61,35 230,-38-285,2 0,2-2,39 76,-22-52,20 35,-28-64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54.74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1,'20'1,"-1"1,1 1,-1 1,0 1,0 1,0 0,-1 1,0 1,0 1,-1 0,0 2,27 21,1 5,-3 1,-1 2,41 53,24 35,218 242,-305-348,0 1,28 48,2 3,13 21,7 10,-46-72,-2 2,-1 1,-2 0,-1 2,14 49,-11-33,40 81,-44-105,-2 1,-1 1,16 65,9 103,-24-54,-6 0,-11 148,0-82,3 516,-1-679,-3-1,-1 0,-3 0,-2 0,-2-1,-34 88,35-113,0 0,-1-1,-2 0,0-1,-29 32,-97 83,42-43,63-61,-2 0,-77 48,113-77,-89 66,-7 5,34-33,-85 40,109-63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2:29.4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4:59:59.7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1,'1003'0,"-933"3,112 20,29 3,-9-26,59 4,-213 2,75 22,-71-14,55 6,51-9,203-11,-152-3,717 3,-882 2,0 2,61 15,39 4,-101-18,-1 2,61 19,-45-9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0:00.2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1,'22'1,"-1"2,0 0,40 12,24 4,-44-11,-1 1,39 15,-40-11,0-2,55 9,62 6,-87-13,101 7,-135-19,1 1,-1 1,0 2,58 17,-53-10,1-2,0-2,70 5,123-9,-10-2,-33 22,15 2,291-23,-267-5,-172 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0:00.9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56,'189'2,"210"-6,-353-1,51-13,35-5,339 15,-289 11,-127-3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0:01.36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1,'2180'0,"-2135"2,0 3,61 14,-24-4,-35-8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0:02.3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96,'1121'0,"-1069"-3,-1-2,60-13,-50 6,63-2,-45 10,170-16,-185 10,-8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2:32.73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84,'0'-3,"1"0,0 1,0-1,-1 0,2 1,-1-1,0 1,0 0,1-1,-1 1,1 0,0 0,0 0,0 0,0 0,0 0,0 0,0 1,1-1,-1 1,0 0,1-1,-1 1,1 0,0 0,3 0,11-4,0 0,32-3,-46 8,122-11,227 10,-161 5,2187-4,-2322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2:33.1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57,'712'0,"-641"-4,110-19,30-2,457 21,-344 7,1262-3,-1527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2:33.50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2,'22'0,"33"-1,1 2,-1 3,63 13,-41-3,0-4,86 2,160-13,-134-2,2918 3,-3052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2:34.24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379 1,'1'0,"1"0,-1 1,1-1,-1 1,0 0,1-1,-1 1,0 0,1 0,-1 0,0 0,0 0,0 0,0 0,0 0,0 0,1 3,19 30,-10-14,139 218,16 85,-92-130,-9-20,104 294,-99-202,-20-30,-32-140,-1 3,-10-51,2 0,21 65,-14-58,-2 0,10 87,-8-35,5 88,-9-57,-6-103,2 0,12 34,-10-36,-1 1,6 39,-5 64,-9 196,-5-144,5-129,0-8,-6 51,3-85,-1-1,0 0,-1-1,0 1,-2-1,0 0,-11 21,2-9,-1-2,-2 1,0-2,-2 0,0-2,-2 0,0-1,-2-1,-51 33,-28 8,-218 93,284-139,7-1,-2-2,1-2,-52 11,38-12,-60 21,66-18,-1-1,-54 7,-29-10,68-7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2:35.3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258 1205,'2709'0,"-2646"-3,105-19,-2 0,-142 20,0-1,0-1,37-11,-54 13,0 0,0-1,0 0,0 0,-1-1,0 0,0 0,0 0,0-1,0 0,-1 0,0-1,0 1,-1-1,1 0,4-9,9-23,-2-2,-1 0,-3 0,-1-2,-2 1,-1-1,-3 0,1-68,-9-48,4-83,8 189,-6 39,0 0,-1 0,-1 0,1-21,-2 32,-1-1,1 0,0 0,-1 0,0 1,0-1,0 0,0 1,0-1,0 1,0-1,-1 1,0-1,1 1,-1 0,0 0,0 0,0 0,0 0,0 0,-1 1,1-1,-1 1,1-1,-5-1,-7-1,0 0,0 0,0 2,-1-1,-26 1,-80 6,59-1,-1352 6,832-11,-675 2,1251 0,-9-1,1 1,-1 1,1 1,-28 5,41-7,0 1,0-1,0 0,0 1,0-1,0 1,0-1,0 1,0-1,0 1,0-1,0 1,0 0,0 0,1 0,-1-1,0 1,1 0,-1 0,0 0,1 0,-1 0,1 0,0 0,-1 0,1 0,0 0,-1 1,1-1,0 0,0 0,0 0,0 0,0 0,0 0,1 0,-1 1,0-1,0 0,1 0,-1 0,1 0,-1 0,1 1,4 6,0-1,0 1,0-1,11 11,-6-8,173 217,-163-201,-2 0,0 1,-2 0,15 37,42 122,-73-184,68 204,-57-178,10 45,-12-26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2:36.1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1,'5485'0,"-5429"0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15:02:36.49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1,'3039'0,"-2981"0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02F6B-AA4F-4993-9FAD-DF67DC4FA92F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4293B-FB95-44D9-9F9A-9C75F99BEC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34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5916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3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110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968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115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127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914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063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982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997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941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113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DCDD4D8-1163-9C36-3383-6077E3D1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>
            <a:extLst>
              <a:ext uri="{FF2B5EF4-FFF2-40B4-BE49-F238E27FC236}">
                <a16:creationId xmlns:a16="http://schemas.microsoft.com/office/drawing/2014/main" id="{D1AC7DE0-F947-3157-4BD3-F02501AAB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>
            <a:extLst>
              <a:ext uri="{FF2B5EF4-FFF2-40B4-BE49-F238E27FC236}">
                <a16:creationId xmlns:a16="http://schemas.microsoft.com/office/drawing/2014/main" id="{3BA5C4CB-541D-2B05-54BE-FFF1C90DC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3196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316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775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731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>
              <a:defRPr sz="280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21" y="1628780"/>
            <a:ext cx="10850033" cy="469582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맑은 고딕" pitchFamily="50" charset="-127"/>
                <a:ea typeface="맑은 고딕" pitchFamily="50" charset="-127"/>
              </a:defRPr>
            </a:lvl1pPr>
            <a:lvl2pPr>
              <a:defRPr sz="1800">
                <a:latin typeface="맑은 고딕" pitchFamily="50" charset="-127"/>
                <a:ea typeface="맑은 고딕" pitchFamily="50" charset="-127"/>
              </a:defRPr>
            </a:lvl2pPr>
            <a:lvl3pPr>
              <a:defRPr sz="1600">
                <a:latin typeface="맑은 고딕" pitchFamily="50" charset="-127"/>
                <a:ea typeface="맑은 고딕" pitchFamily="50" charset="-127"/>
              </a:defRPr>
            </a:lvl3pPr>
            <a:lvl4pPr>
              <a:defRPr sz="1400">
                <a:latin typeface="맑은 고딕" pitchFamily="50" charset="-127"/>
                <a:ea typeface="맑은 고딕" pitchFamily="50" charset="-127"/>
              </a:defRPr>
            </a:lvl4pPr>
            <a:lvl5pPr>
              <a:defRPr sz="12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92175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320BD5E-96D9-44D5-A512-8E6778DAE6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CED49B-7455-0678-1615-B6E8B4452ADF}"/>
              </a:ext>
            </a:extLst>
          </p:cNvPr>
          <p:cNvSpPr txBox="1">
            <a:spLocks/>
          </p:cNvSpPr>
          <p:nvPr userDrawn="1"/>
        </p:nvSpPr>
        <p:spPr>
          <a:xfrm>
            <a:off x="9391650" y="653891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61E7B124-8D92-4B6F-BF98-ABA3F83B894F}" type="slidenum">
              <a:rPr lang="ko-KR" altLang="en-US" sz="1400" smtClean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pPr algn="r">
                <a:defRPr/>
              </a:pPr>
              <a:t>‹#›</a:t>
            </a:fld>
            <a:r>
              <a:rPr lang="en-US" altLang="ko-KR" sz="1400" dirty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/24</a:t>
            </a:r>
            <a:endParaRPr lang="ko-KR" altLang="en-US" sz="1400" dirty="0">
              <a:solidFill>
                <a:srgbClr val="7F7F7F"/>
              </a:solidFill>
              <a:latin typeface="Microsoft GothicNeo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927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7"/>
          <p:cNvGrpSpPr>
            <a:grpSpLocks/>
          </p:cNvGrpSpPr>
          <p:nvPr userDrawn="1"/>
        </p:nvGrpSpPr>
        <p:grpSpPr bwMode="auto">
          <a:xfrm>
            <a:off x="-6348" y="5"/>
            <a:ext cx="12198351" cy="6856413"/>
            <a:chOff x="-3" y="0"/>
            <a:chExt cx="5763" cy="4319"/>
          </a:xfrm>
        </p:grpSpPr>
        <p:sp>
          <p:nvSpPr>
            <p:cNvPr id="11" name="AutoShape 8"/>
            <p:cNvSpPr>
              <a:spLocks noChangeArrowheads="1"/>
            </p:cNvSpPr>
            <p:nvPr userDrawn="1"/>
          </p:nvSpPr>
          <p:spPr bwMode="gray">
            <a:xfrm>
              <a:off x="24" y="24"/>
              <a:ext cx="5712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eaLnBrk="0" latinLnBrk="0" hangingPunct="0">
                <a:defRPr/>
              </a:pPr>
              <a:endParaRPr kumimoji="0" lang="ko-KR" altLang="en-US">
                <a:solidFill>
                  <a:srgbClr val="1D528D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 userDrawn="1"/>
          </p:nvSpPr>
          <p:spPr bwMode="gray">
            <a:xfrm>
              <a:off x="0" y="0"/>
              <a:ext cx="288" cy="288"/>
            </a:xfrm>
            <a:custGeom>
              <a:avLst/>
              <a:gdLst>
                <a:gd name="T0" fmla="*/ 0 w 336"/>
                <a:gd name="T1" fmla="*/ 2 h 384"/>
                <a:gd name="T2" fmla="*/ 0 w 336"/>
                <a:gd name="T3" fmla="*/ 6 h 384"/>
                <a:gd name="T4" fmla="*/ 9 w 336"/>
                <a:gd name="T5" fmla="*/ 3 h 384"/>
                <a:gd name="T6" fmla="*/ 19 w 336"/>
                <a:gd name="T7" fmla="*/ 2 h 384"/>
                <a:gd name="T8" fmla="*/ 33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gray">
            <a:xfrm rot="-5408600">
              <a:off x="-50" y="4030"/>
              <a:ext cx="336" cy="242"/>
            </a:xfrm>
            <a:custGeom>
              <a:avLst/>
              <a:gdLst>
                <a:gd name="T0" fmla="*/ 0 w 336"/>
                <a:gd name="T1" fmla="*/ 1 h 384"/>
                <a:gd name="T2" fmla="*/ 0 w 336"/>
                <a:gd name="T3" fmla="*/ 1 h 384"/>
                <a:gd name="T4" fmla="*/ 96 w 336"/>
                <a:gd name="T5" fmla="*/ 1 h 384"/>
                <a:gd name="T6" fmla="*/ 192 w 336"/>
                <a:gd name="T7" fmla="*/ 1 h 384"/>
                <a:gd name="T8" fmla="*/ 336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gray">
            <a:xfrm rot="10769190">
              <a:off x="5519" y="4031"/>
              <a:ext cx="232" cy="287"/>
            </a:xfrm>
            <a:custGeom>
              <a:avLst/>
              <a:gdLst>
                <a:gd name="T0" fmla="*/ 0 w 336"/>
                <a:gd name="T1" fmla="*/ 1 h 384"/>
                <a:gd name="T2" fmla="*/ 0 w 336"/>
                <a:gd name="T3" fmla="*/ 5 h 384"/>
                <a:gd name="T4" fmla="*/ 1 w 336"/>
                <a:gd name="T5" fmla="*/ 2 h 384"/>
                <a:gd name="T6" fmla="*/ 1 w 336"/>
                <a:gd name="T7" fmla="*/ 1 h 384"/>
                <a:gd name="T8" fmla="*/ 1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gray">
            <a:xfrm rot="5400000">
              <a:off x="5472" y="0"/>
              <a:ext cx="288" cy="288"/>
            </a:xfrm>
            <a:custGeom>
              <a:avLst/>
              <a:gdLst>
                <a:gd name="T0" fmla="*/ 0 w 336"/>
                <a:gd name="T1" fmla="*/ 2 h 384"/>
                <a:gd name="T2" fmla="*/ 0 w 336"/>
                <a:gd name="T3" fmla="*/ 6 h 384"/>
                <a:gd name="T4" fmla="*/ 9 w 336"/>
                <a:gd name="T5" fmla="*/ 3 h 384"/>
                <a:gd name="T6" fmla="*/ 19 w 336"/>
                <a:gd name="T7" fmla="*/ 2 h 384"/>
                <a:gd name="T8" fmla="*/ 33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18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719667" y="1268418"/>
            <a:ext cx="10871200" cy="814387"/>
          </a:xfrm>
          <a:prstGeom prst="rect">
            <a:avLst/>
          </a:prstGeom>
        </p:spPr>
        <p:txBody>
          <a:bodyPr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182" name="Rectangle 14"/>
          <p:cNvSpPr>
            <a:spLocks noGrp="1" noChangeArrowheads="1"/>
          </p:cNvSpPr>
          <p:nvPr>
            <p:ph type="subTitle" sz="quarter" idx="1"/>
          </p:nvPr>
        </p:nvSpPr>
        <p:spPr bwMode="gray">
          <a:xfrm>
            <a:off x="1968500" y="5013325"/>
            <a:ext cx="8534400" cy="5334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2" name="Rectangle 7"/>
          <p:cNvSpPr>
            <a:spLocks noChangeArrowheads="1"/>
          </p:cNvSpPr>
          <p:nvPr userDrawn="1"/>
        </p:nvSpPr>
        <p:spPr bwMode="gray">
          <a:xfrm>
            <a:off x="14821" y="677962"/>
            <a:ext cx="12177183" cy="158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>
              <a:solidFill>
                <a:srgbClr val="1D528D"/>
              </a:solidFill>
              <a:latin typeface="Times New Roman" panose="02020603050405020304" pitchFamily="18" charset="0"/>
              <a:ea typeface="굴림" charset="-127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8642BACA-DB50-DEF6-5C74-A3E1AA7306FB}"/>
              </a:ext>
            </a:extLst>
          </p:cNvPr>
          <p:cNvSpPr txBox="1">
            <a:spLocks/>
          </p:cNvSpPr>
          <p:nvPr userDrawn="1"/>
        </p:nvSpPr>
        <p:spPr>
          <a:xfrm>
            <a:off x="9391650" y="60222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61E7B124-8D92-4B6F-BF98-ABA3F83B894F}" type="slidenum">
              <a:rPr lang="ko-KR" altLang="en-US" sz="1400" smtClean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pPr algn="r">
                <a:defRPr/>
              </a:pPr>
              <a:t>‹#›</a:t>
            </a:fld>
            <a:r>
              <a:rPr lang="en-US" altLang="ko-KR" sz="1400" dirty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/24</a:t>
            </a:r>
            <a:endParaRPr lang="ko-KR" altLang="en-US" sz="1400" dirty="0">
              <a:solidFill>
                <a:srgbClr val="7F7F7F"/>
              </a:solidFill>
              <a:latin typeface="Microsoft GothicNeo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533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9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D1736F0B-8BDA-A9B0-35A3-B23363104599}"/>
              </a:ext>
            </a:extLst>
          </p:cNvPr>
          <p:cNvSpPr txBox="1">
            <a:spLocks/>
          </p:cNvSpPr>
          <p:nvPr userDrawn="1"/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sp>
        <p:nvSpPr>
          <p:cNvPr id="31" name="슬라이드 번호 개체 틀 5">
            <a:extLst>
              <a:ext uri="{FF2B5EF4-FFF2-40B4-BE49-F238E27FC236}">
                <a16:creationId xmlns:a16="http://schemas.microsoft.com/office/drawing/2014/main" id="{39A2953F-FC95-D8B0-7500-C4454B5E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175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320BD5E-96D9-44D5-A512-8E6778DAE6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A4E61D48-EF27-DC69-9E07-B7566343BB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921" y="1628780"/>
            <a:ext cx="10850033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5" name="제목 1">
            <a:extLst>
              <a:ext uri="{FF2B5EF4-FFF2-40B4-BE49-F238E27FC236}">
                <a16:creationId xmlns:a16="http://schemas.microsoft.com/office/drawing/2014/main" id="{82EC0B68-390E-999D-3E97-79690BB8D9F0}"/>
              </a:ext>
            </a:extLst>
          </p:cNvPr>
          <p:cNvSpPr txBox="1">
            <a:spLocks/>
          </p:cNvSpPr>
          <p:nvPr userDrawn="1"/>
        </p:nvSpPr>
        <p:spPr>
          <a:xfrm>
            <a:off x="2305021" y="7096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5ADC63C2-C0B6-570D-645D-8E2C83828715}"/>
              </a:ext>
            </a:extLst>
          </p:cNvPr>
          <p:cNvSpPr txBox="1">
            <a:spLocks/>
          </p:cNvSpPr>
          <p:nvPr userDrawn="1"/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64AD41-381A-FBBF-0FD0-FDAB340D3DD0}"/>
              </a:ext>
            </a:extLst>
          </p:cNvPr>
          <p:cNvGrpSpPr/>
          <p:nvPr userDrawn="1"/>
        </p:nvGrpSpPr>
        <p:grpSpPr>
          <a:xfrm>
            <a:off x="-827833" y="276878"/>
            <a:ext cx="551543" cy="2630021"/>
            <a:chOff x="-827833" y="276878"/>
            <a:chExt cx="551543" cy="2630021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E04E867-792A-6855-1B1E-16E5B7989E0D}"/>
                </a:ext>
              </a:extLst>
            </p:cNvPr>
            <p:cNvSpPr/>
            <p:nvPr/>
          </p:nvSpPr>
          <p:spPr bwMode="auto">
            <a:xfrm>
              <a:off x="-827833" y="276878"/>
              <a:ext cx="551543" cy="5527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34E4D5E-3F40-C6EF-40B2-04FAC856459C}"/>
                </a:ext>
              </a:extLst>
            </p:cNvPr>
            <p:cNvSpPr/>
            <p:nvPr/>
          </p:nvSpPr>
          <p:spPr bwMode="auto">
            <a:xfrm>
              <a:off x="-827833" y="969317"/>
              <a:ext cx="551543" cy="552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1B82B7-3C38-5825-089E-B8BE81A0F11E}"/>
                </a:ext>
              </a:extLst>
            </p:cNvPr>
            <p:cNvSpPr/>
            <p:nvPr/>
          </p:nvSpPr>
          <p:spPr bwMode="auto">
            <a:xfrm>
              <a:off x="-827833" y="1661756"/>
              <a:ext cx="551543" cy="55270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F47FFC-E615-F83F-3D68-DF3A9207E133}"/>
                </a:ext>
              </a:extLst>
            </p:cNvPr>
            <p:cNvSpPr/>
            <p:nvPr/>
          </p:nvSpPr>
          <p:spPr bwMode="auto">
            <a:xfrm>
              <a:off x="-827833" y="2354195"/>
              <a:ext cx="551543" cy="5527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56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6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189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377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566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754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Font typeface="Arial" panose="020B0604020202020204" pitchFamily="34" charset="0"/>
        <a:buChar char="–"/>
        <a:defRPr sz="2400">
          <a:solidFill>
            <a:schemeClr val="tx2"/>
          </a:solidFill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400">
          <a:solidFill>
            <a:schemeClr val="tx2"/>
          </a:solidFill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panose="020B0604020202020204" pitchFamily="34" charset="0"/>
        <a:buChar char="–"/>
        <a:defRPr sz="2000">
          <a:solidFill>
            <a:schemeClr val="tx2"/>
          </a:solidFill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11.xml"/><Relationship Id="rId18" Type="http://schemas.openxmlformats.org/officeDocument/2006/relationships/image" Target="../media/image22.png"/><Relationship Id="rId3" Type="http://schemas.openxmlformats.org/officeDocument/2006/relationships/image" Target="../media/image14.png"/><Relationship Id="rId21" Type="http://schemas.openxmlformats.org/officeDocument/2006/relationships/customXml" Target="../ink/ink15.xml"/><Relationship Id="rId7" Type="http://schemas.openxmlformats.org/officeDocument/2006/relationships/customXml" Target="../ink/ink8.xml"/><Relationship Id="rId12" Type="http://schemas.openxmlformats.org/officeDocument/2006/relationships/image" Target="../media/image19.png"/><Relationship Id="rId17" Type="http://schemas.openxmlformats.org/officeDocument/2006/relationships/customXml" Target="../ink/ink13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1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customXml" Target="../ink/ink10.xml"/><Relationship Id="rId24" Type="http://schemas.openxmlformats.org/officeDocument/2006/relationships/image" Target="../media/image25.png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10" Type="http://schemas.openxmlformats.org/officeDocument/2006/relationships/image" Target="../media/image18.png"/><Relationship Id="rId19" Type="http://schemas.openxmlformats.org/officeDocument/2006/relationships/customXml" Target="../ink/ink14.xml"/><Relationship Id="rId4" Type="http://schemas.openxmlformats.org/officeDocument/2006/relationships/image" Target="../media/image15.svg"/><Relationship Id="rId9" Type="http://schemas.openxmlformats.org/officeDocument/2006/relationships/customXml" Target="../ink/ink9.xml"/><Relationship Id="rId14" Type="http://schemas.openxmlformats.org/officeDocument/2006/relationships/image" Target="../media/image20.png"/><Relationship Id="rId22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customXml" Target="../ink/ink21.xml"/><Relationship Id="rId18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customXml" Target="../ink/ink18.xml"/><Relationship Id="rId12" Type="http://schemas.openxmlformats.org/officeDocument/2006/relationships/image" Target="../media/image31.png"/><Relationship Id="rId17" Type="http://schemas.openxmlformats.org/officeDocument/2006/relationships/customXml" Target="../ink/ink23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3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5" Type="http://schemas.openxmlformats.org/officeDocument/2006/relationships/customXml" Target="../ink/ink22.xml"/><Relationship Id="rId10" Type="http://schemas.openxmlformats.org/officeDocument/2006/relationships/image" Target="../media/image30.png"/><Relationship Id="rId19" Type="http://schemas.openxmlformats.org/officeDocument/2006/relationships/customXml" Target="../ink/ink24.xml"/><Relationship Id="rId4" Type="http://schemas.openxmlformats.org/officeDocument/2006/relationships/image" Target="../media/image27.svg"/><Relationship Id="rId9" Type="http://schemas.openxmlformats.org/officeDocument/2006/relationships/customXml" Target="../ink/ink19.xml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customXml" Target="../ink/ink29.xml"/><Relationship Id="rId18" Type="http://schemas.openxmlformats.org/officeDocument/2006/relationships/image" Target="../media/image44.png"/><Relationship Id="rId3" Type="http://schemas.openxmlformats.org/officeDocument/2006/relationships/image" Target="../media/image36.png"/><Relationship Id="rId7" Type="http://schemas.openxmlformats.org/officeDocument/2006/relationships/customXml" Target="../ink/ink26.xml"/><Relationship Id="rId12" Type="http://schemas.openxmlformats.org/officeDocument/2006/relationships/image" Target="../media/image41.png"/><Relationship Id="rId17" Type="http://schemas.openxmlformats.org/officeDocument/2006/relationships/customXml" Target="../ink/ink31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3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customXml" Target="../ink/ink28.xml"/><Relationship Id="rId5" Type="http://schemas.openxmlformats.org/officeDocument/2006/relationships/customXml" Target="../ink/ink25.xml"/><Relationship Id="rId15" Type="http://schemas.openxmlformats.org/officeDocument/2006/relationships/customXml" Target="../ink/ink30.xml"/><Relationship Id="rId10" Type="http://schemas.openxmlformats.org/officeDocument/2006/relationships/image" Target="../media/image40.png"/><Relationship Id="rId19" Type="http://schemas.openxmlformats.org/officeDocument/2006/relationships/customXml" Target="../ink/ink32.xml"/><Relationship Id="rId4" Type="http://schemas.openxmlformats.org/officeDocument/2006/relationships/image" Target="../media/image37.svg"/><Relationship Id="rId9" Type="http://schemas.openxmlformats.org/officeDocument/2006/relationships/customXml" Target="../ink/ink27.xml"/><Relationship Id="rId1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7.xml"/><Relationship Id="rId18" Type="http://schemas.openxmlformats.org/officeDocument/2006/relationships/image" Target="../media/image54.png"/><Relationship Id="rId26" Type="http://schemas.openxmlformats.org/officeDocument/2006/relationships/image" Target="../media/image58.png"/><Relationship Id="rId3" Type="http://schemas.openxmlformats.org/officeDocument/2006/relationships/image" Target="../media/image46.png"/><Relationship Id="rId21" Type="http://schemas.openxmlformats.org/officeDocument/2006/relationships/customXml" Target="../ink/ink41.xml"/><Relationship Id="rId34" Type="http://schemas.openxmlformats.org/officeDocument/2006/relationships/image" Target="../media/image62.png"/><Relationship Id="rId7" Type="http://schemas.openxmlformats.org/officeDocument/2006/relationships/customXml" Target="../ink/ink34.xml"/><Relationship Id="rId12" Type="http://schemas.openxmlformats.org/officeDocument/2006/relationships/image" Target="../media/image51.png"/><Relationship Id="rId17" Type="http://schemas.openxmlformats.org/officeDocument/2006/relationships/customXml" Target="../ink/ink39.xml"/><Relationship Id="rId25" Type="http://schemas.openxmlformats.org/officeDocument/2006/relationships/customXml" Target="../ink/ink43.xml"/><Relationship Id="rId33" Type="http://schemas.openxmlformats.org/officeDocument/2006/relationships/customXml" Target="../ink/ink47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29" Type="http://schemas.openxmlformats.org/officeDocument/2006/relationships/customXml" Target="../ink/ink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customXml" Target="../ink/ink36.xml"/><Relationship Id="rId24" Type="http://schemas.openxmlformats.org/officeDocument/2006/relationships/image" Target="../media/image57.png"/><Relationship Id="rId32" Type="http://schemas.openxmlformats.org/officeDocument/2006/relationships/image" Target="../media/image61.png"/><Relationship Id="rId5" Type="http://schemas.openxmlformats.org/officeDocument/2006/relationships/customXml" Target="../ink/ink33.xml"/><Relationship Id="rId15" Type="http://schemas.openxmlformats.org/officeDocument/2006/relationships/customXml" Target="../ink/ink38.xml"/><Relationship Id="rId23" Type="http://schemas.openxmlformats.org/officeDocument/2006/relationships/customXml" Target="../ink/ink42.xml"/><Relationship Id="rId28" Type="http://schemas.openxmlformats.org/officeDocument/2006/relationships/image" Target="../media/image59.png"/><Relationship Id="rId10" Type="http://schemas.openxmlformats.org/officeDocument/2006/relationships/image" Target="../media/image50.png"/><Relationship Id="rId19" Type="http://schemas.openxmlformats.org/officeDocument/2006/relationships/customXml" Target="../ink/ink40.xml"/><Relationship Id="rId31" Type="http://schemas.openxmlformats.org/officeDocument/2006/relationships/customXml" Target="../ink/ink46.xml"/><Relationship Id="rId4" Type="http://schemas.openxmlformats.org/officeDocument/2006/relationships/image" Target="../media/image47.svg"/><Relationship Id="rId9" Type="http://schemas.openxmlformats.org/officeDocument/2006/relationships/customXml" Target="../ink/ink35.xml"/><Relationship Id="rId14" Type="http://schemas.openxmlformats.org/officeDocument/2006/relationships/image" Target="../media/image52.png"/><Relationship Id="rId22" Type="http://schemas.openxmlformats.org/officeDocument/2006/relationships/image" Target="../media/image56.png"/><Relationship Id="rId27" Type="http://schemas.openxmlformats.org/officeDocument/2006/relationships/customXml" Target="../ink/ink44.xml"/><Relationship Id="rId30" Type="http://schemas.openxmlformats.org/officeDocument/2006/relationships/image" Target="../media/image60.png"/><Relationship Id="rId8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2.xml"/><Relationship Id="rId18" Type="http://schemas.openxmlformats.org/officeDocument/2006/relationships/image" Target="../media/image70.png"/><Relationship Id="rId26" Type="http://schemas.openxmlformats.org/officeDocument/2006/relationships/image" Target="../media/image74.png"/><Relationship Id="rId3" Type="http://schemas.openxmlformats.org/officeDocument/2006/relationships/image" Target="../media/image63.png"/><Relationship Id="rId21" Type="http://schemas.openxmlformats.org/officeDocument/2006/relationships/customXml" Target="../ink/ink56.xml"/><Relationship Id="rId34" Type="http://schemas.openxmlformats.org/officeDocument/2006/relationships/image" Target="../media/image78.png"/><Relationship Id="rId7" Type="http://schemas.openxmlformats.org/officeDocument/2006/relationships/customXml" Target="../ink/ink49.xml"/><Relationship Id="rId12" Type="http://schemas.openxmlformats.org/officeDocument/2006/relationships/image" Target="../media/image67.png"/><Relationship Id="rId17" Type="http://schemas.openxmlformats.org/officeDocument/2006/relationships/customXml" Target="../ink/ink54.xml"/><Relationship Id="rId25" Type="http://schemas.openxmlformats.org/officeDocument/2006/relationships/customXml" Target="../ink/ink58.xml"/><Relationship Id="rId33" Type="http://schemas.openxmlformats.org/officeDocument/2006/relationships/customXml" Target="../ink/ink62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9.png"/><Relationship Id="rId20" Type="http://schemas.openxmlformats.org/officeDocument/2006/relationships/image" Target="../media/image71.png"/><Relationship Id="rId29" Type="http://schemas.openxmlformats.org/officeDocument/2006/relationships/customXml" Target="../ink/ink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customXml" Target="../ink/ink51.xml"/><Relationship Id="rId24" Type="http://schemas.openxmlformats.org/officeDocument/2006/relationships/image" Target="../media/image73.png"/><Relationship Id="rId32" Type="http://schemas.openxmlformats.org/officeDocument/2006/relationships/image" Target="../media/image77.png"/><Relationship Id="rId5" Type="http://schemas.openxmlformats.org/officeDocument/2006/relationships/customXml" Target="../ink/ink48.xml"/><Relationship Id="rId15" Type="http://schemas.openxmlformats.org/officeDocument/2006/relationships/customXml" Target="../ink/ink53.xml"/><Relationship Id="rId23" Type="http://schemas.openxmlformats.org/officeDocument/2006/relationships/customXml" Target="../ink/ink57.xml"/><Relationship Id="rId28" Type="http://schemas.openxmlformats.org/officeDocument/2006/relationships/image" Target="../media/image75.png"/><Relationship Id="rId10" Type="http://schemas.openxmlformats.org/officeDocument/2006/relationships/image" Target="../media/image39.png"/><Relationship Id="rId19" Type="http://schemas.openxmlformats.org/officeDocument/2006/relationships/customXml" Target="../ink/ink55.xml"/><Relationship Id="rId31" Type="http://schemas.openxmlformats.org/officeDocument/2006/relationships/customXml" Target="../ink/ink61.xml"/><Relationship Id="rId4" Type="http://schemas.openxmlformats.org/officeDocument/2006/relationships/image" Target="../media/image64.svg"/><Relationship Id="rId9" Type="http://schemas.openxmlformats.org/officeDocument/2006/relationships/customXml" Target="../ink/ink50.xml"/><Relationship Id="rId14" Type="http://schemas.openxmlformats.org/officeDocument/2006/relationships/image" Target="../media/image68.png"/><Relationship Id="rId22" Type="http://schemas.openxmlformats.org/officeDocument/2006/relationships/image" Target="../media/image72.png"/><Relationship Id="rId27" Type="http://schemas.openxmlformats.org/officeDocument/2006/relationships/customXml" Target="../ink/ink59.xml"/><Relationship Id="rId30" Type="http://schemas.openxmlformats.org/officeDocument/2006/relationships/image" Target="../media/image76.png"/><Relationship Id="rId8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41B4C732-F334-A9CB-7009-89ABBB4D74ED}"/>
              </a:ext>
            </a:extLst>
          </p:cNvPr>
          <p:cNvSpPr/>
          <p:nvPr/>
        </p:nvSpPr>
        <p:spPr bwMode="auto">
          <a:xfrm>
            <a:off x="7455184" y="-12568"/>
            <a:ext cx="4736816" cy="6870567"/>
          </a:xfrm>
          <a:prstGeom prst="rect">
            <a:avLst/>
          </a:prstGeom>
          <a:solidFill>
            <a:schemeClr val="accent6">
              <a:lumMod val="75000"/>
              <a:alpha val="2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평행 사변형 1">
            <a:extLst>
              <a:ext uri="{FF2B5EF4-FFF2-40B4-BE49-F238E27FC236}">
                <a16:creationId xmlns:a16="http://schemas.microsoft.com/office/drawing/2014/main" id="{C5B64E3A-0565-C697-3543-CF1FB2172645}"/>
              </a:ext>
            </a:extLst>
          </p:cNvPr>
          <p:cNvSpPr/>
          <p:nvPr/>
        </p:nvSpPr>
        <p:spPr>
          <a:xfrm flipH="1">
            <a:off x="6585769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A4362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54BB2F17-6D4F-DAFA-3648-26B018BE15A4}"/>
              </a:ext>
            </a:extLst>
          </p:cNvPr>
          <p:cNvSpPr/>
          <p:nvPr/>
        </p:nvSpPr>
        <p:spPr>
          <a:xfrm flipH="1">
            <a:off x="5961548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9B88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6" name="평행 사변형 13">
            <a:extLst>
              <a:ext uri="{FF2B5EF4-FFF2-40B4-BE49-F238E27FC236}">
                <a16:creationId xmlns:a16="http://schemas.microsoft.com/office/drawing/2014/main" id="{3957315A-419D-92FD-C0E3-9213D4F917BB}"/>
              </a:ext>
            </a:extLst>
          </p:cNvPr>
          <p:cNvSpPr/>
          <p:nvPr/>
        </p:nvSpPr>
        <p:spPr>
          <a:xfrm flipH="1">
            <a:off x="0" y="0"/>
            <a:ext cx="9439479" cy="6901543"/>
          </a:xfrm>
          <a:custGeom>
            <a:avLst/>
            <a:gdLst>
              <a:gd name="connsiteX0" fmla="*/ 0 w 3410857"/>
              <a:gd name="connsiteY0" fmla="*/ 6858000 h 6858000"/>
              <a:gd name="connsiteX1" fmla="*/ 1250216 w 3410857"/>
              <a:gd name="connsiteY1" fmla="*/ 0 h 6858000"/>
              <a:gd name="connsiteX2" fmla="*/ 3410857 w 3410857"/>
              <a:gd name="connsiteY2" fmla="*/ 0 h 6858000"/>
              <a:gd name="connsiteX3" fmla="*/ 2160641 w 3410857"/>
              <a:gd name="connsiteY3" fmla="*/ 6858000 h 6858000"/>
              <a:gd name="connsiteX4" fmla="*/ 0 w 3410857"/>
              <a:gd name="connsiteY4" fmla="*/ 6858000 h 6858000"/>
              <a:gd name="connsiteX0" fmla="*/ 0 w 6705600"/>
              <a:gd name="connsiteY0" fmla="*/ 6887029 h 6887029"/>
              <a:gd name="connsiteX1" fmla="*/ 1250216 w 6705600"/>
              <a:gd name="connsiteY1" fmla="*/ 29029 h 6887029"/>
              <a:gd name="connsiteX2" fmla="*/ 6705600 w 6705600"/>
              <a:gd name="connsiteY2" fmla="*/ 0 h 6887029"/>
              <a:gd name="connsiteX3" fmla="*/ 2160641 w 6705600"/>
              <a:gd name="connsiteY3" fmla="*/ 6887029 h 6887029"/>
              <a:gd name="connsiteX4" fmla="*/ 0 w 6705600"/>
              <a:gd name="connsiteY4" fmla="*/ 6887029 h 6887029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705600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44343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58857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458857"/>
              <a:gd name="connsiteY0" fmla="*/ 6887029 h 6959600"/>
              <a:gd name="connsiteX1" fmla="*/ 1250216 w 6458857"/>
              <a:gd name="connsiteY1" fmla="*/ 29029 h 6959600"/>
              <a:gd name="connsiteX2" fmla="*/ 6458857 w 6458857"/>
              <a:gd name="connsiteY2" fmla="*/ 0 h 6959600"/>
              <a:gd name="connsiteX3" fmla="*/ 6166583 w 6458857"/>
              <a:gd name="connsiteY3" fmla="*/ 6959600 h 6959600"/>
              <a:gd name="connsiteX4" fmla="*/ 0 w 6458857"/>
              <a:gd name="connsiteY4" fmla="*/ 6887029 h 6959600"/>
              <a:gd name="connsiteX0" fmla="*/ 0 w 6471383"/>
              <a:gd name="connsiteY0" fmla="*/ 6887029 h 6887029"/>
              <a:gd name="connsiteX1" fmla="*/ 1250216 w 6471383"/>
              <a:gd name="connsiteY1" fmla="*/ 29029 h 6887029"/>
              <a:gd name="connsiteX2" fmla="*/ 6458857 w 6471383"/>
              <a:gd name="connsiteY2" fmla="*/ 0 h 6887029"/>
              <a:gd name="connsiteX3" fmla="*/ 6471383 w 6471383"/>
              <a:gd name="connsiteY3" fmla="*/ 6887029 h 6887029"/>
              <a:gd name="connsiteX4" fmla="*/ 0 w 6471383"/>
              <a:gd name="connsiteY4" fmla="*/ 6887029 h 6887029"/>
              <a:gd name="connsiteX0" fmla="*/ 0 w 7257159"/>
              <a:gd name="connsiteY0" fmla="*/ 6872515 h 6872515"/>
              <a:gd name="connsiteX1" fmla="*/ 1250216 w 7257159"/>
              <a:gd name="connsiteY1" fmla="*/ 14515 h 6872515"/>
              <a:gd name="connsiteX2" fmla="*/ 7257143 w 7257159"/>
              <a:gd name="connsiteY2" fmla="*/ 0 h 6872515"/>
              <a:gd name="connsiteX3" fmla="*/ 6471383 w 7257159"/>
              <a:gd name="connsiteY3" fmla="*/ 6872515 h 6872515"/>
              <a:gd name="connsiteX4" fmla="*/ 0 w 7257159"/>
              <a:gd name="connsiteY4" fmla="*/ 6872515 h 6872515"/>
              <a:gd name="connsiteX0" fmla="*/ 0 w 7284183"/>
              <a:gd name="connsiteY0" fmla="*/ 6872515 h 6901543"/>
              <a:gd name="connsiteX1" fmla="*/ 1250216 w 7284183"/>
              <a:gd name="connsiteY1" fmla="*/ 14515 h 6901543"/>
              <a:gd name="connsiteX2" fmla="*/ 7257143 w 7284183"/>
              <a:gd name="connsiteY2" fmla="*/ 0 h 6901543"/>
              <a:gd name="connsiteX3" fmla="*/ 7284183 w 7284183"/>
              <a:gd name="connsiteY3" fmla="*/ 6901543 h 6901543"/>
              <a:gd name="connsiteX4" fmla="*/ 0 w 7284183"/>
              <a:gd name="connsiteY4" fmla="*/ 6872515 h 6901543"/>
              <a:gd name="connsiteX0" fmla="*/ 0 w 7547476"/>
              <a:gd name="connsiteY0" fmla="*/ 6872515 h 6901543"/>
              <a:gd name="connsiteX1" fmla="*/ 1250216 w 7547476"/>
              <a:gd name="connsiteY1" fmla="*/ 14515 h 6901543"/>
              <a:gd name="connsiteX2" fmla="*/ 7547429 w 7547476"/>
              <a:gd name="connsiteY2" fmla="*/ 0 h 6901543"/>
              <a:gd name="connsiteX3" fmla="*/ 7284183 w 7547476"/>
              <a:gd name="connsiteY3" fmla="*/ 6901543 h 6901543"/>
              <a:gd name="connsiteX4" fmla="*/ 0 w 7547476"/>
              <a:gd name="connsiteY4" fmla="*/ 6872515 h 6901543"/>
              <a:gd name="connsiteX0" fmla="*/ 0 w 7547612"/>
              <a:gd name="connsiteY0" fmla="*/ 6872515 h 6901543"/>
              <a:gd name="connsiteX1" fmla="*/ 1250216 w 7547612"/>
              <a:gd name="connsiteY1" fmla="*/ 14515 h 6901543"/>
              <a:gd name="connsiteX2" fmla="*/ 7547429 w 7547612"/>
              <a:gd name="connsiteY2" fmla="*/ 0 h 6901543"/>
              <a:gd name="connsiteX3" fmla="*/ 7487383 w 7547612"/>
              <a:gd name="connsiteY3" fmla="*/ 6901543 h 6901543"/>
              <a:gd name="connsiteX4" fmla="*/ 0 w 7547612"/>
              <a:gd name="connsiteY4" fmla="*/ 6872515 h 6901543"/>
              <a:gd name="connsiteX0" fmla="*/ 0 w 7533145"/>
              <a:gd name="connsiteY0" fmla="*/ 6872515 h 6901543"/>
              <a:gd name="connsiteX1" fmla="*/ 1250216 w 7533145"/>
              <a:gd name="connsiteY1" fmla="*/ 14515 h 6901543"/>
              <a:gd name="connsiteX2" fmla="*/ 7532915 w 7533145"/>
              <a:gd name="connsiteY2" fmla="*/ 0 h 6901543"/>
              <a:gd name="connsiteX3" fmla="*/ 7487383 w 7533145"/>
              <a:gd name="connsiteY3" fmla="*/ 6901543 h 6901543"/>
              <a:gd name="connsiteX4" fmla="*/ 0 w 7533145"/>
              <a:gd name="connsiteY4" fmla="*/ 6872515 h 6901543"/>
              <a:gd name="connsiteX0" fmla="*/ 0 w 7533928"/>
              <a:gd name="connsiteY0" fmla="*/ 6872515 h 6901543"/>
              <a:gd name="connsiteX1" fmla="*/ 1250216 w 7533928"/>
              <a:gd name="connsiteY1" fmla="*/ 14515 h 6901543"/>
              <a:gd name="connsiteX2" fmla="*/ 7532915 w 7533928"/>
              <a:gd name="connsiteY2" fmla="*/ 0 h 6901543"/>
              <a:gd name="connsiteX3" fmla="*/ 7530926 w 7533928"/>
              <a:gd name="connsiteY3" fmla="*/ 6901543 h 6901543"/>
              <a:gd name="connsiteX4" fmla="*/ 0 w 7533928"/>
              <a:gd name="connsiteY4" fmla="*/ 6872515 h 690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3928" h="6901543">
                <a:moveTo>
                  <a:pt x="0" y="6872515"/>
                </a:moveTo>
                <a:lnTo>
                  <a:pt x="1250216" y="14515"/>
                </a:lnTo>
                <a:lnTo>
                  <a:pt x="7532915" y="0"/>
                </a:lnTo>
                <a:cubicBezTo>
                  <a:pt x="7537090" y="2295676"/>
                  <a:pt x="7526751" y="4605867"/>
                  <a:pt x="7530926" y="6901543"/>
                </a:cubicBezTo>
                <a:lnTo>
                  <a:pt x="0" y="68725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" name="Google Shape;93;p13"/>
          <p:cNvSpPr txBox="1">
            <a:spLocks/>
          </p:cNvSpPr>
          <p:nvPr/>
        </p:nvSpPr>
        <p:spPr>
          <a:xfrm>
            <a:off x="62807" y="1748928"/>
            <a:ext cx="7774907" cy="195479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400"/>
              <a:buFont typeface="Raleway"/>
              <a:buNone/>
              <a:tabLst/>
              <a:defRPr/>
            </a:pPr>
            <a:r>
              <a:rPr kumimoji="1" lang="en-US" altLang="ko-KR" sz="3000" b="1" dirty="0"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try04 </a:t>
            </a:r>
            <a:r>
              <a:rPr kumimoji="1" lang="ko-KR" altLang="en-US" sz="3000" b="1" dirty="0"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전수조사 결과 </a:t>
            </a:r>
            <a:r>
              <a:rPr kumimoji="1" lang="en-US" altLang="ko-KR" sz="3000" b="1" dirty="0"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&amp;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400"/>
              <a:buFont typeface="Raleway"/>
              <a:buNone/>
              <a:tabLst/>
              <a:defRPr/>
            </a:pPr>
            <a:r>
              <a:rPr kumimoji="1" lang="ko-KR" altLang="en-US" sz="3000" b="1" dirty="0"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작전 가이드</a:t>
            </a:r>
            <a:endParaRPr kumimoji="1" lang="en-US" altLang="ko-KR" sz="2800" b="1" dirty="0">
              <a:solidFill>
                <a:srgbClr val="9B8873"/>
              </a:solidFill>
              <a:effectLst>
                <a:outerShdw blurRad="50800" dist="38100" dir="2700000" algn="tl" rotWithShape="0">
                  <a:schemeClr val="bg2">
                    <a:lumMod val="75000"/>
                    <a:alpha val="40000"/>
                  </a:schemeClr>
                </a:outerShdw>
              </a:effectLst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4" name="Google Shape;153;p20">
            <a:extLst>
              <a:ext uri="{FF2B5EF4-FFF2-40B4-BE49-F238E27FC236}">
                <a16:creationId xmlns:a16="http://schemas.microsoft.com/office/drawing/2014/main" id="{84415F24-7766-B9E5-166D-8220180D999E}"/>
              </a:ext>
            </a:extLst>
          </p:cNvPr>
          <p:cNvSpPr txBox="1">
            <a:spLocks/>
          </p:cNvSpPr>
          <p:nvPr/>
        </p:nvSpPr>
        <p:spPr>
          <a:xfrm>
            <a:off x="105320" y="4706528"/>
            <a:ext cx="6548286" cy="1789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ko-KR" altLang="en-US" sz="2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안 용 상</a:t>
            </a:r>
            <a:endParaRPr lang="en-US" sz="2000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Process Systems Engineering &amp; Intelligence Design Lab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Department of Chemical Engineering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Kyung </a:t>
            </a:r>
            <a:r>
              <a:rPr lang="en-US" sz="15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Hee</a:t>
            </a: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University 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770ACD0-7F15-C001-7284-4D5DFAB63031}"/>
              </a:ext>
            </a:extLst>
          </p:cNvPr>
          <p:cNvGrpSpPr/>
          <p:nvPr/>
        </p:nvGrpSpPr>
        <p:grpSpPr>
          <a:xfrm>
            <a:off x="231580" y="85060"/>
            <a:ext cx="2920394" cy="661066"/>
            <a:chOff x="231580" y="85060"/>
            <a:chExt cx="2534216" cy="573650"/>
          </a:xfrm>
        </p:grpSpPr>
        <p:pic>
          <p:nvPicPr>
            <p:cNvPr id="7" name="그림 6" descr="텍스트, 로고, 엠블럼, 폰트이(가) 표시된 사진&#10;&#10;자동 생성된 설명">
              <a:extLst>
                <a:ext uri="{FF2B5EF4-FFF2-40B4-BE49-F238E27FC236}">
                  <a16:creationId xmlns:a16="http://schemas.microsoft.com/office/drawing/2014/main" id="{3475EF97-1A28-9382-0F84-3AE040061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80" y="215111"/>
              <a:ext cx="1539333" cy="37519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4072C66-F836-EE49-489B-30C12A491B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9" t="10161" r="5433" b="11878"/>
            <a:stretch/>
          </p:blipFill>
          <p:spPr>
            <a:xfrm>
              <a:off x="1868209" y="85060"/>
              <a:ext cx="897587" cy="5736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957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1&amp;2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프로젝트 목적과 설계 철학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latin typeface="+mn-ea"/>
              </a:rPr>
              <a:t>1. </a:t>
            </a:r>
            <a:r>
              <a:rPr lang="ko-KR" altLang="en-US" sz="1600" b="1" dirty="0">
                <a:latin typeface="+mn-ea"/>
              </a:rPr>
              <a:t>프로젝트 목적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204126"/>
            <a:ext cx="11258550" cy="19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DFT </a:t>
            </a:r>
            <a:r>
              <a:rPr lang="ko-KR" altLang="en-US" sz="1400" dirty="0">
                <a:latin typeface="+mn-ea"/>
              </a:rPr>
              <a:t>계산의 핵심은 </a:t>
            </a:r>
            <a:r>
              <a:rPr lang="en-US" altLang="ko-KR" sz="1400" dirty="0">
                <a:latin typeface="+mn-ea"/>
              </a:rPr>
              <a:t>"192</a:t>
            </a:r>
            <a:r>
              <a:rPr lang="ko-KR" altLang="en-US" sz="1400" dirty="0">
                <a:latin typeface="+mn-ea"/>
              </a:rPr>
              <a:t>개 원자 주변에서 전자들이 어떤 분포를 가질 때 에너지가 가장 낮은가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를 찾는 것입니다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그런데 전자 </a:t>
            </a:r>
            <a:r>
              <a:rPr lang="en-US" altLang="ko-KR" sz="1400" dirty="0">
                <a:latin typeface="+mn-ea"/>
              </a:rPr>
              <a:t>A</a:t>
            </a:r>
            <a:r>
              <a:rPr lang="ko-KR" altLang="en-US" sz="1400" dirty="0">
                <a:latin typeface="+mn-ea"/>
              </a:rPr>
              <a:t>의 위치가 바뀌면 전자 </a:t>
            </a:r>
            <a:r>
              <a:rPr lang="en-US" altLang="ko-KR" sz="1400" dirty="0">
                <a:latin typeface="+mn-ea"/>
              </a:rPr>
              <a:t>B</a:t>
            </a:r>
            <a:r>
              <a:rPr lang="ko-KR" altLang="en-US" sz="1400" dirty="0">
                <a:latin typeface="+mn-ea"/>
              </a:rPr>
              <a:t>에게도 영향을 주고</a:t>
            </a:r>
            <a:r>
              <a:rPr lang="en-US" altLang="ko-KR" sz="1400" dirty="0">
                <a:latin typeface="+mn-ea"/>
              </a:rPr>
              <a:t>, B</a:t>
            </a:r>
            <a:r>
              <a:rPr lang="ko-KR" altLang="en-US" sz="1400" dirty="0">
                <a:latin typeface="+mn-ea"/>
              </a:rPr>
              <a:t>가 바뀌면 다시 </a:t>
            </a:r>
            <a:r>
              <a:rPr lang="en-US" altLang="ko-KR" sz="1400" dirty="0">
                <a:latin typeface="+mn-ea"/>
              </a:rPr>
              <a:t>A</a:t>
            </a:r>
            <a:r>
              <a:rPr lang="ko-KR" altLang="en-US" sz="1400" dirty="0">
                <a:latin typeface="+mn-ea"/>
              </a:rPr>
              <a:t>에게 영향을 줍니다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이렇게 서로 물고 물리는 상황이라 한 번에 정답을 구할 수 없고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반복 계산이 필요합니다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일단 전자가 여기 있다고 가정 → 에너지 계산 → 전자 위치 업데이트 → 다시 에너지 계산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을 반복합니다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이 반복을 </a:t>
            </a:r>
            <a:r>
              <a:rPr lang="en-US" altLang="ko-KR" sz="1400" dirty="0">
                <a:latin typeface="+mn-ea"/>
              </a:rPr>
              <a:t>SCF(Self-Consistent Field)</a:t>
            </a:r>
            <a:r>
              <a:rPr lang="ko-KR" altLang="en-US" sz="1400" dirty="0">
                <a:latin typeface="+mn-ea"/>
              </a:rPr>
              <a:t>라고 부르고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전자 분포가 더 이상 변하지 않으면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수렴했다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고 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SCF</a:t>
            </a:r>
            <a:r>
              <a:rPr lang="ko-KR" altLang="en-US" sz="1400" dirty="0">
                <a:latin typeface="+mn-ea"/>
              </a:rPr>
              <a:t>가 수렴해야만 그 구조에서의 정확한 에너지를 하나 얻을 수 있고</a:t>
            </a:r>
            <a:r>
              <a:rPr lang="en-US" altLang="ko-KR" sz="1400" dirty="0">
                <a:latin typeface="+mn-ea"/>
              </a:rPr>
              <a:t>, GEO_OPT</a:t>
            </a:r>
            <a:r>
              <a:rPr lang="ko-KR" altLang="en-US" sz="1400" dirty="0">
                <a:latin typeface="+mn-ea"/>
              </a:rPr>
              <a:t>는 이걸 매 </a:t>
            </a:r>
            <a:r>
              <a:rPr lang="en-US" altLang="ko-KR" sz="1400" dirty="0">
                <a:latin typeface="+mn-ea"/>
              </a:rPr>
              <a:t>step</a:t>
            </a:r>
            <a:r>
              <a:rPr lang="ko-KR" altLang="en-US" sz="1400" dirty="0">
                <a:latin typeface="+mn-ea"/>
              </a:rPr>
              <a:t>마다 해야 합니다</a:t>
            </a:r>
          </a:p>
        </p:txBody>
      </p:sp>
      <p:grpSp>
        <p:nvGrpSpPr>
          <p:cNvPr id="2190" name="그룹 2189">
            <a:extLst>
              <a:ext uri="{FF2B5EF4-FFF2-40B4-BE49-F238E27FC236}">
                <a16:creationId xmlns:a16="http://schemas.microsoft.com/office/drawing/2014/main" id="{55423549-6482-4075-860A-4744DDE5A63E}"/>
              </a:ext>
            </a:extLst>
          </p:cNvPr>
          <p:cNvGrpSpPr/>
          <p:nvPr/>
        </p:nvGrpSpPr>
        <p:grpSpPr>
          <a:xfrm>
            <a:off x="12566142" y="2340369"/>
            <a:ext cx="7620000" cy="2405470"/>
            <a:chOff x="2103120" y="1296154"/>
            <a:chExt cx="7620000" cy="2405470"/>
          </a:xfrm>
        </p:grpSpPr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4D78DBC2-88DE-4981-92AE-67D8F00374F8}"/>
                </a:ext>
              </a:extLst>
            </p:cNvPr>
            <p:cNvSpPr/>
            <p:nvPr/>
          </p:nvSpPr>
          <p:spPr>
            <a:xfrm>
              <a:off x="2103120" y="1320374"/>
              <a:ext cx="7620000" cy="419100"/>
            </a:xfrm>
            <a:custGeom>
              <a:avLst/>
              <a:gdLst>
                <a:gd name="connsiteX0" fmla="*/ 0 w 7620000"/>
                <a:gd name="connsiteY0" fmla="*/ 0 h 419100"/>
                <a:gd name="connsiteX1" fmla="*/ 7620000 w 7620000"/>
                <a:gd name="connsiteY1" fmla="*/ 0 h 419100"/>
                <a:gd name="connsiteX2" fmla="*/ 7620000 w 7620000"/>
                <a:gd name="connsiteY2" fmla="*/ 419100 h 419100"/>
                <a:gd name="connsiteX3" fmla="*/ 0 w 7620000"/>
                <a:gd name="connsiteY3" fmla="*/ 41910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0" h="419100">
                  <a:moveTo>
                    <a:pt x="0" y="0"/>
                  </a:moveTo>
                  <a:lnTo>
                    <a:pt x="7620000" y="0"/>
                  </a:lnTo>
                  <a:lnTo>
                    <a:pt x="762000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1B2A4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D3C2BC3-44EE-47F8-87DF-9E7D4778879D}"/>
                </a:ext>
              </a:extLst>
            </p:cNvPr>
            <p:cNvSpPr txBox="1"/>
            <p:nvPr/>
          </p:nvSpPr>
          <p:spPr>
            <a:xfrm>
              <a:off x="4169092" y="1296154"/>
              <a:ext cx="3451586" cy="39754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500" b="1" spc="0" baseline="0" dirty="0">
                  <a:solidFill>
                    <a:srgbClr val="FFFFFF"/>
                  </a:solidFill>
                  <a:latin typeface="+mn-ea"/>
                  <a:cs typeface="Arial"/>
                  <a:sym typeface="Arial"/>
                  <a:rtl val="0"/>
                </a:rPr>
                <a:t>SCF (Self-Consistent Field) </a:t>
              </a:r>
              <a:r>
                <a:rPr lang="ko-KR" altLang="en-US" sz="1500" b="1" spc="0" baseline="0" dirty="0">
                  <a:solidFill>
                    <a:srgbClr val="FFFFFF"/>
                  </a:solidFill>
                  <a:latin typeface="+mn-ea"/>
                  <a:cs typeface="Arial"/>
                  <a:sym typeface="맑은 고딕"/>
                  <a:rtl val="0"/>
                </a:rPr>
                <a:t>반복</a:t>
              </a:r>
              <a:r>
                <a:rPr lang="ko-KR" altLang="en-US" sz="1500" b="1" spc="0" baseline="0" dirty="0">
                  <a:solidFill>
                    <a:srgbClr val="FFFFFF"/>
                  </a:solidFill>
                  <a:latin typeface="+mn-ea"/>
                  <a:cs typeface="Arial"/>
                  <a:sym typeface="Arial"/>
                  <a:rtl val="0"/>
                </a:rPr>
                <a:t> </a:t>
              </a:r>
              <a:r>
                <a:rPr lang="ko-KR" altLang="en-US" sz="1500" b="1" spc="0" baseline="0" dirty="0">
                  <a:solidFill>
                    <a:srgbClr val="FFFFFF"/>
                  </a:solidFill>
                  <a:latin typeface="+mn-ea"/>
                  <a:cs typeface="Arial"/>
                  <a:sym typeface="맑은 고딕"/>
                  <a:rtl val="0"/>
                </a:rPr>
                <a:t>과정</a:t>
              </a:r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CDEC1FA9-F264-4354-8551-01F43683BF20}"/>
                </a:ext>
              </a:extLst>
            </p:cNvPr>
            <p:cNvSpPr/>
            <p:nvPr/>
          </p:nvSpPr>
          <p:spPr>
            <a:xfrm>
              <a:off x="2388870" y="1987124"/>
              <a:ext cx="1524000" cy="666750"/>
            </a:xfrm>
            <a:custGeom>
              <a:avLst/>
              <a:gdLst>
                <a:gd name="connsiteX0" fmla="*/ 1485900 w 1524000"/>
                <a:gd name="connsiteY0" fmla="*/ 0 h 666750"/>
                <a:gd name="connsiteX1" fmla="*/ 1524000 w 1524000"/>
                <a:gd name="connsiteY1" fmla="*/ 0 h 666750"/>
                <a:gd name="connsiteX2" fmla="*/ 1524000 w 1524000"/>
                <a:gd name="connsiteY2" fmla="*/ 666750 h 666750"/>
                <a:gd name="connsiteX3" fmla="*/ 1485900 w 1524000"/>
                <a:gd name="connsiteY3" fmla="*/ 666750 h 666750"/>
                <a:gd name="connsiteX4" fmla="*/ 38100 w 1524000"/>
                <a:gd name="connsiteY4" fmla="*/ 666750 h 666750"/>
                <a:gd name="connsiteX5" fmla="*/ 0 w 1524000"/>
                <a:gd name="connsiteY5" fmla="*/ 666750 h 666750"/>
                <a:gd name="connsiteX6" fmla="*/ 0 w 1524000"/>
                <a:gd name="connsiteY6" fmla="*/ 0 h 666750"/>
                <a:gd name="connsiteX7" fmla="*/ 38100 w 1524000"/>
                <a:gd name="connsiteY7" fmla="*/ 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666750">
                  <a:moveTo>
                    <a:pt x="1485900" y="0"/>
                  </a:moveTo>
                  <a:cubicBezTo>
                    <a:pt x="1506942" y="0"/>
                    <a:pt x="1524000" y="0"/>
                    <a:pt x="1524000" y="0"/>
                  </a:cubicBezTo>
                  <a:lnTo>
                    <a:pt x="1524000" y="666750"/>
                  </a:lnTo>
                  <a:cubicBezTo>
                    <a:pt x="1524000" y="666750"/>
                    <a:pt x="1506942" y="666750"/>
                    <a:pt x="1485900" y="666750"/>
                  </a:cubicBezTo>
                  <a:lnTo>
                    <a:pt x="38100" y="666750"/>
                  </a:lnTo>
                  <a:cubicBezTo>
                    <a:pt x="17058" y="666750"/>
                    <a:pt x="0" y="666750"/>
                    <a:pt x="0" y="66675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2563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226C2C-C8EC-402E-A991-7000333F7446}"/>
                </a:ext>
              </a:extLst>
            </p:cNvPr>
            <p:cNvSpPr txBox="1"/>
            <p:nvPr/>
          </p:nvSpPr>
          <p:spPr>
            <a:xfrm>
              <a:off x="2592705" y="2038178"/>
              <a:ext cx="1056700" cy="32124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sym typeface="맑은 고딕"/>
                  <a:rtl val="0"/>
                </a:rPr>
                <a:t>초기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Arial"/>
                  <a:rtl val="0"/>
                </a:rPr>
                <a:t> 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맑은 고딕"/>
                  <a:rtl val="0"/>
                </a:rPr>
                <a:t>전자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Arial"/>
                  <a:rtl val="0"/>
                </a:rPr>
                <a:t> 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맑은 고딕"/>
                  <a:rtl val="0"/>
                </a:rPr>
                <a:t>분포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242F100-1ABD-451A-AC9B-6926A264B34A}"/>
                </a:ext>
              </a:extLst>
            </p:cNvPr>
            <p:cNvSpPr txBox="1"/>
            <p:nvPr/>
          </p:nvSpPr>
          <p:spPr>
            <a:xfrm>
              <a:off x="2530792" y="2285828"/>
              <a:ext cx="1255472" cy="28911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75" spc="0" baseline="0" dirty="0">
                  <a:solidFill>
                    <a:srgbClr val="D4E4FF"/>
                  </a:solidFill>
                  <a:latin typeface="+mn-ea"/>
                  <a:cs typeface="Arial"/>
                  <a:sym typeface="Arial"/>
                  <a:rtl val="0"/>
                </a:rPr>
                <a:t>ρ</a:t>
              </a:r>
              <a:r>
                <a:rPr lang="ko-KR" altLang="en-US" sz="975" spc="0" baseline="0" dirty="0">
                  <a:solidFill>
                    <a:srgbClr val="D4E4FF"/>
                  </a:solidFill>
                  <a:latin typeface="+mn-ea"/>
                  <a:cs typeface="Arial"/>
                  <a:sym typeface="Cambria Math"/>
                  <a:rtl val="0"/>
                </a:rPr>
                <a:t>₀</a:t>
              </a:r>
              <a:r>
                <a:rPr lang="ko-KR" altLang="en-US" sz="975" spc="0" baseline="0" dirty="0">
                  <a:solidFill>
                    <a:srgbClr val="D4E4FF"/>
                  </a:solidFill>
                  <a:latin typeface="+mn-ea"/>
                  <a:cs typeface="Arial"/>
                  <a:sym typeface="Arial"/>
                  <a:rtl val="0"/>
                </a:rPr>
                <a:t> (ATOMIC guess)</a:t>
              </a:r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1C25A2DF-B678-4AF7-88D2-145A61681A1F}"/>
                </a:ext>
              </a:extLst>
            </p:cNvPr>
            <p:cNvSpPr/>
            <p:nvPr/>
          </p:nvSpPr>
          <p:spPr>
            <a:xfrm>
              <a:off x="4008120" y="2225249"/>
              <a:ext cx="571500" cy="190500"/>
            </a:xfrm>
            <a:custGeom>
              <a:avLst/>
              <a:gdLst>
                <a:gd name="connsiteX0" fmla="*/ 0 w 571500"/>
                <a:gd name="connsiteY0" fmla="*/ 95250 h 190500"/>
                <a:gd name="connsiteX1" fmla="*/ 190500 w 571500"/>
                <a:gd name="connsiteY1" fmla="*/ 0 h 190500"/>
                <a:gd name="connsiteX2" fmla="*/ 190500 w 571500"/>
                <a:gd name="connsiteY2" fmla="*/ 47625 h 190500"/>
                <a:gd name="connsiteX3" fmla="*/ 571500 w 571500"/>
                <a:gd name="connsiteY3" fmla="*/ 47625 h 190500"/>
                <a:gd name="connsiteX4" fmla="*/ 571500 w 571500"/>
                <a:gd name="connsiteY4" fmla="*/ 142875 h 190500"/>
                <a:gd name="connsiteX5" fmla="*/ 190500 w 571500"/>
                <a:gd name="connsiteY5" fmla="*/ 142875 h 190500"/>
                <a:gd name="connsiteX6" fmla="*/ 190500 w 571500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47625"/>
                  </a:lnTo>
                  <a:lnTo>
                    <a:pt x="571500" y="47625"/>
                  </a:lnTo>
                  <a:lnTo>
                    <a:pt x="571500" y="142875"/>
                  </a:lnTo>
                  <a:lnTo>
                    <a:pt x="190500" y="142875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F59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CCC82FE7-2EB0-4C9F-AF0A-437879393985}"/>
                </a:ext>
              </a:extLst>
            </p:cNvPr>
            <p:cNvSpPr/>
            <p:nvPr/>
          </p:nvSpPr>
          <p:spPr>
            <a:xfrm>
              <a:off x="4674870" y="1987124"/>
              <a:ext cx="1524000" cy="666750"/>
            </a:xfrm>
            <a:custGeom>
              <a:avLst/>
              <a:gdLst>
                <a:gd name="connsiteX0" fmla="*/ 1485900 w 1524000"/>
                <a:gd name="connsiteY0" fmla="*/ 0 h 666750"/>
                <a:gd name="connsiteX1" fmla="*/ 1524000 w 1524000"/>
                <a:gd name="connsiteY1" fmla="*/ 0 h 666750"/>
                <a:gd name="connsiteX2" fmla="*/ 1524000 w 1524000"/>
                <a:gd name="connsiteY2" fmla="*/ 666750 h 666750"/>
                <a:gd name="connsiteX3" fmla="*/ 1485900 w 1524000"/>
                <a:gd name="connsiteY3" fmla="*/ 666750 h 666750"/>
                <a:gd name="connsiteX4" fmla="*/ 38100 w 1524000"/>
                <a:gd name="connsiteY4" fmla="*/ 666750 h 666750"/>
                <a:gd name="connsiteX5" fmla="*/ 0 w 1524000"/>
                <a:gd name="connsiteY5" fmla="*/ 666750 h 666750"/>
                <a:gd name="connsiteX6" fmla="*/ 0 w 1524000"/>
                <a:gd name="connsiteY6" fmla="*/ 0 h 666750"/>
                <a:gd name="connsiteX7" fmla="*/ 38100 w 1524000"/>
                <a:gd name="connsiteY7" fmla="*/ 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666750">
                  <a:moveTo>
                    <a:pt x="1485900" y="0"/>
                  </a:moveTo>
                  <a:cubicBezTo>
                    <a:pt x="1506942" y="0"/>
                    <a:pt x="1524000" y="0"/>
                    <a:pt x="1524000" y="0"/>
                  </a:cubicBezTo>
                  <a:lnTo>
                    <a:pt x="1524000" y="666750"/>
                  </a:lnTo>
                  <a:cubicBezTo>
                    <a:pt x="1524000" y="666750"/>
                    <a:pt x="1506942" y="666750"/>
                    <a:pt x="1485900" y="666750"/>
                  </a:cubicBezTo>
                  <a:lnTo>
                    <a:pt x="38100" y="666750"/>
                  </a:lnTo>
                  <a:cubicBezTo>
                    <a:pt x="17058" y="666750"/>
                    <a:pt x="0" y="666750"/>
                    <a:pt x="0" y="66675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DC26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AD3714-B79F-4F7B-9222-AEBDF1FD56E6}"/>
                </a:ext>
              </a:extLst>
            </p:cNvPr>
            <p:cNvSpPr txBox="1"/>
            <p:nvPr/>
          </p:nvSpPr>
          <p:spPr>
            <a:xfrm>
              <a:off x="4969192" y="2038178"/>
              <a:ext cx="886781" cy="32124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sym typeface="맑은 고딕"/>
                  <a:rtl val="0"/>
                </a:rPr>
                <a:t>에너지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Arial"/>
                  <a:rtl val="0"/>
                </a:rPr>
                <a:t> 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맑은 고딕"/>
                  <a:rtl val="0"/>
                </a:rPr>
                <a:t>계산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6414327-52D4-47E9-B2A3-576C7CB3D799}"/>
                </a:ext>
              </a:extLst>
            </p:cNvPr>
            <p:cNvSpPr txBox="1"/>
            <p:nvPr/>
          </p:nvSpPr>
          <p:spPr>
            <a:xfrm>
              <a:off x="4916805" y="2266778"/>
              <a:ext cx="997389" cy="2907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75" spc="0" baseline="0" dirty="0">
                  <a:solidFill>
                    <a:srgbClr val="FED7D7"/>
                  </a:solidFill>
                  <a:latin typeface="+mn-ea"/>
                  <a:cs typeface="Arial"/>
                  <a:sym typeface="Arial"/>
                  <a:rtl val="0"/>
                </a:rPr>
                <a:t>H·ψ = E·ψ </a:t>
              </a:r>
              <a:r>
                <a:rPr lang="ko-KR" altLang="en-US" sz="975" spc="0" baseline="0" dirty="0">
                  <a:solidFill>
                    <a:srgbClr val="FED7D7"/>
                  </a:solidFill>
                  <a:latin typeface="+mn-ea"/>
                  <a:cs typeface="Arial"/>
                  <a:sym typeface="맑은 고딕"/>
                  <a:rtl val="0"/>
                </a:rPr>
                <a:t>풀기</a:t>
              </a:r>
            </a:p>
          </p:txBody>
        </p:sp>
        <p:sp>
          <p:nvSpPr>
            <p:cNvPr id="2176" name="자유형: 도형 2175">
              <a:extLst>
                <a:ext uri="{FF2B5EF4-FFF2-40B4-BE49-F238E27FC236}">
                  <a16:creationId xmlns:a16="http://schemas.microsoft.com/office/drawing/2014/main" id="{DCDA1B86-E0D5-4426-BFC9-2DD681919E7D}"/>
                </a:ext>
              </a:extLst>
            </p:cNvPr>
            <p:cNvSpPr/>
            <p:nvPr/>
          </p:nvSpPr>
          <p:spPr>
            <a:xfrm>
              <a:off x="6294120" y="2225249"/>
              <a:ext cx="571500" cy="190500"/>
            </a:xfrm>
            <a:custGeom>
              <a:avLst/>
              <a:gdLst>
                <a:gd name="connsiteX0" fmla="*/ 0 w 571500"/>
                <a:gd name="connsiteY0" fmla="*/ 95250 h 190500"/>
                <a:gd name="connsiteX1" fmla="*/ 190500 w 571500"/>
                <a:gd name="connsiteY1" fmla="*/ 0 h 190500"/>
                <a:gd name="connsiteX2" fmla="*/ 190500 w 571500"/>
                <a:gd name="connsiteY2" fmla="*/ 47625 h 190500"/>
                <a:gd name="connsiteX3" fmla="*/ 571500 w 571500"/>
                <a:gd name="connsiteY3" fmla="*/ 47625 h 190500"/>
                <a:gd name="connsiteX4" fmla="*/ 571500 w 571500"/>
                <a:gd name="connsiteY4" fmla="*/ 142875 h 190500"/>
                <a:gd name="connsiteX5" fmla="*/ 190500 w 571500"/>
                <a:gd name="connsiteY5" fmla="*/ 142875 h 190500"/>
                <a:gd name="connsiteX6" fmla="*/ 190500 w 571500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0" h="190500">
                  <a:moveTo>
                    <a:pt x="0" y="95250"/>
                  </a:moveTo>
                  <a:lnTo>
                    <a:pt x="190500" y="0"/>
                  </a:lnTo>
                  <a:lnTo>
                    <a:pt x="190500" y="47625"/>
                  </a:lnTo>
                  <a:lnTo>
                    <a:pt x="571500" y="47625"/>
                  </a:lnTo>
                  <a:lnTo>
                    <a:pt x="571500" y="142875"/>
                  </a:lnTo>
                  <a:lnTo>
                    <a:pt x="190500" y="142875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F59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177" name="자유형: 도형 2176">
              <a:extLst>
                <a:ext uri="{FF2B5EF4-FFF2-40B4-BE49-F238E27FC236}">
                  <a16:creationId xmlns:a16="http://schemas.microsoft.com/office/drawing/2014/main" id="{34A494B5-2F8F-4C59-A3AC-E3FD0CE5C5A1}"/>
                </a:ext>
              </a:extLst>
            </p:cNvPr>
            <p:cNvSpPr/>
            <p:nvPr/>
          </p:nvSpPr>
          <p:spPr>
            <a:xfrm>
              <a:off x="6960870" y="1987124"/>
              <a:ext cx="1676400" cy="666750"/>
            </a:xfrm>
            <a:custGeom>
              <a:avLst/>
              <a:gdLst>
                <a:gd name="connsiteX0" fmla="*/ 1485900 w 1524000"/>
                <a:gd name="connsiteY0" fmla="*/ 0 h 666750"/>
                <a:gd name="connsiteX1" fmla="*/ 1524000 w 1524000"/>
                <a:gd name="connsiteY1" fmla="*/ 0 h 666750"/>
                <a:gd name="connsiteX2" fmla="*/ 1524000 w 1524000"/>
                <a:gd name="connsiteY2" fmla="*/ 666750 h 666750"/>
                <a:gd name="connsiteX3" fmla="*/ 1485900 w 1524000"/>
                <a:gd name="connsiteY3" fmla="*/ 666750 h 666750"/>
                <a:gd name="connsiteX4" fmla="*/ 38100 w 1524000"/>
                <a:gd name="connsiteY4" fmla="*/ 666750 h 666750"/>
                <a:gd name="connsiteX5" fmla="*/ 0 w 1524000"/>
                <a:gd name="connsiteY5" fmla="*/ 666750 h 666750"/>
                <a:gd name="connsiteX6" fmla="*/ 0 w 1524000"/>
                <a:gd name="connsiteY6" fmla="*/ 0 h 666750"/>
                <a:gd name="connsiteX7" fmla="*/ 38100 w 1524000"/>
                <a:gd name="connsiteY7" fmla="*/ 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666750">
                  <a:moveTo>
                    <a:pt x="1485900" y="0"/>
                  </a:moveTo>
                  <a:cubicBezTo>
                    <a:pt x="1506942" y="0"/>
                    <a:pt x="1524000" y="0"/>
                    <a:pt x="1524000" y="0"/>
                  </a:cubicBezTo>
                  <a:lnTo>
                    <a:pt x="1524000" y="666750"/>
                  </a:lnTo>
                  <a:cubicBezTo>
                    <a:pt x="1524000" y="666750"/>
                    <a:pt x="1506942" y="666750"/>
                    <a:pt x="1485900" y="666750"/>
                  </a:cubicBezTo>
                  <a:lnTo>
                    <a:pt x="38100" y="666750"/>
                  </a:lnTo>
                  <a:cubicBezTo>
                    <a:pt x="17058" y="666750"/>
                    <a:pt x="0" y="666750"/>
                    <a:pt x="0" y="66675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596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178" name="TextBox 2177">
              <a:extLst>
                <a:ext uri="{FF2B5EF4-FFF2-40B4-BE49-F238E27FC236}">
                  <a16:creationId xmlns:a16="http://schemas.microsoft.com/office/drawing/2014/main" id="{AFB2C703-B3D7-4B0C-9C7E-ABCCFFD0C5E4}"/>
                </a:ext>
              </a:extLst>
            </p:cNvPr>
            <p:cNvSpPr txBox="1"/>
            <p:nvPr/>
          </p:nvSpPr>
          <p:spPr>
            <a:xfrm>
              <a:off x="7185089" y="2038178"/>
              <a:ext cx="1162370" cy="32124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sym typeface="맑은 고딕"/>
                  <a:rtl val="0"/>
                </a:rPr>
                <a:t>전자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Arial"/>
                  <a:rtl val="0"/>
                </a:rPr>
                <a:t> 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맑은 고딕"/>
                  <a:rtl val="0"/>
                </a:rPr>
                <a:t>분포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Arial"/>
                  <a:rtl val="0"/>
                </a:rPr>
                <a:t> 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맑은 고딕"/>
                  <a:rtl val="0"/>
                </a:rPr>
                <a:t>갱신</a:t>
              </a:r>
            </a:p>
          </p:txBody>
        </p:sp>
        <p:sp>
          <p:nvSpPr>
            <p:cNvPr id="2179" name="TextBox 2178">
              <a:extLst>
                <a:ext uri="{FF2B5EF4-FFF2-40B4-BE49-F238E27FC236}">
                  <a16:creationId xmlns:a16="http://schemas.microsoft.com/office/drawing/2014/main" id="{C3B168C4-EB5F-4234-8B1B-271EF36F2741}"/>
                </a:ext>
              </a:extLst>
            </p:cNvPr>
            <p:cNvSpPr txBox="1"/>
            <p:nvPr/>
          </p:nvSpPr>
          <p:spPr>
            <a:xfrm>
              <a:off x="6960870" y="2285828"/>
              <a:ext cx="1648208" cy="2907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75" spc="0" baseline="0" dirty="0">
                  <a:solidFill>
                    <a:srgbClr val="D1FAE5"/>
                  </a:solidFill>
                  <a:latin typeface="+mn-ea"/>
                  <a:cs typeface="Arial"/>
                  <a:sym typeface="Arial"/>
                  <a:rtl val="0"/>
                </a:rPr>
                <a:t>ρ_new = mix(ρ_old, ρ_calc)</a:t>
              </a:r>
            </a:p>
          </p:txBody>
        </p:sp>
        <p:sp>
          <p:nvSpPr>
            <p:cNvPr id="2180" name="자유형: 도형 2179">
              <a:extLst>
                <a:ext uri="{FF2B5EF4-FFF2-40B4-BE49-F238E27FC236}">
                  <a16:creationId xmlns:a16="http://schemas.microsoft.com/office/drawing/2014/main" id="{47D23E0F-244F-4CFB-B4AF-6F0013A8E901}"/>
                </a:ext>
              </a:extLst>
            </p:cNvPr>
            <p:cNvSpPr/>
            <p:nvPr/>
          </p:nvSpPr>
          <p:spPr>
            <a:xfrm>
              <a:off x="4960620" y="3034874"/>
              <a:ext cx="1905000" cy="666750"/>
            </a:xfrm>
            <a:custGeom>
              <a:avLst/>
              <a:gdLst>
                <a:gd name="connsiteX0" fmla="*/ 1866900 w 1905000"/>
                <a:gd name="connsiteY0" fmla="*/ 0 h 666750"/>
                <a:gd name="connsiteX1" fmla="*/ 1905000 w 1905000"/>
                <a:gd name="connsiteY1" fmla="*/ 0 h 666750"/>
                <a:gd name="connsiteX2" fmla="*/ 1905000 w 1905000"/>
                <a:gd name="connsiteY2" fmla="*/ 666750 h 666750"/>
                <a:gd name="connsiteX3" fmla="*/ 1866900 w 1905000"/>
                <a:gd name="connsiteY3" fmla="*/ 666750 h 666750"/>
                <a:gd name="connsiteX4" fmla="*/ 38100 w 1905000"/>
                <a:gd name="connsiteY4" fmla="*/ 666750 h 666750"/>
                <a:gd name="connsiteX5" fmla="*/ 0 w 1905000"/>
                <a:gd name="connsiteY5" fmla="*/ 666750 h 666750"/>
                <a:gd name="connsiteX6" fmla="*/ 0 w 1905000"/>
                <a:gd name="connsiteY6" fmla="*/ 0 h 666750"/>
                <a:gd name="connsiteX7" fmla="*/ 38100 w 1905000"/>
                <a:gd name="connsiteY7" fmla="*/ 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00" h="666750">
                  <a:moveTo>
                    <a:pt x="1866900" y="0"/>
                  </a:moveTo>
                  <a:cubicBezTo>
                    <a:pt x="1887942" y="0"/>
                    <a:pt x="1905000" y="0"/>
                    <a:pt x="1905000" y="0"/>
                  </a:cubicBezTo>
                  <a:lnTo>
                    <a:pt x="1905000" y="666750"/>
                  </a:lnTo>
                  <a:cubicBezTo>
                    <a:pt x="1905000" y="666750"/>
                    <a:pt x="1887942" y="666750"/>
                    <a:pt x="1866900" y="666750"/>
                  </a:cubicBezTo>
                  <a:lnTo>
                    <a:pt x="38100" y="666750"/>
                  </a:lnTo>
                  <a:cubicBezTo>
                    <a:pt x="17058" y="666750"/>
                    <a:pt x="0" y="666750"/>
                    <a:pt x="0" y="66675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7C3A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181" name="TextBox 2180">
              <a:extLst>
                <a:ext uri="{FF2B5EF4-FFF2-40B4-BE49-F238E27FC236}">
                  <a16:creationId xmlns:a16="http://schemas.microsoft.com/office/drawing/2014/main" id="{37312E38-3AE1-4FF2-895D-F8C0009F7D3F}"/>
                </a:ext>
              </a:extLst>
            </p:cNvPr>
            <p:cNvSpPr txBox="1"/>
            <p:nvPr/>
          </p:nvSpPr>
          <p:spPr>
            <a:xfrm>
              <a:off x="5516880" y="3066878"/>
              <a:ext cx="753732" cy="32124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sym typeface="맑은 고딕"/>
                  <a:rtl val="0"/>
                </a:rPr>
                <a:t>수렴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Arial"/>
                  <a:rtl val="0"/>
                </a:rPr>
                <a:t> </a:t>
              </a:r>
              <a:r>
                <a:rPr lang="ko-KR" altLang="en-US" sz="1125" b="1" spc="0" baseline="0" dirty="0">
                  <a:solidFill>
                    <a:srgbClr val="FFFFFF"/>
                  </a:solidFill>
                  <a:latin typeface="+mn-ea"/>
                  <a:cs typeface="Arial"/>
                  <a:sym typeface="맑은 고딕"/>
                  <a:rtl val="0"/>
                </a:rPr>
                <a:t>확인</a:t>
              </a:r>
            </a:p>
          </p:txBody>
        </p:sp>
        <p:sp>
          <p:nvSpPr>
            <p:cNvPr id="2182" name="TextBox 2181">
              <a:extLst>
                <a:ext uri="{FF2B5EF4-FFF2-40B4-BE49-F238E27FC236}">
                  <a16:creationId xmlns:a16="http://schemas.microsoft.com/office/drawing/2014/main" id="{C1F7C10E-9A63-467D-A090-0183F5B604CE}"/>
                </a:ext>
              </a:extLst>
            </p:cNvPr>
            <p:cNvSpPr txBox="1"/>
            <p:nvPr/>
          </p:nvSpPr>
          <p:spPr>
            <a:xfrm>
              <a:off x="5083492" y="3314528"/>
              <a:ext cx="1697901" cy="28911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75" spc="0" baseline="0" dirty="0">
                  <a:solidFill>
                    <a:srgbClr val="EDE9FE"/>
                  </a:solidFill>
                  <a:latin typeface="+mn-ea"/>
                  <a:cs typeface="Arial"/>
                  <a:sym typeface="Arial"/>
                  <a:rtl val="0"/>
                </a:rPr>
                <a:t>|ρ_new − ρ_old| &lt; 5×10</a:t>
              </a:r>
              <a:r>
                <a:rPr lang="ko-KR" altLang="en-US" sz="975" spc="0" baseline="0" dirty="0">
                  <a:solidFill>
                    <a:srgbClr val="EDE9FE"/>
                  </a:solidFill>
                  <a:latin typeface="+mn-ea"/>
                  <a:cs typeface="Arial"/>
                  <a:sym typeface="Cambria Math"/>
                  <a:rtl val="0"/>
                </a:rPr>
                <a:t>⁻</a:t>
              </a:r>
              <a:r>
                <a:rPr lang="ko-KR" altLang="en-US" sz="975" spc="0" baseline="0" dirty="0">
                  <a:solidFill>
                    <a:srgbClr val="EDE9FE"/>
                  </a:solidFill>
                  <a:latin typeface="+mn-ea"/>
                  <a:cs typeface="Arial"/>
                  <a:sym typeface="Arial"/>
                  <a:rtl val="0"/>
                </a:rPr>
                <a:t>⁷ ?</a:t>
              </a:r>
            </a:p>
          </p:txBody>
        </p:sp>
        <p:sp>
          <p:nvSpPr>
            <p:cNvPr id="2183" name="자유형: 도형 2182">
              <a:extLst>
                <a:ext uri="{FF2B5EF4-FFF2-40B4-BE49-F238E27FC236}">
                  <a16:creationId xmlns:a16="http://schemas.microsoft.com/office/drawing/2014/main" id="{B79C8116-1C09-4FD7-A125-5BAEAE4C28DB}"/>
                </a:ext>
              </a:extLst>
            </p:cNvPr>
            <p:cNvSpPr/>
            <p:nvPr/>
          </p:nvSpPr>
          <p:spPr>
            <a:xfrm>
              <a:off x="3150870" y="2701499"/>
              <a:ext cx="1809750" cy="666750"/>
            </a:xfrm>
            <a:custGeom>
              <a:avLst/>
              <a:gdLst>
                <a:gd name="connsiteX0" fmla="*/ 1809750 w 1809750"/>
                <a:gd name="connsiteY0" fmla="*/ 666750 h 666750"/>
                <a:gd name="connsiteX1" fmla="*/ 0 w 1809750"/>
                <a:gd name="connsiteY1" fmla="*/ 666750 h 666750"/>
                <a:gd name="connsiteX2" fmla="*/ 0 w 1809750"/>
                <a:gd name="connsiteY2" fmla="*/ 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9750" h="666750">
                  <a:moveTo>
                    <a:pt x="1809750" y="666750"/>
                  </a:moveTo>
                  <a:lnTo>
                    <a:pt x="0" y="666750"/>
                  </a:lnTo>
                  <a:lnTo>
                    <a:pt x="0" y="0"/>
                  </a:lnTo>
                </a:path>
              </a:pathLst>
            </a:custGeom>
            <a:noFill/>
            <a:ln w="28575" cap="flat">
              <a:solidFill>
                <a:srgbClr val="F59E0B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184" name="TextBox 2183">
              <a:extLst>
                <a:ext uri="{FF2B5EF4-FFF2-40B4-BE49-F238E27FC236}">
                  <a16:creationId xmlns:a16="http://schemas.microsoft.com/office/drawing/2014/main" id="{D2B75B28-7F7B-4101-B0CD-F11D2D72A781}"/>
                </a:ext>
              </a:extLst>
            </p:cNvPr>
            <p:cNvSpPr txBox="1"/>
            <p:nvPr/>
          </p:nvSpPr>
          <p:spPr>
            <a:xfrm>
              <a:off x="3519068" y="3025504"/>
              <a:ext cx="906018" cy="33650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200" b="1" spc="0" baseline="0" dirty="0">
                  <a:solidFill>
                    <a:srgbClr val="DC2626"/>
                  </a:solidFill>
                  <a:latin typeface="+mn-ea"/>
                  <a:cs typeface="Arial"/>
                  <a:sym typeface="Arial"/>
                  <a:rtl val="0"/>
                </a:rPr>
                <a:t>NO → </a:t>
              </a:r>
              <a:r>
                <a:rPr lang="ko-KR" altLang="en-US" sz="1200" b="1" spc="0" baseline="0" dirty="0">
                  <a:solidFill>
                    <a:srgbClr val="DC2626"/>
                  </a:solidFill>
                  <a:latin typeface="+mn-ea"/>
                  <a:cs typeface="Arial"/>
                  <a:sym typeface="맑은 고딕"/>
                  <a:rtl val="0"/>
                </a:rPr>
                <a:t>반복</a:t>
              </a:r>
            </a:p>
          </p:txBody>
        </p:sp>
        <p:sp>
          <p:nvSpPr>
            <p:cNvPr id="2185" name="자유형: 도형 2184">
              <a:extLst>
                <a:ext uri="{FF2B5EF4-FFF2-40B4-BE49-F238E27FC236}">
                  <a16:creationId xmlns:a16="http://schemas.microsoft.com/office/drawing/2014/main" id="{2A5C85E5-5AB0-455D-A0A2-91A2161ACA08}"/>
                </a:ext>
              </a:extLst>
            </p:cNvPr>
            <p:cNvSpPr/>
            <p:nvPr/>
          </p:nvSpPr>
          <p:spPr>
            <a:xfrm>
              <a:off x="6865620" y="2653874"/>
              <a:ext cx="857250" cy="381000"/>
            </a:xfrm>
            <a:custGeom>
              <a:avLst/>
              <a:gdLst>
                <a:gd name="connsiteX0" fmla="*/ 857250 w 857250"/>
                <a:gd name="connsiteY0" fmla="*/ 0 h 381000"/>
                <a:gd name="connsiteX1" fmla="*/ 857250 w 857250"/>
                <a:gd name="connsiteY1" fmla="*/ 238125 h 381000"/>
                <a:gd name="connsiteX2" fmla="*/ 0 w 857250"/>
                <a:gd name="connsiteY2" fmla="*/ 38100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0" h="381000">
                  <a:moveTo>
                    <a:pt x="857250" y="0"/>
                  </a:moveTo>
                  <a:lnTo>
                    <a:pt x="857250" y="238125"/>
                  </a:lnTo>
                  <a:lnTo>
                    <a:pt x="0" y="381000"/>
                  </a:lnTo>
                </a:path>
              </a:pathLst>
            </a:custGeom>
            <a:noFill/>
            <a:ln w="28575" cap="flat">
              <a:solidFill>
                <a:srgbClr val="F59E0B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186" name="자유형: 도형 2185">
              <a:extLst>
                <a:ext uri="{FF2B5EF4-FFF2-40B4-BE49-F238E27FC236}">
                  <a16:creationId xmlns:a16="http://schemas.microsoft.com/office/drawing/2014/main" id="{17A51C7E-D348-48C0-9F3E-06CA940C3F7D}"/>
                </a:ext>
              </a:extLst>
            </p:cNvPr>
            <p:cNvSpPr/>
            <p:nvPr/>
          </p:nvSpPr>
          <p:spPr>
            <a:xfrm>
              <a:off x="6865620" y="3368249"/>
              <a:ext cx="762000" cy="9525"/>
            </a:xfrm>
            <a:custGeom>
              <a:avLst/>
              <a:gdLst>
                <a:gd name="connsiteX0" fmla="*/ 0 w 762000"/>
                <a:gd name="connsiteY0" fmla="*/ 0 h 9525"/>
                <a:gd name="connsiteX1" fmla="*/ 762000 w 7620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 cap="flat">
              <a:solidFill>
                <a:srgbClr val="059669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187" name="자유형: 도형 2186">
              <a:extLst>
                <a:ext uri="{FF2B5EF4-FFF2-40B4-BE49-F238E27FC236}">
                  <a16:creationId xmlns:a16="http://schemas.microsoft.com/office/drawing/2014/main" id="{94BD868E-E1C5-4D10-8AA5-4D6E8B299A3A}"/>
                </a:ext>
              </a:extLst>
            </p:cNvPr>
            <p:cNvSpPr/>
            <p:nvPr/>
          </p:nvSpPr>
          <p:spPr>
            <a:xfrm>
              <a:off x="7627620" y="3320624"/>
              <a:ext cx="190500" cy="95250"/>
            </a:xfrm>
            <a:custGeom>
              <a:avLst/>
              <a:gdLst>
                <a:gd name="connsiteX0" fmla="*/ 0 w 190500"/>
                <a:gd name="connsiteY0" fmla="*/ 0 h 95250"/>
                <a:gd name="connsiteX1" fmla="*/ 0 w 190500"/>
                <a:gd name="connsiteY1" fmla="*/ 95250 h 95250"/>
                <a:gd name="connsiteX2" fmla="*/ 190500 w 190500"/>
                <a:gd name="connsiteY2" fmla="*/ 4762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95250">
                  <a:moveTo>
                    <a:pt x="0" y="0"/>
                  </a:moveTo>
                  <a:lnTo>
                    <a:pt x="0" y="95250"/>
                  </a:lnTo>
                  <a:lnTo>
                    <a:pt x="190500" y="47625"/>
                  </a:lnTo>
                  <a:close/>
                </a:path>
              </a:pathLst>
            </a:custGeom>
            <a:solidFill>
              <a:srgbClr val="0596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188" name="TextBox 2187">
              <a:extLst>
                <a:ext uri="{FF2B5EF4-FFF2-40B4-BE49-F238E27FC236}">
                  <a16:creationId xmlns:a16="http://schemas.microsoft.com/office/drawing/2014/main" id="{30D37798-A200-4D76-8970-FEF291F48374}"/>
                </a:ext>
              </a:extLst>
            </p:cNvPr>
            <p:cNvSpPr txBox="1"/>
            <p:nvPr/>
          </p:nvSpPr>
          <p:spPr>
            <a:xfrm>
              <a:off x="7794583" y="3097193"/>
              <a:ext cx="1292341" cy="41787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00" b="1" spc="0" baseline="0" dirty="0">
                  <a:solidFill>
                    <a:srgbClr val="059669"/>
                  </a:solidFill>
                  <a:latin typeface="+mn-ea"/>
                  <a:cs typeface="Arial"/>
                  <a:sym typeface="Arial"/>
                  <a:rtl val="0"/>
                </a:rPr>
                <a:t>YES → </a:t>
              </a:r>
              <a:r>
                <a:rPr lang="ko-KR" altLang="en-US" sz="1600" b="1" spc="0" baseline="0" dirty="0">
                  <a:solidFill>
                    <a:srgbClr val="059669"/>
                  </a:solidFill>
                  <a:latin typeface="+mn-ea"/>
                  <a:cs typeface="Arial"/>
                  <a:sym typeface="맑은 고딕"/>
                  <a:rtl val="0"/>
                </a:rPr>
                <a:t>완료</a:t>
              </a:r>
              <a:r>
                <a:rPr lang="ko-KR" altLang="en-US" sz="1600" b="1" spc="0" baseline="0" dirty="0">
                  <a:solidFill>
                    <a:srgbClr val="059669"/>
                  </a:solidFill>
                  <a:latin typeface="+mn-ea"/>
                  <a:cs typeface="Arial"/>
                  <a:sym typeface="Arial"/>
                  <a:rtl val="0"/>
                </a:rPr>
                <a:t>!</a:t>
              </a:r>
            </a:p>
          </p:txBody>
        </p:sp>
      </p:grpSp>
      <p:pic>
        <p:nvPicPr>
          <p:cNvPr id="2191" name="그림 2190">
            <a:extLst>
              <a:ext uri="{FF2B5EF4-FFF2-40B4-BE49-F238E27FC236}">
                <a16:creationId xmlns:a16="http://schemas.microsoft.com/office/drawing/2014/main" id="{BE9825A2-2B8F-4E1C-997E-8EB39A408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188" y="1111109"/>
            <a:ext cx="8811803" cy="277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5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try03 vs try04 —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뭐가 달라졌나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latin typeface="+mn-ea"/>
              </a:rPr>
              <a:t>try03 vs try04 — </a:t>
            </a:r>
            <a:r>
              <a:rPr lang="ko-KR" altLang="en-US" sz="1600" b="1" dirty="0">
                <a:latin typeface="+mn-ea"/>
              </a:rPr>
              <a:t>뭐가 달라졌나</a:t>
            </a: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393845"/>
            <a:ext cx="11258550" cy="19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try03</a:t>
            </a:r>
            <a:r>
              <a:rPr lang="ko-KR" altLang="en-US" sz="1400" dirty="0">
                <a:latin typeface="+mn-ea"/>
              </a:rPr>
              <a:t>은 </a:t>
            </a:r>
            <a:r>
              <a:rPr lang="en-US" altLang="ko-KR" sz="1400" dirty="0">
                <a:latin typeface="+mn-ea"/>
              </a:rPr>
              <a:t>MOF </a:t>
            </a:r>
            <a:r>
              <a:rPr lang="ko-KR" altLang="en-US" sz="1400" dirty="0">
                <a:latin typeface="+mn-ea"/>
              </a:rPr>
              <a:t>안에 </a:t>
            </a:r>
            <a:r>
              <a:rPr lang="ko-KR" altLang="en-US" sz="1400" dirty="0" err="1">
                <a:latin typeface="+mn-ea"/>
              </a:rPr>
              <a:t>이온쌍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개를 넣고 </a:t>
            </a:r>
            <a:r>
              <a:rPr lang="en-US" altLang="ko-KR" sz="1400" dirty="0">
                <a:latin typeface="+mn-ea"/>
              </a:rPr>
              <a:t>DFT</a:t>
            </a:r>
            <a:r>
              <a:rPr lang="ko-KR" altLang="en-US" sz="1400" dirty="0">
                <a:latin typeface="+mn-ea"/>
              </a:rPr>
              <a:t>를 돌린 기존 계산이고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이건 성공적으로 끝났습니다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try04</a:t>
            </a:r>
            <a:r>
              <a:rPr lang="ko-KR" altLang="en-US" sz="1400" dirty="0">
                <a:latin typeface="+mn-ea"/>
              </a:rPr>
              <a:t>는 </a:t>
            </a:r>
            <a:r>
              <a:rPr lang="ko-KR" altLang="en-US" sz="1400" dirty="0" err="1">
                <a:latin typeface="+mn-ea"/>
              </a:rPr>
              <a:t>리뷰어</a:t>
            </a:r>
            <a:r>
              <a:rPr lang="ko-KR" altLang="en-US" sz="1400" dirty="0">
                <a:latin typeface="+mn-ea"/>
              </a:rPr>
              <a:t> 대응을 위해 이온쌍을 </a:t>
            </a:r>
            <a:r>
              <a:rPr lang="en-US" altLang="ko-KR" sz="1400" dirty="0">
                <a:latin typeface="+mn-ea"/>
              </a:rPr>
              <a:t>2</a:t>
            </a:r>
            <a:r>
              <a:rPr lang="ko-KR" altLang="en-US" sz="1400" dirty="0">
                <a:latin typeface="+mn-ea"/>
              </a:rPr>
              <a:t>개로 늘린 새 계산인데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원자가 </a:t>
            </a:r>
            <a:r>
              <a:rPr lang="en-US" altLang="ko-KR" sz="1400" dirty="0">
                <a:latin typeface="+mn-ea"/>
              </a:rPr>
              <a:t>158</a:t>
            </a:r>
            <a:r>
              <a:rPr lang="ko-KR" altLang="en-US" sz="1400" dirty="0">
                <a:latin typeface="+mn-ea"/>
              </a:rPr>
              <a:t>개에서 </a:t>
            </a:r>
            <a:r>
              <a:rPr lang="en-US" altLang="ko-KR" sz="1400" dirty="0">
                <a:latin typeface="+mn-ea"/>
              </a:rPr>
              <a:t>192</a:t>
            </a:r>
            <a:r>
              <a:rPr lang="ko-KR" altLang="en-US" sz="1400" dirty="0">
                <a:latin typeface="+mn-ea"/>
              </a:rPr>
              <a:t>개로 </a:t>
            </a:r>
            <a:r>
              <a:rPr lang="en-US" altLang="ko-KR" sz="1400" dirty="0">
                <a:latin typeface="+mn-ea"/>
              </a:rPr>
              <a:t>34</a:t>
            </a:r>
            <a:r>
              <a:rPr lang="ko-KR" altLang="en-US" sz="1400" dirty="0">
                <a:latin typeface="+mn-ea"/>
              </a:rPr>
              <a:t>개 늘었습니다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가장 큰 차이는 </a:t>
            </a:r>
            <a:r>
              <a:rPr lang="en-US" altLang="ko-KR" sz="1400" dirty="0">
                <a:latin typeface="+mn-ea"/>
              </a:rPr>
              <a:t>try03</a:t>
            </a:r>
            <a:r>
              <a:rPr lang="ko-KR" altLang="en-US" sz="1400" dirty="0">
                <a:latin typeface="+mn-ea"/>
              </a:rPr>
              <a:t>은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이미 거의 수렴된 전자 분포</a:t>
            </a:r>
            <a:r>
              <a:rPr lang="en-US" altLang="ko-KR" sz="1400" dirty="0">
                <a:latin typeface="+mn-ea"/>
              </a:rPr>
              <a:t>(</a:t>
            </a:r>
            <a:r>
              <a:rPr lang="en-US" altLang="ko-KR" sz="1400" dirty="0" err="1">
                <a:latin typeface="+mn-ea"/>
              </a:rPr>
              <a:t>wfn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파일</a:t>
            </a:r>
            <a:r>
              <a:rPr lang="en-US" altLang="ko-KR" sz="1400" dirty="0">
                <a:latin typeface="+mn-ea"/>
              </a:rPr>
              <a:t>)"</a:t>
            </a:r>
            <a:r>
              <a:rPr lang="ko-KR" altLang="en-US" sz="1400" dirty="0">
                <a:latin typeface="+mn-ea"/>
              </a:rPr>
              <a:t>에서 이어서 시작했다는 것입니다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try04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 err="1">
                <a:latin typeface="+mn-ea"/>
              </a:rPr>
              <a:t>wfn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파일이 없으니 </a:t>
            </a:r>
            <a:r>
              <a:rPr lang="en-US" altLang="ko-KR" sz="1400" dirty="0">
                <a:latin typeface="+mn-ea"/>
              </a:rPr>
              <a:t>ATOMIC guess, </a:t>
            </a:r>
            <a:r>
              <a:rPr lang="ko-KR" altLang="en-US" sz="1400" dirty="0">
                <a:latin typeface="+mn-ea"/>
              </a:rPr>
              <a:t>즉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각 원자가 혼자 있다고 가정한 전자 분포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에서 출발합니다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실제 </a:t>
            </a:r>
            <a:r>
              <a:rPr lang="en-US" altLang="ko-KR" sz="1400" dirty="0">
                <a:latin typeface="+mn-ea"/>
              </a:rPr>
              <a:t>MOF+</a:t>
            </a:r>
            <a:r>
              <a:rPr lang="ko-KR" altLang="en-US" sz="1400" dirty="0">
                <a:latin typeface="+mn-ea"/>
              </a:rPr>
              <a:t>이온 상태와 원자 단독 상태는 전자 분포가 완전히 다르기 때문에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출발점이 정답에서 매우 멉니다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ALPHA(mixing </a:t>
            </a:r>
            <a:r>
              <a:rPr lang="ko-KR" altLang="en-US" sz="1400" dirty="0">
                <a:latin typeface="+mn-ea"/>
              </a:rPr>
              <a:t>세기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를 </a:t>
            </a:r>
            <a:r>
              <a:rPr lang="en-US" altLang="ko-KR" sz="1400" dirty="0">
                <a:latin typeface="+mn-ea"/>
              </a:rPr>
              <a:t>try03</a:t>
            </a:r>
            <a:r>
              <a:rPr lang="ko-KR" altLang="en-US" sz="1400" dirty="0">
                <a:latin typeface="+mn-ea"/>
              </a:rPr>
              <a:t>과 똑같은 </a:t>
            </a:r>
            <a:r>
              <a:rPr lang="en-US" altLang="ko-KR" sz="1400" dirty="0">
                <a:latin typeface="+mn-ea"/>
              </a:rPr>
              <a:t>0.15</a:t>
            </a:r>
            <a:r>
              <a:rPr lang="ko-KR" altLang="en-US" sz="1400" dirty="0">
                <a:latin typeface="+mn-ea"/>
              </a:rPr>
              <a:t>로 뒀는데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출발점이 더 먼 상황에서 같은 세기로 밀면 진동이 생깁니다</a:t>
            </a: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370E031B-A0D3-4B35-825E-FF2FDA49E4BA}"/>
              </a:ext>
            </a:extLst>
          </p:cNvPr>
          <p:cNvSpPr/>
          <p:nvPr/>
        </p:nvSpPr>
        <p:spPr>
          <a:xfrm>
            <a:off x="2184556" y="1178882"/>
            <a:ext cx="7620000" cy="3048000"/>
          </a:xfrm>
          <a:custGeom>
            <a:avLst/>
            <a:gdLst>
              <a:gd name="connsiteX0" fmla="*/ 0 w 7620000"/>
              <a:gd name="connsiteY0" fmla="*/ 0 h 3048000"/>
              <a:gd name="connsiteX1" fmla="*/ 7620000 w 7620000"/>
              <a:gd name="connsiteY1" fmla="*/ 0 h 3048000"/>
              <a:gd name="connsiteX2" fmla="*/ 7620000 w 7620000"/>
              <a:gd name="connsiteY2" fmla="*/ 3048000 h 3048000"/>
              <a:gd name="connsiteX3" fmla="*/ 0 w 7620000"/>
              <a:gd name="connsiteY3" fmla="*/ 304800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0" h="3048000">
                <a:moveTo>
                  <a:pt x="0" y="0"/>
                </a:moveTo>
                <a:lnTo>
                  <a:pt x="7620000" y="0"/>
                </a:lnTo>
                <a:lnTo>
                  <a:pt x="7620000" y="3048000"/>
                </a:lnTo>
                <a:lnTo>
                  <a:pt x="0" y="304800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>
              <a:latin typeface="+mn-ea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AD50A8AE-69E6-4DC9-B049-4AA74B1E11E9}"/>
              </a:ext>
            </a:extLst>
          </p:cNvPr>
          <p:cNvSpPr/>
          <p:nvPr/>
        </p:nvSpPr>
        <p:spPr>
          <a:xfrm>
            <a:off x="2184556" y="1178882"/>
            <a:ext cx="7620000" cy="419100"/>
          </a:xfrm>
          <a:custGeom>
            <a:avLst/>
            <a:gdLst>
              <a:gd name="connsiteX0" fmla="*/ 0 w 7620000"/>
              <a:gd name="connsiteY0" fmla="*/ 0 h 419100"/>
              <a:gd name="connsiteX1" fmla="*/ 7620000 w 7620000"/>
              <a:gd name="connsiteY1" fmla="*/ 0 h 419100"/>
              <a:gd name="connsiteX2" fmla="*/ 7620000 w 7620000"/>
              <a:gd name="connsiteY2" fmla="*/ 419100 h 419100"/>
              <a:gd name="connsiteX3" fmla="*/ 0 w 7620000"/>
              <a:gd name="connsiteY3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0" h="419100">
                <a:moveTo>
                  <a:pt x="0" y="0"/>
                </a:moveTo>
                <a:lnTo>
                  <a:pt x="7620000" y="0"/>
                </a:lnTo>
                <a:lnTo>
                  <a:pt x="7620000" y="419100"/>
                </a:lnTo>
                <a:lnTo>
                  <a:pt x="0" y="419100"/>
                </a:lnTo>
                <a:close/>
              </a:path>
            </a:pathLst>
          </a:custGeom>
          <a:solidFill>
            <a:srgbClr val="1B2A4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BB853-A6D6-4FAF-BEBE-3CB1FD47818D}"/>
              </a:ext>
            </a:extLst>
          </p:cNvPr>
          <p:cNvSpPr txBox="1"/>
          <p:nvPr/>
        </p:nvSpPr>
        <p:spPr>
          <a:xfrm>
            <a:off x="4166171" y="1161737"/>
            <a:ext cx="3656771" cy="417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spc="0" baseline="0" dirty="0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try03 (</a:t>
            </a:r>
            <a:r>
              <a:rPr lang="ko-KR" altLang="en-US" sz="1600" b="1" spc="0" baseline="0" dirty="0">
                <a:solidFill>
                  <a:srgbClr val="FFFFFF"/>
                </a:solidFill>
                <a:latin typeface="+mn-ea"/>
                <a:cs typeface="Arial"/>
                <a:sym typeface="맑은 고딕"/>
                <a:rtl val="0"/>
              </a:rPr>
              <a:t>성공</a:t>
            </a:r>
            <a:r>
              <a:rPr lang="ko-KR" altLang="en-US" sz="1600" b="1" spc="0" baseline="0" dirty="0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) vs try04 (</a:t>
            </a:r>
            <a:r>
              <a:rPr lang="ko-KR" altLang="en-US" sz="1600" b="1" spc="0" baseline="0" dirty="0">
                <a:solidFill>
                  <a:srgbClr val="FFFFFF"/>
                </a:solidFill>
                <a:latin typeface="+mn-ea"/>
                <a:cs typeface="Arial"/>
                <a:sym typeface="맑은 고딕"/>
                <a:rtl val="0"/>
              </a:rPr>
              <a:t>실패</a:t>
            </a:r>
            <a:r>
              <a:rPr lang="ko-KR" altLang="en-US" sz="1600" b="1" spc="0" baseline="0" dirty="0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) </a:t>
            </a:r>
            <a:r>
              <a:rPr lang="ko-KR" altLang="en-US" sz="1600" b="1" spc="0" baseline="0" dirty="0">
                <a:solidFill>
                  <a:srgbClr val="FFFFFF"/>
                </a:solidFill>
                <a:latin typeface="+mn-ea"/>
                <a:cs typeface="Arial"/>
                <a:sym typeface="맑은 고딕"/>
                <a:rtl val="0"/>
              </a:rPr>
              <a:t>핵심</a:t>
            </a:r>
            <a:r>
              <a:rPr lang="ko-KR" altLang="en-US" sz="1600" b="1" spc="0" baseline="0" dirty="0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600" b="1" spc="0" baseline="0" dirty="0">
                <a:solidFill>
                  <a:srgbClr val="FFFFFF"/>
                </a:solidFill>
                <a:latin typeface="+mn-ea"/>
                <a:cs typeface="Arial"/>
                <a:sym typeface="맑은 고딕"/>
                <a:rtl val="0"/>
              </a:rPr>
              <a:t>차이</a:t>
            </a: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31C8CF27-BA68-4362-B24A-4FFF2BDB45CB}"/>
              </a:ext>
            </a:extLst>
          </p:cNvPr>
          <p:cNvSpPr/>
          <p:nvPr/>
        </p:nvSpPr>
        <p:spPr>
          <a:xfrm>
            <a:off x="2470306" y="1750382"/>
            <a:ext cx="3333750" cy="2286000"/>
          </a:xfrm>
          <a:custGeom>
            <a:avLst/>
            <a:gdLst>
              <a:gd name="connsiteX0" fmla="*/ 3276600 w 3333750"/>
              <a:gd name="connsiteY0" fmla="*/ 0 h 2286000"/>
              <a:gd name="connsiteX1" fmla="*/ 3333750 w 3333750"/>
              <a:gd name="connsiteY1" fmla="*/ 0 h 2286000"/>
              <a:gd name="connsiteX2" fmla="*/ 3333750 w 3333750"/>
              <a:gd name="connsiteY2" fmla="*/ 2286000 h 2286000"/>
              <a:gd name="connsiteX3" fmla="*/ 3276600 w 3333750"/>
              <a:gd name="connsiteY3" fmla="*/ 2286000 h 2286000"/>
              <a:gd name="connsiteX4" fmla="*/ 57150 w 3333750"/>
              <a:gd name="connsiteY4" fmla="*/ 2286000 h 2286000"/>
              <a:gd name="connsiteX5" fmla="*/ 0 w 3333750"/>
              <a:gd name="connsiteY5" fmla="*/ 2286000 h 2286000"/>
              <a:gd name="connsiteX6" fmla="*/ 0 w 3333750"/>
              <a:gd name="connsiteY6" fmla="*/ 0 h 2286000"/>
              <a:gd name="connsiteX7" fmla="*/ 57150 w 3333750"/>
              <a:gd name="connsiteY7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3750" h="2286000">
                <a:moveTo>
                  <a:pt x="3276600" y="0"/>
                </a:moveTo>
                <a:cubicBezTo>
                  <a:pt x="3308163" y="0"/>
                  <a:pt x="3333750" y="0"/>
                  <a:pt x="3333750" y="0"/>
                </a:cubicBezTo>
                <a:lnTo>
                  <a:pt x="3333750" y="2286000"/>
                </a:lnTo>
                <a:cubicBezTo>
                  <a:pt x="3333750" y="2286000"/>
                  <a:pt x="3308163" y="2286000"/>
                  <a:pt x="3276600" y="2286000"/>
                </a:cubicBezTo>
                <a:lnTo>
                  <a:pt x="57150" y="2286000"/>
                </a:lnTo>
                <a:cubicBezTo>
                  <a:pt x="25587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 w="28575" cap="flat">
            <a:solidFill>
              <a:srgbClr val="2563EB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>
              <a:latin typeface="+mn-ea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61303E02-D823-4B67-B3F6-5BC2CA7D28A6}"/>
              </a:ext>
            </a:extLst>
          </p:cNvPr>
          <p:cNvSpPr/>
          <p:nvPr/>
        </p:nvSpPr>
        <p:spPr>
          <a:xfrm>
            <a:off x="2470306" y="1750382"/>
            <a:ext cx="3333750" cy="381000"/>
          </a:xfrm>
          <a:custGeom>
            <a:avLst/>
            <a:gdLst>
              <a:gd name="connsiteX0" fmla="*/ 3276600 w 3333750"/>
              <a:gd name="connsiteY0" fmla="*/ 0 h 381000"/>
              <a:gd name="connsiteX1" fmla="*/ 3333750 w 3333750"/>
              <a:gd name="connsiteY1" fmla="*/ 0 h 381000"/>
              <a:gd name="connsiteX2" fmla="*/ 3333750 w 3333750"/>
              <a:gd name="connsiteY2" fmla="*/ 381000 h 381000"/>
              <a:gd name="connsiteX3" fmla="*/ 3276600 w 3333750"/>
              <a:gd name="connsiteY3" fmla="*/ 381000 h 381000"/>
              <a:gd name="connsiteX4" fmla="*/ 57150 w 3333750"/>
              <a:gd name="connsiteY4" fmla="*/ 381000 h 381000"/>
              <a:gd name="connsiteX5" fmla="*/ 0 w 3333750"/>
              <a:gd name="connsiteY5" fmla="*/ 381000 h 381000"/>
              <a:gd name="connsiteX6" fmla="*/ 0 w 3333750"/>
              <a:gd name="connsiteY6" fmla="*/ 0 h 381000"/>
              <a:gd name="connsiteX7" fmla="*/ 57150 w 333375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3750" h="381000">
                <a:moveTo>
                  <a:pt x="3276600" y="0"/>
                </a:moveTo>
                <a:cubicBezTo>
                  <a:pt x="3308163" y="0"/>
                  <a:pt x="3333750" y="0"/>
                  <a:pt x="3333750" y="0"/>
                </a:cubicBezTo>
                <a:lnTo>
                  <a:pt x="3333750" y="381000"/>
                </a:lnTo>
                <a:cubicBezTo>
                  <a:pt x="3333750" y="381000"/>
                  <a:pt x="3308163" y="381000"/>
                  <a:pt x="3276600" y="381000"/>
                </a:cubicBezTo>
                <a:lnTo>
                  <a:pt x="57150" y="381000"/>
                </a:lnTo>
                <a:cubicBezTo>
                  <a:pt x="2558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2563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>
              <a:latin typeface="+mn-ea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B66B08BB-2D00-4274-A2A4-3765C779704F}"/>
              </a:ext>
            </a:extLst>
          </p:cNvPr>
          <p:cNvSpPr/>
          <p:nvPr/>
        </p:nvSpPr>
        <p:spPr>
          <a:xfrm>
            <a:off x="2470306" y="2093282"/>
            <a:ext cx="3333750" cy="38100"/>
          </a:xfrm>
          <a:custGeom>
            <a:avLst/>
            <a:gdLst>
              <a:gd name="connsiteX0" fmla="*/ 0 w 3333750"/>
              <a:gd name="connsiteY0" fmla="*/ 0 h 38100"/>
              <a:gd name="connsiteX1" fmla="*/ 3333750 w 3333750"/>
              <a:gd name="connsiteY1" fmla="*/ 0 h 38100"/>
              <a:gd name="connsiteX2" fmla="*/ 3333750 w 3333750"/>
              <a:gd name="connsiteY2" fmla="*/ 38100 h 38100"/>
              <a:gd name="connsiteX3" fmla="*/ 0 w 33337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3750" h="38100">
                <a:moveTo>
                  <a:pt x="0" y="0"/>
                </a:moveTo>
                <a:lnTo>
                  <a:pt x="3333750" y="0"/>
                </a:lnTo>
                <a:lnTo>
                  <a:pt x="33337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2563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F0CD39-F8E6-4A2F-8A47-8C2B0F85B674}"/>
              </a:ext>
            </a:extLst>
          </p:cNvPr>
          <p:cNvSpPr txBox="1"/>
          <p:nvPr/>
        </p:nvSpPr>
        <p:spPr>
          <a:xfrm>
            <a:off x="3283421" y="1723712"/>
            <a:ext cx="1707519" cy="377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spc="0" baseline="0" dirty="0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try03 — 1 </a:t>
            </a:r>
            <a:r>
              <a:rPr lang="ko-KR" altLang="en-US" sz="1400" b="1" spc="0" baseline="0" dirty="0" err="1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Ion</a:t>
            </a:r>
            <a:r>
              <a:rPr lang="ko-KR" altLang="en-US" sz="1400" b="1" spc="0" baseline="0" dirty="0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400" b="1" spc="0" baseline="0" dirty="0" err="1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Pair</a:t>
            </a:r>
            <a:endParaRPr lang="ko-KR" altLang="en-US" sz="1400" b="1" spc="0" baseline="0" dirty="0">
              <a:solidFill>
                <a:srgbClr val="FFFFFF"/>
              </a:solidFill>
              <a:latin typeface="+mn-ea"/>
              <a:cs typeface="Arial"/>
              <a:sym typeface="Segoe UI Emoji"/>
              <a:rtl val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198ECA-5320-437A-AC3C-C315159A3193}"/>
              </a:ext>
            </a:extLst>
          </p:cNvPr>
          <p:cNvSpPr txBox="1"/>
          <p:nvPr/>
        </p:nvSpPr>
        <p:spPr>
          <a:xfrm>
            <a:off x="2645808" y="2199962"/>
            <a:ext cx="934872" cy="336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sym typeface="맑은 고딕"/>
                <a:rtl val="0"/>
              </a:rPr>
              <a:t>원자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Arial"/>
                <a:rtl val="0"/>
              </a:rPr>
              <a:t>: 158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맑은 고딕"/>
                <a:rtl val="0"/>
              </a:rPr>
              <a:t>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F96DA6-2490-4233-9443-9489F7543328}"/>
              </a:ext>
            </a:extLst>
          </p:cNvPr>
          <p:cNvSpPr txBox="1"/>
          <p:nvPr/>
        </p:nvSpPr>
        <p:spPr>
          <a:xfrm>
            <a:off x="2626126" y="2476187"/>
            <a:ext cx="2050562" cy="336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Arial"/>
                <a:rtl val="0"/>
              </a:rPr>
              <a:t>SCF Guess: RESTART (wfn)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281450-2482-4C51-A604-EECB4B461DE2}"/>
              </a:ext>
            </a:extLst>
          </p:cNvPr>
          <p:cNvSpPr txBox="1"/>
          <p:nvPr/>
        </p:nvSpPr>
        <p:spPr>
          <a:xfrm>
            <a:off x="2659302" y="2714312"/>
            <a:ext cx="1755609" cy="336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Arial"/>
                <a:rtl val="0"/>
              </a:rPr>
              <a:t>→ 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맑은 고딕"/>
                <a:rtl val="0"/>
              </a:rPr>
              <a:t>정답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맑은 고딕"/>
                <a:rtl val="0"/>
              </a:rPr>
              <a:t>바로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맑은 고딕"/>
                <a:rtl val="0"/>
              </a:rPr>
              <a:t>옆에서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맑은 고딕"/>
                <a:rtl val="0"/>
              </a:rPr>
              <a:t>출발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C2394A-6960-4D6C-99B7-9BA1E79EED3C}"/>
              </a:ext>
            </a:extLst>
          </p:cNvPr>
          <p:cNvSpPr txBox="1"/>
          <p:nvPr/>
        </p:nvSpPr>
        <p:spPr>
          <a:xfrm>
            <a:off x="2613945" y="3047687"/>
            <a:ext cx="1122423" cy="336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Arial"/>
                <a:rtl val="0"/>
              </a:rPr>
              <a:t>ALPHA = 0.15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C96D55-B21C-49BF-8408-5E2C0491D209}"/>
              </a:ext>
            </a:extLst>
          </p:cNvPr>
          <p:cNvSpPr txBox="1"/>
          <p:nvPr/>
        </p:nvSpPr>
        <p:spPr>
          <a:xfrm>
            <a:off x="2661588" y="3285812"/>
            <a:ext cx="2103461" cy="336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Arial"/>
                <a:rtl val="0"/>
              </a:rPr>
              <a:t>→ 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맑은 고딕"/>
                <a:rtl val="0"/>
              </a:rPr>
              <a:t>가까우니까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맑은 고딕"/>
                <a:rtl val="0"/>
              </a:rPr>
              <a:t>세게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맑은 고딕"/>
                <a:rtl val="0"/>
              </a:rPr>
              <a:t>밀어도</a:t>
            </a:r>
            <a:r>
              <a:rPr lang="ko-KR" altLang="en-US" sz="1200" spc="0" baseline="0" dirty="0">
                <a:solidFill>
                  <a:srgbClr val="1E3A5F"/>
                </a:solidFill>
                <a:latin typeface="+mn-ea"/>
                <a:cs typeface="Arial"/>
                <a:sym typeface="Arial"/>
                <a:rtl val="0"/>
              </a:rPr>
              <a:t> 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7F72FF-1FE9-4FDF-A247-A8080A1D57E1}"/>
              </a:ext>
            </a:extLst>
          </p:cNvPr>
          <p:cNvSpPr txBox="1"/>
          <p:nvPr/>
        </p:nvSpPr>
        <p:spPr>
          <a:xfrm>
            <a:off x="2800291" y="3600137"/>
            <a:ext cx="2265365" cy="374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spc="0" baseline="0" dirty="0">
                <a:solidFill>
                  <a:srgbClr val="059669"/>
                </a:solidFill>
                <a:latin typeface="+mn-ea"/>
                <a:cs typeface="Arial"/>
                <a:sym typeface="Arial"/>
                <a:rtl val="0"/>
              </a:rPr>
              <a:t>E = −1613.7984 Ha (</a:t>
            </a:r>
            <a:r>
              <a:rPr lang="ko-KR" altLang="en-US" sz="1400" b="1" spc="0" baseline="0" dirty="0">
                <a:solidFill>
                  <a:srgbClr val="059669"/>
                </a:solidFill>
                <a:latin typeface="+mn-ea"/>
                <a:cs typeface="Arial"/>
                <a:sym typeface="맑은 고딕"/>
                <a:rtl val="0"/>
              </a:rPr>
              <a:t>수렴</a:t>
            </a:r>
            <a:r>
              <a:rPr lang="ko-KR" altLang="en-US" sz="1400" b="1" spc="0" baseline="0" dirty="0">
                <a:solidFill>
                  <a:srgbClr val="059669"/>
                </a:solidFill>
                <a:latin typeface="+mn-ea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7180012F-EEFA-4894-87C4-403FF3817A35}"/>
              </a:ext>
            </a:extLst>
          </p:cNvPr>
          <p:cNvSpPr/>
          <p:nvPr/>
        </p:nvSpPr>
        <p:spPr>
          <a:xfrm>
            <a:off x="6185056" y="1750382"/>
            <a:ext cx="3333750" cy="2286000"/>
          </a:xfrm>
          <a:custGeom>
            <a:avLst/>
            <a:gdLst>
              <a:gd name="connsiteX0" fmla="*/ 3276600 w 3333750"/>
              <a:gd name="connsiteY0" fmla="*/ 0 h 2286000"/>
              <a:gd name="connsiteX1" fmla="*/ 3333750 w 3333750"/>
              <a:gd name="connsiteY1" fmla="*/ 0 h 2286000"/>
              <a:gd name="connsiteX2" fmla="*/ 3333750 w 3333750"/>
              <a:gd name="connsiteY2" fmla="*/ 2286000 h 2286000"/>
              <a:gd name="connsiteX3" fmla="*/ 3276600 w 3333750"/>
              <a:gd name="connsiteY3" fmla="*/ 2286000 h 2286000"/>
              <a:gd name="connsiteX4" fmla="*/ 57150 w 3333750"/>
              <a:gd name="connsiteY4" fmla="*/ 2286000 h 2286000"/>
              <a:gd name="connsiteX5" fmla="*/ 0 w 3333750"/>
              <a:gd name="connsiteY5" fmla="*/ 2286000 h 2286000"/>
              <a:gd name="connsiteX6" fmla="*/ 0 w 3333750"/>
              <a:gd name="connsiteY6" fmla="*/ 0 h 2286000"/>
              <a:gd name="connsiteX7" fmla="*/ 57150 w 3333750"/>
              <a:gd name="connsiteY7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3750" h="2286000">
                <a:moveTo>
                  <a:pt x="3276600" y="0"/>
                </a:moveTo>
                <a:cubicBezTo>
                  <a:pt x="3308163" y="0"/>
                  <a:pt x="3333750" y="0"/>
                  <a:pt x="3333750" y="0"/>
                </a:cubicBezTo>
                <a:lnTo>
                  <a:pt x="3333750" y="2286000"/>
                </a:lnTo>
                <a:cubicBezTo>
                  <a:pt x="3333750" y="2286000"/>
                  <a:pt x="3308163" y="2286000"/>
                  <a:pt x="3276600" y="2286000"/>
                </a:cubicBezTo>
                <a:lnTo>
                  <a:pt x="57150" y="2286000"/>
                </a:lnTo>
                <a:cubicBezTo>
                  <a:pt x="25587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FEF2F2"/>
          </a:solidFill>
          <a:ln w="28575" cap="flat">
            <a:solidFill>
              <a:srgbClr val="DC2626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>
              <a:latin typeface="+mn-ea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14687A75-14E5-49D3-A3B9-5C66A1E3E75C}"/>
              </a:ext>
            </a:extLst>
          </p:cNvPr>
          <p:cNvSpPr/>
          <p:nvPr/>
        </p:nvSpPr>
        <p:spPr>
          <a:xfrm>
            <a:off x="6185056" y="1750382"/>
            <a:ext cx="3333750" cy="381000"/>
          </a:xfrm>
          <a:custGeom>
            <a:avLst/>
            <a:gdLst>
              <a:gd name="connsiteX0" fmla="*/ 3276600 w 3333750"/>
              <a:gd name="connsiteY0" fmla="*/ 0 h 381000"/>
              <a:gd name="connsiteX1" fmla="*/ 3333750 w 3333750"/>
              <a:gd name="connsiteY1" fmla="*/ 0 h 381000"/>
              <a:gd name="connsiteX2" fmla="*/ 3333750 w 3333750"/>
              <a:gd name="connsiteY2" fmla="*/ 381000 h 381000"/>
              <a:gd name="connsiteX3" fmla="*/ 3276600 w 3333750"/>
              <a:gd name="connsiteY3" fmla="*/ 381000 h 381000"/>
              <a:gd name="connsiteX4" fmla="*/ 57150 w 3333750"/>
              <a:gd name="connsiteY4" fmla="*/ 381000 h 381000"/>
              <a:gd name="connsiteX5" fmla="*/ 0 w 3333750"/>
              <a:gd name="connsiteY5" fmla="*/ 381000 h 381000"/>
              <a:gd name="connsiteX6" fmla="*/ 0 w 3333750"/>
              <a:gd name="connsiteY6" fmla="*/ 0 h 381000"/>
              <a:gd name="connsiteX7" fmla="*/ 57150 w 333375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3750" h="381000">
                <a:moveTo>
                  <a:pt x="3276600" y="0"/>
                </a:moveTo>
                <a:cubicBezTo>
                  <a:pt x="3308163" y="0"/>
                  <a:pt x="3333750" y="0"/>
                  <a:pt x="3333750" y="0"/>
                </a:cubicBezTo>
                <a:lnTo>
                  <a:pt x="3333750" y="381000"/>
                </a:lnTo>
                <a:cubicBezTo>
                  <a:pt x="3333750" y="381000"/>
                  <a:pt x="3308163" y="381000"/>
                  <a:pt x="3276600" y="381000"/>
                </a:cubicBezTo>
                <a:lnTo>
                  <a:pt x="57150" y="381000"/>
                </a:lnTo>
                <a:cubicBezTo>
                  <a:pt x="2558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DC262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>
              <a:latin typeface="+mn-ea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36AE3ED-4095-448E-B15E-9A1235561D3E}"/>
              </a:ext>
            </a:extLst>
          </p:cNvPr>
          <p:cNvSpPr/>
          <p:nvPr/>
        </p:nvSpPr>
        <p:spPr>
          <a:xfrm>
            <a:off x="6185056" y="2093282"/>
            <a:ext cx="3333750" cy="38100"/>
          </a:xfrm>
          <a:custGeom>
            <a:avLst/>
            <a:gdLst>
              <a:gd name="connsiteX0" fmla="*/ 0 w 3333750"/>
              <a:gd name="connsiteY0" fmla="*/ 0 h 38100"/>
              <a:gd name="connsiteX1" fmla="*/ 3333750 w 3333750"/>
              <a:gd name="connsiteY1" fmla="*/ 0 h 38100"/>
              <a:gd name="connsiteX2" fmla="*/ 3333750 w 3333750"/>
              <a:gd name="connsiteY2" fmla="*/ 38100 h 38100"/>
              <a:gd name="connsiteX3" fmla="*/ 0 w 33337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3750" h="38100">
                <a:moveTo>
                  <a:pt x="0" y="0"/>
                </a:moveTo>
                <a:lnTo>
                  <a:pt x="3333750" y="0"/>
                </a:lnTo>
                <a:lnTo>
                  <a:pt x="33337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DC262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2D7CF7-71D1-4053-8E56-C8E01BE1234C}"/>
              </a:ext>
            </a:extLst>
          </p:cNvPr>
          <p:cNvSpPr txBox="1"/>
          <p:nvPr/>
        </p:nvSpPr>
        <p:spPr>
          <a:xfrm>
            <a:off x="6946875" y="1723712"/>
            <a:ext cx="1810111" cy="377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spc="0" baseline="0" dirty="0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try04 — 2 </a:t>
            </a:r>
            <a:r>
              <a:rPr lang="ko-KR" altLang="en-US" sz="1400" b="1" spc="0" baseline="0" dirty="0" err="1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Ion</a:t>
            </a:r>
            <a:r>
              <a:rPr lang="ko-KR" altLang="en-US" sz="1400" b="1" spc="0" baseline="0" dirty="0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400" b="1" spc="0" baseline="0" dirty="0" err="1">
                <a:solidFill>
                  <a:srgbClr val="FFFFFF"/>
                </a:solidFill>
                <a:latin typeface="+mn-ea"/>
                <a:cs typeface="Arial"/>
                <a:sym typeface="Arial"/>
                <a:rtl val="0"/>
              </a:rPr>
              <a:t>Pairs</a:t>
            </a:r>
            <a:endParaRPr lang="ko-KR" altLang="en-US" sz="1400" b="1" spc="0" baseline="0" dirty="0">
              <a:solidFill>
                <a:srgbClr val="FFFFFF"/>
              </a:solidFill>
              <a:latin typeface="+mn-ea"/>
              <a:cs typeface="Arial"/>
              <a:sym typeface="Segoe UI Emoji"/>
              <a:rtl val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CB5832-5923-4419-8D1F-6D182FEA7517}"/>
              </a:ext>
            </a:extLst>
          </p:cNvPr>
          <p:cNvSpPr txBox="1"/>
          <p:nvPr/>
        </p:nvSpPr>
        <p:spPr>
          <a:xfrm>
            <a:off x="6342714" y="2199962"/>
            <a:ext cx="1342035" cy="336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0" baseline="0" dirty="0">
                <a:solidFill>
                  <a:srgbClr val="5F1E1E"/>
                </a:solidFill>
                <a:latin typeface="+mn-ea"/>
                <a:sym typeface="맑은 고딕"/>
                <a:rtl val="0"/>
              </a:rPr>
              <a:t>원자</a:t>
            </a:r>
            <a:r>
              <a:rPr lang="ko-KR" altLang="en-US" sz="1200" spc="0" baseline="0" dirty="0">
                <a:solidFill>
                  <a:srgbClr val="5F1E1E"/>
                </a:solidFill>
                <a:latin typeface="+mn-ea"/>
                <a:cs typeface="Arial"/>
                <a:sym typeface="Arial"/>
                <a:rtl val="0"/>
              </a:rPr>
              <a:t>: 192</a:t>
            </a:r>
            <a:r>
              <a:rPr lang="ko-KR" altLang="en-US" sz="1200" spc="0" baseline="0" dirty="0">
                <a:solidFill>
                  <a:srgbClr val="5F1E1E"/>
                </a:solidFill>
                <a:latin typeface="+mn-ea"/>
                <a:cs typeface="Arial"/>
                <a:sym typeface="맑은 고딕"/>
                <a:rtl val="0"/>
              </a:rPr>
              <a:t>개</a:t>
            </a:r>
            <a:r>
              <a:rPr lang="ko-KR" altLang="en-US" sz="1200" spc="0" baseline="0" dirty="0">
                <a:solidFill>
                  <a:srgbClr val="5F1E1E"/>
                </a:solidFill>
                <a:latin typeface="+mn-ea"/>
                <a:cs typeface="Arial"/>
                <a:sym typeface="Arial"/>
                <a:rtl val="0"/>
              </a:rPr>
              <a:t> (+34)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F11F8C-D325-487C-948F-FC38F25DA722}"/>
              </a:ext>
            </a:extLst>
          </p:cNvPr>
          <p:cNvSpPr txBox="1"/>
          <p:nvPr/>
        </p:nvSpPr>
        <p:spPr>
          <a:xfrm>
            <a:off x="6341409" y="2457137"/>
            <a:ext cx="2268571" cy="336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0" baseline="0" dirty="0">
                <a:solidFill>
                  <a:srgbClr val="5F1E1E"/>
                </a:solidFill>
                <a:latin typeface="+mn-ea"/>
                <a:cs typeface="Arial"/>
                <a:sym typeface="Arial"/>
                <a:rtl val="0"/>
              </a:rPr>
              <a:t>SCF Guess: ATOMIC (</a:t>
            </a:r>
            <a:r>
              <a:rPr lang="ko-KR" altLang="en-US" sz="1200" spc="0" baseline="0" dirty="0">
                <a:solidFill>
                  <a:srgbClr val="5F1E1E"/>
                </a:solidFill>
                <a:latin typeface="+mn-ea"/>
                <a:cs typeface="Arial"/>
                <a:sym typeface="맑은 고딕"/>
                <a:rtl val="0"/>
              </a:rPr>
              <a:t>처음부터</a:t>
            </a:r>
            <a:r>
              <a:rPr lang="ko-KR" altLang="en-US" sz="1200" spc="0" baseline="0" dirty="0">
                <a:solidFill>
                  <a:srgbClr val="5F1E1E"/>
                </a:solidFill>
                <a:latin typeface="+mn-ea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AD6ED0-24B0-4EF7-93B8-02AB1D866F06}"/>
              </a:ext>
            </a:extLst>
          </p:cNvPr>
          <p:cNvSpPr txBox="1"/>
          <p:nvPr/>
        </p:nvSpPr>
        <p:spPr>
          <a:xfrm>
            <a:off x="6375780" y="2714312"/>
            <a:ext cx="2218877" cy="336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→ 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정답에서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매우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먼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곳에서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출발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9D0285-EBC6-4DB3-AB18-7137C79091B9}"/>
              </a:ext>
            </a:extLst>
          </p:cNvPr>
          <p:cNvSpPr txBox="1"/>
          <p:nvPr/>
        </p:nvSpPr>
        <p:spPr>
          <a:xfrm>
            <a:off x="6324917" y="3028637"/>
            <a:ext cx="1739579" cy="336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0" baseline="0" dirty="0">
                <a:solidFill>
                  <a:srgbClr val="5F1E1E"/>
                </a:solidFill>
                <a:latin typeface="+mn-ea"/>
                <a:cs typeface="Arial"/>
                <a:sym typeface="Arial"/>
                <a:rtl val="0"/>
              </a:rPr>
              <a:t>ALPHA = 0.15 (</a:t>
            </a:r>
            <a:r>
              <a:rPr lang="ko-KR" altLang="en-US" sz="1200" spc="0" baseline="0" dirty="0">
                <a:solidFill>
                  <a:srgbClr val="5F1E1E"/>
                </a:solidFill>
                <a:latin typeface="+mn-ea"/>
                <a:cs typeface="Arial"/>
                <a:sym typeface="맑은 고딕"/>
                <a:rtl val="0"/>
              </a:rPr>
              <a:t>그대로</a:t>
            </a:r>
            <a:r>
              <a:rPr lang="ko-KR" altLang="en-US" sz="1200" spc="0" baseline="0" dirty="0">
                <a:solidFill>
                  <a:srgbClr val="5F1E1E"/>
                </a:solidFill>
                <a:latin typeface="+mn-ea"/>
                <a:cs typeface="Arial"/>
                <a:sym typeface="Arial"/>
                <a:rtl val="0"/>
              </a:rPr>
              <a:t>!)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B4BEA3-24C1-460E-BDCF-03B77AEE8DAC}"/>
              </a:ext>
            </a:extLst>
          </p:cNvPr>
          <p:cNvSpPr txBox="1"/>
          <p:nvPr/>
        </p:nvSpPr>
        <p:spPr>
          <a:xfrm>
            <a:off x="6374875" y="3285812"/>
            <a:ext cx="2077813" cy="336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→ 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멀리서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세게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밀면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진동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ko-KR" altLang="en-US" sz="12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발생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D1B6C3-786D-41D9-A8D7-7E02FB58B4A4}"/>
              </a:ext>
            </a:extLst>
          </p:cNvPr>
          <p:cNvSpPr txBox="1"/>
          <p:nvPr/>
        </p:nvSpPr>
        <p:spPr>
          <a:xfrm>
            <a:off x="6506677" y="3600137"/>
            <a:ext cx="2682145" cy="374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E ≈ −1886.36 Ha (</a:t>
            </a:r>
            <a:r>
              <a:rPr lang="ko-KR" altLang="en-US" sz="14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진동</a:t>
            </a:r>
            <a:r>
              <a:rPr lang="ko-KR" altLang="en-US" sz="14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, </a:t>
            </a:r>
            <a:r>
              <a:rPr lang="ko-KR" altLang="en-US" sz="1400" b="1" spc="0" baseline="0" dirty="0">
                <a:solidFill>
                  <a:srgbClr val="DC2626"/>
                </a:solidFill>
                <a:latin typeface="+mn-ea"/>
                <a:cs typeface="Arial"/>
                <a:sym typeface="맑은 고딕"/>
                <a:rtl val="0"/>
              </a:rPr>
              <a:t>미수렴</a:t>
            </a:r>
            <a:r>
              <a:rPr lang="ko-KR" altLang="en-US" sz="1400" b="1" spc="0" baseline="0" dirty="0">
                <a:solidFill>
                  <a:srgbClr val="DC2626"/>
                </a:solidFill>
                <a:latin typeface="+mn-ea"/>
                <a:cs typeface="Arial"/>
                <a:sym typeface="Arial"/>
                <a:rtl val="0"/>
              </a:rPr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DB36530C-222C-4A98-A5F4-1CEBF108A876}"/>
                  </a:ext>
                </a:extLst>
              </p14:cNvPr>
              <p14:cNvContentPartPr/>
              <p14:nvPr/>
            </p14:nvContentPartPr>
            <p14:xfrm>
              <a:off x="4000230" y="2056110"/>
              <a:ext cx="994680" cy="2052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DB36530C-222C-4A98-A5F4-1CEBF108A8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1590" y="2047470"/>
                <a:ext cx="1012320" cy="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54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문제 현상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SCF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에너지 진동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문제 현상 </a:t>
            </a:r>
            <a:r>
              <a:rPr lang="en-US" altLang="ko-KR" sz="1600" b="1" dirty="0">
                <a:latin typeface="+mn-ea"/>
              </a:rPr>
              <a:t>— SCF </a:t>
            </a:r>
            <a:r>
              <a:rPr lang="ko-KR" altLang="en-US" sz="1600" b="1" dirty="0">
                <a:latin typeface="+mn-ea"/>
              </a:rPr>
              <a:t>에너지 진동</a:t>
            </a: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393845"/>
            <a:ext cx="11258550" cy="19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dry-run </a:t>
            </a:r>
            <a:r>
              <a:rPr lang="ko-KR" altLang="en-US" sz="1400" dirty="0">
                <a:latin typeface="+mn-ea"/>
              </a:rPr>
              <a:t>로그를 보면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처음 </a:t>
            </a:r>
            <a:r>
              <a:rPr lang="en-US" altLang="ko-KR" sz="1400" dirty="0">
                <a:latin typeface="+mn-ea"/>
              </a:rPr>
              <a:t>10 step</a:t>
            </a:r>
            <a:r>
              <a:rPr lang="ko-KR" altLang="en-US" sz="1400" dirty="0">
                <a:latin typeface="+mn-ea"/>
              </a:rPr>
              <a:t>에서 에너지가 </a:t>
            </a:r>
            <a:r>
              <a:rPr lang="en-US" altLang="ko-KR" sz="1400" dirty="0">
                <a:latin typeface="+mn-ea"/>
              </a:rPr>
              <a:t>-1892 Ha</a:t>
            </a:r>
            <a:r>
              <a:rPr lang="ko-KR" altLang="en-US" sz="1400" dirty="0">
                <a:latin typeface="+mn-ea"/>
              </a:rPr>
              <a:t>에서 </a:t>
            </a:r>
            <a:r>
              <a:rPr lang="en-US" altLang="ko-KR" sz="1400" dirty="0">
                <a:latin typeface="+mn-ea"/>
              </a:rPr>
              <a:t>-1886 Ha </a:t>
            </a:r>
            <a:r>
              <a:rPr lang="ko-KR" altLang="en-US" sz="1400" dirty="0">
                <a:latin typeface="+mn-ea"/>
              </a:rPr>
              <a:t>근처까지 급격히 내려옵니다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그런데 </a:t>
            </a:r>
            <a:r>
              <a:rPr lang="en-US" altLang="ko-KR" sz="1400" dirty="0">
                <a:latin typeface="+mn-ea"/>
              </a:rPr>
              <a:t>-1886.35 Ha </a:t>
            </a:r>
            <a:r>
              <a:rPr lang="ko-KR" altLang="en-US" sz="1400" dirty="0">
                <a:latin typeface="+mn-ea"/>
              </a:rPr>
              <a:t>근처에 도달한 뒤로는 </a:t>
            </a:r>
            <a:r>
              <a:rPr lang="en-US" altLang="ko-KR" sz="1400" dirty="0">
                <a:latin typeface="+mn-ea"/>
              </a:rPr>
              <a:t>±0.03 Ha </a:t>
            </a:r>
            <a:r>
              <a:rPr lang="ko-KR" altLang="en-US" sz="1400" dirty="0">
                <a:latin typeface="+mn-ea"/>
              </a:rPr>
              <a:t>범위에서 위아래로 계속 흔들립니다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SCF </a:t>
            </a:r>
            <a:r>
              <a:rPr lang="ko-KR" altLang="en-US" sz="1400" dirty="0">
                <a:latin typeface="+mn-ea"/>
              </a:rPr>
              <a:t>수렴 기준</a:t>
            </a:r>
            <a:r>
              <a:rPr lang="en-US" altLang="ko-KR" sz="1400" dirty="0">
                <a:latin typeface="+mn-ea"/>
              </a:rPr>
              <a:t>(EPS_SCF = 5×10⁻⁷)</a:t>
            </a:r>
            <a:r>
              <a:rPr lang="ko-KR" altLang="en-US" sz="1400" dirty="0">
                <a:latin typeface="+mn-ea"/>
              </a:rPr>
              <a:t>에 도달하려면 변화량이 거의 </a:t>
            </a:r>
            <a:r>
              <a:rPr lang="en-US" altLang="ko-KR" sz="1400" dirty="0">
                <a:latin typeface="+mn-ea"/>
              </a:rPr>
              <a:t>0</a:t>
            </a:r>
            <a:r>
              <a:rPr lang="ko-KR" altLang="en-US" sz="1400" dirty="0">
                <a:latin typeface="+mn-ea"/>
              </a:rPr>
              <a:t>이 되어야 하는데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전혀 줄어들지 않고 있습니다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비유하면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공이 골짜기 바닥을 향해 굴러가다가 바닥을 지나쳐 반대편 벽까지 가고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다시 </a:t>
            </a:r>
            <a:r>
              <a:rPr lang="ko-KR" altLang="en-US" sz="1400" dirty="0" err="1">
                <a:latin typeface="+mn-ea"/>
              </a:rPr>
              <a:t>돌아오고를</a:t>
            </a:r>
            <a:r>
              <a:rPr lang="ko-KR" altLang="en-US" sz="1400" dirty="0">
                <a:latin typeface="+mn-ea"/>
              </a:rPr>
              <a:t> 반복하는 상태입니다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103 step</a:t>
            </a:r>
            <a:r>
              <a:rPr lang="ko-KR" altLang="en-US" sz="1400" dirty="0">
                <a:latin typeface="+mn-ea"/>
              </a:rPr>
              <a:t>까지 돌았는데도 </a:t>
            </a:r>
            <a:r>
              <a:rPr lang="en-US" altLang="ko-KR" sz="1400" dirty="0">
                <a:latin typeface="+mn-ea"/>
              </a:rPr>
              <a:t>convergence </a:t>
            </a:r>
            <a:r>
              <a:rPr lang="ko-KR" altLang="en-US" sz="1400" dirty="0">
                <a:latin typeface="+mn-ea"/>
              </a:rPr>
              <a:t>값이 </a:t>
            </a:r>
            <a:r>
              <a:rPr lang="en-US" altLang="ko-KR" sz="1400" dirty="0">
                <a:latin typeface="+mn-ea"/>
              </a:rPr>
              <a:t>0.003</a:t>
            </a:r>
            <a:r>
              <a:rPr lang="ko-KR" altLang="en-US" sz="1400" dirty="0">
                <a:latin typeface="+mn-ea"/>
              </a:rPr>
              <a:t>에서 더 안 내려가고</a:t>
            </a:r>
            <a:r>
              <a:rPr lang="en-US" altLang="ko-KR" sz="1400" dirty="0">
                <a:latin typeface="+mn-ea"/>
              </a:rPr>
              <a:t>, 200 step</a:t>
            </a:r>
            <a:r>
              <a:rPr lang="ko-KR" altLang="en-US" sz="1400" dirty="0">
                <a:latin typeface="+mn-ea"/>
              </a:rPr>
              <a:t>이 되면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수렴 실패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로 계산이 멈춥니다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SCF</a:t>
            </a:r>
            <a:r>
              <a:rPr lang="ko-KR" altLang="en-US" sz="1400" dirty="0">
                <a:latin typeface="+mn-ea"/>
              </a:rPr>
              <a:t>가 실패하면 그 </a:t>
            </a:r>
            <a:r>
              <a:rPr lang="en-US" altLang="ko-KR" sz="1400" dirty="0">
                <a:latin typeface="+mn-ea"/>
              </a:rPr>
              <a:t>step</a:t>
            </a:r>
            <a:r>
              <a:rPr lang="ko-KR" altLang="en-US" sz="1400" dirty="0">
                <a:latin typeface="+mn-ea"/>
              </a:rPr>
              <a:t>의 에너지를 신뢰할 수 없으니</a:t>
            </a:r>
            <a:r>
              <a:rPr lang="en-US" altLang="ko-KR" sz="1400" dirty="0">
                <a:latin typeface="+mn-ea"/>
              </a:rPr>
              <a:t>, GEO_OPT(</a:t>
            </a:r>
            <a:r>
              <a:rPr lang="ko-KR" altLang="en-US" sz="1400" dirty="0">
                <a:latin typeface="+mn-ea"/>
              </a:rPr>
              <a:t>구조 최적화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>
                <a:latin typeface="+mn-ea"/>
              </a:rPr>
              <a:t>자체가 진행 </a:t>
            </a:r>
            <a:r>
              <a:rPr lang="ko-KR" altLang="en-US" sz="1400" dirty="0" err="1">
                <a:latin typeface="+mn-ea"/>
              </a:rPr>
              <a:t>불가능해집니다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BDADAD29-CF70-4C10-A68E-74B5F0778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4556" y="1155345"/>
            <a:ext cx="7620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31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핵심 개념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Mixing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이란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핵심 개념 </a:t>
            </a:r>
            <a:r>
              <a:rPr lang="en-US" altLang="ko-KR" sz="1600" b="1" dirty="0">
                <a:latin typeface="+mn-ea"/>
              </a:rPr>
              <a:t>— Mixing</a:t>
            </a:r>
            <a:r>
              <a:rPr lang="ko-KR" altLang="en-US" sz="1600" b="1" dirty="0">
                <a:latin typeface="+mn-ea"/>
              </a:rPr>
              <a:t>이란</a:t>
            </a: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393845"/>
            <a:ext cx="11258550" cy="19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SCF </a:t>
            </a:r>
            <a:r>
              <a:rPr lang="ko-KR" altLang="en-US" sz="1400" dirty="0">
                <a:latin typeface="+mn-ea"/>
              </a:rPr>
              <a:t>반복에서 핵심은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이전 전자 분포와 새로 계산한 전자 분포를 어떤 비율로 섞느냐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이걸 </a:t>
            </a:r>
            <a:r>
              <a:rPr lang="en-US" altLang="ko-KR" sz="1400" dirty="0">
                <a:latin typeface="+mn-ea"/>
              </a:rPr>
              <a:t>Mixing</a:t>
            </a:r>
            <a:r>
              <a:rPr lang="ko-KR" altLang="en-US" sz="1400" dirty="0">
                <a:latin typeface="+mn-ea"/>
              </a:rPr>
              <a:t>이라고 부르고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 비율을 결정하는 게 </a:t>
            </a:r>
            <a:r>
              <a:rPr lang="en-US" altLang="ko-KR" sz="1400" dirty="0">
                <a:latin typeface="+mn-ea"/>
              </a:rPr>
              <a:t>ALPHA</a:t>
            </a:r>
            <a:r>
              <a:rPr lang="ko-KR" altLang="en-US" sz="1400" dirty="0">
                <a:latin typeface="+mn-ea"/>
              </a:rPr>
              <a:t>라는 파라미터입니다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ALPHA</a:t>
            </a:r>
            <a:r>
              <a:rPr lang="ko-KR" altLang="en-US" sz="1400" dirty="0">
                <a:latin typeface="+mn-ea"/>
              </a:rPr>
              <a:t>가 크면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예</a:t>
            </a:r>
            <a:r>
              <a:rPr lang="en-US" altLang="ko-KR" sz="1400" dirty="0">
                <a:latin typeface="+mn-ea"/>
              </a:rPr>
              <a:t>: 0.15) </a:t>
            </a:r>
            <a:r>
              <a:rPr lang="ko-KR" altLang="en-US" sz="1400" dirty="0">
                <a:latin typeface="+mn-ea"/>
              </a:rPr>
              <a:t>새 결과를 많이 반영하니까 빠르지만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오버슈트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지나침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>
                <a:latin typeface="+mn-ea"/>
              </a:rPr>
              <a:t>위험이 큽니다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ALPHA</a:t>
            </a:r>
            <a:r>
              <a:rPr lang="ko-KR" altLang="en-US" sz="1400" dirty="0">
                <a:latin typeface="+mn-ea"/>
              </a:rPr>
              <a:t>가 작으면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예</a:t>
            </a:r>
            <a:r>
              <a:rPr lang="en-US" altLang="ko-KR" sz="1400" dirty="0">
                <a:latin typeface="+mn-ea"/>
              </a:rPr>
              <a:t>: 0.05) </a:t>
            </a:r>
            <a:r>
              <a:rPr lang="ko-KR" altLang="en-US" sz="1400" dirty="0">
                <a:latin typeface="+mn-ea"/>
              </a:rPr>
              <a:t>새 결과를 조금만 반영하니까 느리지만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안정적으로 수렴합니다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try03</a:t>
            </a:r>
            <a:r>
              <a:rPr lang="ko-KR" altLang="en-US" sz="1400" dirty="0">
                <a:latin typeface="+mn-ea"/>
              </a:rPr>
              <a:t>에서 </a:t>
            </a:r>
            <a:r>
              <a:rPr lang="en-US" altLang="ko-KR" sz="1400" dirty="0">
                <a:latin typeface="+mn-ea"/>
              </a:rPr>
              <a:t>0.15</a:t>
            </a:r>
            <a:r>
              <a:rPr lang="ko-KR" altLang="en-US" sz="1400" dirty="0">
                <a:latin typeface="+mn-ea"/>
              </a:rPr>
              <a:t>가 괜찮았던 건 이미 정답 근처에서 출발했기 때문이고</a:t>
            </a:r>
            <a:r>
              <a:rPr lang="en-US" altLang="ko-KR" sz="1400" dirty="0">
                <a:latin typeface="+mn-ea"/>
              </a:rPr>
              <a:t>, try04</a:t>
            </a:r>
            <a:r>
              <a:rPr lang="ko-KR" altLang="en-US" sz="1400" dirty="0">
                <a:latin typeface="+mn-ea"/>
              </a:rPr>
              <a:t>는 먼 데서 출발하니 줄여야 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시험 답을 고칠 때 </a:t>
            </a:r>
            <a:r>
              <a:rPr lang="en-US" altLang="ko-KR" sz="1400" dirty="0">
                <a:latin typeface="+mn-ea"/>
              </a:rPr>
              <a:t>"30→50</a:t>
            </a:r>
            <a:r>
              <a:rPr lang="ko-KR" altLang="en-US" sz="1400" dirty="0">
                <a:latin typeface="+mn-ea"/>
              </a:rPr>
              <a:t>으로 확 바꾸기</a:t>
            </a:r>
            <a:r>
              <a:rPr lang="en-US" altLang="ko-KR" sz="1400" dirty="0">
                <a:latin typeface="+mn-ea"/>
              </a:rPr>
              <a:t>" vs "30→32</a:t>
            </a:r>
            <a:r>
              <a:rPr lang="ko-KR" altLang="en-US" sz="1400" dirty="0">
                <a:latin typeface="+mn-ea"/>
              </a:rPr>
              <a:t>로 살짝 바꾸기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의 차이라고 생각하면 됩니다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B0F6ECBE-6AC4-4976-9FFC-6AD96D76C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7875" y="1083632"/>
            <a:ext cx="7620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40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왜 </a:t>
            </a:r>
            <a:r>
              <a:rPr lang="en-US" altLang="ko-KR" sz="2800" b="1" dirty="0" err="1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Ti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가 문제를 더 어렵게 만드는가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왜 </a:t>
            </a:r>
            <a:r>
              <a:rPr lang="en-US" altLang="ko-KR" sz="1600" b="1" dirty="0" err="1">
                <a:latin typeface="+mn-ea"/>
              </a:rPr>
              <a:t>Ti</a:t>
            </a:r>
            <a:r>
              <a:rPr lang="ko-KR" altLang="en-US" sz="1600" b="1" dirty="0">
                <a:latin typeface="+mn-ea"/>
              </a:rPr>
              <a:t>가 문제를 더 어렵게 만드는가</a:t>
            </a: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393845"/>
            <a:ext cx="11258550" cy="19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우리 </a:t>
            </a:r>
            <a:r>
              <a:rPr lang="en-US" altLang="ko-KR" sz="1400" dirty="0">
                <a:latin typeface="+mn-ea"/>
              </a:rPr>
              <a:t>MOF</a:t>
            </a:r>
            <a:r>
              <a:rPr lang="ko-KR" altLang="en-US" sz="1400" dirty="0">
                <a:latin typeface="+mn-ea"/>
              </a:rPr>
              <a:t>에는 </a:t>
            </a:r>
            <a:r>
              <a:rPr lang="ko-KR" altLang="en-US" sz="1400" dirty="0" err="1">
                <a:latin typeface="+mn-ea"/>
              </a:rPr>
              <a:t>타이타늄</a:t>
            </a:r>
            <a:r>
              <a:rPr lang="en-US" altLang="ko-KR" sz="1400" dirty="0">
                <a:latin typeface="+mn-ea"/>
              </a:rPr>
              <a:t>(</a:t>
            </a:r>
            <a:r>
              <a:rPr lang="en-US" altLang="ko-KR" sz="1400" dirty="0" err="1">
                <a:latin typeface="+mn-ea"/>
              </a:rPr>
              <a:t>Ti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이 </a:t>
            </a:r>
            <a:r>
              <a:rPr lang="en-US" altLang="ko-KR" sz="1400" dirty="0">
                <a:latin typeface="+mn-ea"/>
              </a:rPr>
              <a:t>8</a:t>
            </a:r>
            <a:r>
              <a:rPr lang="ko-KR" altLang="en-US" sz="1400" dirty="0">
                <a:latin typeface="+mn-ea"/>
              </a:rPr>
              <a:t>개 있고</a:t>
            </a:r>
            <a:r>
              <a:rPr lang="en-US" altLang="ko-KR" sz="1400" dirty="0">
                <a:latin typeface="+mn-ea"/>
              </a:rPr>
              <a:t>, </a:t>
            </a:r>
            <a:r>
              <a:rPr lang="en-US" altLang="ko-KR" sz="1400" dirty="0" err="1">
                <a:latin typeface="+mn-ea"/>
              </a:rPr>
              <a:t>Ti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>
                <a:latin typeface="+mn-ea"/>
              </a:rPr>
              <a:t>3d </a:t>
            </a:r>
            <a:r>
              <a:rPr lang="ko-KR" altLang="en-US" sz="1400" dirty="0" err="1">
                <a:latin typeface="+mn-ea"/>
              </a:rPr>
              <a:t>오비탈에</a:t>
            </a:r>
            <a:r>
              <a:rPr lang="ko-KR" altLang="en-US" sz="1400" dirty="0">
                <a:latin typeface="+mn-ea"/>
              </a:rPr>
              <a:t> 전자를 가진 </a:t>
            </a:r>
            <a:r>
              <a:rPr lang="ko-KR" altLang="en-US" sz="1400" dirty="0" err="1">
                <a:latin typeface="+mn-ea"/>
              </a:rPr>
              <a:t>전이금속입니다</a:t>
            </a:r>
            <a:endParaRPr lang="ko-KR" altLang="en-US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d </a:t>
            </a:r>
            <a:r>
              <a:rPr lang="ko-KR" altLang="en-US" sz="1400" dirty="0" err="1">
                <a:latin typeface="+mn-ea"/>
              </a:rPr>
              <a:t>오비탈들의</a:t>
            </a:r>
            <a:r>
              <a:rPr lang="ko-KR" altLang="en-US" sz="1400" dirty="0">
                <a:latin typeface="+mn-ea"/>
              </a:rPr>
              <a:t> 에너지 레벨이 아주 촘촘하게 붙어있어서</a:t>
            </a:r>
            <a:r>
              <a:rPr lang="en-US" altLang="ko-KR" sz="1400" dirty="0">
                <a:latin typeface="+mn-ea"/>
              </a:rPr>
              <a:t>, HOMO-LUMO gap</a:t>
            </a:r>
            <a:r>
              <a:rPr lang="ko-KR" altLang="en-US" sz="1400" dirty="0">
                <a:latin typeface="+mn-ea"/>
              </a:rPr>
              <a:t>이 매우 작습니다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gap</a:t>
            </a:r>
            <a:r>
              <a:rPr lang="ko-KR" altLang="en-US" sz="1400" dirty="0">
                <a:latin typeface="+mn-ea"/>
              </a:rPr>
              <a:t>이 작으면 </a:t>
            </a:r>
            <a:r>
              <a:rPr lang="en-US" altLang="ko-KR" sz="1400" dirty="0">
                <a:latin typeface="+mn-ea"/>
              </a:rPr>
              <a:t>SCF </a:t>
            </a:r>
            <a:r>
              <a:rPr lang="ko-KR" altLang="en-US" sz="1400" dirty="0">
                <a:latin typeface="+mn-ea"/>
              </a:rPr>
              <a:t>반복 중에 전자가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이번엔 </a:t>
            </a:r>
            <a:r>
              <a:rPr lang="en-US" altLang="ko-KR" sz="1400" dirty="0" err="1">
                <a:latin typeface="+mn-ea"/>
              </a:rPr>
              <a:t>d_xy</a:t>
            </a:r>
            <a:r>
              <a:rPr lang="ko-KR" altLang="en-US" sz="1400" dirty="0">
                <a:latin typeface="+mn-ea"/>
              </a:rPr>
              <a:t>에 </a:t>
            </a:r>
            <a:r>
              <a:rPr lang="en-US" altLang="ko-KR" sz="1400" dirty="0">
                <a:latin typeface="+mn-ea"/>
              </a:rPr>
              <a:t>2</a:t>
            </a:r>
            <a:r>
              <a:rPr lang="ko-KR" altLang="en-US" sz="1400" dirty="0">
                <a:latin typeface="+mn-ea"/>
              </a:rPr>
              <a:t>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다음엔 </a:t>
            </a:r>
            <a:r>
              <a:rPr lang="en-US" altLang="ko-KR" sz="1400" dirty="0" err="1">
                <a:latin typeface="+mn-ea"/>
              </a:rPr>
              <a:t>d_xz</a:t>
            </a:r>
            <a:r>
              <a:rPr lang="ko-KR" altLang="en-US" sz="1400" dirty="0">
                <a:latin typeface="+mn-ea"/>
              </a:rPr>
              <a:t>에 </a:t>
            </a:r>
            <a:r>
              <a:rPr lang="en-US" altLang="ko-KR" sz="1400" dirty="0">
                <a:latin typeface="+mn-ea"/>
              </a:rPr>
              <a:t>2</a:t>
            </a:r>
            <a:r>
              <a:rPr lang="ko-KR" altLang="en-US" sz="1400" dirty="0">
                <a:latin typeface="+mn-ea"/>
              </a:rPr>
              <a:t>개</a:t>
            </a:r>
            <a:r>
              <a:rPr lang="en-US" altLang="ko-KR" sz="1400" dirty="0">
                <a:latin typeface="+mn-ea"/>
              </a:rPr>
              <a:t>" </a:t>
            </a:r>
            <a:r>
              <a:rPr lang="ko-KR" altLang="en-US" sz="1400" dirty="0">
                <a:latin typeface="+mn-ea"/>
              </a:rPr>
              <a:t>이렇게 </a:t>
            </a:r>
            <a:r>
              <a:rPr lang="ko-KR" altLang="en-US" sz="1400" dirty="0" err="1">
                <a:latin typeface="+mn-ea"/>
              </a:rPr>
              <a:t>왔다갔다</a:t>
            </a:r>
            <a:r>
              <a:rPr lang="ko-KR" altLang="en-US" sz="1400" dirty="0">
                <a:latin typeface="+mn-ea"/>
              </a:rPr>
              <a:t> 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전자가 </a:t>
            </a:r>
            <a:r>
              <a:rPr lang="ko-KR" altLang="en-US" sz="1400" dirty="0" err="1">
                <a:latin typeface="+mn-ea"/>
              </a:rPr>
              <a:t>오비탈을</a:t>
            </a:r>
            <a:r>
              <a:rPr lang="ko-KR" altLang="en-US" sz="1400" dirty="0">
                <a:latin typeface="+mn-ea"/>
              </a:rPr>
              <a:t> 바꿀 때마다 에너지가 확 바뀌고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그게 </a:t>
            </a:r>
            <a:r>
              <a:rPr lang="en-US" altLang="ko-KR" sz="1400" dirty="0">
                <a:latin typeface="+mn-ea"/>
              </a:rPr>
              <a:t>mixing</a:t>
            </a:r>
            <a:r>
              <a:rPr lang="ko-KR" altLang="en-US" sz="1400" dirty="0">
                <a:latin typeface="+mn-ea"/>
              </a:rPr>
              <a:t>을 통해 증폭되면 진동으로 이어집니다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그래서 </a:t>
            </a:r>
            <a:r>
              <a:rPr lang="en-US" altLang="ko-KR" sz="1400" dirty="0">
                <a:latin typeface="+mn-ea"/>
              </a:rPr>
              <a:t>SMEAR(Fermi-Dirac smearing)</a:t>
            </a:r>
            <a:r>
              <a:rPr lang="ko-KR" altLang="en-US" sz="1400" dirty="0">
                <a:latin typeface="+mn-ea"/>
              </a:rPr>
              <a:t>를 써서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이 </a:t>
            </a:r>
            <a:r>
              <a:rPr lang="ko-KR" altLang="en-US" sz="1400" dirty="0" err="1">
                <a:latin typeface="+mn-ea"/>
              </a:rPr>
              <a:t>오비탈에</a:t>
            </a:r>
            <a:r>
              <a:rPr lang="ko-KR" altLang="en-US" sz="1400" dirty="0">
                <a:latin typeface="+mn-ea"/>
              </a:rPr>
              <a:t> 전자 </a:t>
            </a:r>
            <a:r>
              <a:rPr lang="en-US" altLang="ko-KR" sz="1400" dirty="0">
                <a:latin typeface="+mn-ea"/>
              </a:rPr>
              <a:t>1.97</a:t>
            </a:r>
            <a:r>
              <a:rPr lang="ko-KR" altLang="en-US" sz="1400" dirty="0">
                <a:latin typeface="+mn-ea"/>
              </a:rPr>
              <a:t>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저 </a:t>
            </a:r>
            <a:r>
              <a:rPr lang="ko-KR" altLang="en-US" sz="1400" dirty="0" err="1">
                <a:latin typeface="+mn-ea"/>
              </a:rPr>
              <a:t>오비탈에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0.03</a:t>
            </a:r>
            <a:r>
              <a:rPr lang="ko-KR" altLang="en-US" sz="1400" dirty="0">
                <a:latin typeface="+mn-ea"/>
              </a:rPr>
              <a:t>개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처럼 경계를 흐리게 만듭니다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C, N, O </a:t>
            </a:r>
            <a:r>
              <a:rPr lang="ko-KR" altLang="en-US" sz="1400" dirty="0">
                <a:latin typeface="+mn-ea"/>
              </a:rPr>
              <a:t>같은 경원소만 있는 분자에서는 </a:t>
            </a:r>
            <a:r>
              <a:rPr lang="en-US" altLang="ko-KR" sz="1400" dirty="0">
                <a:latin typeface="+mn-ea"/>
              </a:rPr>
              <a:t>gap</a:t>
            </a:r>
            <a:r>
              <a:rPr lang="ko-KR" altLang="en-US" sz="1400" dirty="0">
                <a:latin typeface="+mn-ea"/>
              </a:rPr>
              <a:t>이 크니까 이런 문제가 거의 안 생기지만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en-US" altLang="ko-KR" sz="1400" dirty="0" err="1">
                <a:latin typeface="+mn-ea"/>
              </a:rPr>
              <a:t>Ti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때문에 </a:t>
            </a:r>
            <a:r>
              <a:rPr lang="en-US" altLang="ko-KR" sz="1400" dirty="0">
                <a:latin typeface="+mn-ea"/>
              </a:rPr>
              <a:t>SCF </a:t>
            </a:r>
            <a:r>
              <a:rPr lang="ko-KR" altLang="en-US" sz="1400" dirty="0">
                <a:latin typeface="+mn-ea"/>
              </a:rPr>
              <a:t>난이도가 올라갑니다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3CD9EB3B-4452-48AC-A2E5-6BB47BD10789}"/>
              </a:ext>
            </a:extLst>
          </p:cNvPr>
          <p:cNvGrpSpPr/>
          <p:nvPr/>
        </p:nvGrpSpPr>
        <p:grpSpPr>
          <a:xfrm>
            <a:off x="1024890" y="1155345"/>
            <a:ext cx="10142220" cy="425973"/>
            <a:chOff x="1981200" y="1155345"/>
            <a:chExt cx="7620000" cy="425973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F22233A8-FB60-489E-9320-7B62134756EF}"/>
                </a:ext>
              </a:extLst>
            </p:cNvPr>
            <p:cNvSpPr/>
            <p:nvPr/>
          </p:nvSpPr>
          <p:spPr>
            <a:xfrm>
              <a:off x="1981200" y="1155345"/>
              <a:ext cx="7620000" cy="419100"/>
            </a:xfrm>
            <a:custGeom>
              <a:avLst/>
              <a:gdLst>
                <a:gd name="connsiteX0" fmla="*/ 0 w 7620000"/>
                <a:gd name="connsiteY0" fmla="*/ 0 h 419100"/>
                <a:gd name="connsiteX1" fmla="*/ 7620000 w 7620000"/>
                <a:gd name="connsiteY1" fmla="*/ 0 h 419100"/>
                <a:gd name="connsiteX2" fmla="*/ 7620000 w 7620000"/>
                <a:gd name="connsiteY2" fmla="*/ 419100 h 419100"/>
                <a:gd name="connsiteX3" fmla="*/ 0 w 7620000"/>
                <a:gd name="connsiteY3" fmla="*/ 41910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0" h="419100">
                  <a:moveTo>
                    <a:pt x="0" y="0"/>
                  </a:moveTo>
                  <a:lnTo>
                    <a:pt x="7620000" y="0"/>
                  </a:lnTo>
                  <a:lnTo>
                    <a:pt x="762000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1B2A4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43D7DD-DB78-4189-B57D-099A255AF50D}"/>
                </a:ext>
              </a:extLst>
            </p:cNvPr>
            <p:cNvSpPr txBox="1"/>
            <p:nvPr/>
          </p:nvSpPr>
          <p:spPr>
            <a:xfrm>
              <a:off x="4256219" y="1185825"/>
              <a:ext cx="3069962" cy="395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500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Ti 3d </a:t>
              </a:r>
              <a:r>
                <a:rPr lang="ko-KR" altLang="en-US" sz="1500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오비탈</a:t>
              </a:r>
              <a:r>
                <a:rPr lang="ko-KR" altLang="en-US" sz="1500" b="1" spc="0" baseline="0" dirty="0">
                  <a:solidFill>
                    <a:srgbClr val="FFFFF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→ </a:t>
              </a:r>
              <a:r>
                <a:rPr lang="ko-KR" altLang="en-US" sz="1500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작은</a:t>
              </a:r>
              <a:r>
                <a:rPr lang="ko-KR" altLang="en-US" sz="1500" b="1" spc="0" baseline="0" dirty="0">
                  <a:solidFill>
                    <a:srgbClr val="FFFFF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gap → SCF </a:t>
              </a:r>
              <a:r>
                <a:rPr lang="ko-KR" altLang="en-US" sz="1500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수렴</a:t>
              </a:r>
              <a:r>
                <a:rPr lang="ko-KR" altLang="en-US" sz="1500" b="1" spc="0" baseline="0" dirty="0">
                  <a:solidFill>
                    <a:srgbClr val="FFFFF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500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어려움</a:t>
              </a:r>
            </a:p>
          </p:txBody>
        </p:sp>
      </p:grp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77F8D675-22DB-4435-B303-572C233A165F}"/>
              </a:ext>
            </a:extLst>
          </p:cNvPr>
          <p:cNvSpPr/>
          <p:nvPr/>
        </p:nvSpPr>
        <p:spPr>
          <a:xfrm>
            <a:off x="1397761" y="1688745"/>
            <a:ext cx="3042666" cy="2571750"/>
          </a:xfrm>
          <a:custGeom>
            <a:avLst/>
            <a:gdLst>
              <a:gd name="connsiteX0" fmla="*/ 2228850 w 2286000"/>
              <a:gd name="connsiteY0" fmla="*/ 0 h 2571750"/>
              <a:gd name="connsiteX1" fmla="*/ 2286000 w 2286000"/>
              <a:gd name="connsiteY1" fmla="*/ 0 h 2571750"/>
              <a:gd name="connsiteX2" fmla="*/ 2286000 w 2286000"/>
              <a:gd name="connsiteY2" fmla="*/ 2571750 h 2571750"/>
              <a:gd name="connsiteX3" fmla="*/ 2228850 w 2286000"/>
              <a:gd name="connsiteY3" fmla="*/ 2571750 h 2571750"/>
              <a:gd name="connsiteX4" fmla="*/ 57150 w 2286000"/>
              <a:gd name="connsiteY4" fmla="*/ 2571750 h 2571750"/>
              <a:gd name="connsiteX5" fmla="*/ 0 w 2286000"/>
              <a:gd name="connsiteY5" fmla="*/ 2571750 h 2571750"/>
              <a:gd name="connsiteX6" fmla="*/ 0 w 2286000"/>
              <a:gd name="connsiteY6" fmla="*/ 0 h 2571750"/>
              <a:gd name="connsiteX7" fmla="*/ 57150 w 2286000"/>
              <a:gd name="connsiteY7" fmla="*/ 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6000" h="2571750">
                <a:moveTo>
                  <a:pt x="2228850" y="0"/>
                </a:moveTo>
                <a:cubicBezTo>
                  <a:pt x="2260413" y="0"/>
                  <a:pt x="2286000" y="0"/>
                  <a:pt x="2286000" y="0"/>
                </a:cubicBezTo>
                <a:lnTo>
                  <a:pt x="2286000" y="2571750"/>
                </a:lnTo>
                <a:cubicBezTo>
                  <a:pt x="2286000" y="2571750"/>
                  <a:pt x="2260413" y="2571750"/>
                  <a:pt x="2228850" y="2571750"/>
                </a:cubicBezTo>
                <a:lnTo>
                  <a:pt x="57150" y="2571750"/>
                </a:lnTo>
                <a:cubicBezTo>
                  <a:pt x="25587" y="2571750"/>
                  <a:pt x="0" y="2571750"/>
                  <a:pt x="0" y="257175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FFF7ED"/>
          </a:solidFill>
          <a:ln w="19050" cap="flat">
            <a:solidFill>
              <a:srgbClr val="EA580C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D887C03D-1BBC-4C24-BDA9-04B797AFED9F}"/>
              </a:ext>
            </a:extLst>
          </p:cNvPr>
          <p:cNvSpPr/>
          <p:nvPr/>
        </p:nvSpPr>
        <p:spPr>
          <a:xfrm>
            <a:off x="1397761" y="1688745"/>
            <a:ext cx="3042666" cy="304800"/>
          </a:xfrm>
          <a:custGeom>
            <a:avLst/>
            <a:gdLst>
              <a:gd name="connsiteX0" fmla="*/ 2228850 w 2286000"/>
              <a:gd name="connsiteY0" fmla="*/ 0 h 304800"/>
              <a:gd name="connsiteX1" fmla="*/ 2286000 w 2286000"/>
              <a:gd name="connsiteY1" fmla="*/ 0 h 304800"/>
              <a:gd name="connsiteX2" fmla="*/ 2286000 w 2286000"/>
              <a:gd name="connsiteY2" fmla="*/ 304800 h 304800"/>
              <a:gd name="connsiteX3" fmla="*/ 2228850 w 2286000"/>
              <a:gd name="connsiteY3" fmla="*/ 304800 h 304800"/>
              <a:gd name="connsiteX4" fmla="*/ 57150 w 2286000"/>
              <a:gd name="connsiteY4" fmla="*/ 304800 h 304800"/>
              <a:gd name="connsiteX5" fmla="*/ 0 w 2286000"/>
              <a:gd name="connsiteY5" fmla="*/ 304800 h 304800"/>
              <a:gd name="connsiteX6" fmla="*/ 0 w 2286000"/>
              <a:gd name="connsiteY6" fmla="*/ 0 h 304800"/>
              <a:gd name="connsiteX7" fmla="*/ 57150 w 2286000"/>
              <a:gd name="connsiteY7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6000" h="304800">
                <a:moveTo>
                  <a:pt x="2228850" y="0"/>
                </a:moveTo>
                <a:cubicBezTo>
                  <a:pt x="2260413" y="0"/>
                  <a:pt x="2286000" y="0"/>
                  <a:pt x="2286000" y="0"/>
                </a:cubicBezTo>
                <a:lnTo>
                  <a:pt x="2286000" y="304800"/>
                </a:lnTo>
                <a:cubicBezTo>
                  <a:pt x="2286000" y="304800"/>
                  <a:pt x="2260413" y="304800"/>
                  <a:pt x="2228850" y="304800"/>
                </a:cubicBezTo>
                <a:lnTo>
                  <a:pt x="57150" y="304800"/>
                </a:lnTo>
                <a:cubicBezTo>
                  <a:pt x="2558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EA580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68815-091C-458C-A3EE-5C8B4A5A02DE}"/>
              </a:ext>
            </a:extLst>
          </p:cNvPr>
          <p:cNvSpPr txBox="1"/>
          <p:nvPr/>
        </p:nvSpPr>
        <p:spPr>
          <a:xfrm>
            <a:off x="2277598" y="1670648"/>
            <a:ext cx="1282991" cy="26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Ti (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전이금속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6BBE20AA-4D83-4EB3-8C9A-1A724D555491}"/>
              </a:ext>
            </a:extLst>
          </p:cNvPr>
          <p:cNvSpPr/>
          <p:nvPr/>
        </p:nvSpPr>
        <p:spPr>
          <a:xfrm>
            <a:off x="2031649" y="2393595"/>
            <a:ext cx="1521333" cy="9525"/>
          </a:xfrm>
          <a:custGeom>
            <a:avLst/>
            <a:gdLst>
              <a:gd name="connsiteX0" fmla="*/ 0 w 1143000"/>
              <a:gd name="connsiteY0" fmla="*/ 0 h 9525"/>
              <a:gd name="connsiteX1" fmla="*/ 1143000 w 11430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28575" cap="flat">
            <a:solidFill>
              <a:srgbClr val="EA580C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1BD20-D869-4AE2-80CF-E0CD51FA04D8}"/>
              </a:ext>
            </a:extLst>
          </p:cNvPr>
          <p:cNvSpPr txBox="1"/>
          <p:nvPr/>
        </p:nvSpPr>
        <p:spPr>
          <a:xfrm>
            <a:off x="3558054" y="2290725"/>
            <a:ext cx="1029435" cy="205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25" spc="0" baseline="0" dirty="0">
                <a:solidFill>
                  <a:srgbClr val="9A3412"/>
                </a:solidFill>
                <a:latin typeface="Arial"/>
                <a:ea typeface="+mn-ea"/>
                <a:cs typeface="Arial"/>
                <a:sym typeface="Arial"/>
                <a:rtl val="0"/>
              </a:rPr>
              <a:t>d_z² (LUMO)</a:t>
            </a: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D9050BE0-168F-4483-BF7E-1069092E8A2D}"/>
              </a:ext>
            </a:extLst>
          </p:cNvPr>
          <p:cNvSpPr/>
          <p:nvPr/>
        </p:nvSpPr>
        <p:spPr>
          <a:xfrm>
            <a:off x="2031649" y="2584095"/>
            <a:ext cx="1521333" cy="9525"/>
          </a:xfrm>
          <a:custGeom>
            <a:avLst/>
            <a:gdLst>
              <a:gd name="connsiteX0" fmla="*/ 0 w 1143000"/>
              <a:gd name="connsiteY0" fmla="*/ 0 h 9525"/>
              <a:gd name="connsiteX1" fmla="*/ 1143000 w 11430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28575" cap="flat">
            <a:solidFill>
              <a:srgbClr val="EA580C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78A01C-03E9-49F8-AA17-295FE1D36DAC}"/>
              </a:ext>
            </a:extLst>
          </p:cNvPr>
          <p:cNvSpPr txBox="1"/>
          <p:nvPr/>
        </p:nvSpPr>
        <p:spPr>
          <a:xfrm>
            <a:off x="3558054" y="2481225"/>
            <a:ext cx="547680" cy="205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25" spc="0" baseline="0" dirty="0">
                <a:solidFill>
                  <a:srgbClr val="9A3412"/>
                </a:solidFill>
                <a:latin typeface="Arial"/>
                <a:ea typeface="+mn-ea"/>
                <a:cs typeface="Arial"/>
                <a:sym typeface="Arial"/>
                <a:rtl val="0"/>
              </a:rPr>
              <a:t>d_xz</a:t>
            </a: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18A20823-DE80-4321-96CB-5C30AE10FA7C}"/>
              </a:ext>
            </a:extLst>
          </p:cNvPr>
          <p:cNvSpPr/>
          <p:nvPr/>
        </p:nvSpPr>
        <p:spPr>
          <a:xfrm>
            <a:off x="2031649" y="2774595"/>
            <a:ext cx="1521333" cy="9525"/>
          </a:xfrm>
          <a:custGeom>
            <a:avLst/>
            <a:gdLst>
              <a:gd name="connsiteX0" fmla="*/ 0 w 1143000"/>
              <a:gd name="connsiteY0" fmla="*/ 0 h 9525"/>
              <a:gd name="connsiteX1" fmla="*/ 1143000 w 11430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28575" cap="flat">
            <a:solidFill>
              <a:srgbClr val="EA580C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FBAEF1-F2AE-4FCB-AAD5-ED0064E6FBE2}"/>
              </a:ext>
            </a:extLst>
          </p:cNvPr>
          <p:cNvSpPr txBox="1"/>
          <p:nvPr/>
        </p:nvSpPr>
        <p:spPr>
          <a:xfrm>
            <a:off x="3558054" y="2671725"/>
            <a:ext cx="1080147" cy="205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25" spc="0" baseline="0" dirty="0">
                <a:solidFill>
                  <a:srgbClr val="9A3412"/>
                </a:solidFill>
                <a:latin typeface="Arial"/>
                <a:ea typeface="+mn-ea"/>
                <a:cs typeface="Arial"/>
                <a:sym typeface="Arial"/>
                <a:rtl val="0"/>
              </a:rPr>
              <a:t>d_xy (HOMO)</a:t>
            </a: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F319D92D-50F0-47B1-B0C4-6293C2B6651C}"/>
              </a:ext>
            </a:extLst>
          </p:cNvPr>
          <p:cNvSpPr/>
          <p:nvPr/>
        </p:nvSpPr>
        <p:spPr>
          <a:xfrm>
            <a:off x="2031649" y="2965095"/>
            <a:ext cx="1521333" cy="9525"/>
          </a:xfrm>
          <a:custGeom>
            <a:avLst/>
            <a:gdLst>
              <a:gd name="connsiteX0" fmla="*/ 0 w 1143000"/>
              <a:gd name="connsiteY0" fmla="*/ 0 h 9525"/>
              <a:gd name="connsiteX1" fmla="*/ 1143000 w 11430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28575" cap="flat">
            <a:solidFill>
              <a:srgbClr val="EA580C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A3689A-854A-48B3-BF61-95A540A3D0B9}"/>
              </a:ext>
            </a:extLst>
          </p:cNvPr>
          <p:cNvSpPr txBox="1"/>
          <p:nvPr/>
        </p:nvSpPr>
        <p:spPr>
          <a:xfrm>
            <a:off x="3558054" y="2862225"/>
            <a:ext cx="547680" cy="205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25" spc="0" baseline="0" dirty="0">
                <a:solidFill>
                  <a:srgbClr val="9A3412"/>
                </a:solidFill>
                <a:latin typeface="Arial"/>
                <a:ea typeface="+mn-ea"/>
                <a:cs typeface="Arial"/>
                <a:sym typeface="Arial"/>
                <a:rtl val="0"/>
              </a:rPr>
              <a:t>d_yz</a:t>
            </a: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CCDC9695-F4E2-4E62-8578-6A33033BB07C}"/>
              </a:ext>
            </a:extLst>
          </p:cNvPr>
          <p:cNvSpPr/>
          <p:nvPr/>
        </p:nvSpPr>
        <p:spPr>
          <a:xfrm>
            <a:off x="2031649" y="3155595"/>
            <a:ext cx="1521333" cy="9525"/>
          </a:xfrm>
          <a:custGeom>
            <a:avLst/>
            <a:gdLst>
              <a:gd name="connsiteX0" fmla="*/ 0 w 1143000"/>
              <a:gd name="connsiteY0" fmla="*/ 0 h 9525"/>
              <a:gd name="connsiteX1" fmla="*/ 1143000 w 11430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28575" cap="flat">
            <a:solidFill>
              <a:srgbClr val="EA580C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4C2D0C-D98A-4264-8A9B-9C6B14A07B8D}"/>
              </a:ext>
            </a:extLst>
          </p:cNvPr>
          <p:cNvSpPr txBox="1"/>
          <p:nvPr/>
        </p:nvSpPr>
        <p:spPr>
          <a:xfrm>
            <a:off x="3558054" y="3052725"/>
            <a:ext cx="699813" cy="205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25" spc="0" baseline="0" dirty="0">
                <a:solidFill>
                  <a:srgbClr val="9A3412"/>
                </a:solidFill>
                <a:latin typeface="Arial"/>
                <a:ea typeface="+mn-ea"/>
                <a:cs typeface="Arial"/>
                <a:sym typeface="Arial"/>
                <a:rtl val="0"/>
              </a:rPr>
              <a:t>d_x²-y²</a:t>
            </a: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3472260-ABA8-43FF-B467-A3B37B9EC06B}"/>
              </a:ext>
            </a:extLst>
          </p:cNvPr>
          <p:cNvSpPr/>
          <p:nvPr/>
        </p:nvSpPr>
        <p:spPr>
          <a:xfrm>
            <a:off x="1778094" y="2393595"/>
            <a:ext cx="12678" cy="381000"/>
          </a:xfrm>
          <a:custGeom>
            <a:avLst/>
            <a:gdLst>
              <a:gd name="connsiteX0" fmla="*/ 0 w 9525"/>
              <a:gd name="connsiteY0" fmla="*/ 0 h 381000"/>
              <a:gd name="connsiteX1" fmla="*/ 0 w 9525"/>
              <a:gd name="connsiteY1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9050" cap="flat">
            <a:solidFill>
              <a:srgbClr val="DC262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1B9BF20D-EF1E-4CA3-B879-66F8F93E52CA}"/>
              </a:ext>
            </a:extLst>
          </p:cNvPr>
          <p:cNvSpPr/>
          <p:nvPr/>
        </p:nvSpPr>
        <p:spPr>
          <a:xfrm>
            <a:off x="1714705" y="2393595"/>
            <a:ext cx="126778" cy="9525"/>
          </a:xfrm>
          <a:custGeom>
            <a:avLst/>
            <a:gdLst>
              <a:gd name="connsiteX0" fmla="*/ 0 w 95250"/>
              <a:gd name="connsiteY0" fmla="*/ 0 h 9525"/>
              <a:gd name="connsiteX1" fmla="*/ 95250 w 952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ln w="19050" cap="flat">
            <a:solidFill>
              <a:srgbClr val="DC262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D955CEE8-A0D9-40A5-B39E-1DF233298253}"/>
              </a:ext>
            </a:extLst>
          </p:cNvPr>
          <p:cNvSpPr/>
          <p:nvPr/>
        </p:nvSpPr>
        <p:spPr>
          <a:xfrm>
            <a:off x="1714705" y="2774595"/>
            <a:ext cx="126778" cy="9525"/>
          </a:xfrm>
          <a:custGeom>
            <a:avLst/>
            <a:gdLst>
              <a:gd name="connsiteX0" fmla="*/ 0 w 95250"/>
              <a:gd name="connsiteY0" fmla="*/ 0 h 9525"/>
              <a:gd name="connsiteX1" fmla="*/ 95250 w 952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ln w="19050" cap="flat">
            <a:solidFill>
              <a:srgbClr val="DC2626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6736B9-8E05-40E8-8F5E-9081091B8F31}"/>
              </a:ext>
            </a:extLst>
          </p:cNvPr>
          <p:cNvSpPr txBox="1"/>
          <p:nvPr/>
        </p:nvSpPr>
        <p:spPr>
          <a:xfrm>
            <a:off x="1330991" y="2112328"/>
            <a:ext cx="889980" cy="243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b="1" spc="0" baseline="0" dirty="0">
                <a:solidFill>
                  <a:srgbClr val="DC2626"/>
                </a:solidFill>
                <a:latin typeface="Arial"/>
                <a:ea typeface="+mn-ea"/>
                <a:cs typeface="Arial"/>
                <a:sym typeface="Arial"/>
                <a:rtl val="0"/>
              </a:rPr>
              <a:t> </a:t>
            </a:r>
            <a:r>
              <a:rPr lang="ko-KR" altLang="en-US" sz="900" b="1" spc="0" baseline="0" dirty="0">
                <a:solidFill>
                  <a:srgbClr val="DC262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작은</a:t>
            </a:r>
            <a:r>
              <a:rPr lang="ko-KR" altLang="en-US" sz="900" b="1" spc="0" baseline="0" dirty="0">
                <a:solidFill>
                  <a:srgbClr val="DC262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gap!</a:t>
            </a: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1C062ACC-6949-4B76-BE9C-50F332691A80}"/>
              </a:ext>
            </a:extLst>
          </p:cNvPr>
          <p:cNvSpPr/>
          <p:nvPr/>
        </p:nvSpPr>
        <p:spPr>
          <a:xfrm>
            <a:off x="2792316" y="2412645"/>
            <a:ext cx="12678" cy="342900"/>
          </a:xfrm>
          <a:custGeom>
            <a:avLst/>
            <a:gdLst>
              <a:gd name="connsiteX0" fmla="*/ 0 w 9525"/>
              <a:gd name="connsiteY0" fmla="*/ 342900 h 342900"/>
              <a:gd name="connsiteX1" fmla="*/ 0 w 9525"/>
              <a:gd name="connsiteY1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42900">
                <a:moveTo>
                  <a:pt x="0" y="342900"/>
                </a:moveTo>
                <a:cubicBezTo>
                  <a:pt x="0" y="123825"/>
                  <a:pt x="0" y="123825"/>
                  <a:pt x="0" y="0"/>
                </a:cubicBezTo>
              </a:path>
            </a:pathLst>
          </a:custGeom>
          <a:noFill/>
          <a:ln w="19050" cap="flat">
            <a:solidFill>
              <a:srgbClr val="DC2626"/>
            </a:solidFill>
            <a:custDash>
              <a:ds d="225000" sp="150000"/>
            </a:custDash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EC3A06F1-0250-4929-A162-51691BD0CEFA}"/>
              </a:ext>
            </a:extLst>
          </p:cNvPr>
          <p:cNvSpPr/>
          <p:nvPr/>
        </p:nvSpPr>
        <p:spPr>
          <a:xfrm>
            <a:off x="2855705" y="2412645"/>
            <a:ext cx="12678" cy="191382"/>
          </a:xfrm>
          <a:custGeom>
            <a:avLst/>
            <a:gdLst>
              <a:gd name="connsiteX0" fmla="*/ 0 w 9525"/>
              <a:gd name="connsiteY0" fmla="*/ 0 h 191382"/>
              <a:gd name="connsiteX1" fmla="*/ 0 w 9525"/>
              <a:gd name="connsiteY1" fmla="*/ 152400 h 191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91382">
                <a:moveTo>
                  <a:pt x="0" y="0"/>
                </a:moveTo>
                <a:cubicBezTo>
                  <a:pt x="0" y="219075"/>
                  <a:pt x="0" y="219075"/>
                  <a:pt x="0" y="152400"/>
                </a:cubicBezTo>
              </a:path>
            </a:pathLst>
          </a:custGeom>
          <a:noFill/>
          <a:ln w="19050" cap="flat">
            <a:solidFill>
              <a:srgbClr val="DC2626"/>
            </a:solidFill>
            <a:custDash>
              <a:ds d="225000" sp="150000"/>
            </a:custDash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C84B2C-5DFC-4B17-BFB1-7C4D11113446}"/>
              </a:ext>
            </a:extLst>
          </p:cNvPr>
          <p:cNvSpPr txBox="1"/>
          <p:nvPr/>
        </p:nvSpPr>
        <p:spPr>
          <a:xfrm>
            <a:off x="2195192" y="3643275"/>
            <a:ext cx="1447802" cy="253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75" b="1" spc="0" baseline="0" dirty="0">
                <a:solidFill>
                  <a:srgbClr val="DC2626"/>
                </a:solidFill>
                <a:latin typeface="맑은 고딕"/>
                <a:ea typeface="맑은 고딕"/>
                <a:sym typeface="맑은 고딕"/>
                <a:rtl val="0"/>
              </a:rPr>
              <a:t>전자가</a:t>
            </a:r>
            <a:r>
              <a:rPr lang="ko-KR" altLang="en-US" sz="975" b="1" spc="0" baseline="0" dirty="0">
                <a:solidFill>
                  <a:srgbClr val="DC262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75" b="1" spc="0" baseline="0" dirty="0">
                <a:solidFill>
                  <a:srgbClr val="DC262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왔다갔다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560276-A410-4DD8-80E4-F7E686025C95}"/>
              </a:ext>
            </a:extLst>
          </p:cNvPr>
          <p:cNvSpPr txBox="1"/>
          <p:nvPr/>
        </p:nvSpPr>
        <p:spPr>
          <a:xfrm>
            <a:off x="2302954" y="3824250"/>
            <a:ext cx="1232280" cy="243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DC2626"/>
                </a:solidFill>
                <a:latin typeface="Arial"/>
                <a:ea typeface="+mn-ea"/>
                <a:cs typeface="Arial"/>
                <a:sym typeface="Arial"/>
                <a:rtl val="0"/>
              </a:rPr>
              <a:t>→ </a:t>
            </a:r>
            <a:r>
              <a:rPr lang="ko-KR" altLang="en-US" sz="900" spc="0" baseline="0" dirty="0">
                <a:solidFill>
                  <a:srgbClr val="DC262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에너지</a:t>
            </a:r>
            <a:r>
              <a:rPr lang="ko-KR" altLang="en-US" sz="900" spc="0" baseline="0" dirty="0">
                <a:solidFill>
                  <a:srgbClr val="DC262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spc="0" baseline="0" dirty="0">
                <a:solidFill>
                  <a:srgbClr val="DC262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진동</a:t>
            </a: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5FB597B0-CFC6-415C-954D-BBE8E84BD24E}"/>
              </a:ext>
            </a:extLst>
          </p:cNvPr>
          <p:cNvSpPr/>
          <p:nvPr/>
        </p:nvSpPr>
        <p:spPr>
          <a:xfrm>
            <a:off x="4546541" y="1688745"/>
            <a:ext cx="2789111" cy="2571750"/>
          </a:xfrm>
          <a:custGeom>
            <a:avLst/>
            <a:gdLst>
              <a:gd name="connsiteX0" fmla="*/ 1847850 w 1905000"/>
              <a:gd name="connsiteY0" fmla="*/ 0 h 2571750"/>
              <a:gd name="connsiteX1" fmla="*/ 1905000 w 1905000"/>
              <a:gd name="connsiteY1" fmla="*/ 0 h 2571750"/>
              <a:gd name="connsiteX2" fmla="*/ 1905000 w 1905000"/>
              <a:gd name="connsiteY2" fmla="*/ 2571750 h 2571750"/>
              <a:gd name="connsiteX3" fmla="*/ 1847850 w 1905000"/>
              <a:gd name="connsiteY3" fmla="*/ 2571750 h 2571750"/>
              <a:gd name="connsiteX4" fmla="*/ 57150 w 1905000"/>
              <a:gd name="connsiteY4" fmla="*/ 2571750 h 2571750"/>
              <a:gd name="connsiteX5" fmla="*/ 0 w 1905000"/>
              <a:gd name="connsiteY5" fmla="*/ 2571750 h 2571750"/>
              <a:gd name="connsiteX6" fmla="*/ 0 w 1905000"/>
              <a:gd name="connsiteY6" fmla="*/ 0 h 2571750"/>
              <a:gd name="connsiteX7" fmla="*/ 57150 w 1905000"/>
              <a:gd name="connsiteY7" fmla="*/ 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5000" h="2571750">
                <a:moveTo>
                  <a:pt x="1847850" y="0"/>
                </a:moveTo>
                <a:cubicBezTo>
                  <a:pt x="1879413" y="0"/>
                  <a:pt x="1905000" y="0"/>
                  <a:pt x="1905000" y="0"/>
                </a:cubicBezTo>
                <a:lnTo>
                  <a:pt x="1905000" y="2571750"/>
                </a:lnTo>
                <a:cubicBezTo>
                  <a:pt x="1905000" y="2571750"/>
                  <a:pt x="1879413" y="2571750"/>
                  <a:pt x="1847850" y="2571750"/>
                </a:cubicBezTo>
                <a:lnTo>
                  <a:pt x="57150" y="2571750"/>
                </a:lnTo>
                <a:cubicBezTo>
                  <a:pt x="25587" y="2571750"/>
                  <a:pt x="0" y="2571750"/>
                  <a:pt x="0" y="257175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 w="19050" cap="flat">
            <a:solidFill>
              <a:srgbClr val="2563EB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ED87D4FD-1F31-42EB-893C-7AC07BB33015}"/>
              </a:ext>
            </a:extLst>
          </p:cNvPr>
          <p:cNvSpPr/>
          <p:nvPr/>
        </p:nvSpPr>
        <p:spPr>
          <a:xfrm>
            <a:off x="4546541" y="1688745"/>
            <a:ext cx="2789111" cy="304800"/>
          </a:xfrm>
          <a:custGeom>
            <a:avLst/>
            <a:gdLst>
              <a:gd name="connsiteX0" fmla="*/ 1847850 w 1905000"/>
              <a:gd name="connsiteY0" fmla="*/ 0 h 304800"/>
              <a:gd name="connsiteX1" fmla="*/ 1905000 w 1905000"/>
              <a:gd name="connsiteY1" fmla="*/ 0 h 304800"/>
              <a:gd name="connsiteX2" fmla="*/ 1905000 w 1905000"/>
              <a:gd name="connsiteY2" fmla="*/ 304800 h 304800"/>
              <a:gd name="connsiteX3" fmla="*/ 1847850 w 1905000"/>
              <a:gd name="connsiteY3" fmla="*/ 304800 h 304800"/>
              <a:gd name="connsiteX4" fmla="*/ 57150 w 1905000"/>
              <a:gd name="connsiteY4" fmla="*/ 304800 h 304800"/>
              <a:gd name="connsiteX5" fmla="*/ 0 w 1905000"/>
              <a:gd name="connsiteY5" fmla="*/ 304800 h 304800"/>
              <a:gd name="connsiteX6" fmla="*/ 0 w 1905000"/>
              <a:gd name="connsiteY6" fmla="*/ 0 h 304800"/>
              <a:gd name="connsiteX7" fmla="*/ 57150 w 1905000"/>
              <a:gd name="connsiteY7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5000" h="304800">
                <a:moveTo>
                  <a:pt x="1847850" y="0"/>
                </a:moveTo>
                <a:cubicBezTo>
                  <a:pt x="1879413" y="0"/>
                  <a:pt x="1905000" y="0"/>
                  <a:pt x="1905000" y="0"/>
                </a:cubicBezTo>
                <a:lnTo>
                  <a:pt x="1905000" y="304800"/>
                </a:lnTo>
                <a:cubicBezTo>
                  <a:pt x="1905000" y="304800"/>
                  <a:pt x="1879413" y="304800"/>
                  <a:pt x="1847850" y="304800"/>
                </a:cubicBezTo>
                <a:lnTo>
                  <a:pt x="57150" y="304800"/>
                </a:lnTo>
                <a:cubicBezTo>
                  <a:pt x="2558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2563E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B53167-BC08-43E9-91A3-E63FBA789A68}"/>
              </a:ext>
            </a:extLst>
          </p:cNvPr>
          <p:cNvSpPr txBox="1"/>
          <p:nvPr/>
        </p:nvSpPr>
        <p:spPr>
          <a:xfrm>
            <a:off x="5089021" y="1670648"/>
            <a:ext cx="1704146" cy="26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C, N, O (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경원소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D895F93D-F5E9-48F8-8D9C-507B6CE03171}"/>
              </a:ext>
            </a:extLst>
          </p:cNvPr>
          <p:cNvSpPr/>
          <p:nvPr/>
        </p:nvSpPr>
        <p:spPr>
          <a:xfrm>
            <a:off x="5312446" y="2298345"/>
            <a:ext cx="1257300" cy="9525"/>
          </a:xfrm>
          <a:custGeom>
            <a:avLst/>
            <a:gdLst>
              <a:gd name="connsiteX0" fmla="*/ 0 w 1143000"/>
              <a:gd name="connsiteY0" fmla="*/ 0 h 9525"/>
              <a:gd name="connsiteX1" fmla="*/ 1143000 w 11430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28575" cap="flat">
            <a:solidFill>
              <a:srgbClr val="2563EB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F64EFD-E135-405B-93BF-42072AFDC293}"/>
              </a:ext>
            </a:extLst>
          </p:cNvPr>
          <p:cNvSpPr txBox="1"/>
          <p:nvPr/>
        </p:nvSpPr>
        <p:spPr>
          <a:xfrm>
            <a:off x="6594727" y="2195475"/>
            <a:ext cx="1006869" cy="205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25" spc="0" baseline="0" dirty="0">
                <a:solidFill>
                  <a:srgbClr val="1E40A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π* (LUMO)</a:t>
            </a: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54F3CC8C-4833-4C62-BB61-B051DC36E1F2}"/>
              </a:ext>
            </a:extLst>
          </p:cNvPr>
          <p:cNvSpPr/>
          <p:nvPr/>
        </p:nvSpPr>
        <p:spPr>
          <a:xfrm>
            <a:off x="5312446" y="3155595"/>
            <a:ext cx="1257300" cy="9525"/>
          </a:xfrm>
          <a:custGeom>
            <a:avLst/>
            <a:gdLst>
              <a:gd name="connsiteX0" fmla="*/ 0 w 1143000"/>
              <a:gd name="connsiteY0" fmla="*/ 0 h 9525"/>
              <a:gd name="connsiteX1" fmla="*/ 1143000 w 11430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28575" cap="flat">
            <a:solidFill>
              <a:srgbClr val="2563EB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49D08B-AD6A-4BE0-96BB-E30D7FF2F138}"/>
              </a:ext>
            </a:extLst>
          </p:cNvPr>
          <p:cNvSpPr txBox="1"/>
          <p:nvPr/>
        </p:nvSpPr>
        <p:spPr>
          <a:xfrm>
            <a:off x="6594727" y="3052725"/>
            <a:ext cx="978978" cy="205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825" spc="0" baseline="0" dirty="0">
                <a:solidFill>
                  <a:srgbClr val="1E40A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π (HOMO)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8F90D49-953F-4CDB-AD88-276AE80E1519}"/>
              </a:ext>
            </a:extLst>
          </p:cNvPr>
          <p:cNvGrpSpPr/>
          <p:nvPr/>
        </p:nvGrpSpPr>
        <p:grpSpPr>
          <a:xfrm>
            <a:off x="4768592" y="2021462"/>
            <a:ext cx="769794" cy="1143658"/>
            <a:chOff x="4580010" y="2021462"/>
            <a:chExt cx="769794" cy="1143658"/>
          </a:xfrm>
        </p:grpSpPr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F7A176BE-B337-4F7C-8648-E1397D9C2EB2}"/>
                </a:ext>
              </a:extLst>
            </p:cNvPr>
            <p:cNvSpPr/>
            <p:nvPr/>
          </p:nvSpPr>
          <p:spPr>
            <a:xfrm>
              <a:off x="4895179" y="2298345"/>
              <a:ext cx="13946" cy="857250"/>
            </a:xfrm>
            <a:custGeom>
              <a:avLst/>
              <a:gdLst>
                <a:gd name="connsiteX0" fmla="*/ 0 w 9525"/>
                <a:gd name="connsiteY0" fmla="*/ 0 h 857250"/>
                <a:gd name="connsiteX1" fmla="*/ 0 w 9525"/>
                <a:gd name="connsiteY1" fmla="*/ 857250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ln w="19050" cap="flat">
              <a:solidFill>
                <a:srgbClr val="2563E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214A0A9D-5395-4596-B61A-4B5DE6E29319}"/>
                </a:ext>
              </a:extLst>
            </p:cNvPr>
            <p:cNvSpPr/>
            <p:nvPr/>
          </p:nvSpPr>
          <p:spPr>
            <a:xfrm>
              <a:off x="4825451" y="2298345"/>
              <a:ext cx="139456" cy="9525"/>
            </a:xfrm>
            <a:custGeom>
              <a:avLst/>
              <a:gdLst>
                <a:gd name="connsiteX0" fmla="*/ 0 w 95250"/>
                <a:gd name="connsiteY0" fmla="*/ 0 h 9525"/>
                <a:gd name="connsiteX1" fmla="*/ 95250 w 952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ln w="19050" cap="flat">
              <a:solidFill>
                <a:srgbClr val="2563E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14CE72C4-B8ED-4F0C-B294-A08832F9D792}"/>
                </a:ext>
              </a:extLst>
            </p:cNvPr>
            <p:cNvSpPr/>
            <p:nvPr/>
          </p:nvSpPr>
          <p:spPr>
            <a:xfrm>
              <a:off x="4825451" y="3155595"/>
              <a:ext cx="139456" cy="9525"/>
            </a:xfrm>
            <a:custGeom>
              <a:avLst/>
              <a:gdLst>
                <a:gd name="connsiteX0" fmla="*/ 0 w 95250"/>
                <a:gd name="connsiteY0" fmla="*/ 0 h 9525"/>
                <a:gd name="connsiteX1" fmla="*/ 95250 w 952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ln w="19050" cap="flat">
              <a:solidFill>
                <a:srgbClr val="2563E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FD94218-F8B7-4482-A37D-1B984B189A82}"/>
                </a:ext>
              </a:extLst>
            </p:cNvPr>
            <p:cNvSpPr txBox="1"/>
            <p:nvPr/>
          </p:nvSpPr>
          <p:spPr>
            <a:xfrm>
              <a:off x="4580010" y="2021462"/>
              <a:ext cx="769794" cy="243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ko-KR" altLang="en-US" sz="900" b="1" spc="0" baseline="0" dirty="0">
                  <a:solidFill>
                    <a:srgbClr val="2563EB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b="1" spc="0" baseline="0" dirty="0">
                  <a:solidFill>
                    <a:srgbClr val="2563EB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큰</a:t>
              </a:r>
              <a:r>
                <a:rPr lang="ko-KR" altLang="en-US" sz="900" b="1" spc="0" baseline="0" dirty="0">
                  <a:solidFill>
                    <a:srgbClr val="2563EB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gap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3A262B0-FBC4-4AF4-9F84-0FC91B3B20F8}"/>
              </a:ext>
            </a:extLst>
          </p:cNvPr>
          <p:cNvSpPr txBox="1"/>
          <p:nvPr/>
        </p:nvSpPr>
        <p:spPr>
          <a:xfrm>
            <a:off x="5326097" y="3643275"/>
            <a:ext cx="1229998" cy="253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75" b="1" spc="0" baseline="0" dirty="0">
                <a:solidFill>
                  <a:srgbClr val="2563EB"/>
                </a:solidFill>
                <a:latin typeface="맑은 고딕"/>
                <a:ea typeface="맑은 고딕"/>
                <a:sym typeface="맑은 고딕"/>
                <a:rtl val="0"/>
              </a:rPr>
              <a:t>전자</a:t>
            </a:r>
            <a:r>
              <a:rPr lang="ko-KR" altLang="en-US" sz="975" b="1" spc="0" baseline="0" dirty="0">
                <a:solidFill>
                  <a:srgbClr val="2563EB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75" b="1" spc="0" baseline="0" dirty="0">
                <a:solidFill>
                  <a:srgbClr val="2563EB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안정적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478A17-795A-4F09-951E-9549F5885211}"/>
              </a:ext>
            </a:extLst>
          </p:cNvPr>
          <p:cNvSpPr txBox="1"/>
          <p:nvPr/>
        </p:nvSpPr>
        <p:spPr>
          <a:xfrm>
            <a:off x="5347015" y="3824250"/>
            <a:ext cx="1188162" cy="243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00" spc="0" baseline="0" dirty="0">
                <a:solidFill>
                  <a:srgbClr val="2563EB"/>
                </a:solidFill>
                <a:latin typeface="Arial"/>
                <a:ea typeface="+mn-ea"/>
                <a:cs typeface="Arial"/>
                <a:sym typeface="Arial"/>
                <a:rtl val="0"/>
              </a:rPr>
              <a:t>→ SCF </a:t>
            </a:r>
            <a:r>
              <a:rPr lang="ko-KR" altLang="en-US" sz="900" spc="0" baseline="0" dirty="0">
                <a:solidFill>
                  <a:srgbClr val="2563EB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쉬움</a:t>
            </a:r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93472A06-5224-4C28-8B84-5836F37BC485}"/>
              </a:ext>
            </a:extLst>
          </p:cNvPr>
          <p:cNvSpPr/>
          <p:nvPr/>
        </p:nvSpPr>
        <p:spPr>
          <a:xfrm>
            <a:off x="7483093" y="1688745"/>
            <a:ext cx="3423000" cy="2571750"/>
          </a:xfrm>
          <a:custGeom>
            <a:avLst/>
            <a:gdLst>
              <a:gd name="connsiteX0" fmla="*/ 2514600 w 2571750"/>
              <a:gd name="connsiteY0" fmla="*/ 0 h 2571750"/>
              <a:gd name="connsiteX1" fmla="*/ 2571750 w 2571750"/>
              <a:gd name="connsiteY1" fmla="*/ 0 h 2571750"/>
              <a:gd name="connsiteX2" fmla="*/ 2571750 w 2571750"/>
              <a:gd name="connsiteY2" fmla="*/ 2571750 h 2571750"/>
              <a:gd name="connsiteX3" fmla="*/ 2514600 w 2571750"/>
              <a:gd name="connsiteY3" fmla="*/ 2571750 h 2571750"/>
              <a:gd name="connsiteX4" fmla="*/ 57150 w 2571750"/>
              <a:gd name="connsiteY4" fmla="*/ 2571750 h 2571750"/>
              <a:gd name="connsiteX5" fmla="*/ 0 w 2571750"/>
              <a:gd name="connsiteY5" fmla="*/ 2571750 h 2571750"/>
              <a:gd name="connsiteX6" fmla="*/ 0 w 2571750"/>
              <a:gd name="connsiteY6" fmla="*/ 0 h 2571750"/>
              <a:gd name="connsiteX7" fmla="*/ 57150 w 2571750"/>
              <a:gd name="connsiteY7" fmla="*/ 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1750" h="2571750">
                <a:moveTo>
                  <a:pt x="2514600" y="0"/>
                </a:moveTo>
                <a:cubicBezTo>
                  <a:pt x="2546163" y="0"/>
                  <a:pt x="2571750" y="0"/>
                  <a:pt x="2571750" y="0"/>
                </a:cubicBezTo>
                <a:lnTo>
                  <a:pt x="2571750" y="2571750"/>
                </a:lnTo>
                <a:cubicBezTo>
                  <a:pt x="2571750" y="2571750"/>
                  <a:pt x="2546163" y="2571750"/>
                  <a:pt x="2514600" y="2571750"/>
                </a:cubicBezTo>
                <a:lnTo>
                  <a:pt x="57150" y="2571750"/>
                </a:lnTo>
                <a:cubicBezTo>
                  <a:pt x="25587" y="2571750"/>
                  <a:pt x="0" y="2571750"/>
                  <a:pt x="0" y="257175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F0FDF4"/>
          </a:solidFill>
          <a:ln w="19050" cap="flat">
            <a:solidFill>
              <a:srgbClr val="059669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B8BA9333-0320-4516-AE07-BF1329E2813C}"/>
              </a:ext>
            </a:extLst>
          </p:cNvPr>
          <p:cNvSpPr/>
          <p:nvPr/>
        </p:nvSpPr>
        <p:spPr>
          <a:xfrm>
            <a:off x="7483093" y="1688745"/>
            <a:ext cx="3423000" cy="304800"/>
          </a:xfrm>
          <a:custGeom>
            <a:avLst/>
            <a:gdLst>
              <a:gd name="connsiteX0" fmla="*/ 2514600 w 2571750"/>
              <a:gd name="connsiteY0" fmla="*/ 0 h 304800"/>
              <a:gd name="connsiteX1" fmla="*/ 2571750 w 2571750"/>
              <a:gd name="connsiteY1" fmla="*/ 0 h 304800"/>
              <a:gd name="connsiteX2" fmla="*/ 2571750 w 2571750"/>
              <a:gd name="connsiteY2" fmla="*/ 304800 h 304800"/>
              <a:gd name="connsiteX3" fmla="*/ 2514600 w 2571750"/>
              <a:gd name="connsiteY3" fmla="*/ 304800 h 304800"/>
              <a:gd name="connsiteX4" fmla="*/ 57150 w 2571750"/>
              <a:gd name="connsiteY4" fmla="*/ 304800 h 304800"/>
              <a:gd name="connsiteX5" fmla="*/ 0 w 2571750"/>
              <a:gd name="connsiteY5" fmla="*/ 304800 h 304800"/>
              <a:gd name="connsiteX6" fmla="*/ 0 w 2571750"/>
              <a:gd name="connsiteY6" fmla="*/ 0 h 304800"/>
              <a:gd name="connsiteX7" fmla="*/ 57150 w 2571750"/>
              <a:gd name="connsiteY7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1750" h="304800">
                <a:moveTo>
                  <a:pt x="2514600" y="0"/>
                </a:moveTo>
                <a:cubicBezTo>
                  <a:pt x="2546163" y="0"/>
                  <a:pt x="2571750" y="0"/>
                  <a:pt x="2571750" y="0"/>
                </a:cubicBezTo>
                <a:lnTo>
                  <a:pt x="2571750" y="304800"/>
                </a:lnTo>
                <a:cubicBezTo>
                  <a:pt x="2571750" y="304800"/>
                  <a:pt x="2546163" y="304800"/>
                  <a:pt x="2514600" y="304800"/>
                </a:cubicBezTo>
                <a:lnTo>
                  <a:pt x="57150" y="304800"/>
                </a:lnTo>
                <a:cubicBezTo>
                  <a:pt x="2558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25587" y="0"/>
                  <a:pt x="57150" y="0"/>
                </a:cubicBezTo>
                <a:close/>
              </a:path>
            </a:pathLst>
          </a:custGeom>
          <a:solidFill>
            <a:srgbClr val="05966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788D48-8072-424D-9059-A0CF289F2F37}"/>
              </a:ext>
            </a:extLst>
          </p:cNvPr>
          <p:cNvSpPr txBox="1"/>
          <p:nvPr/>
        </p:nvSpPr>
        <p:spPr>
          <a:xfrm>
            <a:off x="7925547" y="1670648"/>
            <a:ext cx="2538091" cy="26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sym typeface="맑은 고딕"/>
                <a:rtl val="0"/>
              </a:rPr>
              <a:t>해결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: SMEAR (Fermi-Dirac)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2436D3-D9A5-4CF4-91EC-DD57DD38B627}"/>
              </a:ext>
            </a:extLst>
          </p:cNvPr>
          <p:cNvSpPr txBox="1"/>
          <p:nvPr/>
        </p:nvSpPr>
        <p:spPr>
          <a:xfrm>
            <a:off x="7614942" y="2071650"/>
            <a:ext cx="1714035" cy="253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75" spc="0" baseline="0" dirty="0">
                <a:solidFill>
                  <a:srgbClr val="065F46"/>
                </a:solidFill>
                <a:latin typeface="맑은 고딕"/>
                <a:ea typeface="맑은 고딕"/>
                <a:sym typeface="맑은 고딕"/>
                <a:rtl val="0"/>
              </a:rPr>
              <a:t>기존</a:t>
            </a:r>
            <a:r>
              <a:rPr lang="ko-KR" altLang="en-US" sz="975" spc="0" baseline="0" dirty="0">
                <a:solidFill>
                  <a:srgbClr val="065F4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: </a:t>
            </a:r>
            <a:r>
              <a:rPr lang="ko-KR" altLang="en-US" sz="975" spc="0" baseline="0" dirty="0">
                <a:solidFill>
                  <a:srgbClr val="065F4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오비탈에</a:t>
            </a:r>
            <a:r>
              <a:rPr lang="ko-KR" altLang="en-US" sz="975" spc="0" baseline="0" dirty="0">
                <a:solidFill>
                  <a:srgbClr val="065F4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75" spc="0" baseline="0" dirty="0">
                <a:solidFill>
                  <a:srgbClr val="065F4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전자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CEE6BF-7EF0-4449-A6B0-529AD9CBA657}"/>
              </a:ext>
            </a:extLst>
          </p:cNvPr>
          <p:cNvSpPr txBox="1"/>
          <p:nvPr/>
        </p:nvSpPr>
        <p:spPr>
          <a:xfrm>
            <a:off x="7614942" y="2243100"/>
            <a:ext cx="2436669" cy="281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25" b="1" spc="0" baseline="0" dirty="0">
                <a:solidFill>
                  <a:srgbClr val="065F46"/>
                </a:solidFill>
                <a:latin typeface="맑은 고딕"/>
                <a:ea typeface="맑은 고딕"/>
                <a:sym typeface="맑은 고딕"/>
                <a:rtl val="0"/>
              </a:rPr>
              <a:t>정확히</a:t>
            </a:r>
            <a:r>
              <a:rPr lang="ko-KR" altLang="en-US" sz="1125" b="1" spc="0" baseline="0" dirty="0">
                <a:solidFill>
                  <a:srgbClr val="065F4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2.00</a:t>
            </a:r>
            <a:r>
              <a:rPr lang="ko-KR" altLang="en-US" sz="1125" b="1" spc="0" baseline="0" dirty="0">
                <a:solidFill>
                  <a:srgbClr val="065F4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개</a:t>
            </a:r>
            <a:r>
              <a:rPr lang="ko-KR" altLang="en-US" sz="1125" b="1" spc="0" baseline="0" dirty="0">
                <a:solidFill>
                  <a:srgbClr val="065F4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125" b="1" spc="0" baseline="0" dirty="0">
                <a:solidFill>
                  <a:srgbClr val="065F4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또는</a:t>
            </a:r>
            <a:r>
              <a:rPr lang="ko-KR" altLang="en-US" sz="1125" b="1" spc="0" baseline="0" dirty="0">
                <a:solidFill>
                  <a:srgbClr val="065F4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0.00</a:t>
            </a:r>
            <a:r>
              <a:rPr lang="ko-KR" altLang="en-US" sz="1125" b="1" spc="0" baseline="0" dirty="0">
                <a:solidFill>
                  <a:srgbClr val="065F4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개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39AC28F6-4C3B-4C0E-A0E5-9DB27CD5B7D7}"/>
              </a:ext>
            </a:extLst>
          </p:cNvPr>
          <p:cNvSpPr/>
          <p:nvPr/>
        </p:nvSpPr>
        <p:spPr>
          <a:xfrm>
            <a:off x="7609871" y="2631720"/>
            <a:ext cx="3169444" cy="38100"/>
          </a:xfrm>
          <a:custGeom>
            <a:avLst/>
            <a:gdLst>
              <a:gd name="connsiteX0" fmla="*/ 2362200 w 2381250"/>
              <a:gd name="connsiteY0" fmla="*/ 0 h 38100"/>
              <a:gd name="connsiteX1" fmla="*/ 2381250 w 2381250"/>
              <a:gd name="connsiteY1" fmla="*/ 0 h 38100"/>
              <a:gd name="connsiteX2" fmla="*/ 2381250 w 2381250"/>
              <a:gd name="connsiteY2" fmla="*/ 38100 h 38100"/>
              <a:gd name="connsiteX3" fmla="*/ 2362200 w 2381250"/>
              <a:gd name="connsiteY3" fmla="*/ 38100 h 38100"/>
              <a:gd name="connsiteX4" fmla="*/ 19050 w 2381250"/>
              <a:gd name="connsiteY4" fmla="*/ 38100 h 38100"/>
              <a:gd name="connsiteX5" fmla="*/ 0 w 2381250"/>
              <a:gd name="connsiteY5" fmla="*/ 38100 h 38100"/>
              <a:gd name="connsiteX6" fmla="*/ 0 w 2381250"/>
              <a:gd name="connsiteY6" fmla="*/ 0 h 38100"/>
              <a:gd name="connsiteX7" fmla="*/ 19050 w 2381250"/>
              <a:gd name="connsiteY7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1250" h="38100">
                <a:moveTo>
                  <a:pt x="2362200" y="0"/>
                </a:moveTo>
                <a:cubicBezTo>
                  <a:pt x="2372721" y="0"/>
                  <a:pt x="2381250" y="0"/>
                  <a:pt x="2381250" y="0"/>
                </a:cubicBezTo>
                <a:lnTo>
                  <a:pt x="2381250" y="38100"/>
                </a:lnTo>
                <a:cubicBezTo>
                  <a:pt x="2381250" y="38100"/>
                  <a:pt x="2372721" y="38100"/>
                  <a:pt x="2362200" y="38100"/>
                </a:cubicBezTo>
                <a:lnTo>
                  <a:pt x="19050" y="38100"/>
                </a:lnTo>
                <a:cubicBezTo>
                  <a:pt x="8529" y="38100"/>
                  <a:pt x="0" y="38100"/>
                  <a:pt x="0" y="38100"/>
                </a:cubicBezTo>
                <a:lnTo>
                  <a:pt x="0" y="0"/>
                </a:lnTo>
                <a:cubicBezTo>
                  <a:pt x="0" y="0"/>
                  <a:pt x="8529" y="0"/>
                  <a:pt x="19050" y="0"/>
                </a:cubicBezTo>
                <a:close/>
              </a:path>
            </a:pathLst>
          </a:custGeom>
          <a:solidFill>
            <a:srgbClr val="05966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9EA307-A09B-409E-81BA-A8E7D031ED93}"/>
              </a:ext>
            </a:extLst>
          </p:cNvPr>
          <p:cNvSpPr txBox="1"/>
          <p:nvPr/>
        </p:nvSpPr>
        <p:spPr>
          <a:xfrm>
            <a:off x="7614942" y="2738400"/>
            <a:ext cx="1485835" cy="253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75" spc="0" baseline="0" dirty="0">
                <a:solidFill>
                  <a:srgbClr val="065F46"/>
                </a:solidFill>
                <a:latin typeface="Arial"/>
                <a:ea typeface="+mn-ea"/>
                <a:cs typeface="Arial"/>
                <a:sym typeface="Arial"/>
                <a:rtl val="0"/>
              </a:rPr>
              <a:t>SMEAR </a:t>
            </a:r>
            <a:r>
              <a:rPr lang="ko-KR" altLang="en-US" sz="975" spc="0" baseline="0" dirty="0">
                <a:solidFill>
                  <a:srgbClr val="065F4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적용</a:t>
            </a:r>
            <a:r>
              <a:rPr lang="ko-KR" altLang="en-US" sz="975" spc="0" baseline="0" dirty="0">
                <a:solidFill>
                  <a:srgbClr val="065F4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75" spc="0" baseline="0" dirty="0">
                <a:solidFill>
                  <a:srgbClr val="065F4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후</a:t>
            </a:r>
            <a:r>
              <a:rPr lang="ko-KR" altLang="en-US" sz="975" spc="0" baseline="0" dirty="0">
                <a:solidFill>
                  <a:srgbClr val="065F4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: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85AA67-59DA-44C4-8190-8908BA70E7E0}"/>
              </a:ext>
            </a:extLst>
          </p:cNvPr>
          <p:cNvSpPr txBox="1"/>
          <p:nvPr/>
        </p:nvSpPr>
        <p:spPr>
          <a:xfrm>
            <a:off x="7614942" y="2909850"/>
            <a:ext cx="1295669" cy="281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25" b="1" spc="0" baseline="0" dirty="0">
                <a:solidFill>
                  <a:srgbClr val="059669"/>
                </a:solidFill>
                <a:latin typeface="Arial"/>
                <a:ea typeface="+mn-ea"/>
                <a:cs typeface="Arial"/>
                <a:sym typeface="Arial"/>
                <a:rtl val="0"/>
              </a:rPr>
              <a:t>d_xy: 1.97</a:t>
            </a:r>
            <a:r>
              <a:rPr lang="ko-KR" altLang="en-US" sz="1125" b="1" spc="0" baseline="0" dirty="0">
                <a:solidFill>
                  <a:srgbClr val="059669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68367C-B573-431A-8B32-20CDC23FB773}"/>
              </a:ext>
            </a:extLst>
          </p:cNvPr>
          <p:cNvSpPr txBox="1"/>
          <p:nvPr/>
        </p:nvSpPr>
        <p:spPr>
          <a:xfrm>
            <a:off x="7614942" y="3100350"/>
            <a:ext cx="1270313" cy="281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25" b="1" spc="0" baseline="0" dirty="0">
                <a:solidFill>
                  <a:srgbClr val="059669"/>
                </a:solidFill>
                <a:latin typeface="Arial"/>
                <a:ea typeface="+mn-ea"/>
                <a:cs typeface="Arial"/>
                <a:sym typeface="Arial"/>
                <a:rtl val="0"/>
              </a:rPr>
              <a:t>d_z²: 0.03</a:t>
            </a:r>
            <a:r>
              <a:rPr lang="ko-KR" altLang="en-US" sz="1125" b="1" spc="0" baseline="0" dirty="0">
                <a:solidFill>
                  <a:srgbClr val="059669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개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5A8A81-DE1C-4F81-8495-031FEDB800F7}"/>
              </a:ext>
            </a:extLst>
          </p:cNvPr>
          <p:cNvSpPr txBox="1"/>
          <p:nvPr/>
        </p:nvSpPr>
        <p:spPr>
          <a:xfrm>
            <a:off x="8198120" y="3548025"/>
            <a:ext cx="1992946" cy="253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975" spc="0" baseline="0" dirty="0">
                <a:solidFill>
                  <a:srgbClr val="065F46"/>
                </a:solidFill>
                <a:latin typeface="맑은 고딕"/>
                <a:ea typeface="맑은 고딕"/>
                <a:sym typeface="맑은 고딕"/>
                <a:rtl val="0"/>
              </a:rPr>
              <a:t>경계를</a:t>
            </a:r>
            <a:r>
              <a:rPr lang="ko-KR" altLang="en-US" sz="975" spc="0" baseline="0" dirty="0">
                <a:solidFill>
                  <a:srgbClr val="065F4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75" spc="0" baseline="0" dirty="0">
                <a:solidFill>
                  <a:srgbClr val="065F4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흐리게</a:t>
            </a:r>
            <a:r>
              <a:rPr lang="ko-KR" altLang="en-US" sz="975" spc="0" baseline="0" dirty="0">
                <a:solidFill>
                  <a:srgbClr val="065F46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75" spc="0" baseline="0" dirty="0">
                <a:solidFill>
                  <a:srgbClr val="065F46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만들어서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4B617F-98CE-44B9-8D71-47B3F0459D6A}"/>
              </a:ext>
            </a:extLst>
          </p:cNvPr>
          <p:cNvSpPr txBox="1"/>
          <p:nvPr/>
        </p:nvSpPr>
        <p:spPr>
          <a:xfrm>
            <a:off x="7919209" y="3729000"/>
            <a:ext cx="2550769" cy="26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059669"/>
                </a:solidFill>
                <a:latin typeface="맑은 고딕"/>
                <a:ea typeface="맑은 고딕"/>
                <a:sym typeface="맑은 고딕"/>
                <a:rtl val="0"/>
              </a:rPr>
              <a:t>전자</a:t>
            </a:r>
            <a:r>
              <a:rPr lang="ko-KR" altLang="en-US" sz="1050" b="1" spc="0" baseline="0" dirty="0">
                <a:solidFill>
                  <a:srgbClr val="059669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50" b="1" spc="0" baseline="0" dirty="0">
                <a:solidFill>
                  <a:srgbClr val="059669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점프</a:t>
            </a:r>
            <a:r>
              <a:rPr lang="ko-KR" altLang="en-US" sz="1050" b="1" spc="0" baseline="0" dirty="0">
                <a:solidFill>
                  <a:srgbClr val="059669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= </a:t>
            </a:r>
            <a:r>
              <a:rPr lang="ko-KR" altLang="en-US" sz="1050" b="1" spc="0" baseline="0" dirty="0">
                <a:solidFill>
                  <a:srgbClr val="059669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에너지</a:t>
            </a:r>
            <a:r>
              <a:rPr lang="ko-KR" altLang="en-US" sz="1050" b="1" spc="0" baseline="0" dirty="0">
                <a:solidFill>
                  <a:srgbClr val="059669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50" b="1" spc="0" baseline="0" dirty="0">
                <a:solidFill>
                  <a:srgbClr val="059669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진동</a:t>
            </a:r>
            <a:r>
              <a:rPr lang="ko-KR" altLang="en-US" sz="1050" b="1" spc="0" baseline="0" dirty="0">
                <a:solidFill>
                  <a:srgbClr val="059669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50" b="1" spc="0" baseline="0" dirty="0">
                <a:solidFill>
                  <a:srgbClr val="059669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억제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4F73E4C7-4ADC-45BC-B60E-6B31DCE34B68}"/>
              </a:ext>
            </a:extLst>
          </p:cNvPr>
          <p:cNvGrpSpPr/>
          <p:nvPr/>
        </p:nvGrpSpPr>
        <p:grpSpPr>
          <a:xfrm>
            <a:off x="5026590" y="2314230"/>
            <a:ext cx="4692600" cy="1950840"/>
            <a:chOff x="5026590" y="2314230"/>
            <a:chExt cx="4692600" cy="19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166FCC9D-4DF0-446B-A8F8-69B190589B1C}"/>
                    </a:ext>
                  </a:extLst>
                </p14:cNvPr>
                <p14:cNvContentPartPr/>
                <p14:nvPr/>
              </p14:nvContentPartPr>
              <p14:xfrm>
                <a:off x="5026590" y="3503310"/>
                <a:ext cx="1231560" cy="76176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166FCC9D-4DF0-446B-A8F8-69B190589B1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17950" y="3494670"/>
                  <a:ext cx="124920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8FFBFA94-03AE-40F6-97CD-0E238F6D39E9}"/>
                    </a:ext>
                  </a:extLst>
                </p14:cNvPr>
                <p14:cNvContentPartPr/>
                <p14:nvPr/>
              </p14:nvContentPartPr>
              <p14:xfrm>
                <a:off x="7551990" y="2314230"/>
                <a:ext cx="191520" cy="118836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8FFBFA94-03AE-40F6-97CD-0E238F6D39E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43350" y="2305590"/>
                  <a:ext cx="209160" cy="12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71375D73-9FBB-4AC7-B860-BA6DAA9480F1}"/>
                    </a:ext>
                  </a:extLst>
                </p14:cNvPr>
                <p14:cNvContentPartPr/>
                <p14:nvPr/>
              </p14:nvContentPartPr>
              <p14:xfrm>
                <a:off x="7686270" y="2579910"/>
                <a:ext cx="1547280" cy="2052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71375D73-9FBB-4AC7-B860-BA6DAA9480F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77630" y="2571270"/>
                  <a:ext cx="15649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F443237C-42A6-409A-B36D-7A5E042A14F0}"/>
                    </a:ext>
                  </a:extLst>
                </p14:cNvPr>
                <p14:cNvContentPartPr/>
                <p14:nvPr/>
              </p14:nvContentPartPr>
              <p14:xfrm>
                <a:off x="7404030" y="2786550"/>
                <a:ext cx="1407960" cy="70056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F443237C-42A6-409A-B36D-7A5E042A14F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95390" y="2777550"/>
                  <a:ext cx="142560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E60B885D-4F57-4A07-AA63-866E878CEF82}"/>
                    </a:ext>
                  </a:extLst>
                </p14:cNvPr>
                <p14:cNvContentPartPr/>
                <p14:nvPr/>
              </p14:nvContentPartPr>
              <p14:xfrm>
                <a:off x="7883910" y="3599070"/>
                <a:ext cx="1835280" cy="54540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E60B885D-4F57-4A07-AA63-866E878CEF8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74910" y="3590070"/>
                  <a:ext cx="1852920" cy="56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68102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수정 사항 ①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ALPHA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를 줄인다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수정 사항 ① </a:t>
            </a:r>
            <a:r>
              <a:rPr lang="en-US" altLang="ko-KR" sz="1600" b="1" dirty="0">
                <a:latin typeface="+mn-ea"/>
              </a:rPr>
              <a:t>— ALPHA</a:t>
            </a:r>
            <a:r>
              <a:rPr lang="ko-KR" altLang="en-US" sz="1600" b="1" dirty="0">
                <a:latin typeface="+mn-ea"/>
              </a:rPr>
              <a:t>를 줄인다</a:t>
            </a: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393845"/>
            <a:ext cx="11258550" cy="19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가장 중요한 변경</a:t>
            </a:r>
            <a:r>
              <a:rPr lang="en-US" altLang="ko-KR" sz="1400" dirty="0">
                <a:latin typeface="+mn-ea"/>
              </a:rPr>
              <a:t>: ALPHA</a:t>
            </a:r>
            <a:r>
              <a:rPr lang="ko-KR" altLang="en-US" sz="1400" dirty="0">
                <a:latin typeface="+mn-ea"/>
              </a:rPr>
              <a:t>를 </a:t>
            </a:r>
            <a:r>
              <a:rPr lang="en-US" altLang="ko-KR" sz="1400" dirty="0">
                <a:latin typeface="+mn-ea"/>
              </a:rPr>
              <a:t>0.15</a:t>
            </a:r>
            <a:r>
              <a:rPr lang="ko-KR" altLang="en-US" sz="1400" dirty="0">
                <a:latin typeface="+mn-ea"/>
              </a:rPr>
              <a:t>에서 </a:t>
            </a:r>
            <a:r>
              <a:rPr lang="en-US" altLang="ko-KR" sz="1400" dirty="0">
                <a:latin typeface="+mn-ea"/>
              </a:rPr>
              <a:t>0.05</a:t>
            </a:r>
            <a:r>
              <a:rPr lang="ko-KR" altLang="en-US" sz="1400" dirty="0">
                <a:latin typeface="+mn-ea"/>
              </a:rPr>
              <a:t>로 줄입니다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새 전자 분포를 </a:t>
            </a:r>
            <a:r>
              <a:rPr lang="en-US" altLang="ko-KR" sz="1400" dirty="0">
                <a:latin typeface="+mn-ea"/>
              </a:rPr>
              <a:t>5%</a:t>
            </a:r>
            <a:r>
              <a:rPr lang="ko-KR" altLang="en-US" sz="1400" dirty="0">
                <a:latin typeface="+mn-ea"/>
              </a:rPr>
              <a:t>만 반영하므로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한 </a:t>
            </a:r>
            <a:r>
              <a:rPr lang="en-US" altLang="ko-KR" sz="1400" dirty="0">
                <a:latin typeface="+mn-ea"/>
              </a:rPr>
              <a:t>step</a:t>
            </a:r>
            <a:r>
              <a:rPr lang="ko-KR" altLang="en-US" sz="1400" dirty="0">
                <a:latin typeface="+mn-ea"/>
              </a:rPr>
              <a:t>당 변화가 작아져서 </a:t>
            </a:r>
            <a:r>
              <a:rPr lang="ko-KR" altLang="en-US" sz="1400" dirty="0" err="1">
                <a:latin typeface="+mn-ea"/>
              </a:rPr>
              <a:t>오버슈트가</a:t>
            </a:r>
            <a:r>
              <a:rPr lang="ko-KR" altLang="en-US" sz="1400" dirty="0">
                <a:latin typeface="+mn-ea"/>
              </a:rPr>
              <a:t> 억제됩니다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대신 수렴에 필요한 </a:t>
            </a:r>
            <a:r>
              <a:rPr lang="en-US" altLang="ko-KR" sz="1400" dirty="0">
                <a:latin typeface="+mn-ea"/>
              </a:rPr>
              <a:t>step </a:t>
            </a:r>
            <a:r>
              <a:rPr lang="ko-KR" altLang="en-US" sz="1400" dirty="0">
                <a:latin typeface="+mn-ea"/>
              </a:rPr>
              <a:t>수가 늘어나므로</a:t>
            </a:r>
            <a:r>
              <a:rPr lang="en-US" altLang="ko-KR" sz="1400" dirty="0">
                <a:latin typeface="+mn-ea"/>
              </a:rPr>
              <a:t>, MAX_SCF</a:t>
            </a:r>
            <a:r>
              <a:rPr lang="ko-KR" altLang="en-US" sz="1400" dirty="0">
                <a:latin typeface="+mn-ea"/>
              </a:rPr>
              <a:t>를 </a:t>
            </a:r>
            <a:r>
              <a:rPr lang="en-US" altLang="ko-KR" sz="1400" dirty="0">
                <a:latin typeface="+mn-ea"/>
              </a:rPr>
              <a:t>200</a:t>
            </a:r>
            <a:r>
              <a:rPr lang="ko-KR" altLang="en-US" sz="1400" dirty="0">
                <a:latin typeface="+mn-ea"/>
              </a:rPr>
              <a:t>에서 </a:t>
            </a:r>
            <a:r>
              <a:rPr lang="en-US" altLang="ko-KR" sz="1400" dirty="0">
                <a:latin typeface="+mn-ea"/>
              </a:rPr>
              <a:t>300</a:t>
            </a:r>
            <a:r>
              <a:rPr lang="ko-KR" altLang="en-US" sz="1400" dirty="0">
                <a:latin typeface="+mn-ea"/>
              </a:rPr>
              <a:t>으로 함께 올립니다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공 비유로 말하면</a:t>
            </a:r>
            <a:r>
              <a:rPr lang="en-US" altLang="ko-KR" sz="1400" dirty="0">
                <a:latin typeface="+mn-ea"/>
              </a:rPr>
              <a:t>, "</a:t>
            </a:r>
            <a:r>
              <a:rPr lang="ko-KR" altLang="en-US" sz="1400" dirty="0">
                <a:latin typeface="+mn-ea"/>
              </a:rPr>
              <a:t>세게 던지는 대신 살살 굴려서 바닥에 </a:t>
            </a:r>
            <a:r>
              <a:rPr lang="ko-KR" altLang="en-US" sz="1400" dirty="0" err="1">
                <a:latin typeface="+mn-ea"/>
              </a:rPr>
              <a:t>안착시키겠다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는 전략입니다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이 방법이 가장 보수적이고 안전하며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대부분의 전이금속 </a:t>
            </a:r>
            <a:r>
              <a:rPr lang="en-US" altLang="ko-KR" sz="1400" dirty="0">
                <a:latin typeface="+mn-ea"/>
              </a:rPr>
              <a:t>MOF </a:t>
            </a:r>
            <a:r>
              <a:rPr lang="ko-KR" altLang="en-US" sz="1400" dirty="0">
                <a:latin typeface="+mn-ea"/>
              </a:rPr>
              <a:t>시스템에서 효과가 검증되어 있습니다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try03</a:t>
            </a:r>
            <a:r>
              <a:rPr lang="ko-KR" altLang="en-US" sz="1400" dirty="0">
                <a:latin typeface="+mn-ea"/>
              </a:rPr>
              <a:t>에서 </a:t>
            </a:r>
            <a:r>
              <a:rPr lang="en-US" altLang="ko-KR" sz="1400" dirty="0">
                <a:latin typeface="+mn-ea"/>
              </a:rPr>
              <a:t>0.15</a:t>
            </a:r>
            <a:r>
              <a:rPr lang="ko-KR" altLang="en-US" sz="1400" dirty="0">
                <a:latin typeface="+mn-ea"/>
              </a:rPr>
              <a:t>가 된 이유는 </a:t>
            </a:r>
            <a:r>
              <a:rPr lang="en-US" altLang="ko-KR" sz="1400" dirty="0">
                <a:latin typeface="+mn-ea"/>
              </a:rPr>
              <a:t>restart </a:t>
            </a:r>
            <a:r>
              <a:rPr lang="en-US" altLang="ko-KR" sz="1400" dirty="0" err="1">
                <a:latin typeface="+mn-ea"/>
              </a:rPr>
              <a:t>wfn</a:t>
            </a:r>
            <a:r>
              <a:rPr lang="ko-KR" altLang="en-US" sz="1400" dirty="0">
                <a:latin typeface="+mn-ea"/>
              </a:rPr>
              <a:t>에서 출발해서 이미 바닥 근처였기 때문이지</a:t>
            </a:r>
            <a:r>
              <a:rPr lang="en-US" altLang="ko-KR" sz="1400" dirty="0">
                <a:latin typeface="+mn-ea"/>
              </a:rPr>
              <a:t>, 0.15</a:t>
            </a:r>
            <a:r>
              <a:rPr lang="ko-KR" altLang="en-US" sz="1400" dirty="0">
                <a:latin typeface="+mn-ea"/>
              </a:rPr>
              <a:t>가 이 시스템에 </a:t>
            </a:r>
            <a:r>
              <a:rPr lang="ko-KR" altLang="en-US" sz="1400" dirty="0" err="1">
                <a:latin typeface="+mn-ea"/>
              </a:rPr>
              <a:t>최적이어서가</a:t>
            </a:r>
            <a:r>
              <a:rPr lang="ko-KR" altLang="en-US" sz="1400" dirty="0">
                <a:latin typeface="+mn-ea"/>
              </a:rPr>
              <a:t> 아닙니다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CBDF45FE-473B-4194-9FD7-FB3D8DA3C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0" y="1366963"/>
            <a:ext cx="7620000" cy="26670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36767E4-5B52-480E-9A04-C4E1C6090330}"/>
              </a:ext>
            </a:extLst>
          </p:cNvPr>
          <p:cNvGrpSpPr/>
          <p:nvPr/>
        </p:nvGrpSpPr>
        <p:grpSpPr>
          <a:xfrm>
            <a:off x="2427390" y="2152230"/>
            <a:ext cx="3138840" cy="1387800"/>
            <a:chOff x="2427390" y="2152230"/>
            <a:chExt cx="3138840" cy="138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05B087A9-3C36-4661-94A9-BF80865A1DDC}"/>
                    </a:ext>
                  </a:extLst>
                </p14:cNvPr>
                <p14:cNvContentPartPr/>
                <p14:nvPr/>
              </p14:nvContentPartPr>
              <p14:xfrm>
                <a:off x="2427390" y="2152230"/>
                <a:ext cx="334800" cy="13878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05B087A9-3C36-4661-94A9-BF80865A1DD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18750" y="2143590"/>
                  <a:ext cx="352440" cy="14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218C3A1-839D-4BEF-9761-2F1874350BBF}"/>
                    </a:ext>
                  </a:extLst>
                </p14:cNvPr>
                <p14:cNvContentPartPr/>
                <p14:nvPr/>
              </p14:nvContentPartPr>
              <p14:xfrm>
                <a:off x="2981070" y="2695470"/>
                <a:ext cx="2585160" cy="201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218C3A1-839D-4BEF-9761-2F1874350BB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72430" y="2686830"/>
                  <a:ext cx="260280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73797A03-93DE-4E27-B397-54C4CF792435}"/>
                  </a:ext>
                </a:extLst>
              </p14:cNvPr>
              <p14:cNvContentPartPr/>
              <p14:nvPr/>
            </p14:nvContentPartPr>
            <p14:xfrm>
              <a:off x="2904750" y="3074550"/>
              <a:ext cx="1736280" cy="309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73797A03-93DE-4E27-B397-54C4CF7924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96110" y="3065550"/>
                <a:ext cx="17539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46E19CE8-B78A-4C1C-964C-D4AEC931ABF8}"/>
                  </a:ext>
                </a:extLst>
              </p14:cNvPr>
              <p14:cNvContentPartPr/>
              <p14:nvPr/>
            </p14:nvContentPartPr>
            <p14:xfrm>
              <a:off x="3114270" y="3333390"/>
              <a:ext cx="1239120" cy="36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46E19CE8-B78A-4C1C-964C-D4AEC931ABF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05630" y="3324750"/>
                <a:ext cx="1256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BF5FC406-8AAD-47A7-A902-0C3959FEC907}"/>
                  </a:ext>
                </a:extLst>
              </p14:cNvPr>
              <p14:cNvContentPartPr/>
              <p14:nvPr/>
            </p14:nvContentPartPr>
            <p14:xfrm>
              <a:off x="2933190" y="3551550"/>
              <a:ext cx="2014200" cy="3096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BF5FC406-8AAD-47A7-A902-0C3959FEC90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24550" y="3542550"/>
                <a:ext cx="20318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D5E59B58-168E-43F6-B5A6-6D31AFE8C8E4}"/>
                  </a:ext>
                </a:extLst>
              </p14:cNvPr>
              <p14:cNvContentPartPr/>
              <p14:nvPr/>
            </p14:nvContentPartPr>
            <p14:xfrm>
              <a:off x="3257190" y="3837390"/>
              <a:ext cx="1810440" cy="7812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D5E59B58-168E-43F6-B5A6-6D31AFE8C8E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48550" y="3828750"/>
                <a:ext cx="18280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87171BE6-9622-44B8-AF26-F4E0F1176596}"/>
                  </a:ext>
                </a:extLst>
              </p14:cNvPr>
              <p14:cNvContentPartPr/>
              <p14:nvPr/>
            </p14:nvContentPartPr>
            <p14:xfrm>
              <a:off x="6714630" y="2771430"/>
              <a:ext cx="2473920" cy="3672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87171BE6-9622-44B8-AF26-F4E0F117659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05990" y="2762790"/>
                <a:ext cx="2491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FD5A49EC-9064-48C7-8B86-E82D12E626C7}"/>
                  </a:ext>
                </a:extLst>
              </p14:cNvPr>
              <p14:cNvContentPartPr/>
              <p14:nvPr/>
            </p14:nvContentPartPr>
            <p14:xfrm>
              <a:off x="6495750" y="3123870"/>
              <a:ext cx="1390680" cy="5940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FD5A49EC-9064-48C7-8B86-E82D12E626C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87110" y="3115230"/>
                <a:ext cx="14083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53885979-9095-48D1-914F-66A50C58DF57}"/>
                  </a:ext>
                </a:extLst>
              </p14:cNvPr>
              <p14:cNvContentPartPr/>
              <p14:nvPr/>
            </p14:nvContentPartPr>
            <p14:xfrm>
              <a:off x="6686190" y="3314310"/>
              <a:ext cx="1577160" cy="9000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53885979-9095-48D1-914F-66A50C58DF5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77550" y="3305670"/>
                <a:ext cx="15948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20FDD288-9769-4FCB-863E-B7584C1F3249}"/>
                  </a:ext>
                </a:extLst>
              </p14:cNvPr>
              <p14:cNvContentPartPr/>
              <p14:nvPr/>
            </p14:nvContentPartPr>
            <p14:xfrm>
              <a:off x="7162470" y="3552270"/>
              <a:ext cx="1331280" cy="9684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20FDD288-9769-4FCB-863E-B7584C1F324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153830" y="3543270"/>
                <a:ext cx="1348920" cy="1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2799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수정 사항 ②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NBUFFER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와 </a:t>
            </a:r>
            <a:r>
              <a:rPr lang="en-US" altLang="ko-KR" sz="2800" b="1" dirty="0" err="1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Broyden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히스토리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수정 사항 ② </a:t>
            </a:r>
            <a:r>
              <a:rPr lang="en-US" altLang="ko-KR" sz="1600" b="1" dirty="0">
                <a:latin typeface="+mn-ea"/>
              </a:rPr>
              <a:t>— NBUFFER</a:t>
            </a:r>
            <a:r>
              <a:rPr lang="ko-KR" altLang="en-US" sz="1600" b="1" dirty="0">
                <a:latin typeface="+mn-ea"/>
              </a:rPr>
              <a:t>와 </a:t>
            </a:r>
            <a:r>
              <a:rPr lang="en-US" altLang="ko-KR" sz="1600" b="1" dirty="0" err="1">
                <a:latin typeface="+mn-ea"/>
              </a:rPr>
              <a:t>Broyden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히스토리</a:t>
            </a: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393845"/>
            <a:ext cx="11258550" cy="19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우리가 쓰는 </a:t>
            </a:r>
            <a:r>
              <a:rPr lang="en-US" altLang="ko-KR" sz="1400" dirty="0" err="1">
                <a:latin typeface="+mn-ea"/>
              </a:rPr>
              <a:t>Broyden</a:t>
            </a:r>
            <a:r>
              <a:rPr lang="en-US" altLang="ko-KR" sz="1400" dirty="0">
                <a:latin typeface="+mn-ea"/>
              </a:rPr>
              <a:t> mixing</a:t>
            </a:r>
            <a:r>
              <a:rPr lang="ko-KR" altLang="en-US" sz="1400" dirty="0">
                <a:latin typeface="+mn-ea"/>
              </a:rPr>
              <a:t>은 단순히 이전 것과 새 것을 섞는 게 아니라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과거 이력을 분석하는 방법입니다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"1</a:t>
            </a:r>
            <a:r>
              <a:rPr lang="ko-KR" altLang="en-US" sz="1400" dirty="0">
                <a:latin typeface="+mn-ea"/>
              </a:rPr>
              <a:t>번째 시도에서 이쪽으로 갔더니 에너지가 올랐고</a:t>
            </a:r>
            <a:r>
              <a:rPr lang="en-US" altLang="ko-KR" sz="1400" dirty="0">
                <a:latin typeface="+mn-ea"/>
              </a:rPr>
              <a:t>, 2</a:t>
            </a:r>
            <a:r>
              <a:rPr lang="ko-KR" altLang="en-US" sz="1400" dirty="0">
                <a:latin typeface="+mn-ea"/>
              </a:rPr>
              <a:t>번째에서 저쪽으로 갔더니 내렸으니까</a:t>
            </a:r>
            <a:r>
              <a:rPr lang="en-US" altLang="ko-KR" sz="1400" dirty="0">
                <a:latin typeface="+mn-ea"/>
              </a:rPr>
              <a:t>, 3</a:t>
            </a:r>
            <a:r>
              <a:rPr lang="ko-KR" altLang="en-US" sz="1400" dirty="0">
                <a:latin typeface="+mn-ea"/>
              </a:rPr>
              <a:t>번째는 이 방향이 좋겠다</a:t>
            </a:r>
            <a:r>
              <a:rPr lang="en-US" altLang="ko-KR" sz="1400" dirty="0">
                <a:latin typeface="+mn-ea"/>
              </a:rPr>
              <a:t>"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NBUFFER</a:t>
            </a:r>
            <a:r>
              <a:rPr lang="ko-KR" altLang="en-US" sz="1400" dirty="0">
                <a:latin typeface="+mn-ea"/>
              </a:rPr>
              <a:t>가 이 과거 기록의 개수인데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기본값 </a:t>
            </a:r>
            <a:r>
              <a:rPr lang="en-US" altLang="ko-KR" sz="1400" dirty="0">
                <a:latin typeface="+mn-ea"/>
              </a:rPr>
              <a:t>4</a:t>
            </a:r>
            <a:r>
              <a:rPr lang="ko-KR" altLang="en-US" sz="1400" dirty="0">
                <a:latin typeface="+mn-ea"/>
              </a:rPr>
              <a:t>를 </a:t>
            </a:r>
            <a:r>
              <a:rPr lang="en-US" altLang="ko-KR" sz="1400" dirty="0">
                <a:latin typeface="+mn-ea"/>
              </a:rPr>
              <a:t>8</a:t>
            </a:r>
            <a:r>
              <a:rPr lang="ko-KR" altLang="en-US" sz="1400" dirty="0">
                <a:latin typeface="+mn-ea"/>
              </a:rPr>
              <a:t>로 늘려서 더 많은 정보를 참고하게 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특히 진동이 있는 시스템에서는 과거 패턴을 많이 봐야 진동 주기를 파악하고 빠져나올 수 있습니다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메모리를 약간 더 쓰지만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우리 시스템은 </a:t>
            </a:r>
            <a:r>
              <a:rPr lang="en-US" altLang="ko-KR" sz="1400" dirty="0">
                <a:latin typeface="+mn-ea"/>
              </a:rPr>
              <a:t>192 atoms</a:t>
            </a:r>
            <a:r>
              <a:rPr lang="ko-KR" altLang="en-US" sz="1400" dirty="0">
                <a:latin typeface="+mn-ea"/>
              </a:rPr>
              <a:t>에 </a:t>
            </a:r>
            <a:r>
              <a:rPr lang="en-US" altLang="ko-KR" sz="1400" dirty="0">
                <a:latin typeface="+mn-ea"/>
              </a:rPr>
              <a:t>62GB RAM</a:t>
            </a:r>
            <a:r>
              <a:rPr lang="ko-KR" altLang="en-US" sz="1400" dirty="0">
                <a:latin typeface="+mn-ea"/>
              </a:rPr>
              <a:t>이니까 전혀 문제 없습니다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ALPHA </a:t>
            </a:r>
            <a:r>
              <a:rPr lang="ko-KR" altLang="en-US" sz="1400" dirty="0">
                <a:latin typeface="+mn-ea"/>
              </a:rPr>
              <a:t>감소와 </a:t>
            </a:r>
            <a:r>
              <a:rPr lang="en-US" altLang="ko-KR" sz="1400" dirty="0">
                <a:latin typeface="+mn-ea"/>
              </a:rPr>
              <a:t>NBUFFER </a:t>
            </a:r>
            <a:r>
              <a:rPr lang="ko-KR" altLang="en-US" sz="1400" dirty="0">
                <a:latin typeface="+mn-ea"/>
              </a:rPr>
              <a:t>증가를 함께 적용하면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느리지만 정확한 방향으로 꾸준히 수렴하는 효과를 기대할 수 있습니다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E4ED10C1-DD2B-46BB-A644-3CEC740B9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4556" y="1457325"/>
            <a:ext cx="7620000" cy="266700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B8283827-59B7-4252-804A-55F3E564005E}"/>
              </a:ext>
            </a:extLst>
          </p:cNvPr>
          <p:cNvGrpSpPr/>
          <p:nvPr/>
        </p:nvGrpSpPr>
        <p:grpSpPr>
          <a:xfrm>
            <a:off x="2123550" y="2389470"/>
            <a:ext cx="7561440" cy="1105560"/>
            <a:chOff x="2123550" y="2389470"/>
            <a:chExt cx="7561440" cy="11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1205854E-1094-4ECE-9EA3-8B267FD9531D}"/>
                    </a:ext>
                  </a:extLst>
                </p14:cNvPr>
                <p14:cNvContentPartPr/>
                <p14:nvPr/>
              </p14:nvContentPartPr>
              <p14:xfrm>
                <a:off x="5876550" y="2960790"/>
                <a:ext cx="260280" cy="396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205854E-1094-4ECE-9EA3-8B267FD9531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67910" y="2952150"/>
                  <a:ext cx="277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AA43569-0F2B-41D6-9CE7-6C1696081502}"/>
                    </a:ext>
                  </a:extLst>
                </p14:cNvPr>
                <p14:cNvContentPartPr/>
                <p14:nvPr/>
              </p14:nvContentPartPr>
              <p14:xfrm>
                <a:off x="5971950" y="3125670"/>
                <a:ext cx="167400" cy="176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AA43569-0F2B-41D6-9CE7-6C169608150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63310" y="3117030"/>
                  <a:ext cx="185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C1FA361-E89C-482F-88CB-8E3715CFF864}"/>
                    </a:ext>
                  </a:extLst>
                </p14:cNvPr>
                <p14:cNvContentPartPr/>
                <p14:nvPr/>
              </p14:nvContentPartPr>
              <p14:xfrm>
                <a:off x="5706270" y="2771430"/>
                <a:ext cx="486720" cy="5986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FC1FA361-E89C-482F-88CB-8E3715CFF86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97630" y="2762790"/>
                  <a:ext cx="50436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684EEA81-CFAE-48AE-82A7-93218CC44F1F}"/>
                    </a:ext>
                  </a:extLst>
                </p14:cNvPr>
                <p14:cNvContentPartPr/>
                <p14:nvPr/>
              </p14:nvContentPartPr>
              <p14:xfrm>
                <a:off x="2123550" y="2389470"/>
                <a:ext cx="2707200" cy="7840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684EEA81-CFAE-48AE-82A7-93218CC44F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14550" y="2380470"/>
                  <a:ext cx="2724840" cy="80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C36883A-D0AA-4DAB-A1DC-CCE95759DBFD}"/>
                    </a:ext>
                  </a:extLst>
                </p14:cNvPr>
                <p14:cNvContentPartPr/>
                <p14:nvPr/>
              </p14:nvContentPartPr>
              <p14:xfrm>
                <a:off x="5574510" y="2408550"/>
                <a:ext cx="4110480" cy="5940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C36883A-D0AA-4DAB-A1DC-CCE95759DBF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65510" y="2399550"/>
                  <a:ext cx="412812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EA08AF0-69F8-43C9-B914-844CCAF578C2}"/>
                    </a:ext>
                  </a:extLst>
                </p14:cNvPr>
                <p14:cNvContentPartPr/>
                <p14:nvPr/>
              </p14:nvContentPartPr>
              <p14:xfrm>
                <a:off x="6952950" y="3266790"/>
                <a:ext cx="1851840" cy="3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EA08AF0-69F8-43C9-B914-844CCAF578C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44310" y="3258150"/>
                  <a:ext cx="1869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C89EE8C-107C-4948-AE5C-1F2AA9782CF3}"/>
                    </a:ext>
                  </a:extLst>
                </p14:cNvPr>
                <p14:cNvContentPartPr/>
                <p14:nvPr/>
              </p14:nvContentPartPr>
              <p14:xfrm>
                <a:off x="7410150" y="3457230"/>
                <a:ext cx="1499760" cy="378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C89EE8C-107C-4948-AE5C-1F2AA9782CF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01510" y="3448590"/>
                  <a:ext cx="151740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507CA1B4-B68C-4C73-AEF0-ABC4364B6D6D}"/>
                  </a:ext>
                </a:extLst>
              </p14:cNvPr>
              <p14:cNvContentPartPr/>
              <p14:nvPr/>
            </p14:nvContentPartPr>
            <p14:xfrm>
              <a:off x="7076790" y="3721830"/>
              <a:ext cx="2538720" cy="2196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507CA1B4-B68C-4C73-AEF0-ABC4364B6D6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068150" y="3713190"/>
                <a:ext cx="2556360" cy="3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0806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수정 사항 ③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OUTER_SCF (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보험 장치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수정 사항 ③ </a:t>
            </a:r>
            <a:r>
              <a:rPr lang="en-US" altLang="ko-KR" sz="1600" b="1" dirty="0">
                <a:latin typeface="+mn-ea"/>
              </a:rPr>
              <a:t>— OUTER_SCF (</a:t>
            </a:r>
            <a:r>
              <a:rPr lang="ko-KR" altLang="en-US" sz="1600" b="1" dirty="0">
                <a:latin typeface="+mn-ea"/>
              </a:rPr>
              <a:t>보험 장치</a:t>
            </a:r>
            <a:r>
              <a:rPr lang="en-US" altLang="ko-KR" sz="1600" b="1" dirty="0">
                <a:latin typeface="+mn-ea"/>
              </a:rPr>
              <a:t>)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393845"/>
            <a:ext cx="11258550" cy="19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OUTER_SCF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내부 </a:t>
            </a:r>
            <a:r>
              <a:rPr lang="en-US" altLang="ko-KR" sz="1400" dirty="0">
                <a:latin typeface="+mn-ea"/>
              </a:rPr>
              <a:t>SCF</a:t>
            </a:r>
            <a:r>
              <a:rPr lang="ko-KR" altLang="en-US" sz="1400" dirty="0">
                <a:latin typeface="+mn-ea"/>
              </a:rPr>
              <a:t>가 실패해도 한 번 더 기회를 주는</a:t>
            </a:r>
            <a:r>
              <a:rPr lang="en-US" altLang="ko-KR" sz="1400" dirty="0">
                <a:latin typeface="+mn-ea"/>
              </a:rPr>
              <a:t>" </a:t>
            </a:r>
            <a:r>
              <a:rPr lang="ko-KR" altLang="en-US" sz="1400" dirty="0">
                <a:latin typeface="+mn-ea"/>
              </a:rPr>
              <a:t>바깥쪽 반복 루프입니다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기존에는 내부 </a:t>
            </a:r>
            <a:r>
              <a:rPr lang="en-US" altLang="ko-KR" sz="1400" dirty="0">
                <a:latin typeface="+mn-ea"/>
              </a:rPr>
              <a:t>SCF</a:t>
            </a:r>
            <a:r>
              <a:rPr lang="ko-KR" altLang="en-US" sz="1400" dirty="0">
                <a:latin typeface="+mn-ea"/>
              </a:rPr>
              <a:t>가 </a:t>
            </a:r>
            <a:r>
              <a:rPr lang="en-US" altLang="ko-KR" sz="1400" dirty="0">
                <a:latin typeface="+mn-ea"/>
              </a:rPr>
              <a:t>200 step </a:t>
            </a:r>
            <a:r>
              <a:rPr lang="ko-KR" altLang="en-US" sz="1400" dirty="0">
                <a:latin typeface="+mn-ea"/>
              </a:rPr>
              <a:t>안에 수렴 못 하면 </a:t>
            </a:r>
            <a:r>
              <a:rPr lang="en-US" altLang="ko-KR" sz="1400" dirty="0">
                <a:latin typeface="+mn-ea"/>
              </a:rPr>
              <a:t>"SCF FAILED"</a:t>
            </a:r>
            <a:r>
              <a:rPr lang="ko-KR" altLang="en-US" sz="1400" dirty="0">
                <a:latin typeface="+mn-ea"/>
              </a:rPr>
              <a:t>로 계산 전체가 멈췄습니다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OUTER_SCF</a:t>
            </a:r>
            <a:r>
              <a:rPr lang="ko-KR" altLang="en-US" sz="1400" dirty="0">
                <a:latin typeface="+mn-ea"/>
              </a:rPr>
              <a:t>를 켜면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내부 </a:t>
            </a:r>
            <a:r>
              <a:rPr lang="en-US" altLang="ko-KR" sz="1400" dirty="0">
                <a:latin typeface="+mn-ea"/>
              </a:rPr>
              <a:t>300 step</a:t>
            </a:r>
            <a:r>
              <a:rPr lang="ko-KR" altLang="en-US" sz="1400" dirty="0">
                <a:latin typeface="+mn-ea"/>
              </a:rPr>
              <a:t>이 실패해도 현재까지의 전자 분포를 초기값으로 다시 시작합니다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첫 번째 내부 루프에서 완벽하게 수렴 못 해도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그때까지의 결과가 두 번째 루프의 출발점이 되니까 점점 좋아집니다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최대 </a:t>
            </a:r>
            <a:r>
              <a:rPr lang="en-US" altLang="ko-KR" sz="1400" dirty="0">
                <a:latin typeface="+mn-ea"/>
              </a:rPr>
              <a:t>10</a:t>
            </a:r>
            <a:r>
              <a:rPr lang="ko-KR" altLang="en-US" sz="1400" dirty="0">
                <a:latin typeface="+mn-ea"/>
              </a:rPr>
              <a:t>번까지 재시도하므로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총 </a:t>
            </a:r>
            <a:r>
              <a:rPr lang="en-US" altLang="ko-KR" sz="1400" dirty="0">
                <a:latin typeface="+mn-ea"/>
              </a:rPr>
              <a:t>300 × 10 = 3,000</a:t>
            </a:r>
            <a:r>
              <a:rPr lang="ko-KR" altLang="en-US" sz="1400" dirty="0">
                <a:latin typeface="+mn-ea"/>
              </a:rPr>
              <a:t>번의 기회를 주는 셈입니다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이건 직접적으로 수렴을 </a:t>
            </a:r>
            <a:r>
              <a:rPr lang="ko-KR" altLang="en-US" sz="1400" dirty="0" err="1">
                <a:latin typeface="+mn-ea"/>
              </a:rPr>
              <a:t>돕는다기보다</a:t>
            </a:r>
            <a:r>
              <a:rPr lang="en-US" altLang="ko-KR" sz="1400" dirty="0">
                <a:latin typeface="+mn-ea"/>
              </a:rPr>
              <a:t>, "</a:t>
            </a:r>
            <a:r>
              <a:rPr lang="ko-KR" altLang="en-US" sz="1400" dirty="0">
                <a:latin typeface="+mn-ea"/>
              </a:rPr>
              <a:t>만약을 대비한 보험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으로서 </a:t>
            </a:r>
            <a:r>
              <a:rPr lang="en-US" altLang="ko-KR" sz="1400" dirty="0">
                <a:latin typeface="+mn-ea"/>
              </a:rPr>
              <a:t>GEO_OPT</a:t>
            </a:r>
            <a:r>
              <a:rPr lang="ko-KR" altLang="en-US" sz="1400" dirty="0">
                <a:latin typeface="+mn-ea"/>
              </a:rPr>
              <a:t>가 중간에 죽는 것을 방지합니다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E02CA056-962F-4C15-A24E-E7A8B10C7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0826" y="1260759"/>
            <a:ext cx="7620000" cy="2857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5BC73F4-5032-42D9-ACEF-CC68BE3492CD}"/>
                  </a:ext>
                </a:extLst>
              </p14:cNvPr>
              <p14:cNvContentPartPr/>
              <p14:nvPr/>
            </p14:nvContentPartPr>
            <p14:xfrm>
              <a:off x="2266470" y="1742910"/>
              <a:ext cx="349560" cy="22226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5BC73F4-5032-42D9-ACEF-CC68BE3492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57830" y="1734270"/>
                <a:ext cx="367200" cy="22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2BFB7FB1-5A9E-47F6-9DFB-4BE28CC33BFE}"/>
                  </a:ext>
                </a:extLst>
              </p14:cNvPr>
              <p14:cNvContentPartPr/>
              <p14:nvPr/>
            </p14:nvContentPartPr>
            <p14:xfrm>
              <a:off x="4904910" y="2533470"/>
              <a:ext cx="360" cy="3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2BFB7FB1-5A9E-47F6-9DFB-4BE28CC33BF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96270" y="25248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2C2A8DB0-D419-45AA-82FF-0DEF29F38DC9}"/>
                  </a:ext>
                </a:extLst>
              </p14:cNvPr>
              <p14:cNvContentPartPr/>
              <p14:nvPr/>
            </p14:nvContentPartPr>
            <p14:xfrm>
              <a:off x="2666790" y="2057190"/>
              <a:ext cx="2496240" cy="2052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2C2A8DB0-D419-45AA-82FF-0DEF29F38DC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58150" y="2048550"/>
                <a:ext cx="251388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33BEE002-223B-42BF-895D-9681781E793F}"/>
              </a:ext>
            </a:extLst>
          </p:cNvPr>
          <p:cNvGrpSpPr/>
          <p:nvPr/>
        </p:nvGrpSpPr>
        <p:grpSpPr>
          <a:xfrm>
            <a:off x="2876310" y="2436990"/>
            <a:ext cx="6572880" cy="1260360"/>
            <a:chOff x="2876310" y="2436990"/>
            <a:chExt cx="6572880" cy="126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622E278-EA36-4C50-9529-934E7FA4F728}"/>
                    </a:ext>
                  </a:extLst>
                </p14:cNvPr>
                <p14:cNvContentPartPr/>
                <p14:nvPr/>
              </p14:nvContentPartPr>
              <p14:xfrm>
                <a:off x="2876310" y="2436990"/>
                <a:ext cx="1699560" cy="493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622E278-EA36-4C50-9529-934E7FA4F72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67670" y="2428350"/>
                  <a:ext cx="1717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C0F3BC1-DD25-4D17-8EDD-EADAA8EC7F0C}"/>
                    </a:ext>
                  </a:extLst>
                </p14:cNvPr>
                <p14:cNvContentPartPr/>
                <p14:nvPr/>
              </p14:nvContentPartPr>
              <p14:xfrm>
                <a:off x="3161790" y="2723910"/>
                <a:ext cx="1213920" cy="198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C0F3BC1-DD25-4D17-8EDD-EADAA8EC7F0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53150" y="2714910"/>
                  <a:ext cx="1231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F0B97F9-085B-44B0-B093-80A3D82F2640}"/>
                    </a:ext>
                  </a:extLst>
                </p14:cNvPr>
                <p14:cNvContentPartPr/>
                <p14:nvPr/>
              </p14:nvContentPartPr>
              <p14:xfrm>
                <a:off x="3543030" y="2952510"/>
                <a:ext cx="1499760" cy="3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1F0B97F9-085B-44B0-B093-80A3D82F264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34390" y="2943870"/>
                  <a:ext cx="1517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EEF3215-6CAA-4A7D-8393-3C2BB25244F5}"/>
                    </a:ext>
                  </a:extLst>
                </p14:cNvPr>
                <p14:cNvContentPartPr/>
                <p14:nvPr/>
              </p14:nvContentPartPr>
              <p14:xfrm>
                <a:off x="8115030" y="2551830"/>
                <a:ext cx="1334160" cy="486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EEF3215-6CAA-4A7D-8393-3C2BB25244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06390" y="2542830"/>
                  <a:ext cx="1351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1BD9AF6-7C8E-46D0-8651-0E82100A70D4}"/>
                    </a:ext>
                  </a:extLst>
                </p14:cNvPr>
                <p14:cNvContentPartPr/>
                <p14:nvPr/>
              </p14:nvContentPartPr>
              <p14:xfrm>
                <a:off x="3858390" y="2597190"/>
                <a:ext cx="5097960" cy="11001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1BD9AF6-7C8E-46D0-8651-0E82100A70D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49750" y="2588190"/>
                  <a:ext cx="5115600" cy="111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83737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만약 그래도 안 되면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OT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방법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만약 그래도 안 되면 </a:t>
            </a:r>
            <a:r>
              <a:rPr lang="en-US" altLang="ko-KR" sz="1600" b="1" dirty="0">
                <a:latin typeface="+mn-ea"/>
              </a:rPr>
              <a:t>— OT </a:t>
            </a:r>
            <a:r>
              <a:rPr lang="ko-KR" altLang="en-US" sz="1600" b="1" dirty="0">
                <a:latin typeface="+mn-ea"/>
              </a:rPr>
              <a:t>방법</a:t>
            </a: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393845"/>
            <a:ext cx="11258550" cy="19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OT(Orbital Transformation)</a:t>
            </a:r>
            <a:r>
              <a:rPr lang="ko-KR" altLang="en-US" sz="1400" dirty="0">
                <a:latin typeface="+mn-ea"/>
              </a:rPr>
              <a:t>는 대각화와 근본적으로 다른 접근법입니다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대각화는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행렬의 </a:t>
            </a:r>
            <a:r>
              <a:rPr lang="ko-KR" altLang="en-US" sz="1400" dirty="0" err="1">
                <a:latin typeface="+mn-ea"/>
              </a:rPr>
              <a:t>고유값을</a:t>
            </a:r>
            <a:r>
              <a:rPr lang="ko-KR" altLang="en-US" sz="1400" dirty="0">
                <a:latin typeface="+mn-ea"/>
              </a:rPr>
              <a:t> 구해서 </a:t>
            </a:r>
            <a:r>
              <a:rPr lang="ko-KR" altLang="en-US" sz="1400" dirty="0" err="1">
                <a:latin typeface="+mn-ea"/>
              </a:rPr>
              <a:t>오비탈을</a:t>
            </a:r>
            <a:r>
              <a:rPr lang="ko-KR" altLang="en-US" sz="1400" dirty="0">
                <a:latin typeface="+mn-ea"/>
              </a:rPr>
              <a:t> 계산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하는 거고</a:t>
            </a:r>
            <a:r>
              <a:rPr lang="en-US" altLang="ko-KR" sz="1400" dirty="0">
                <a:latin typeface="+mn-ea"/>
              </a:rPr>
              <a:t>, OT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에너지 함수를 직접 최소화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OT</a:t>
            </a:r>
            <a:r>
              <a:rPr lang="ko-KR" altLang="en-US" sz="1400" dirty="0">
                <a:latin typeface="+mn-ea"/>
              </a:rPr>
              <a:t>의 가장 큰 장점은 에너지가 </a:t>
            </a:r>
            <a:r>
              <a:rPr lang="ko-KR" altLang="en-US" sz="1400" dirty="0" err="1">
                <a:latin typeface="+mn-ea"/>
              </a:rPr>
              <a:t>단조감소하도록</a:t>
            </a:r>
            <a:r>
              <a:rPr lang="ko-KR" altLang="en-US" sz="1400" dirty="0">
                <a:latin typeface="+mn-ea"/>
              </a:rPr>
              <a:t> 보장할 수 있어서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진동 문제가 원천적으로 없습니다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그런데 치명적 단점이 있는데</a:t>
            </a:r>
            <a:r>
              <a:rPr lang="en-US" altLang="ko-KR" sz="1400" dirty="0">
                <a:latin typeface="+mn-ea"/>
              </a:rPr>
              <a:t>, Fermi-Dirac smearing(</a:t>
            </a:r>
            <a:r>
              <a:rPr lang="ko-KR" altLang="en-US" sz="1400" dirty="0">
                <a:latin typeface="+mn-ea"/>
              </a:rPr>
              <a:t>부분 점유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을 사용할 수 없습니다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우리 시스템은 </a:t>
            </a:r>
            <a:r>
              <a:rPr lang="en-US" altLang="ko-KR" sz="1400" dirty="0" err="1">
                <a:latin typeface="+mn-ea"/>
              </a:rPr>
              <a:t>Ti</a:t>
            </a:r>
            <a:r>
              <a:rPr lang="ko-KR" altLang="en-US" sz="1400" dirty="0">
                <a:latin typeface="+mn-ea"/>
              </a:rPr>
              <a:t>의 </a:t>
            </a:r>
            <a:r>
              <a:rPr lang="en-US" altLang="ko-KR" sz="1400" dirty="0">
                <a:latin typeface="+mn-ea"/>
              </a:rPr>
              <a:t>d-</a:t>
            </a:r>
            <a:r>
              <a:rPr lang="ko-KR" altLang="en-US" sz="1400" dirty="0">
                <a:latin typeface="+mn-ea"/>
              </a:rPr>
              <a:t>전자 때문에 </a:t>
            </a:r>
            <a:r>
              <a:rPr lang="en-US" altLang="ko-KR" sz="1400" dirty="0">
                <a:latin typeface="+mn-ea"/>
              </a:rPr>
              <a:t>SMEAR</a:t>
            </a:r>
            <a:r>
              <a:rPr lang="ko-KR" altLang="en-US" sz="1400" dirty="0">
                <a:latin typeface="+mn-ea"/>
              </a:rPr>
              <a:t>가 필수적이므로</a:t>
            </a:r>
            <a:r>
              <a:rPr lang="en-US" altLang="ko-KR" sz="1400" dirty="0">
                <a:latin typeface="+mn-ea"/>
              </a:rPr>
              <a:t>, OT</a:t>
            </a:r>
            <a:r>
              <a:rPr lang="ko-KR" altLang="en-US" sz="1400" dirty="0">
                <a:latin typeface="+mn-ea"/>
              </a:rPr>
              <a:t>로 바꾸면 다른 종류의 수렴 문제가 생길 수 있습니다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그래서 </a:t>
            </a:r>
            <a:r>
              <a:rPr lang="en-US" altLang="ko-KR" sz="1400" dirty="0">
                <a:latin typeface="+mn-ea"/>
              </a:rPr>
              <a:t>OT</a:t>
            </a:r>
            <a:r>
              <a:rPr lang="ko-KR" altLang="en-US" sz="1400" dirty="0">
                <a:latin typeface="+mn-ea"/>
              </a:rPr>
              <a:t>는 </a:t>
            </a:r>
            <a:r>
              <a:rPr lang="en-US" altLang="ko-KR" sz="1400" dirty="0">
                <a:latin typeface="+mn-ea"/>
              </a:rPr>
              <a:t>ALPHA </a:t>
            </a:r>
            <a:r>
              <a:rPr lang="ko-KR" altLang="en-US" sz="1400" dirty="0">
                <a:latin typeface="+mn-ea"/>
              </a:rPr>
              <a:t>감소가 실패할 경우의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최후의 수단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으로 남겨두었습니다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2EF87150-D16F-4C17-A7A8-6050C5082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0" y="1274132"/>
            <a:ext cx="7620000" cy="285750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82505497-8161-4F45-9E11-A71FA4DF862B}"/>
              </a:ext>
            </a:extLst>
          </p:cNvPr>
          <p:cNvGrpSpPr/>
          <p:nvPr/>
        </p:nvGrpSpPr>
        <p:grpSpPr>
          <a:xfrm>
            <a:off x="1980270" y="1885830"/>
            <a:ext cx="8136360" cy="2432160"/>
            <a:chOff x="1980270" y="1885830"/>
            <a:chExt cx="8136360" cy="243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4E8C1BD3-1507-420E-9D4D-35E3C3923DB2}"/>
                    </a:ext>
                  </a:extLst>
                </p14:cNvPr>
                <p14:cNvContentPartPr/>
                <p14:nvPr/>
              </p14:nvContentPartPr>
              <p14:xfrm>
                <a:off x="1980270" y="1885830"/>
                <a:ext cx="401400" cy="19069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4E8C1BD3-1507-420E-9D4D-35E3C3923DB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71270" y="1877190"/>
                  <a:ext cx="419040" cy="19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ED06558E-E4FA-432D-B5AA-8DEBF10D3023}"/>
                    </a:ext>
                  </a:extLst>
                </p14:cNvPr>
                <p14:cNvContentPartPr/>
                <p14:nvPr/>
              </p14:nvContentPartPr>
              <p14:xfrm>
                <a:off x="7854390" y="1952430"/>
                <a:ext cx="2262240" cy="23655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ED06558E-E4FA-432D-B5AA-8DEBF10D302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45390" y="1943790"/>
                  <a:ext cx="2279880" cy="23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A8A96B8-9D70-4F3E-8480-C885B94A0FBF}"/>
                    </a:ext>
                  </a:extLst>
                </p14:cNvPr>
                <p14:cNvContentPartPr/>
                <p14:nvPr/>
              </p14:nvContentPartPr>
              <p14:xfrm>
                <a:off x="3000150" y="2076270"/>
                <a:ext cx="2899440" cy="205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A8A96B8-9D70-4F3E-8480-C885B94A0FB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91510" y="2067630"/>
                  <a:ext cx="2917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907E013-AA88-4387-B250-7CF38262EF0B}"/>
                    </a:ext>
                  </a:extLst>
                </p14:cNvPr>
                <p14:cNvContentPartPr/>
                <p14:nvPr/>
              </p14:nvContentPartPr>
              <p14:xfrm>
                <a:off x="2169990" y="1980870"/>
                <a:ext cx="300240" cy="19432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907E013-AA88-4387-B250-7CF38262EF0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61350" y="1972230"/>
                  <a:ext cx="317880" cy="19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E6B8B46-B5F9-41E3-8D20-6E453728273B}"/>
                    </a:ext>
                  </a:extLst>
                </p14:cNvPr>
                <p14:cNvContentPartPr/>
                <p14:nvPr/>
              </p14:nvContentPartPr>
              <p14:xfrm>
                <a:off x="2790630" y="2503950"/>
                <a:ext cx="1276920" cy="504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E6B8B46-B5F9-41E3-8D20-6E453728273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81990" y="2494950"/>
                  <a:ext cx="1294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23E4A67-BB77-400F-AA39-D65D546A504A}"/>
                    </a:ext>
                  </a:extLst>
                </p14:cNvPr>
                <p14:cNvContentPartPr/>
                <p14:nvPr/>
              </p14:nvContentPartPr>
              <p14:xfrm>
                <a:off x="2599830" y="2809590"/>
                <a:ext cx="1347120" cy="298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23E4A67-BB77-400F-AA39-D65D546A504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91190" y="2800950"/>
                  <a:ext cx="1364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CFB8775-F173-4D56-B799-69A5C8A375FA}"/>
                    </a:ext>
                  </a:extLst>
                </p14:cNvPr>
                <p14:cNvContentPartPr/>
                <p14:nvPr/>
              </p14:nvContentPartPr>
              <p14:xfrm>
                <a:off x="2552310" y="2749110"/>
                <a:ext cx="1469160" cy="4226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CFB8775-F173-4D56-B799-69A5C8A375F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43670" y="2740110"/>
                  <a:ext cx="148680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17DFB597-567F-4A76-A25C-88FB4D2F7387}"/>
                    </a:ext>
                  </a:extLst>
                </p14:cNvPr>
                <p14:cNvContentPartPr/>
                <p14:nvPr/>
              </p14:nvContentPartPr>
              <p14:xfrm>
                <a:off x="4162230" y="3142950"/>
                <a:ext cx="1143720" cy="302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17DFB597-567F-4A76-A25C-88FB4D2F738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53590" y="3134310"/>
                  <a:ext cx="1161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AB8CD62-7369-4E6A-AAD3-AD91077D8CA1}"/>
                    </a:ext>
                  </a:extLst>
                </p14:cNvPr>
                <p14:cNvContentPartPr/>
                <p14:nvPr/>
              </p14:nvContentPartPr>
              <p14:xfrm>
                <a:off x="6082110" y="2786550"/>
                <a:ext cx="2111040" cy="3675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AB8CD62-7369-4E6A-AAD3-AD91077D8CA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73110" y="2777550"/>
                  <a:ext cx="21286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5715A0A-5C03-4673-9663-425B386A809E}"/>
                    </a:ext>
                  </a:extLst>
                </p14:cNvPr>
                <p14:cNvContentPartPr/>
                <p14:nvPr/>
              </p14:nvContentPartPr>
              <p14:xfrm>
                <a:off x="8210070" y="3151590"/>
                <a:ext cx="1382040" cy="201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5715A0A-5C03-4673-9663-425B386A809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01430" y="3142950"/>
                  <a:ext cx="139968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657A32A-C60A-4F44-BB9A-BC84C6969A50}"/>
              </a:ext>
            </a:extLst>
          </p:cNvPr>
          <p:cNvGrpSpPr/>
          <p:nvPr/>
        </p:nvGrpSpPr>
        <p:grpSpPr>
          <a:xfrm>
            <a:off x="6095790" y="2484150"/>
            <a:ext cx="2089800" cy="212760"/>
            <a:chOff x="6095790" y="2484150"/>
            <a:chExt cx="208980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EF722A9D-1C77-487D-882F-9D1A66CE40C8}"/>
                    </a:ext>
                  </a:extLst>
                </p14:cNvPr>
                <p14:cNvContentPartPr/>
                <p14:nvPr/>
              </p14:nvContentPartPr>
              <p14:xfrm>
                <a:off x="6238710" y="2484150"/>
                <a:ext cx="1756800" cy="874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EF722A9D-1C77-487D-882F-9D1A66CE40C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30070" y="2475150"/>
                  <a:ext cx="1774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D337B87B-3D0E-441B-B207-0AB3EBF63B91}"/>
                    </a:ext>
                  </a:extLst>
                </p14:cNvPr>
                <p14:cNvContentPartPr/>
                <p14:nvPr/>
              </p14:nvContentPartPr>
              <p14:xfrm>
                <a:off x="6095790" y="2666670"/>
                <a:ext cx="2089800" cy="302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D337B87B-3D0E-441B-B207-0AB3EBF63B9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087150" y="2658030"/>
                  <a:ext cx="210744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BD12599-F9CB-4263-AF9B-7E9233C75D58}"/>
              </a:ext>
            </a:extLst>
          </p:cNvPr>
          <p:cNvGrpSpPr/>
          <p:nvPr/>
        </p:nvGrpSpPr>
        <p:grpSpPr>
          <a:xfrm>
            <a:off x="6352830" y="3408990"/>
            <a:ext cx="2158920" cy="532800"/>
            <a:chOff x="6352830" y="3408990"/>
            <a:chExt cx="2158920" cy="53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D45BC577-C2E0-408E-9C11-ADAFBC1746D5}"/>
                    </a:ext>
                  </a:extLst>
                </p14:cNvPr>
                <p14:cNvContentPartPr/>
                <p14:nvPr/>
              </p14:nvContentPartPr>
              <p14:xfrm>
                <a:off x="6352830" y="3408990"/>
                <a:ext cx="1594800" cy="698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D45BC577-C2E0-408E-9C11-ADAFBC1746D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44190" y="3399990"/>
                  <a:ext cx="1612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ECEC0D4-4A5B-4F11-95ED-D802C5B7482C}"/>
                    </a:ext>
                  </a:extLst>
                </p14:cNvPr>
                <p14:cNvContentPartPr/>
                <p14:nvPr/>
              </p14:nvContentPartPr>
              <p14:xfrm>
                <a:off x="6476670" y="3666750"/>
                <a:ext cx="1877040" cy="302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ECEC0D4-4A5B-4F11-95ED-D802C5B7482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68030" y="3658110"/>
                  <a:ext cx="1894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EEC5882-9F01-4013-BC45-2DE49A6FCF8F}"/>
                    </a:ext>
                  </a:extLst>
                </p14:cNvPr>
                <p14:cNvContentPartPr/>
                <p14:nvPr/>
              </p14:nvContentPartPr>
              <p14:xfrm>
                <a:off x="7190910" y="3885990"/>
                <a:ext cx="1320840" cy="558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EEC5882-9F01-4013-BC45-2DE49A6FCF8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82270" y="3877350"/>
                  <a:ext cx="1338480" cy="7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39002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변경 사항 요약과 실행 전략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변경 사항 요약과 실행 전략</a:t>
            </a: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393845"/>
            <a:ext cx="11258550" cy="19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핵심 변경은 단 하나</a:t>
            </a:r>
            <a:r>
              <a:rPr lang="en-US" altLang="ko-KR" sz="1400" dirty="0">
                <a:latin typeface="+mn-ea"/>
              </a:rPr>
              <a:t>, ALPHA</a:t>
            </a:r>
            <a:r>
              <a:rPr lang="ko-KR" altLang="en-US" sz="1400" dirty="0">
                <a:latin typeface="+mn-ea"/>
              </a:rPr>
              <a:t>를 </a:t>
            </a:r>
            <a:r>
              <a:rPr lang="en-US" altLang="ko-KR" sz="1400" dirty="0">
                <a:latin typeface="+mn-ea"/>
              </a:rPr>
              <a:t>0.15</a:t>
            </a:r>
            <a:r>
              <a:rPr lang="ko-KR" altLang="en-US" sz="1400" dirty="0">
                <a:latin typeface="+mn-ea"/>
              </a:rPr>
              <a:t>에서 </a:t>
            </a:r>
            <a:r>
              <a:rPr lang="en-US" altLang="ko-KR" sz="1400" dirty="0">
                <a:latin typeface="+mn-ea"/>
              </a:rPr>
              <a:t>0.05</a:t>
            </a:r>
            <a:r>
              <a:rPr lang="ko-KR" altLang="en-US" sz="1400" dirty="0">
                <a:latin typeface="+mn-ea"/>
              </a:rPr>
              <a:t>로 줄이는 것이고 나머지는 보조적 조치입니다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NBUFFER </a:t>
            </a:r>
            <a:r>
              <a:rPr lang="ko-KR" altLang="en-US" sz="1400" dirty="0">
                <a:latin typeface="+mn-ea"/>
              </a:rPr>
              <a:t>확대는 </a:t>
            </a:r>
            <a:r>
              <a:rPr lang="en-US" altLang="ko-KR" sz="1400" dirty="0" err="1">
                <a:latin typeface="+mn-ea"/>
              </a:rPr>
              <a:t>Broyden</a:t>
            </a:r>
            <a:r>
              <a:rPr lang="ko-KR" altLang="en-US" sz="1400" dirty="0">
                <a:latin typeface="+mn-ea"/>
              </a:rPr>
              <a:t>이 진동 패턴을 더 잘 학습하도록 돕는 역할입니다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MAX_SCF </a:t>
            </a:r>
            <a:r>
              <a:rPr lang="ko-KR" altLang="en-US" sz="1400" dirty="0">
                <a:latin typeface="+mn-ea"/>
              </a:rPr>
              <a:t>증가와 </a:t>
            </a:r>
            <a:r>
              <a:rPr lang="en-US" altLang="ko-KR" sz="1400" dirty="0">
                <a:latin typeface="+mn-ea"/>
              </a:rPr>
              <a:t>OUTER_SCF </a:t>
            </a:r>
            <a:r>
              <a:rPr lang="ko-KR" altLang="en-US" sz="1400" dirty="0">
                <a:latin typeface="+mn-ea"/>
              </a:rPr>
              <a:t>추가는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더 많은 기회를 주는</a:t>
            </a:r>
            <a:r>
              <a:rPr lang="en-US" altLang="ko-KR" sz="1400" dirty="0">
                <a:latin typeface="+mn-ea"/>
              </a:rPr>
              <a:t>" </a:t>
            </a:r>
            <a:r>
              <a:rPr lang="ko-KR" altLang="en-US" sz="1400" dirty="0">
                <a:latin typeface="+mn-ea"/>
              </a:rPr>
              <a:t>안전장치입니다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이 조합이 실패하면</a:t>
            </a:r>
            <a:r>
              <a:rPr lang="en-US" altLang="ko-KR" sz="1400" dirty="0">
                <a:latin typeface="+mn-ea"/>
              </a:rPr>
              <a:t>, ELECTRONIC_TEMPERATURE</a:t>
            </a:r>
            <a:r>
              <a:rPr lang="ko-KR" altLang="en-US" sz="1400" dirty="0">
                <a:latin typeface="+mn-ea"/>
              </a:rPr>
              <a:t>를 </a:t>
            </a:r>
            <a:r>
              <a:rPr lang="en-US" altLang="ko-KR" sz="1400" dirty="0">
                <a:latin typeface="+mn-ea"/>
              </a:rPr>
              <a:t>300K</a:t>
            </a:r>
            <a:r>
              <a:rPr lang="ko-KR" altLang="en-US" sz="1400" dirty="0">
                <a:latin typeface="+mn-ea"/>
              </a:rPr>
              <a:t>에서 </a:t>
            </a:r>
            <a:r>
              <a:rPr lang="en-US" altLang="ko-KR" sz="1400" dirty="0">
                <a:latin typeface="+mn-ea"/>
              </a:rPr>
              <a:t>600K</a:t>
            </a:r>
            <a:r>
              <a:rPr lang="ko-KR" altLang="en-US" sz="1400" dirty="0">
                <a:latin typeface="+mn-ea"/>
              </a:rPr>
              <a:t>으로 올려 </a:t>
            </a:r>
            <a:r>
              <a:rPr lang="en-US" altLang="ko-KR" sz="1400" dirty="0">
                <a:latin typeface="+mn-ea"/>
              </a:rPr>
              <a:t>d-</a:t>
            </a:r>
            <a:r>
              <a:rPr lang="ko-KR" altLang="en-US" sz="1400" dirty="0">
                <a:latin typeface="+mn-ea"/>
              </a:rPr>
              <a:t>전자 </a:t>
            </a:r>
            <a:r>
              <a:rPr lang="en-US" altLang="ko-KR" sz="1400" dirty="0">
                <a:latin typeface="+mn-ea"/>
              </a:rPr>
              <a:t>smearing</a:t>
            </a:r>
            <a:r>
              <a:rPr lang="ko-KR" altLang="en-US" sz="1400" dirty="0">
                <a:latin typeface="+mn-ea"/>
              </a:rPr>
              <a:t>을 강화합니다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그래도 안 되면 최후 수단으로 </a:t>
            </a:r>
            <a:r>
              <a:rPr lang="en-US" altLang="ko-KR" sz="1400" dirty="0">
                <a:latin typeface="+mn-ea"/>
              </a:rPr>
              <a:t>OT </a:t>
            </a:r>
            <a:r>
              <a:rPr lang="ko-KR" altLang="en-US" sz="1400" dirty="0">
                <a:latin typeface="+mn-ea"/>
              </a:rPr>
              <a:t>방법으로 전환하되</a:t>
            </a:r>
            <a:r>
              <a:rPr lang="en-US" altLang="ko-KR" sz="1400" dirty="0">
                <a:latin typeface="+mn-ea"/>
              </a:rPr>
              <a:t>, SMEAR </a:t>
            </a:r>
            <a:r>
              <a:rPr lang="ko-KR" altLang="en-US" sz="1400" dirty="0">
                <a:latin typeface="+mn-ea"/>
              </a:rPr>
              <a:t>없이 수렴 가능한지 테스트합니다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한 줄 요약</a:t>
            </a:r>
            <a:r>
              <a:rPr lang="en-US" altLang="ko-KR" sz="1400" dirty="0">
                <a:latin typeface="+mn-ea"/>
              </a:rPr>
              <a:t>: "</a:t>
            </a:r>
            <a:r>
              <a:rPr lang="ko-KR" altLang="en-US" sz="1400" dirty="0">
                <a:latin typeface="+mn-ea"/>
              </a:rPr>
              <a:t>공을 살살 굴리고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더 똑똑하게 방향 잡고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실패해도 재시도하게 만든 것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입니다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C7CE396E-2AE2-42A2-8E19-B4A30F613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0" y="1178882"/>
            <a:ext cx="7620000" cy="304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FF112CAA-59E4-4A9F-A7AC-FF34A3DE9A87}"/>
                  </a:ext>
                </a:extLst>
              </p14:cNvPr>
              <p14:cNvContentPartPr/>
              <p14:nvPr/>
            </p14:nvContentPartPr>
            <p14:xfrm>
              <a:off x="2236950" y="1723830"/>
              <a:ext cx="147600" cy="16239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FF112CAA-59E4-4A9F-A7AC-FF34A3DE9A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8310" y="1715190"/>
                <a:ext cx="165240" cy="16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C8B20D8A-4D5A-40E8-B0A3-09AF27687780}"/>
                  </a:ext>
                </a:extLst>
              </p14:cNvPr>
              <p14:cNvContentPartPr/>
              <p14:nvPr/>
            </p14:nvContentPartPr>
            <p14:xfrm>
              <a:off x="9667710" y="1790430"/>
              <a:ext cx="545400" cy="172764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C8B20D8A-4D5A-40E8-B0A3-09AF276877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59070" y="1781790"/>
                <a:ext cx="563040" cy="174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02C46914-6BE5-45F4-9E0E-C1A3007DB2C8}"/>
                  </a:ext>
                </a:extLst>
              </p14:cNvPr>
              <p14:cNvContentPartPr/>
              <p14:nvPr/>
            </p14:nvContentPartPr>
            <p14:xfrm>
              <a:off x="11601270" y="3866910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02C46914-6BE5-45F4-9E0E-C1A3007DB2C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592630" y="385827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64BDBE58-9BDC-4FB2-BB90-9BC21121824E}"/>
              </a:ext>
            </a:extLst>
          </p:cNvPr>
          <p:cNvGrpSpPr/>
          <p:nvPr/>
        </p:nvGrpSpPr>
        <p:grpSpPr>
          <a:xfrm>
            <a:off x="2780910" y="1742910"/>
            <a:ext cx="6719400" cy="1792440"/>
            <a:chOff x="2780910" y="1742910"/>
            <a:chExt cx="6719400" cy="179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04A78AA-5206-4841-B8C8-0037C8DF59A0}"/>
                    </a:ext>
                  </a:extLst>
                </p14:cNvPr>
                <p14:cNvContentPartPr/>
                <p14:nvPr/>
              </p14:nvContentPartPr>
              <p14:xfrm>
                <a:off x="2780910" y="2076270"/>
                <a:ext cx="1618920" cy="853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04A78AA-5206-4841-B8C8-0037C8DF59A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72270" y="2067630"/>
                  <a:ext cx="1636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CCA1F57-FB30-4F2C-A351-A9E2930840AC}"/>
                    </a:ext>
                  </a:extLst>
                </p14:cNvPr>
                <p14:cNvContentPartPr/>
                <p14:nvPr/>
              </p14:nvContentPartPr>
              <p14:xfrm>
                <a:off x="3066750" y="2457150"/>
                <a:ext cx="1096200" cy="1155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CCA1F57-FB30-4F2C-A351-A9E2930840A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58110" y="2448510"/>
                  <a:ext cx="1113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E7B907D-930C-4241-8451-DF39BB721CAF}"/>
                    </a:ext>
                  </a:extLst>
                </p14:cNvPr>
                <p14:cNvContentPartPr/>
                <p14:nvPr/>
              </p14:nvContentPartPr>
              <p14:xfrm>
                <a:off x="3190590" y="2770710"/>
                <a:ext cx="565920" cy="212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E7B907D-930C-4241-8451-DF39BB721C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81950" y="2761710"/>
                  <a:ext cx="583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2B6D6BD2-C221-4530-98E4-CF0F682A1EA4}"/>
                    </a:ext>
                  </a:extLst>
                </p14:cNvPr>
                <p14:cNvContentPartPr/>
                <p14:nvPr/>
              </p14:nvContentPartPr>
              <p14:xfrm>
                <a:off x="3095190" y="2933430"/>
                <a:ext cx="902160" cy="176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2B6D6BD2-C221-4530-98E4-CF0F682A1EA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86550" y="2924790"/>
                  <a:ext cx="919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56C59E5-17FD-4B91-A4DF-09C91D690218}"/>
                    </a:ext>
                  </a:extLst>
                </p14:cNvPr>
                <p14:cNvContentPartPr/>
                <p14:nvPr/>
              </p14:nvContentPartPr>
              <p14:xfrm>
                <a:off x="3190590" y="3204150"/>
                <a:ext cx="708840" cy="345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56C59E5-17FD-4B91-A4DF-09C91D69021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81950" y="3195510"/>
                  <a:ext cx="726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E184B13B-E6BD-499C-A52B-F5A79337D687}"/>
                    </a:ext>
                  </a:extLst>
                </p14:cNvPr>
                <p14:cNvContentPartPr/>
                <p14:nvPr/>
              </p14:nvContentPartPr>
              <p14:xfrm>
                <a:off x="5857470" y="2341590"/>
                <a:ext cx="1166400" cy="302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E184B13B-E6BD-499C-A52B-F5A79337D68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48830" y="2332950"/>
                  <a:ext cx="1184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4DA3783-652A-4D9B-BA93-862EE053D214}"/>
                    </a:ext>
                  </a:extLst>
                </p14:cNvPr>
                <p14:cNvContentPartPr/>
                <p14:nvPr/>
              </p14:nvContentPartPr>
              <p14:xfrm>
                <a:off x="5676390" y="2608350"/>
                <a:ext cx="1372680" cy="205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4DA3783-652A-4D9B-BA93-862EE053D21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67750" y="2599710"/>
                  <a:ext cx="1390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B29F10C0-A8A1-4720-A55D-7BF97F62B487}"/>
                    </a:ext>
                  </a:extLst>
                </p14:cNvPr>
                <p14:cNvContentPartPr/>
                <p14:nvPr/>
              </p14:nvContentPartPr>
              <p14:xfrm>
                <a:off x="5571630" y="2866470"/>
                <a:ext cx="1547280" cy="212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B29F10C0-A8A1-4720-A55D-7BF97F62B48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562990" y="2857830"/>
                  <a:ext cx="1564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9F189DE3-B12D-4414-90F0-E56D040C685E}"/>
                    </a:ext>
                  </a:extLst>
                </p14:cNvPr>
                <p14:cNvContentPartPr/>
                <p14:nvPr/>
              </p14:nvContentPartPr>
              <p14:xfrm>
                <a:off x="4464270" y="1742910"/>
                <a:ext cx="518760" cy="17924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9F189DE3-B12D-4414-90F0-E56D040C685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55630" y="1734270"/>
                  <a:ext cx="536400" cy="18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284E6C80-A146-444D-9FF0-5BB78D43E893}"/>
                    </a:ext>
                  </a:extLst>
                </p14:cNvPr>
                <p14:cNvContentPartPr/>
                <p14:nvPr/>
              </p14:nvContentPartPr>
              <p14:xfrm>
                <a:off x="5460390" y="2861790"/>
                <a:ext cx="1339200" cy="4338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284E6C80-A146-444D-9FF0-5BB78D43E89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51390" y="2853150"/>
                  <a:ext cx="13568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D9E1814-FEFB-47A9-831F-057B74AE9AB1}"/>
                    </a:ext>
                  </a:extLst>
                </p14:cNvPr>
                <p14:cNvContentPartPr/>
                <p14:nvPr/>
              </p14:nvContentPartPr>
              <p14:xfrm>
                <a:off x="7505190" y="2418990"/>
                <a:ext cx="1995120" cy="3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D9E1814-FEFB-47A9-831F-057B74AE9AB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496550" y="2410350"/>
                  <a:ext cx="2012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2FCF755C-9AEA-498D-BFC5-271F7AB243B4}"/>
                    </a:ext>
                  </a:extLst>
                </p14:cNvPr>
                <p14:cNvContentPartPr/>
                <p14:nvPr/>
              </p14:nvContentPartPr>
              <p14:xfrm>
                <a:off x="7981470" y="2695470"/>
                <a:ext cx="1115280" cy="3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2FCF755C-9AEA-498D-BFC5-271F7AB243B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72830" y="2686830"/>
                  <a:ext cx="113292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78245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변경 사항 요약과 실행 전략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BD7CD-C82B-A964-1C12-1903A1D9BA66}"/>
              </a:ext>
            </a:extLst>
          </p:cNvPr>
          <p:cNvSpPr txBox="1"/>
          <p:nvPr/>
        </p:nvSpPr>
        <p:spPr>
          <a:xfrm>
            <a:off x="365281" y="594049"/>
            <a:ext cx="11258550" cy="417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변경 사항 요약과 실행 전략</a:t>
            </a: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26503D02-D966-A29E-B223-0EF85362C68C}"/>
              </a:ext>
            </a:extLst>
          </p:cNvPr>
          <p:cNvSpPr/>
          <p:nvPr/>
        </p:nvSpPr>
        <p:spPr bwMode="auto">
          <a:xfrm rot="5400000">
            <a:off x="409315" y="764610"/>
            <a:ext cx="192717" cy="160137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4393845"/>
            <a:ext cx="11258550" cy="1992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핵심 변경은 단 하나</a:t>
            </a:r>
            <a:r>
              <a:rPr lang="en-US" altLang="ko-KR" sz="1400" dirty="0">
                <a:latin typeface="+mn-ea"/>
              </a:rPr>
              <a:t>, ALPHA</a:t>
            </a:r>
            <a:r>
              <a:rPr lang="ko-KR" altLang="en-US" sz="1400" dirty="0">
                <a:latin typeface="+mn-ea"/>
              </a:rPr>
              <a:t>를 </a:t>
            </a:r>
            <a:r>
              <a:rPr lang="en-US" altLang="ko-KR" sz="1400" dirty="0">
                <a:latin typeface="+mn-ea"/>
              </a:rPr>
              <a:t>0.15</a:t>
            </a:r>
            <a:r>
              <a:rPr lang="ko-KR" altLang="en-US" sz="1400" dirty="0">
                <a:latin typeface="+mn-ea"/>
              </a:rPr>
              <a:t>에서 </a:t>
            </a:r>
            <a:r>
              <a:rPr lang="en-US" altLang="ko-KR" sz="1400" dirty="0">
                <a:latin typeface="+mn-ea"/>
              </a:rPr>
              <a:t>0.05</a:t>
            </a:r>
            <a:r>
              <a:rPr lang="ko-KR" altLang="en-US" sz="1400" dirty="0">
                <a:latin typeface="+mn-ea"/>
              </a:rPr>
              <a:t>로 줄이는 것이고 나머지는 보조적 조치입니다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NBUFFER </a:t>
            </a:r>
            <a:r>
              <a:rPr lang="ko-KR" altLang="en-US" sz="1400" dirty="0">
                <a:latin typeface="+mn-ea"/>
              </a:rPr>
              <a:t>확대는 </a:t>
            </a:r>
            <a:r>
              <a:rPr lang="en-US" altLang="ko-KR" sz="1400" dirty="0" err="1">
                <a:latin typeface="+mn-ea"/>
              </a:rPr>
              <a:t>Broyden</a:t>
            </a:r>
            <a:r>
              <a:rPr lang="ko-KR" altLang="en-US" sz="1400" dirty="0">
                <a:latin typeface="+mn-ea"/>
              </a:rPr>
              <a:t>이 진동 패턴을 더 잘 학습하도록 돕는 역할입니다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+mn-ea"/>
              </a:rPr>
              <a:t>MAX_SCF </a:t>
            </a:r>
            <a:r>
              <a:rPr lang="ko-KR" altLang="en-US" sz="1400" dirty="0">
                <a:latin typeface="+mn-ea"/>
              </a:rPr>
              <a:t>증가와 </a:t>
            </a:r>
            <a:r>
              <a:rPr lang="en-US" altLang="ko-KR" sz="1400" dirty="0">
                <a:latin typeface="+mn-ea"/>
              </a:rPr>
              <a:t>OUTER_SCF </a:t>
            </a:r>
            <a:r>
              <a:rPr lang="ko-KR" altLang="en-US" sz="1400" dirty="0">
                <a:latin typeface="+mn-ea"/>
              </a:rPr>
              <a:t>추가는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더 많은 기회를 주는</a:t>
            </a:r>
            <a:r>
              <a:rPr lang="en-US" altLang="ko-KR" sz="1400" dirty="0">
                <a:latin typeface="+mn-ea"/>
              </a:rPr>
              <a:t>" </a:t>
            </a:r>
            <a:r>
              <a:rPr lang="ko-KR" altLang="en-US" sz="1400" dirty="0">
                <a:latin typeface="+mn-ea"/>
              </a:rPr>
              <a:t>안전장치입니다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이 조합이 실패하면</a:t>
            </a:r>
            <a:r>
              <a:rPr lang="en-US" altLang="ko-KR" sz="1400" dirty="0">
                <a:latin typeface="+mn-ea"/>
              </a:rPr>
              <a:t>, ELECTRONIC_TEMPERATURE</a:t>
            </a:r>
            <a:r>
              <a:rPr lang="ko-KR" altLang="en-US" sz="1400" dirty="0">
                <a:latin typeface="+mn-ea"/>
              </a:rPr>
              <a:t>를 </a:t>
            </a:r>
            <a:r>
              <a:rPr lang="en-US" altLang="ko-KR" sz="1400" dirty="0">
                <a:latin typeface="+mn-ea"/>
              </a:rPr>
              <a:t>300K</a:t>
            </a:r>
            <a:r>
              <a:rPr lang="ko-KR" altLang="en-US" sz="1400" dirty="0">
                <a:latin typeface="+mn-ea"/>
              </a:rPr>
              <a:t>에서 </a:t>
            </a:r>
            <a:r>
              <a:rPr lang="en-US" altLang="ko-KR" sz="1400" dirty="0">
                <a:latin typeface="+mn-ea"/>
              </a:rPr>
              <a:t>600K</a:t>
            </a:r>
            <a:r>
              <a:rPr lang="ko-KR" altLang="en-US" sz="1400" dirty="0">
                <a:latin typeface="+mn-ea"/>
              </a:rPr>
              <a:t>으로 올려 </a:t>
            </a:r>
            <a:r>
              <a:rPr lang="en-US" altLang="ko-KR" sz="1400" dirty="0">
                <a:latin typeface="+mn-ea"/>
              </a:rPr>
              <a:t>d-</a:t>
            </a:r>
            <a:r>
              <a:rPr lang="ko-KR" altLang="en-US" sz="1400" dirty="0">
                <a:latin typeface="+mn-ea"/>
              </a:rPr>
              <a:t>전자 </a:t>
            </a:r>
            <a:r>
              <a:rPr lang="en-US" altLang="ko-KR" sz="1400" dirty="0">
                <a:latin typeface="+mn-ea"/>
              </a:rPr>
              <a:t>smearing</a:t>
            </a:r>
            <a:r>
              <a:rPr lang="ko-KR" altLang="en-US" sz="1400" dirty="0">
                <a:latin typeface="+mn-ea"/>
              </a:rPr>
              <a:t>을 강화합니다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그래도 안 되면 최후 수단으로 </a:t>
            </a:r>
            <a:r>
              <a:rPr lang="en-US" altLang="ko-KR" sz="1400" dirty="0">
                <a:latin typeface="+mn-ea"/>
              </a:rPr>
              <a:t>OT </a:t>
            </a:r>
            <a:r>
              <a:rPr lang="ko-KR" altLang="en-US" sz="1400" dirty="0">
                <a:latin typeface="+mn-ea"/>
              </a:rPr>
              <a:t>방법으로 전환하되</a:t>
            </a:r>
            <a:r>
              <a:rPr lang="en-US" altLang="ko-KR" sz="1400" dirty="0">
                <a:latin typeface="+mn-ea"/>
              </a:rPr>
              <a:t>, SMEAR </a:t>
            </a:r>
            <a:r>
              <a:rPr lang="ko-KR" altLang="en-US" sz="1400" dirty="0">
                <a:latin typeface="+mn-ea"/>
              </a:rPr>
              <a:t>없이 수렴 가능한지 테스트합니다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+mn-ea"/>
              </a:rPr>
              <a:t>한 줄 요약</a:t>
            </a:r>
            <a:r>
              <a:rPr lang="en-US" altLang="ko-KR" sz="1400" dirty="0">
                <a:latin typeface="+mn-ea"/>
              </a:rPr>
              <a:t>: "</a:t>
            </a:r>
            <a:r>
              <a:rPr lang="ko-KR" altLang="en-US" sz="1400" dirty="0">
                <a:latin typeface="+mn-ea"/>
              </a:rPr>
              <a:t>공을 살살 굴리고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더 똑똑하게 방향 잡고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실패해도 재시도하게 만든 것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입니다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2C85D21-D3B3-4DBA-BADB-1A43E4BC9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040906"/>
              </p:ext>
            </p:extLst>
          </p:nvPr>
        </p:nvGraphicFramePr>
        <p:xfrm>
          <a:off x="1599689" y="1397086"/>
          <a:ext cx="8828062" cy="2417800"/>
        </p:xfrm>
        <a:graphic>
          <a:graphicData uri="http://schemas.openxmlformats.org/drawingml/2006/table">
            <a:tbl>
              <a:tblPr/>
              <a:tblGrid>
                <a:gridCol w="1765612">
                  <a:extLst>
                    <a:ext uri="{9D8B030D-6E8A-4147-A177-3AD203B41FA5}">
                      <a16:colId xmlns:a16="http://schemas.microsoft.com/office/drawing/2014/main" val="3885589840"/>
                    </a:ext>
                  </a:extLst>
                </a:gridCol>
                <a:gridCol w="1765612">
                  <a:extLst>
                    <a:ext uri="{9D8B030D-6E8A-4147-A177-3AD203B41FA5}">
                      <a16:colId xmlns:a16="http://schemas.microsoft.com/office/drawing/2014/main" val="417027477"/>
                    </a:ext>
                  </a:extLst>
                </a:gridCol>
                <a:gridCol w="1765612">
                  <a:extLst>
                    <a:ext uri="{9D8B030D-6E8A-4147-A177-3AD203B41FA5}">
                      <a16:colId xmlns:a16="http://schemas.microsoft.com/office/drawing/2014/main" val="2595509630"/>
                    </a:ext>
                  </a:extLst>
                </a:gridCol>
                <a:gridCol w="2136948">
                  <a:extLst>
                    <a:ext uri="{9D8B030D-6E8A-4147-A177-3AD203B41FA5}">
                      <a16:colId xmlns:a16="http://schemas.microsoft.com/office/drawing/2014/main" val="3804269604"/>
                    </a:ext>
                  </a:extLst>
                </a:gridCol>
                <a:gridCol w="1394278">
                  <a:extLst>
                    <a:ext uri="{9D8B030D-6E8A-4147-A177-3AD203B41FA5}">
                      <a16:colId xmlns:a16="http://schemas.microsoft.com/office/drawing/2014/main" val="3059353713"/>
                    </a:ext>
                  </a:extLst>
                </a:gridCol>
              </a:tblGrid>
              <a:tr h="3454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effectLst/>
                        </a:rPr>
                        <a:t>파라미터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>
                          <a:solidFill>
                            <a:srgbClr val="FFFFFF"/>
                          </a:solidFill>
                          <a:effectLst/>
                        </a:rPr>
                        <a:t>기존값</a:t>
                      </a:r>
                      <a:endParaRPr lang="ko-KR" altLang="en-US" sz="12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>
                          <a:solidFill>
                            <a:srgbClr val="FFFFFF"/>
                          </a:solidFill>
                          <a:effectLst/>
                        </a:rPr>
                        <a:t>수정값</a:t>
                      </a:r>
                      <a:endParaRPr lang="ko-KR" altLang="en-US" sz="12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effectLst/>
                        </a:rPr>
                        <a:t>목적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effectLst/>
                        </a:rPr>
                        <a:t>우선순위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996658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ALPHA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0.15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effectLst/>
                        </a:rPr>
                        <a:t>0.05</a:t>
                      </a:r>
                      <a:endParaRPr lang="ko-KR" altLang="en-US" sz="1200">
                        <a:effectLst/>
                      </a:endParaRP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</a:rPr>
                        <a:t>진동 억제 </a:t>
                      </a:r>
                      <a:r>
                        <a:rPr lang="en-US" altLang="ko-KR" sz="1200">
                          <a:effectLst/>
                        </a:rPr>
                        <a:t>(mixing </a:t>
                      </a:r>
                      <a:r>
                        <a:rPr lang="ko-KR" altLang="en-US" sz="1200">
                          <a:effectLst/>
                        </a:rPr>
                        <a:t>세기 ↓</a:t>
                      </a:r>
                      <a:r>
                        <a:rPr lang="en-US" altLang="ko-KR" sz="1200">
                          <a:effectLst/>
                        </a:rPr>
                        <a:t>)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</a:rPr>
                        <a:t>★★★ 핵심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398882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NBUFFER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</a:rPr>
                        <a:t>4 (</a:t>
                      </a:r>
                      <a:r>
                        <a:rPr lang="ko-KR" altLang="en-US" sz="1200">
                          <a:effectLst/>
                        </a:rPr>
                        <a:t>기본</a:t>
                      </a:r>
                      <a:r>
                        <a:rPr lang="en-US" altLang="ko-KR" sz="1200">
                          <a:effectLst/>
                        </a:rPr>
                        <a:t>)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effectLst/>
                        </a:rPr>
                        <a:t>8</a:t>
                      </a:r>
                      <a:endParaRPr lang="ko-KR" altLang="en-US" sz="1200">
                        <a:effectLst/>
                      </a:endParaRP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</a:rPr>
                        <a:t>Broyden </a:t>
                      </a:r>
                      <a:r>
                        <a:rPr lang="ko-KR" altLang="en-US" sz="1200">
                          <a:effectLst/>
                        </a:rPr>
                        <a:t>히스토리 확대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</a:rPr>
                        <a:t>★★ 보조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244882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MAX_SCF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</a:rPr>
                        <a:t>200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effectLst/>
                        </a:rPr>
                        <a:t>300</a:t>
                      </a:r>
                      <a:endParaRPr lang="ko-KR" altLang="en-US" sz="1200">
                        <a:effectLst/>
                      </a:endParaRP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</a:rPr>
                        <a:t>느린 수렴에 충분한 여유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</a:rPr>
                        <a:t>★★ 보조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850551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OUTER_SCF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</a:rPr>
                        <a:t>없음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effectLst/>
                        </a:rPr>
                        <a:t>10</a:t>
                      </a:r>
                      <a:r>
                        <a:rPr lang="ko-KR" altLang="en-US" sz="1200" b="1">
                          <a:effectLst/>
                        </a:rPr>
                        <a:t>회</a:t>
                      </a:r>
                      <a:endParaRPr lang="ko-KR" altLang="en-US" sz="1200">
                        <a:effectLst/>
                      </a:endParaRP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</a:rPr>
                        <a:t>SCF </a:t>
                      </a:r>
                      <a:r>
                        <a:rPr lang="ko-KR" altLang="en-US" sz="1200">
                          <a:effectLst/>
                        </a:rPr>
                        <a:t>실패 시 재시도 보험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</a:rPr>
                        <a:t>★ 안전장치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343887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ELECTRONIC_T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300 K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300 K (</a:t>
                      </a:r>
                      <a:r>
                        <a:rPr lang="ko-KR" altLang="en-US" sz="1200" dirty="0">
                          <a:effectLst/>
                        </a:rPr>
                        <a:t>유지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</a:rPr>
                        <a:t>필요 시 </a:t>
                      </a:r>
                      <a:r>
                        <a:rPr lang="en-US" altLang="ko-KR" sz="1200" dirty="0">
                          <a:effectLst/>
                        </a:rPr>
                        <a:t>600 K</a:t>
                      </a:r>
                      <a:r>
                        <a:rPr lang="ko-KR" altLang="en-US" sz="1200" dirty="0">
                          <a:effectLst/>
                        </a:rPr>
                        <a:t>으로 </a:t>
                      </a:r>
                      <a:r>
                        <a:rPr lang="en-US" altLang="ko-KR" sz="1200" dirty="0">
                          <a:effectLst/>
                        </a:rPr>
                        <a:t>2</a:t>
                      </a:r>
                      <a:r>
                        <a:rPr lang="ko-KR" altLang="en-US" sz="1200" dirty="0">
                          <a:effectLst/>
                        </a:rPr>
                        <a:t>차 조정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ko-KR" altLang="en-US" sz="1200">
                          <a:effectLst/>
                        </a:rPr>
                        <a:t>대기</a:t>
                      </a:r>
                      <a:r>
                        <a:rPr lang="en-US" altLang="ko-KR" sz="1200">
                          <a:effectLst/>
                        </a:rPr>
                        <a:t>)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542739"/>
                  </a:ext>
                </a:extLst>
              </a:tr>
              <a:tr h="3454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</a:rPr>
                        <a:t>방법 전환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Diag.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Diag. (</a:t>
                      </a:r>
                      <a:r>
                        <a:rPr lang="ko-KR" altLang="en-US" sz="1200">
                          <a:effectLst/>
                        </a:rPr>
                        <a:t>유지</a:t>
                      </a:r>
                      <a:r>
                        <a:rPr lang="en-US" altLang="ko-KR" sz="1200">
                          <a:effectLst/>
                        </a:rPr>
                        <a:t>)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</a:rPr>
                        <a:t>실패 시 </a:t>
                      </a:r>
                      <a:r>
                        <a:rPr lang="en-US" altLang="ko-KR" sz="1200" dirty="0">
                          <a:effectLst/>
                        </a:rPr>
                        <a:t>OT</a:t>
                      </a:r>
                      <a:r>
                        <a:rPr lang="ko-KR" altLang="en-US" sz="1200" dirty="0">
                          <a:effectLst/>
                        </a:rPr>
                        <a:t>로 </a:t>
                      </a:r>
                      <a:r>
                        <a:rPr lang="en-US" altLang="ko-KR" sz="1200" dirty="0">
                          <a:effectLst/>
                        </a:rPr>
                        <a:t>3</a:t>
                      </a:r>
                      <a:r>
                        <a:rPr lang="ko-KR" altLang="en-US" sz="1200" dirty="0">
                          <a:effectLst/>
                        </a:rPr>
                        <a:t>차 전환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백업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L="55321" marR="55321" anchor="ctr">
                    <a:lnL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428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267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8DF55BD-148B-54C1-0CE0-9B83DF6F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C1EFF2-AED7-F2CE-2708-48C146AD3C0E}"/>
              </a:ext>
            </a:extLst>
          </p:cNvPr>
          <p:cNvSpPr/>
          <p:nvPr/>
        </p:nvSpPr>
        <p:spPr bwMode="auto">
          <a:xfrm>
            <a:off x="7461862" y="1949"/>
            <a:ext cx="4736816" cy="6870567"/>
          </a:xfrm>
          <a:prstGeom prst="rect">
            <a:avLst/>
          </a:prstGeom>
          <a:solidFill>
            <a:schemeClr val="accent6">
              <a:lumMod val="75000"/>
              <a:alpha val="2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3BC96E5E-BC2E-58AA-F8E1-2FF8A16CB811}"/>
              </a:ext>
            </a:extLst>
          </p:cNvPr>
          <p:cNvSpPr/>
          <p:nvPr/>
        </p:nvSpPr>
        <p:spPr>
          <a:xfrm flipH="1">
            <a:off x="6585769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A4362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0C2FD315-FC3D-2EC1-8EDA-FAE7A42B292E}"/>
              </a:ext>
            </a:extLst>
          </p:cNvPr>
          <p:cNvSpPr/>
          <p:nvPr/>
        </p:nvSpPr>
        <p:spPr>
          <a:xfrm flipH="1">
            <a:off x="5961548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9B88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id="{6B532978-9601-BEBD-9509-6EE7A575C331}"/>
              </a:ext>
            </a:extLst>
          </p:cNvPr>
          <p:cNvSpPr/>
          <p:nvPr/>
        </p:nvSpPr>
        <p:spPr>
          <a:xfrm flipH="1">
            <a:off x="-1" y="-14516"/>
            <a:ext cx="9439479" cy="6901543"/>
          </a:xfrm>
          <a:custGeom>
            <a:avLst/>
            <a:gdLst>
              <a:gd name="connsiteX0" fmla="*/ 0 w 3410857"/>
              <a:gd name="connsiteY0" fmla="*/ 6858000 h 6858000"/>
              <a:gd name="connsiteX1" fmla="*/ 1250216 w 3410857"/>
              <a:gd name="connsiteY1" fmla="*/ 0 h 6858000"/>
              <a:gd name="connsiteX2" fmla="*/ 3410857 w 3410857"/>
              <a:gd name="connsiteY2" fmla="*/ 0 h 6858000"/>
              <a:gd name="connsiteX3" fmla="*/ 2160641 w 3410857"/>
              <a:gd name="connsiteY3" fmla="*/ 6858000 h 6858000"/>
              <a:gd name="connsiteX4" fmla="*/ 0 w 3410857"/>
              <a:gd name="connsiteY4" fmla="*/ 6858000 h 6858000"/>
              <a:gd name="connsiteX0" fmla="*/ 0 w 6705600"/>
              <a:gd name="connsiteY0" fmla="*/ 6887029 h 6887029"/>
              <a:gd name="connsiteX1" fmla="*/ 1250216 w 6705600"/>
              <a:gd name="connsiteY1" fmla="*/ 29029 h 6887029"/>
              <a:gd name="connsiteX2" fmla="*/ 6705600 w 6705600"/>
              <a:gd name="connsiteY2" fmla="*/ 0 h 6887029"/>
              <a:gd name="connsiteX3" fmla="*/ 2160641 w 6705600"/>
              <a:gd name="connsiteY3" fmla="*/ 6887029 h 6887029"/>
              <a:gd name="connsiteX4" fmla="*/ 0 w 6705600"/>
              <a:gd name="connsiteY4" fmla="*/ 6887029 h 6887029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705600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44343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58857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458857"/>
              <a:gd name="connsiteY0" fmla="*/ 6887029 h 6959600"/>
              <a:gd name="connsiteX1" fmla="*/ 1250216 w 6458857"/>
              <a:gd name="connsiteY1" fmla="*/ 29029 h 6959600"/>
              <a:gd name="connsiteX2" fmla="*/ 6458857 w 6458857"/>
              <a:gd name="connsiteY2" fmla="*/ 0 h 6959600"/>
              <a:gd name="connsiteX3" fmla="*/ 6166583 w 6458857"/>
              <a:gd name="connsiteY3" fmla="*/ 6959600 h 6959600"/>
              <a:gd name="connsiteX4" fmla="*/ 0 w 6458857"/>
              <a:gd name="connsiteY4" fmla="*/ 6887029 h 6959600"/>
              <a:gd name="connsiteX0" fmla="*/ 0 w 6471383"/>
              <a:gd name="connsiteY0" fmla="*/ 6887029 h 6887029"/>
              <a:gd name="connsiteX1" fmla="*/ 1250216 w 6471383"/>
              <a:gd name="connsiteY1" fmla="*/ 29029 h 6887029"/>
              <a:gd name="connsiteX2" fmla="*/ 6458857 w 6471383"/>
              <a:gd name="connsiteY2" fmla="*/ 0 h 6887029"/>
              <a:gd name="connsiteX3" fmla="*/ 6471383 w 6471383"/>
              <a:gd name="connsiteY3" fmla="*/ 6887029 h 6887029"/>
              <a:gd name="connsiteX4" fmla="*/ 0 w 6471383"/>
              <a:gd name="connsiteY4" fmla="*/ 6887029 h 6887029"/>
              <a:gd name="connsiteX0" fmla="*/ 0 w 7257159"/>
              <a:gd name="connsiteY0" fmla="*/ 6872515 h 6872515"/>
              <a:gd name="connsiteX1" fmla="*/ 1250216 w 7257159"/>
              <a:gd name="connsiteY1" fmla="*/ 14515 h 6872515"/>
              <a:gd name="connsiteX2" fmla="*/ 7257143 w 7257159"/>
              <a:gd name="connsiteY2" fmla="*/ 0 h 6872515"/>
              <a:gd name="connsiteX3" fmla="*/ 6471383 w 7257159"/>
              <a:gd name="connsiteY3" fmla="*/ 6872515 h 6872515"/>
              <a:gd name="connsiteX4" fmla="*/ 0 w 7257159"/>
              <a:gd name="connsiteY4" fmla="*/ 6872515 h 6872515"/>
              <a:gd name="connsiteX0" fmla="*/ 0 w 7284183"/>
              <a:gd name="connsiteY0" fmla="*/ 6872515 h 6901543"/>
              <a:gd name="connsiteX1" fmla="*/ 1250216 w 7284183"/>
              <a:gd name="connsiteY1" fmla="*/ 14515 h 6901543"/>
              <a:gd name="connsiteX2" fmla="*/ 7257143 w 7284183"/>
              <a:gd name="connsiteY2" fmla="*/ 0 h 6901543"/>
              <a:gd name="connsiteX3" fmla="*/ 7284183 w 7284183"/>
              <a:gd name="connsiteY3" fmla="*/ 6901543 h 6901543"/>
              <a:gd name="connsiteX4" fmla="*/ 0 w 7284183"/>
              <a:gd name="connsiteY4" fmla="*/ 6872515 h 6901543"/>
              <a:gd name="connsiteX0" fmla="*/ 0 w 7547476"/>
              <a:gd name="connsiteY0" fmla="*/ 6872515 h 6901543"/>
              <a:gd name="connsiteX1" fmla="*/ 1250216 w 7547476"/>
              <a:gd name="connsiteY1" fmla="*/ 14515 h 6901543"/>
              <a:gd name="connsiteX2" fmla="*/ 7547429 w 7547476"/>
              <a:gd name="connsiteY2" fmla="*/ 0 h 6901543"/>
              <a:gd name="connsiteX3" fmla="*/ 7284183 w 7547476"/>
              <a:gd name="connsiteY3" fmla="*/ 6901543 h 6901543"/>
              <a:gd name="connsiteX4" fmla="*/ 0 w 7547476"/>
              <a:gd name="connsiteY4" fmla="*/ 6872515 h 6901543"/>
              <a:gd name="connsiteX0" fmla="*/ 0 w 7547612"/>
              <a:gd name="connsiteY0" fmla="*/ 6872515 h 6901543"/>
              <a:gd name="connsiteX1" fmla="*/ 1250216 w 7547612"/>
              <a:gd name="connsiteY1" fmla="*/ 14515 h 6901543"/>
              <a:gd name="connsiteX2" fmla="*/ 7547429 w 7547612"/>
              <a:gd name="connsiteY2" fmla="*/ 0 h 6901543"/>
              <a:gd name="connsiteX3" fmla="*/ 7487383 w 7547612"/>
              <a:gd name="connsiteY3" fmla="*/ 6901543 h 6901543"/>
              <a:gd name="connsiteX4" fmla="*/ 0 w 7547612"/>
              <a:gd name="connsiteY4" fmla="*/ 6872515 h 6901543"/>
              <a:gd name="connsiteX0" fmla="*/ 0 w 7533145"/>
              <a:gd name="connsiteY0" fmla="*/ 6872515 h 6901543"/>
              <a:gd name="connsiteX1" fmla="*/ 1250216 w 7533145"/>
              <a:gd name="connsiteY1" fmla="*/ 14515 h 6901543"/>
              <a:gd name="connsiteX2" fmla="*/ 7532915 w 7533145"/>
              <a:gd name="connsiteY2" fmla="*/ 0 h 6901543"/>
              <a:gd name="connsiteX3" fmla="*/ 7487383 w 7533145"/>
              <a:gd name="connsiteY3" fmla="*/ 6901543 h 6901543"/>
              <a:gd name="connsiteX4" fmla="*/ 0 w 7533145"/>
              <a:gd name="connsiteY4" fmla="*/ 6872515 h 6901543"/>
              <a:gd name="connsiteX0" fmla="*/ 0 w 7533928"/>
              <a:gd name="connsiteY0" fmla="*/ 6872515 h 6901543"/>
              <a:gd name="connsiteX1" fmla="*/ 1250216 w 7533928"/>
              <a:gd name="connsiteY1" fmla="*/ 14515 h 6901543"/>
              <a:gd name="connsiteX2" fmla="*/ 7532915 w 7533928"/>
              <a:gd name="connsiteY2" fmla="*/ 0 h 6901543"/>
              <a:gd name="connsiteX3" fmla="*/ 7530926 w 7533928"/>
              <a:gd name="connsiteY3" fmla="*/ 6901543 h 6901543"/>
              <a:gd name="connsiteX4" fmla="*/ 0 w 7533928"/>
              <a:gd name="connsiteY4" fmla="*/ 6872515 h 690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3928" h="6901543">
                <a:moveTo>
                  <a:pt x="0" y="6872515"/>
                </a:moveTo>
                <a:lnTo>
                  <a:pt x="1250216" y="14515"/>
                </a:lnTo>
                <a:lnTo>
                  <a:pt x="7532915" y="0"/>
                </a:lnTo>
                <a:cubicBezTo>
                  <a:pt x="7537090" y="2295676"/>
                  <a:pt x="7526751" y="4605867"/>
                  <a:pt x="7530926" y="6901543"/>
                </a:cubicBezTo>
                <a:lnTo>
                  <a:pt x="0" y="68725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DFA242A-83D7-A262-CB5F-828BDBB1360E}"/>
              </a:ext>
            </a:extLst>
          </p:cNvPr>
          <p:cNvGrpSpPr/>
          <p:nvPr/>
        </p:nvGrpSpPr>
        <p:grpSpPr>
          <a:xfrm>
            <a:off x="231580" y="85060"/>
            <a:ext cx="2920394" cy="661066"/>
            <a:chOff x="231580" y="85060"/>
            <a:chExt cx="2534216" cy="573650"/>
          </a:xfrm>
        </p:grpSpPr>
        <p:pic>
          <p:nvPicPr>
            <p:cNvPr id="7" name="그림 6" descr="텍스트, 로고, 엠블럼, 폰트이(가) 표시된 사진&#10;&#10;자동 생성된 설명">
              <a:extLst>
                <a:ext uri="{FF2B5EF4-FFF2-40B4-BE49-F238E27FC236}">
                  <a16:creationId xmlns:a16="http://schemas.microsoft.com/office/drawing/2014/main" id="{877B623B-B99C-3880-04CC-1E6D815B0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80" y="215111"/>
              <a:ext cx="1539333" cy="37519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97EE38A-F703-1ADB-7BEA-DE357B4DC4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9" t="10161" r="5433" b="11878"/>
            <a:stretch/>
          </p:blipFill>
          <p:spPr>
            <a:xfrm>
              <a:off x="1868209" y="85060"/>
              <a:ext cx="897587" cy="573650"/>
            </a:xfrm>
            <a:prstGeom prst="rect">
              <a:avLst/>
            </a:prstGeom>
          </p:spPr>
        </p:pic>
      </p:grpSp>
      <p:sp>
        <p:nvSpPr>
          <p:cNvPr id="11" name="Google Shape;93;p13">
            <a:extLst>
              <a:ext uri="{FF2B5EF4-FFF2-40B4-BE49-F238E27FC236}">
                <a16:creationId xmlns:a16="http://schemas.microsoft.com/office/drawing/2014/main" id="{A462B7C3-1BE7-3653-4083-473D68284EDD}"/>
              </a:ext>
            </a:extLst>
          </p:cNvPr>
          <p:cNvSpPr txBox="1">
            <a:spLocks/>
          </p:cNvSpPr>
          <p:nvPr/>
        </p:nvSpPr>
        <p:spPr>
          <a:xfrm>
            <a:off x="62807" y="1767075"/>
            <a:ext cx="6590799" cy="195479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400"/>
              <a:buFont typeface="Raleway"/>
              <a:buNone/>
              <a:tabLst/>
              <a:defRPr/>
            </a:pPr>
            <a:r>
              <a:rPr kumimoji="1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uLnTx/>
                <a:uFillTx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Raleway"/>
              </a:rPr>
              <a:t>Thank you for attention</a:t>
            </a:r>
            <a:endParaRPr kumimoji="1" lang="en-US" altLang="ko-KR" sz="4000" b="1" dirty="0">
              <a:solidFill>
                <a:schemeClr val="accent5"/>
              </a:solidFill>
              <a:effectLst>
                <a:outerShdw blurRad="50800" dist="38100" dir="2700000" algn="tl" rotWithShape="0">
                  <a:schemeClr val="bg2">
                    <a:lumMod val="75000"/>
                    <a:alpha val="40000"/>
                  </a:schemeClr>
                </a:outerShdw>
              </a:effectLst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Google Shape;153;p20">
            <a:extLst>
              <a:ext uri="{FF2B5EF4-FFF2-40B4-BE49-F238E27FC236}">
                <a16:creationId xmlns:a16="http://schemas.microsoft.com/office/drawing/2014/main" id="{AABDCCFB-E987-1685-FD05-447F733BB717}"/>
              </a:ext>
            </a:extLst>
          </p:cNvPr>
          <p:cNvSpPr txBox="1">
            <a:spLocks/>
          </p:cNvSpPr>
          <p:nvPr/>
        </p:nvSpPr>
        <p:spPr>
          <a:xfrm>
            <a:off x="105320" y="4706528"/>
            <a:ext cx="6548286" cy="1789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ko-KR" altLang="en-US" sz="2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안 용 상</a:t>
            </a:r>
            <a:endParaRPr lang="en-US" altLang="ko-KR" sz="2000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Process Systems Engineering &amp; Intelligence Design Lab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Department of Chemical Engineering</a:t>
            </a: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Kyung </a:t>
            </a:r>
            <a:r>
              <a:rPr lang="en-US" altLang="ko-KR" sz="15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Hee</a:t>
            </a: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University </a:t>
            </a:r>
          </a:p>
        </p:txBody>
      </p:sp>
    </p:spTree>
    <p:extLst>
      <p:ext uri="{BB962C8B-B14F-4D97-AF65-F5344CB8AC3E}">
        <p14:creationId xmlns:p14="http://schemas.microsoft.com/office/powerpoint/2010/main" val="4271435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Appendix. Fermi-Dirac Smearing —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수식이 하는 일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6319792" y="1460145"/>
            <a:ext cx="5386433" cy="4183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Fermi-Dirac </a:t>
            </a:r>
            <a:r>
              <a:rPr lang="ko-KR" altLang="en-US" sz="1050" dirty="0">
                <a:latin typeface="+mn-ea"/>
              </a:rPr>
              <a:t>함수는 원래 통계역학에서 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온도 </a:t>
            </a:r>
            <a:r>
              <a:rPr lang="en-US" altLang="ko-KR" sz="1050" dirty="0">
                <a:latin typeface="+mn-ea"/>
              </a:rPr>
              <a:t>T</a:t>
            </a:r>
            <a:r>
              <a:rPr lang="ko-KR" altLang="en-US" sz="1050" dirty="0">
                <a:latin typeface="+mn-ea"/>
              </a:rPr>
              <a:t>에서 에너지 </a:t>
            </a:r>
            <a:r>
              <a:rPr lang="en-US" altLang="ko-KR" sz="1050" dirty="0">
                <a:latin typeface="+mn-ea"/>
              </a:rPr>
              <a:t>ε</a:t>
            </a:r>
            <a:r>
              <a:rPr lang="ko-KR" altLang="en-US" sz="1050" dirty="0">
                <a:latin typeface="+mn-ea"/>
              </a:rPr>
              <a:t>인 상태에 전자가 있을 확률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을 나타내는 식이야</a:t>
            </a:r>
            <a:r>
              <a:rPr lang="en-US" altLang="ko-KR" sz="1050" dirty="0">
                <a:latin typeface="+mn-ea"/>
              </a:rPr>
              <a:t>. DFT</a:t>
            </a:r>
            <a:r>
              <a:rPr lang="ko-KR" altLang="en-US" sz="1050" dirty="0">
                <a:latin typeface="+mn-ea"/>
              </a:rPr>
              <a:t>에서는 이걸 빌려 와서 </a:t>
            </a:r>
            <a:r>
              <a:rPr lang="ko-KR" altLang="en-US" sz="1050" dirty="0" err="1">
                <a:latin typeface="+mn-ea"/>
              </a:rPr>
              <a:t>오비탈</a:t>
            </a:r>
            <a:r>
              <a:rPr lang="ko-KR" altLang="en-US" sz="1050" dirty="0">
                <a:latin typeface="+mn-ea"/>
              </a:rPr>
              <a:t> 점유수를 결정하는 데 씁니다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 = 0K</a:t>
            </a:r>
            <a:r>
              <a:rPr lang="ko-KR" altLang="en-US" sz="1050" dirty="0">
                <a:latin typeface="+mn-ea"/>
              </a:rPr>
              <a:t>이면 함수가 계단 모양이야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 err="1">
                <a:latin typeface="+mn-ea"/>
              </a:rPr>
              <a:t>페르미</a:t>
            </a:r>
            <a:r>
              <a:rPr lang="ko-KR" altLang="en-US" sz="1050" dirty="0">
                <a:latin typeface="+mn-ea"/>
              </a:rPr>
              <a:t> 에너지 아래는 점유 </a:t>
            </a:r>
            <a:r>
              <a:rPr lang="en-US" altLang="ko-KR" sz="1050" dirty="0">
                <a:latin typeface="+mn-ea"/>
              </a:rPr>
              <a:t>= 1 (</a:t>
            </a:r>
            <a:r>
              <a:rPr lang="ko-KR" altLang="en-US" sz="1050" dirty="0">
                <a:latin typeface="+mn-ea"/>
              </a:rPr>
              <a:t>전자 꽉 참</a:t>
            </a:r>
            <a:r>
              <a:rPr lang="en-US" altLang="ko-KR" sz="1050" dirty="0">
                <a:latin typeface="+mn-ea"/>
              </a:rPr>
              <a:t>), </a:t>
            </a:r>
            <a:r>
              <a:rPr lang="ko-KR" altLang="en-US" sz="1050" dirty="0">
                <a:latin typeface="+mn-ea"/>
              </a:rPr>
              <a:t>위는 점유 </a:t>
            </a:r>
            <a:r>
              <a:rPr lang="en-US" altLang="ko-KR" sz="1050" dirty="0">
                <a:latin typeface="+mn-ea"/>
              </a:rPr>
              <a:t>= 0 (</a:t>
            </a:r>
            <a:r>
              <a:rPr lang="ko-KR" altLang="en-US" sz="1050" dirty="0">
                <a:latin typeface="+mn-ea"/>
              </a:rPr>
              <a:t>텅 빔</a:t>
            </a:r>
            <a:r>
              <a:rPr lang="en-US" altLang="ko-KR" sz="1050" dirty="0">
                <a:latin typeface="+mn-ea"/>
              </a:rPr>
              <a:t>). </a:t>
            </a:r>
            <a:r>
              <a:rPr lang="ko-KR" altLang="en-US" sz="1050" dirty="0">
                <a:latin typeface="+mn-ea"/>
              </a:rPr>
              <a:t>경계가 칼로 자른 듯 날카롭습니다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 = 300K</a:t>
            </a:r>
            <a:r>
              <a:rPr lang="ko-KR" altLang="en-US" sz="1050" dirty="0">
                <a:latin typeface="+mn-ea"/>
              </a:rPr>
              <a:t>으로 올리면 계단이 살짝 둥글어져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 err="1">
                <a:latin typeface="+mn-ea"/>
              </a:rPr>
              <a:t>페르미</a:t>
            </a:r>
            <a:r>
              <a:rPr lang="ko-KR" altLang="en-US" sz="1050" dirty="0">
                <a:latin typeface="+mn-ea"/>
              </a:rPr>
              <a:t> 에너지 근처에서 </a:t>
            </a:r>
            <a:r>
              <a:rPr lang="en-US" altLang="ko-KR" sz="1050" dirty="0">
                <a:latin typeface="+mn-ea"/>
              </a:rPr>
              <a:t>"0.97</a:t>
            </a:r>
            <a:r>
              <a:rPr lang="ko-KR" altLang="en-US" sz="1050" dirty="0">
                <a:latin typeface="+mn-ea"/>
              </a:rPr>
              <a:t>개</a:t>
            </a:r>
            <a:r>
              <a:rPr lang="en-US" altLang="ko-KR" sz="1050" dirty="0">
                <a:latin typeface="+mn-ea"/>
              </a:rPr>
              <a:t>, 0.85</a:t>
            </a:r>
            <a:r>
              <a:rPr lang="ko-KR" altLang="en-US" sz="1050" dirty="0">
                <a:latin typeface="+mn-ea"/>
              </a:rPr>
              <a:t>개</a:t>
            </a:r>
            <a:r>
              <a:rPr lang="en-US" altLang="ko-KR" sz="1050" dirty="0">
                <a:latin typeface="+mn-ea"/>
              </a:rPr>
              <a:t>, 0.15</a:t>
            </a:r>
            <a:r>
              <a:rPr lang="ko-KR" altLang="en-US" sz="1050" dirty="0">
                <a:latin typeface="+mn-ea"/>
              </a:rPr>
              <a:t>개</a:t>
            </a:r>
            <a:r>
              <a:rPr lang="en-US" altLang="ko-KR" sz="1050" dirty="0">
                <a:latin typeface="+mn-ea"/>
              </a:rPr>
              <a:t>, 0.03</a:t>
            </a:r>
            <a:r>
              <a:rPr lang="ko-KR" altLang="en-US" sz="1050" dirty="0">
                <a:latin typeface="+mn-ea"/>
              </a:rPr>
              <a:t>개</a:t>
            </a:r>
            <a:r>
              <a:rPr lang="en-US" altLang="ko-KR" sz="1050" dirty="0">
                <a:latin typeface="+mn-ea"/>
              </a:rPr>
              <a:t>" </a:t>
            </a:r>
            <a:r>
              <a:rPr lang="ko-KR" altLang="en-US" sz="1050" dirty="0">
                <a:latin typeface="+mn-ea"/>
              </a:rPr>
              <a:t>같은 부분 점유가 생깁니다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>
                <a:latin typeface="+mn-ea"/>
              </a:rPr>
              <a:t>경계가 </a:t>
            </a:r>
            <a:r>
              <a:rPr lang="ko-KR" altLang="en-US" sz="1050" dirty="0" err="1">
                <a:latin typeface="+mn-ea"/>
              </a:rPr>
              <a:t>흐릿해지는</a:t>
            </a:r>
            <a:r>
              <a:rPr lang="ko-KR" altLang="en-US" sz="1050" dirty="0">
                <a:latin typeface="+mn-ea"/>
              </a:rPr>
              <a:t> 거야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 = 600K</a:t>
            </a:r>
            <a:r>
              <a:rPr lang="ko-KR" altLang="en-US" sz="1050" dirty="0">
                <a:latin typeface="+mn-ea"/>
              </a:rPr>
              <a:t>으로 올리면 그 흐릿한 구간이 </a:t>
            </a:r>
            <a:r>
              <a:rPr lang="en-US" altLang="ko-KR" sz="1050" dirty="0">
                <a:latin typeface="+mn-ea"/>
              </a:rPr>
              <a:t>2</a:t>
            </a:r>
            <a:r>
              <a:rPr lang="ko-KR" altLang="en-US" sz="1050" dirty="0">
                <a:latin typeface="+mn-ea"/>
              </a:rPr>
              <a:t>배로 넓어져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>
                <a:latin typeface="+mn-ea"/>
              </a:rPr>
              <a:t>전이 영역의 폭이 대략 </a:t>
            </a:r>
            <a:r>
              <a:rPr lang="en-US" altLang="ko-KR" sz="1050" dirty="0" err="1">
                <a:latin typeface="+mn-ea"/>
              </a:rPr>
              <a:t>k_B</a:t>
            </a:r>
            <a:r>
              <a:rPr lang="en-US" altLang="ko-KR" sz="1050" dirty="0">
                <a:latin typeface="+mn-ea"/>
              </a:rPr>
              <a:t> × T</a:t>
            </a:r>
            <a:r>
              <a:rPr lang="ko-KR" altLang="en-US" sz="1050" dirty="0">
                <a:latin typeface="+mn-ea"/>
              </a:rPr>
              <a:t>에 비례하거든</a:t>
            </a:r>
            <a:r>
              <a:rPr lang="en-US" altLang="ko-KR" sz="1050" dirty="0">
                <a:latin typeface="+mn-ea"/>
              </a:rPr>
              <a:t>. 300K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~0.026 eV</a:t>
            </a:r>
            <a:r>
              <a:rPr lang="ko-KR" altLang="en-US" sz="1050" dirty="0">
                <a:latin typeface="+mn-ea"/>
              </a:rPr>
              <a:t>이던 게 </a:t>
            </a:r>
            <a:r>
              <a:rPr lang="en-US" altLang="ko-KR" sz="1050" dirty="0">
                <a:latin typeface="+mn-ea"/>
              </a:rPr>
              <a:t>600K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~0.052 eV</a:t>
            </a:r>
            <a:r>
              <a:rPr lang="ko-KR" altLang="en-US" sz="1050" dirty="0">
                <a:latin typeface="+mn-ea"/>
              </a:rPr>
              <a:t>가 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이게 왜 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수렴에 도움이 </a:t>
            </a:r>
            <a:r>
              <a:rPr lang="ko-KR" altLang="en-US" sz="1050" dirty="0" err="1">
                <a:latin typeface="+mn-ea"/>
              </a:rPr>
              <a:t>되냐면</a:t>
            </a:r>
            <a:r>
              <a:rPr lang="en-US" altLang="ko-KR" sz="1050" dirty="0">
                <a:latin typeface="+mn-ea"/>
              </a:rPr>
              <a:t>, </a:t>
            </a:r>
            <a:r>
              <a:rPr lang="en-US" altLang="ko-KR" sz="1050" dirty="0" err="1">
                <a:latin typeface="+mn-ea"/>
              </a:rPr>
              <a:t>Ti</a:t>
            </a:r>
            <a:r>
              <a:rPr lang="ko-KR" altLang="en-US" sz="1050" dirty="0">
                <a:latin typeface="+mn-ea"/>
              </a:rPr>
              <a:t>의 </a:t>
            </a:r>
            <a:r>
              <a:rPr lang="en-US" altLang="ko-KR" sz="1050" dirty="0">
                <a:latin typeface="+mn-ea"/>
              </a:rPr>
              <a:t>d-</a:t>
            </a:r>
            <a:r>
              <a:rPr lang="ko-KR" altLang="en-US" sz="1050" dirty="0" err="1">
                <a:latin typeface="+mn-ea"/>
              </a:rPr>
              <a:t>오비탈들은</a:t>
            </a:r>
            <a:r>
              <a:rPr lang="ko-KR" altLang="en-US" sz="1050" dirty="0">
                <a:latin typeface="+mn-ea"/>
              </a:rPr>
              <a:t> 에너지 차이가 </a:t>
            </a:r>
            <a:r>
              <a:rPr lang="en-US" altLang="ko-KR" sz="1050" dirty="0">
                <a:latin typeface="+mn-ea"/>
              </a:rPr>
              <a:t>0.01~0.05 eV </a:t>
            </a:r>
            <a:r>
              <a:rPr lang="ko-KR" altLang="en-US" sz="1050" dirty="0">
                <a:latin typeface="+mn-ea"/>
              </a:rPr>
              <a:t>수준으로 아주 촘촘해</a:t>
            </a:r>
            <a:r>
              <a:rPr lang="en-US" altLang="ko-KR" sz="1050" dirty="0">
                <a:latin typeface="+mn-ea"/>
              </a:rPr>
              <a:t>. T</a:t>
            </a:r>
            <a:r>
              <a:rPr lang="ko-KR" altLang="en-US" sz="1050" dirty="0">
                <a:latin typeface="+mn-ea"/>
              </a:rPr>
              <a:t>가 낮으면 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매 </a:t>
            </a:r>
            <a:r>
              <a:rPr lang="en-US" altLang="ko-KR" sz="1050" dirty="0">
                <a:latin typeface="+mn-ea"/>
              </a:rPr>
              <a:t>step</a:t>
            </a:r>
            <a:r>
              <a:rPr lang="ko-KR" altLang="en-US" sz="1050" dirty="0">
                <a:latin typeface="+mn-ea"/>
              </a:rPr>
              <a:t>마다 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이 </a:t>
            </a:r>
            <a:r>
              <a:rPr lang="ko-KR" altLang="en-US" sz="1050" dirty="0" err="1">
                <a:latin typeface="+mn-ea"/>
              </a:rPr>
              <a:t>오비탈에</a:t>
            </a:r>
            <a:r>
              <a:rPr lang="ko-KR" altLang="en-US" sz="1050" dirty="0">
                <a:latin typeface="+mn-ea"/>
              </a:rPr>
              <a:t> 전자 </a:t>
            </a:r>
            <a:r>
              <a:rPr lang="en-US" altLang="ko-KR" sz="1050" dirty="0">
                <a:latin typeface="+mn-ea"/>
              </a:rPr>
              <a:t>2</a:t>
            </a:r>
            <a:r>
              <a:rPr lang="ko-KR" altLang="en-US" sz="1050" dirty="0">
                <a:latin typeface="+mn-ea"/>
              </a:rPr>
              <a:t>개 → 저 </a:t>
            </a:r>
            <a:r>
              <a:rPr lang="ko-KR" altLang="en-US" sz="1050" dirty="0" err="1">
                <a:latin typeface="+mn-ea"/>
              </a:rPr>
              <a:t>오비탈에</a:t>
            </a:r>
            <a:r>
              <a:rPr lang="ko-KR" altLang="en-US" sz="1050" dirty="0">
                <a:latin typeface="+mn-ea"/>
              </a:rPr>
              <a:t> 전자 </a:t>
            </a:r>
            <a:r>
              <a:rPr lang="en-US" altLang="ko-KR" sz="1050" dirty="0">
                <a:latin typeface="+mn-ea"/>
              </a:rPr>
              <a:t>2</a:t>
            </a:r>
            <a:r>
              <a:rPr lang="ko-KR" altLang="en-US" sz="1050" dirty="0">
                <a:latin typeface="+mn-ea"/>
              </a:rPr>
              <a:t>개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로 확 바뀌면서 에너지가 요동칩니다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600K</a:t>
            </a:r>
            <a:r>
              <a:rPr lang="ko-KR" altLang="en-US" sz="1050" dirty="0">
                <a:latin typeface="+mn-ea"/>
              </a:rPr>
              <a:t>으로 높이면 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이 </a:t>
            </a:r>
            <a:r>
              <a:rPr lang="ko-KR" altLang="en-US" sz="1050" dirty="0" err="1">
                <a:latin typeface="+mn-ea"/>
              </a:rPr>
              <a:t>오비탈에</a:t>
            </a:r>
            <a:r>
              <a:rPr lang="ko-KR" altLang="en-US" sz="1050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1.5</a:t>
            </a:r>
            <a:r>
              <a:rPr lang="ko-KR" altLang="en-US" sz="1050" dirty="0">
                <a:latin typeface="+mn-ea"/>
              </a:rPr>
              <a:t>개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저 </a:t>
            </a:r>
            <a:r>
              <a:rPr lang="ko-KR" altLang="en-US" sz="1050" dirty="0" err="1">
                <a:latin typeface="+mn-ea"/>
              </a:rPr>
              <a:t>오비탈에</a:t>
            </a:r>
            <a:r>
              <a:rPr lang="ko-KR" altLang="en-US" sz="1050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0.5</a:t>
            </a:r>
            <a:r>
              <a:rPr lang="ko-KR" altLang="en-US" sz="1050" dirty="0">
                <a:latin typeface="+mn-ea"/>
              </a:rPr>
              <a:t>개</a:t>
            </a:r>
            <a:r>
              <a:rPr lang="en-US" altLang="ko-KR" sz="1050" dirty="0">
                <a:latin typeface="+mn-ea"/>
              </a:rPr>
              <a:t>" </a:t>
            </a:r>
            <a:r>
              <a:rPr lang="ko-KR" altLang="en-US" sz="1050" dirty="0">
                <a:latin typeface="+mn-ea"/>
              </a:rPr>
              <a:t>같은 중간 상태가 허용돼서</a:t>
            </a:r>
            <a:r>
              <a:rPr lang="en-US" altLang="ko-KR" sz="1050" dirty="0">
                <a:latin typeface="+mn-ea"/>
              </a:rPr>
              <a:t>, step </a:t>
            </a:r>
            <a:r>
              <a:rPr lang="ko-KR" altLang="en-US" sz="1050" dirty="0">
                <a:latin typeface="+mn-ea"/>
              </a:rPr>
              <a:t>간 점유 변화가 부드러워지고 에너지 진동이 감쇄됩니다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주의할 점</a:t>
            </a:r>
            <a:r>
              <a:rPr lang="en-US" altLang="ko-KR" sz="1050" dirty="0">
                <a:latin typeface="+mn-ea"/>
              </a:rPr>
              <a:t>: </a:t>
            </a:r>
            <a:r>
              <a:rPr lang="ko-KR" altLang="en-US" sz="1050" dirty="0">
                <a:latin typeface="+mn-ea"/>
              </a:rPr>
              <a:t>이건 실제 온도가 아니야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>
                <a:latin typeface="+mn-ea"/>
              </a:rPr>
              <a:t>전자의 수학적 점유 분포를 조절하는 가상의 파라미터</a:t>
            </a:r>
            <a:r>
              <a:rPr lang="en-US" altLang="ko-KR" sz="1050" dirty="0">
                <a:latin typeface="+mn-ea"/>
              </a:rPr>
              <a:t>(fictitious temperature)</a:t>
            </a:r>
            <a:r>
              <a:rPr lang="ko-KR" altLang="en-US" sz="1050" dirty="0">
                <a:latin typeface="+mn-ea"/>
              </a:rPr>
              <a:t>이고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최종 에너지에는 </a:t>
            </a:r>
            <a:r>
              <a:rPr lang="en-US" altLang="ko-KR" sz="1050" dirty="0">
                <a:latin typeface="+mn-ea"/>
              </a:rPr>
              <a:t>entropic correction( −</a:t>
            </a:r>
            <a:r>
              <a:rPr lang="en-US" altLang="ko-KR" sz="1050" dirty="0" err="1">
                <a:latin typeface="+mn-ea"/>
              </a:rPr>
              <a:t>T·S_electronic</a:t>
            </a:r>
            <a:r>
              <a:rPr lang="en-US" altLang="ko-KR" sz="1050" dirty="0">
                <a:latin typeface="+mn-ea"/>
              </a:rPr>
              <a:t> )</a:t>
            </a:r>
            <a:r>
              <a:rPr lang="ko-KR" altLang="en-US" sz="1050" dirty="0">
                <a:latin typeface="+mn-ea"/>
              </a:rPr>
              <a:t>이 자동으로 보정됩니다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>
                <a:latin typeface="+mn-ea"/>
              </a:rPr>
              <a:t>다만 </a:t>
            </a:r>
            <a:r>
              <a:rPr lang="en-US" altLang="ko-KR" sz="1050" dirty="0">
                <a:latin typeface="+mn-ea"/>
              </a:rPr>
              <a:t>T</a:t>
            </a:r>
            <a:r>
              <a:rPr lang="ko-KR" altLang="en-US" sz="1050" dirty="0">
                <a:latin typeface="+mn-ea"/>
              </a:rPr>
              <a:t>를 너무 높이면 보정 오차가 커지니까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수렴 후 </a:t>
            </a:r>
            <a:r>
              <a:rPr lang="en-US" altLang="ko-KR" sz="1050" dirty="0">
                <a:latin typeface="+mn-ea"/>
              </a:rPr>
              <a:t>T</a:t>
            </a:r>
            <a:r>
              <a:rPr lang="ko-KR" altLang="en-US" sz="1050" dirty="0">
                <a:latin typeface="+mn-ea"/>
              </a:rPr>
              <a:t>를 줄여서 재계산하는 게 정석이야</a:t>
            </a:r>
            <a:r>
              <a:rPr lang="en-US" altLang="ko-KR" sz="1050" dirty="0">
                <a:latin typeface="+mn-ea"/>
              </a:rPr>
              <a:t>.</a:t>
            </a:r>
            <a:endParaRPr lang="ko-KR" altLang="en-US" sz="1050" dirty="0">
              <a:latin typeface="+mn-ea"/>
            </a:endParaRP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50B37676-BE68-454A-A024-64F1EE584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628" y="1563496"/>
            <a:ext cx="5884858" cy="382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45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Appendix. </a:t>
            </a:r>
            <a:r>
              <a:rPr lang="en-US" altLang="ko-KR" sz="2800" b="1" dirty="0" err="1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Ti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 d-</a:t>
            </a:r>
            <a:r>
              <a:rPr lang="ko-KR" altLang="en-US" sz="2800" b="1" dirty="0" err="1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오비탈에서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 실제로 무슨 일이 일어나는가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6237398" y="1620641"/>
            <a:ext cx="5386433" cy="394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 = 300K</a:t>
            </a:r>
            <a:r>
              <a:rPr lang="ko-KR" altLang="en-US" sz="1050" dirty="0">
                <a:latin typeface="+mn-ea"/>
              </a:rPr>
              <a:t>일 때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 err="1">
                <a:latin typeface="+mn-ea"/>
              </a:rPr>
              <a:t>페르미</a:t>
            </a:r>
            <a:r>
              <a:rPr lang="ko-KR" altLang="en-US" sz="1050" dirty="0">
                <a:latin typeface="+mn-ea"/>
              </a:rPr>
              <a:t> 에너지 근처의 </a:t>
            </a:r>
            <a:r>
              <a:rPr lang="en-US" altLang="ko-KR" sz="1050" dirty="0">
                <a:latin typeface="+mn-ea"/>
              </a:rPr>
              <a:t>d-</a:t>
            </a:r>
            <a:r>
              <a:rPr lang="ko-KR" altLang="en-US" sz="1050" dirty="0" err="1">
                <a:latin typeface="+mn-ea"/>
              </a:rPr>
              <a:t>오비탈은</a:t>
            </a:r>
            <a:r>
              <a:rPr lang="ko-KR" altLang="en-US" sz="1050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"2.0</a:t>
            </a:r>
            <a:r>
              <a:rPr lang="ko-KR" altLang="en-US" sz="1050" dirty="0">
                <a:latin typeface="+mn-ea"/>
              </a:rPr>
              <a:t>개 아니면 </a:t>
            </a:r>
            <a:r>
              <a:rPr lang="en-US" altLang="ko-KR" sz="1050" dirty="0">
                <a:latin typeface="+mn-ea"/>
              </a:rPr>
              <a:t>0.0</a:t>
            </a:r>
            <a:r>
              <a:rPr lang="ko-KR" altLang="en-US" sz="1050" dirty="0">
                <a:latin typeface="+mn-ea"/>
              </a:rPr>
              <a:t>개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로 이분법적으로 점유돼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>
                <a:latin typeface="+mn-ea"/>
              </a:rPr>
              <a:t>점유가 </a:t>
            </a:r>
            <a:r>
              <a:rPr lang="en-US" altLang="ko-KR" sz="1050" dirty="0">
                <a:latin typeface="+mn-ea"/>
              </a:rPr>
              <a:t>0 </a:t>
            </a:r>
            <a:r>
              <a:rPr lang="ko-KR" altLang="en-US" sz="1050" dirty="0">
                <a:latin typeface="+mn-ea"/>
              </a:rPr>
              <a:t>또는 </a:t>
            </a:r>
            <a:r>
              <a:rPr lang="en-US" altLang="ko-KR" sz="1050" dirty="0">
                <a:latin typeface="+mn-ea"/>
              </a:rPr>
              <a:t>2 </a:t>
            </a:r>
            <a:r>
              <a:rPr lang="ko-KR" altLang="en-US" sz="1050" dirty="0">
                <a:latin typeface="+mn-ea"/>
              </a:rPr>
              <a:t>둘 중 하나야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문제는 </a:t>
            </a:r>
            <a:r>
              <a:rPr lang="en-US" altLang="ko-KR" sz="1050" dirty="0" err="1">
                <a:latin typeface="+mn-ea"/>
              </a:rPr>
              <a:t>d_xy</a:t>
            </a:r>
            <a:r>
              <a:rPr lang="ko-KR" altLang="en-US" sz="1050" dirty="0">
                <a:latin typeface="+mn-ea"/>
              </a:rPr>
              <a:t>와 </a:t>
            </a:r>
            <a:r>
              <a:rPr lang="en-US" altLang="ko-KR" sz="1050" dirty="0" err="1">
                <a:latin typeface="+mn-ea"/>
              </a:rPr>
              <a:t>d_yz</a:t>
            </a:r>
            <a:r>
              <a:rPr lang="ko-KR" altLang="en-US" sz="1050" dirty="0">
                <a:latin typeface="+mn-ea"/>
              </a:rPr>
              <a:t>의 에너지 차이가 </a:t>
            </a:r>
            <a:r>
              <a:rPr lang="en-US" altLang="ko-KR" sz="1050" dirty="0">
                <a:latin typeface="+mn-ea"/>
              </a:rPr>
              <a:t>0.01 eV</a:t>
            </a:r>
            <a:r>
              <a:rPr lang="ko-KR" altLang="en-US" sz="1050" dirty="0">
                <a:latin typeface="+mn-ea"/>
              </a:rPr>
              <a:t>밖에 안 될 때야</a:t>
            </a:r>
            <a:r>
              <a:rPr lang="en-US" altLang="ko-KR" sz="1050" dirty="0">
                <a:latin typeface="+mn-ea"/>
              </a:rPr>
              <a:t>. SCF step N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 err="1">
                <a:latin typeface="+mn-ea"/>
              </a:rPr>
              <a:t>d_xy</a:t>
            </a:r>
            <a:r>
              <a:rPr lang="ko-KR" altLang="en-US" sz="1050" dirty="0">
                <a:latin typeface="+mn-ea"/>
              </a:rPr>
              <a:t>가 살짝 낮아서 전자 </a:t>
            </a:r>
            <a:r>
              <a:rPr lang="en-US" altLang="ko-KR" sz="1050" dirty="0">
                <a:latin typeface="+mn-ea"/>
              </a:rPr>
              <a:t>2</a:t>
            </a:r>
            <a:r>
              <a:rPr lang="ko-KR" altLang="en-US" sz="1050" dirty="0">
                <a:latin typeface="+mn-ea"/>
              </a:rPr>
              <a:t>개를 먹으면</a:t>
            </a:r>
            <a:r>
              <a:rPr lang="en-US" altLang="ko-KR" sz="1050" dirty="0">
                <a:latin typeface="+mn-ea"/>
              </a:rPr>
              <a:t>, step N+1</a:t>
            </a:r>
            <a:r>
              <a:rPr lang="ko-KR" altLang="en-US" sz="1050" dirty="0">
                <a:latin typeface="+mn-ea"/>
              </a:rPr>
              <a:t>에서는 전자 분포가 바뀌면서 </a:t>
            </a:r>
            <a:r>
              <a:rPr lang="en-US" altLang="ko-KR" sz="1050" dirty="0" err="1">
                <a:latin typeface="+mn-ea"/>
              </a:rPr>
              <a:t>d_yz</a:t>
            </a:r>
            <a:r>
              <a:rPr lang="ko-KR" altLang="en-US" sz="1050" dirty="0">
                <a:latin typeface="+mn-ea"/>
              </a:rPr>
              <a:t>가 더 낮아지고 전자가 통째로 옮겨가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이게 </a:t>
            </a:r>
            <a:r>
              <a:rPr lang="en-US" altLang="ko-KR" sz="1050" dirty="0">
                <a:latin typeface="+mn-ea"/>
              </a:rPr>
              <a:t>"charge sloshing"</a:t>
            </a:r>
            <a:r>
              <a:rPr lang="ko-KR" altLang="en-US" sz="1050" dirty="0">
                <a:latin typeface="+mn-ea"/>
              </a:rPr>
              <a:t>이라고 불리는 현상이야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>
                <a:latin typeface="+mn-ea"/>
              </a:rPr>
              <a:t>전자가 이 </a:t>
            </a:r>
            <a:r>
              <a:rPr lang="ko-KR" altLang="en-US" sz="1050" dirty="0" err="1">
                <a:latin typeface="+mn-ea"/>
              </a:rPr>
              <a:t>오비탈</a:t>
            </a:r>
            <a:r>
              <a:rPr lang="ko-KR" altLang="en-US" sz="1050" dirty="0">
                <a:latin typeface="+mn-ea"/>
              </a:rPr>
              <a:t> 저 </a:t>
            </a:r>
            <a:r>
              <a:rPr lang="ko-KR" altLang="en-US" sz="1050" dirty="0" err="1">
                <a:latin typeface="+mn-ea"/>
              </a:rPr>
              <a:t>오비탈을</a:t>
            </a:r>
            <a:r>
              <a:rPr lang="ko-KR" altLang="en-US" sz="1050" dirty="0">
                <a:latin typeface="+mn-ea"/>
              </a:rPr>
              <a:t> 왔다갔다하면서 에너지가 진동하는 거지</a:t>
            </a:r>
            <a:r>
              <a:rPr lang="en-US" altLang="ko-KR" sz="1050" dirty="0">
                <a:latin typeface="+mn-ea"/>
              </a:rPr>
              <a:t>. SCF</a:t>
            </a:r>
            <a:r>
              <a:rPr lang="ko-KR" altLang="en-US" sz="1050" dirty="0">
                <a:latin typeface="+mn-ea"/>
              </a:rPr>
              <a:t>가 수렴하지 못하는 가장 흔한 원인 중 하나입니다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 = 600K</a:t>
            </a:r>
            <a:r>
              <a:rPr lang="ko-KR" altLang="en-US" sz="1050" dirty="0">
                <a:latin typeface="+mn-ea"/>
              </a:rPr>
              <a:t>으로 올리면 점유가 </a:t>
            </a:r>
            <a:r>
              <a:rPr lang="en-US" altLang="ko-KR" sz="1050" dirty="0">
                <a:latin typeface="+mn-ea"/>
              </a:rPr>
              <a:t>"1.85, 1.72, 0.28, 0.15"</a:t>
            </a:r>
            <a:r>
              <a:rPr lang="ko-KR" altLang="en-US" sz="1050" dirty="0">
                <a:latin typeface="+mn-ea"/>
              </a:rPr>
              <a:t>처럼 분산돼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>
                <a:latin typeface="+mn-ea"/>
              </a:rPr>
              <a:t>어느 한 </a:t>
            </a:r>
            <a:r>
              <a:rPr lang="ko-KR" altLang="en-US" sz="1050" dirty="0" err="1">
                <a:latin typeface="+mn-ea"/>
              </a:rPr>
              <a:t>오비탈이</a:t>
            </a:r>
            <a:r>
              <a:rPr lang="ko-KR" altLang="en-US" sz="1050" dirty="0">
                <a:latin typeface="+mn-ea"/>
              </a:rPr>
              <a:t> 전자를 독점하지 않습니다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그러면 </a:t>
            </a:r>
            <a:r>
              <a:rPr lang="en-US" altLang="ko-KR" sz="1050" dirty="0">
                <a:latin typeface="+mn-ea"/>
              </a:rPr>
              <a:t>SCF step</a:t>
            </a:r>
            <a:r>
              <a:rPr lang="ko-KR" altLang="en-US" sz="1050" dirty="0">
                <a:latin typeface="+mn-ea"/>
              </a:rPr>
              <a:t>이 바뀌어도 점유가 </a:t>
            </a:r>
            <a:r>
              <a:rPr lang="en-US" altLang="ko-KR" sz="1050" dirty="0">
                <a:latin typeface="+mn-ea"/>
              </a:rPr>
              <a:t>"1.85 → 1.82" </a:t>
            </a:r>
            <a:r>
              <a:rPr lang="ko-KR" altLang="en-US" sz="1050" dirty="0">
                <a:latin typeface="+mn-ea"/>
              </a:rPr>
              <a:t>정도로만 살짝 변해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>
                <a:latin typeface="+mn-ea"/>
              </a:rPr>
              <a:t>전자가 통째로 뒤바뀌는 일이 없으니까 에너지 진동이 사라집니다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이건 </a:t>
            </a:r>
            <a:r>
              <a:rPr lang="en-US" altLang="ko-KR" sz="1050" dirty="0" err="1">
                <a:latin typeface="+mn-ea"/>
              </a:rPr>
              <a:t>Ti</a:t>
            </a:r>
            <a:r>
              <a:rPr lang="en-US" altLang="ko-KR" sz="1050" dirty="0">
                <a:latin typeface="+mn-ea"/>
              </a:rPr>
              <a:t> 8</a:t>
            </a:r>
            <a:r>
              <a:rPr lang="ko-KR" altLang="en-US" sz="1050" dirty="0">
                <a:latin typeface="+mn-ea"/>
              </a:rPr>
              <a:t>개 </a:t>
            </a:r>
            <a:r>
              <a:rPr lang="en-US" altLang="ko-KR" sz="1050" dirty="0">
                <a:latin typeface="+mn-ea"/>
              </a:rPr>
              <a:t>× 5</a:t>
            </a:r>
            <a:r>
              <a:rPr lang="ko-KR" altLang="en-US" sz="1050" dirty="0">
                <a:latin typeface="+mn-ea"/>
              </a:rPr>
              <a:t>개 </a:t>
            </a:r>
            <a:r>
              <a:rPr lang="en-US" altLang="ko-KR" sz="1050" dirty="0">
                <a:latin typeface="+mn-ea"/>
              </a:rPr>
              <a:t>d-</a:t>
            </a:r>
            <a:r>
              <a:rPr lang="ko-KR" altLang="en-US" sz="1050" dirty="0" err="1">
                <a:latin typeface="+mn-ea"/>
              </a:rPr>
              <a:t>오비탈</a:t>
            </a:r>
            <a:r>
              <a:rPr lang="ko-KR" altLang="en-US" sz="1050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= 40</a:t>
            </a:r>
            <a:r>
              <a:rPr lang="ko-KR" altLang="en-US" sz="1050" dirty="0">
                <a:latin typeface="+mn-ea"/>
              </a:rPr>
              <a:t>개의 촘촘한 레벨이 동시에 존재하는 우리 시스템에서 특히 효과적이야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>
                <a:latin typeface="+mn-ea"/>
              </a:rPr>
              <a:t>레벨이 많을수록 </a:t>
            </a:r>
            <a:r>
              <a:rPr lang="en-US" altLang="ko-KR" sz="1050" dirty="0">
                <a:latin typeface="+mn-ea"/>
              </a:rPr>
              <a:t>charge sloshing </a:t>
            </a:r>
            <a:r>
              <a:rPr lang="ko-KR" altLang="en-US" sz="1050" dirty="0">
                <a:latin typeface="+mn-ea"/>
              </a:rPr>
              <a:t>가능성이 높거든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물리적으로 말하면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높은 </a:t>
            </a:r>
            <a:r>
              <a:rPr lang="en-US" altLang="ko-KR" sz="1050" dirty="0">
                <a:latin typeface="+mn-ea"/>
              </a:rPr>
              <a:t>T</a:t>
            </a:r>
            <a:r>
              <a:rPr lang="ko-KR" altLang="en-US" sz="1050" dirty="0">
                <a:latin typeface="+mn-ea"/>
              </a:rPr>
              <a:t>는 전자에게 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너 굳이 에너지가 제일 낮은 곳에만 있지 않아도 돼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라고 허용해주는 거야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>
                <a:latin typeface="+mn-ea"/>
              </a:rPr>
              <a:t>그 여유 덕분에 </a:t>
            </a:r>
            <a:r>
              <a:rPr lang="en-US" altLang="ko-KR" sz="1050" dirty="0">
                <a:latin typeface="+mn-ea"/>
              </a:rPr>
              <a:t>SCF</a:t>
            </a:r>
            <a:r>
              <a:rPr lang="ko-KR" altLang="en-US" sz="1050" dirty="0">
                <a:latin typeface="+mn-ea"/>
              </a:rPr>
              <a:t>가 부드럽게 수렴할 수 있게 됩니다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050" dirty="0">
              <a:latin typeface="+mn-ea"/>
            </a:endParaRP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132847FB-6D1A-41BF-8935-3A875D707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281" y="1694092"/>
            <a:ext cx="5731072" cy="358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59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Appendix. </a:t>
            </a:r>
            <a:r>
              <a:rPr lang="en-US" altLang="ko-KR" sz="2800" b="1" dirty="0" err="1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Ti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 d-</a:t>
            </a:r>
            <a:r>
              <a:rPr lang="ko-KR" altLang="en-US" sz="2800" b="1" dirty="0" err="1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오비탈에서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 실제로 무슨 일이 일어나는가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B39E3F94-E4B1-4479-83EF-0EC9BB6B8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8926" y="748320"/>
            <a:ext cx="7067550" cy="35337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6179D1-7806-4EC6-8008-6304A82AF6B6}"/>
              </a:ext>
            </a:extLst>
          </p:cNvPr>
          <p:cNvSpPr txBox="1"/>
          <p:nvPr/>
        </p:nvSpPr>
        <p:spPr>
          <a:xfrm>
            <a:off x="122348" y="4378377"/>
            <a:ext cx="11926777" cy="2244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"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가짜 온도를 써서 점유를 흐리게 하면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,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최종 에너지가 틀리지 않냐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?"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는 당연한 질문이야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답은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"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거의 안 틀린다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"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입니다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CP2K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는 </a:t>
            </a:r>
            <a:r>
              <a:rPr lang="en-US" altLang="ko-KR" sz="1050" b="0" i="0" dirty="0" err="1">
                <a:solidFill>
                  <a:srgbClr val="172033"/>
                </a:solidFill>
                <a:effectLst/>
                <a:latin typeface="+mn-ea"/>
              </a:rPr>
              <a:t>Mermin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 free energy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라는 걸 출력해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이건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Kohn-Sham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에너지에서 전자 엔트로피 </a:t>
            </a:r>
            <a:r>
              <a:rPr lang="ko-KR" altLang="en-US" sz="1050" b="0" i="0" dirty="0" err="1">
                <a:solidFill>
                  <a:srgbClr val="172033"/>
                </a:solidFill>
                <a:effectLst/>
                <a:latin typeface="+mn-ea"/>
              </a:rPr>
              <a:t>기여분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(T·S)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을 </a:t>
            </a:r>
            <a:r>
              <a:rPr lang="ko-KR" altLang="en-US" sz="1050" b="0" i="0" dirty="0" err="1">
                <a:solidFill>
                  <a:srgbClr val="172033"/>
                </a:solidFill>
                <a:effectLst/>
                <a:latin typeface="+mn-ea"/>
              </a:rPr>
              <a:t>빼준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 값이야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온도를 올려서 에너지가 높아진 만큼을 엔트로피 항이 보상해줍니다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수학적으로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, T→0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극한에서 </a:t>
            </a:r>
            <a:r>
              <a:rPr lang="en-US" altLang="ko-KR" sz="1050" b="0" i="0" dirty="0" err="1">
                <a:solidFill>
                  <a:srgbClr val="172033"/>
                </a:solidFill>
                <a:effectLst/>
                <a:latin typeface="+mn-ea"/>
              </a:rPr>
              <a:t>E_free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는 정확한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ground-state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에너지에 수렴해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 T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가 유한하면 약간의 오차가 생기지만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,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우리처럼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GEO_OPT (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에너지 차이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)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를 구하는 경우에는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cluster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와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dissociate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양쪽에 같은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T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를 쓰니까 오차가 상쇄됩니다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실제 수치로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, T=300K vs T=600K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의 </a:t>
            </a:r>
            <a:r>
              <a:rPr lang="en-US" altLang="ko-KR" sz="1050" b="0" i="0" dirty="0" err="1">
                <a:solidFill>
                  <a:srgbClr val="172033"/>
                </a:solidFill>
                <a:effectLst/>
                <a:latin typeface="+mn-ea"/>
              </a:rPr>
              <a:t>E_free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차이는 이 사이즈 시스템에서 보통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0.001 Ha(~0.6 kcal/mol)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이내야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우리가 구하는 </a:t>
            </a:r>
            <a:r>
              <a:rPr lang="en-US" altLang="ko-KR" sz="1050" b="0" i="0" dirty="0" err="1">
                <a:solidFill>
                  <a:srgbClr val="172033"/>
                </a:solidFill>
                <a:effectLst/>
                <a:latin typeface="+mn-ea"/>
              </a:rPr>
              <a:t>E_diss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가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17~23 kJ/mol (= 4~5.5 kcal/mol)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수준이니까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,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이 오차는 결론에 영향을 주지 않습니다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b="0" i="0" dirty="0" err="1">
                <a:solidFill>
                  <a:srgbClr val="172033"/>
                </a:solidFill>
                <a:effectLst/>
                <a:latin typeface="+mn-ea"/>
              </a:rPr>
              <a:t>정석적인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 방법은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"T=600K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로 수렴시킨 뒤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,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그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WFN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을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initial guess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로 써서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T=300K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으로 한 번 더 돌리는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"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거야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이러면 수렴도 쉽고 최종 정밀도도 확보됩니다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논문에 보고할 때는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"Fermi-Dirac smearing with </a:t>
            </a:r>
            <a:r>
              <a:rPr lang="en-US" altLang="ko-KR" sz="1050" b="0" i="0" dirty="0" err="1">
                <a:solidFill>
                  <a:srgbClr val="172033"/>
                </a:solidFill>
                <a:effectLst/>
                <a:latin typeface="+mn-ea"/>
              </a:rPr>
              <a:t>T_e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 = 300 K was used for fractional occupation"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이라고만 쓰면 되고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,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수렴용으로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600K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을 잠깐 썼다는 건 보통 언급 안 해도 돼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최종 계산이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300K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이면 됩니다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한 줄 정리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: ELECTRONIC_TEMPERATURE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를 올리는 건 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"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최종 답을 바꾸는 게 아니라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,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답을 찾아가는 길을 평탄하게 깔아주는 것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"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이야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 </a:t>
            </a:r>
            <a:r>
              <a:rPr lang="ko-KR" altLang="en-US" sz="1050" b="0" i="0" dirty="0">
                <a:solidFill>
                  <a:srgbClr val="172033"/>
                </a:solidFill>
                <a:effectLst/>
                <a:latin typeface="+mn-ea"/>
              </a:rPr>
              <a:t>목적지는 같은데 울퉁불퉁한 산길 대신 포장도로로 가는 거지</a:t>
            </a:r>
            <a:r>
              <a:rPr lang="en-US" altLang="ko-KR" sz="1050" b="0" i="0" dirty="0">
                <a:solidFill>
                  <a:srgbClr val="172033"/>
                </a:solidFill>
                <a:effectLst/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9719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077tgp_business_v2">
  <a:themeElements>
    <a:clrScheme name="사용자 지정 1">
      <a:dk1>
        <a:srgbClr val="3A3838"/>
      </a:dk1>
      <a:lt1>
        <a:srgbClr val="FFFFFF"/>
      </a:lt1>
      <a:dk2>
        <a:srgbClr val="3A3838"/>
      </a:dk2>
      <a:lt2>
        <a:srgbClr val="F2F2F2"/>
      </a:lt2>
      <a:accent1>
        <a:srgbClr val="313B6D"/>
      </a:accent1>
      <a:accent2>
        <a:srgbClr val="A43624"/>
      </a:accent2>
      <a:accent3>
        <a:srgbClr val="C0B7AE"/>
      </a:accent3>
      <a:accent4>
        <a:srgbClr val="9B8873"/>
      </a:accent4>
      <a:accent5>
        <a:srgbClr val="931A1B"/>
      </a:accent5>
      <a:accent6>
        <a:srgbClr val="FDFCFC"/>
      </a:accent6>
      <a:hlink>
        <a:srgbClr val="757070"/>
      </a:hlink>
      <a:folHlink>
        <a:srgbClr val="757070"/>
      </a:folHlink>
    </a:clrScheme>
    <a:fontScheme name="사용자 지정 10">
      <a:majorFont>
        <a:latin typeface="Microsoft GothicNeo"/>
        <a:ea typeface="Microsoft GothicNeo"/>
        <a:cs typeface=""/>
      </a:majorFont>
      <a:minorFont>
        <a:latin typeface="Microsoft GothicNeo Light"/>
        <a:ea typeface="Microsoft GothicNe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charset="-127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dirty="0">
            <a:latin typeface="+mn-ea"/>
            <a:ea typeface="+mn-ea"/>
          </a:defRPr>
        </a:defPPr>
      </a:lstStyle>
    </a:txDef>
  </a:objectDefaults>
  <a:extraClrSchemeLst>
    <a:extraClrScheme>
      <a:clrScheme name="077tgp_business_v2 1">
        <a:dk1>
          <a:srgbClr val="666699"/>
        </a:dk1>
        <a:lt1>
          <a:srgbClr val="FFFFFF"/>
        </a:lt1>
        <a:dk2>
          <a:srgbClr val="000000"/>
        </a:dk2>
        <a:lt2>
          <a:srgbClr val="DDDDDD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77tgp_business_v2 2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CC9900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B98A00"/>
        </a:accent6>
        <a:hlink>
          <a:srgbClr val="6E81E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77tgp_business_v2 3">
        <a:dk1>
          <a:srgbClr val="4E40A4"/>
        </a:dk1>
        <a:lt1>
          <a:srgbClr val="FFFFFF"/>
        </a:lt1>
        <a:dk2>
          <a:srgbClr val="000000"/>
        </a:dk2>
        <a:lt2>
          <a:srgbClr val="CCCCCC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32952</TotalTime>
  <Words>2506</Words>
  <Application>Microsoft Office PowerPoint</Application>
  <PresentationFormat>와이드스크린</PresentationFormat>
  <Paragraphs>222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Wingdings</vt:lpstr>
      <vt:lpstr>Times New Roman</vt:lpstr>
      <vt:lpstr>Microsoft GothicNeo</vt:lpstr>
      <vt:lpstr>Microsoft GothicNeo Light</vt:lpstr>
      <vt:lpstr>Raleway</vt:lpstr>
      <vt:lpstr>Verdana</vt:lpstr>
      <vt:lpstr>맑은 고딕</vt:lpstr>
      <vt:lpstr>Arial</vt:lpstr>
      <vt:lpstr>1_077tgp_business_v2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김유림</dc:creator>
  <cp:lastModifiedBy>안용상</cp:lastModifiedBy>
  <cp:revision>1053</cp:revision>
  <dcterms:created xsi:type="dcterms:W3CDTF">2023-12-10T14:48:54Z</dcterms:created>
  <dcterms:modified xsi:type="dcterms:W3CDTF">2026-04-03T00:12:32Z</dcterms:modified>
</cp:coreProperties>
</file>