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1190" r:id="rId2"/>
    <p:sldId id="1323" r:id="rId3"/>
    <p:sldId id="1322" r:id="rId4"/>
    <p:sldId id="1324" r:id="rId5"/>
    <p:sldId id="1325" r:id="rId6"/>
    <p:sldId id="1326" r:id="rId7"/>
    <p:sldId id="1327" r:id="rId8"/>
    <p:sldId id="1328" r:id="rId9"/>
    <p:sldId id="1329" r:id="rId10"/>
    <p:sldId id="1330" r:id="rId11"/>
    <p:sldId id="1334" r:id="rId12"/>
    <p:sldId id="1335" r:id="rId13"/>
    <p:sldId id="1336" r:id="rId14"/>
    <p:sldId id="1337" r:id="rId15"/>
    <p:sldId id="1338" r:id="rId16"/>
    <p:sldId id="1204" r:id="rId17"/>
    <p:sldId id="1332" r:id="rId18"/>
    <p:sldId id="1331" r:id="rId19"/>
    <p:sldId id="1333" r:id="rId20"/>
  </p:sldIdLst>
  <p:sldSz cx="12192000" cy="6858000"/>
  <p:notesSz cx="6858000" cy="9144000"/>
  <p:embeddedFontLst>
    <p:embeddedFont>
      <p:font typeface="Noto Sans KR" panose="020B0200000000000000" pitchFamily="50" charset="-127"/>
      <p:regular r:id="rId23"/>
      <p:bold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Cambria Math" panose="02040503050406030204" pitchFamily="18" charset="0"/>
      <p:regular r:id="rId27"/>
    </p:embeddedFont>
    <p:embeddedFont>
      <p:font typeface="Microsoft GothicNeo" panose="020B0500000101010101" pitchFamily="50" charset="-127"/>
      <p:regular r:id="rId28"/>
      <p:bold r:id="rId29"/>
    </p:embeddedFont>
    <p:embeddedFont>
      <p:font typeface="Microsoft GothicNeo Light" panose="020B0300000101010101" pitchFamily="50" charset="-127"/>
      <p:regular r:id="rId30"/>
    </p:embeddedFont>
    <p:embeddedFont>
      <p:font typeface="Raleway" pitchFamily="2" charset="0"/>
      <p:regular r:id="rId31"/>
      <p:bold r:id="rId32"/>
      <p:italic r:id="rId33"/>
      <p:boldItalic r:id="rId34"/>
    </p:embeddedFont>
    <p:embeddedFont>
      <p:font typeface="Segoe UI Symbol" panose="020B0502040204020203" pitchFamily="34" charset="0"/>
      <p:regular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8F1"/>
    <a:srgbClr val="617481"/>
    <a:srgbClr val="74838D"/>
    <a:srgbClr val="FBFBF3"/>
    <a:srgbClr val="EBF0F3"/>
    <a:srgbClr val="CBA45A"/>
    <a:srgbClr val="ECC979"/>
    <a:srgbClr val="FDFDFB"/>
    <a:srgbClr val="0C243F"/>
    <a:srgbClr val="2F3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93587" autoAdjust="0"/>
  </p:normalViewPr>
  <p:slideViewPr>
    <p:cSldViewPr snapToGrid="0">
      <p:cViewPr varScale="1">
        <p:scale>
          <a:sx n="105" d="100"/>
          <a:sy n="105" d="100"/>
        </p:scale>
        <p:origin x="960" y="11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39546C-1EC6-D7CA-6FC8-DCDB798445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AA104A-68B4-840A-97AB-76C72A506B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26888-051B-4C99-BCB4-37C922E41D73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E1443D-D1B0-0F0A-BBCC-87E1008B73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C68F17-0D7F-B3D7-5621-C83BF91D6C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990BE-6869-407E-BEE1-20864D10C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023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02F6B-AA4F-4993-9FAD-DF67DC4FA92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4293B-FB95-44D9-9F9A-9C75F99BEC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34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5916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3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30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599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60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981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535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256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778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227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804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481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94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829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673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DCDD4D8-1163-9C36-3383-6077E3D1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>
            <a:extLst>
              <a:ext uri="{FF2B5EF4-FFF2-40B4-BE49-F238E27FC236}">
                <a16:creationId xmlns:a16="http://schemas.microsoft.com/office/drawing/2014/main" id="{D1AC7DE0-F947-3157-4BD3-F02501AAB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>
            <a:extLst>
              <a:ext uri="{FF2B5EF4-FFF2-40B4-BE49-F238E27FC236}">
                <a16:creationId xmlns:a16="http://schemas.microsoft.com/office/drawing/2014/main" id="{3BA5C4CB-541D-2B05-54BE-FFF1C90DC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3196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714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54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533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>
              <a:defRPr sz="280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21" y="1628780"/>
            <a:ext cx="10850033" cy="469582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맑은 고딕" pitchFamily="50" charset="-127"/>
                <a:ea typeface="맑은 고딕" pitchFamily="50" charset="-127"/>
              </a:defRPr>
            </a:lvl1pPr>
            <a:lvl2pPr>
              <a:defRPr sz="1800">
                <a:latin typeface="맑은 고딕" pitchFamily="50" charset="-127"/>
                <a:ea typeface="맑은 고딕" pitchFamily="50" charset="-127"/>
              </a:defRPr>
            </a:lvl2pPr>
            <a:lvl3pPr>
              <a:defRPr sz="1600">
                <a:latin typeface="맑은 고딕" pitchFamily="50" charset="-127"/>
                <a:ea typeface="맑은 고딕" pitchFamily="50" charset="-127"/>
              </a:defRPr>
            </a:lvl3pPr>
            <a:lvl4pPr>
              <a:defRPr sz="1400">
                <a:latin typeface="맑은 고딕" pitchFamily="50" charset="-127"/>
                <a:ea typeface="맑은 고딕" pitchFamily="50" charset="-127"/>
              </a:defRPr>
            </a:lvl4pPr>
            <a:lvl5pPr>
              <a:defRPr sz="12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92175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320BD5E-96D9-44D5-A512-8E6778DAE6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CED49B-7455-0678-1615-B6E8B4452ADF}"/>
              </a:ext>
            </a:extLst>
          </p:cNvPr>
          <p:cNvSpPr txBox="1">
            <a:spLocks/>
          </p:cNvSpPr>
          <p:nvPr userDrawn="1"/>
        </p:nvSpPr>
        <p:spPr>
          <a:xfrm>
            <a:off x="9391650" y="653891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1E7B124-8D92-4B6F-BF98-ABA3F83B894F}" type="slidenum">
              <a:rPr lang="ko-KR" altLang="en-US" sz="1400" smtClean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pPr algn="r">
                <a:defRPr/>
              </a:pPr>
              <a:t>‹#›</a:t>
            </a:fld>
            <a:r>
              <a:rPr lang="en-US" altLang="ko-KR" sz="1400" dirty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/24</a:t>
            </a:r>
            <a:endParaRPr lang="ko-KR" altLang="en-US" sz="1400" dirty="0">
              <a:solidFill>
                <a:srgbClr val="7F7F7F"/>
              </a:solidFill>
              <a:latin typeface="Microsoft GothicNeo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27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7"/>
          <p:cNvGrpSpPr>
            <a:grpSpLocks/>
          </p:cNvGrpSpPr>
          <p:nvPr userDrawn="1"/>
        </p:nvGrpSpPr>
        <p:grpSpPr bwMode="auto">
          <a:xfrm>
            <a:off x="-6348" y="5"/>
            <a:ext cx="12198351" cy="6856413"/>
            <a:chOff x="-3" y="0"/>
            <a:chExt cx="5763" cy="4319"/>
          </a:xfrm>
        </p:grpSpPr>
        <p:sp>
          <p:nvSpPr>
            <p:cNvPr id="11" name="AutoShape 8"/>
            <p:cNvSpPr>
              <a:spLocks noChangeArrowheads="1"/>
            </p:cNvSpPr>
            <p:nvPr userDrawn="1"/>
          </p:nvSpPr>
          <p:spPr bwMode="gray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eaLnBrk="0" latinLnBrk="0" hangingPunct="0">
                <a:defRPr/>
              </a:pPr>
              <a:endParaRPr kumimoji="0" lang="ko-KR" altLang="en-US">
                <a:solidFill>
                  <a:srgbClr val="1D528D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 userDrawn="1"/>
          </p:nvSpPr>
          <p:spPr bwMode="gray">
            <a:xfrm>
              <a:off x="0" y="0"/>
              <a:ext cx="288" cy="288"/>
            </a:xfrm>
            <a:custGeom>
              <a:avLst/>
              <a:gdLst>
                <a:gd name="T0" fmla="*/ 0 w 336"/>
                <a:gd name="T1" fmla="*/ 2 h 384"/>
                <a:gd name="T2" fmla="*/ 0 w 336"/>
                <a:gd name="T3" fmla="*/ 6 h 384"/>
                <a:gd name="T4" fmla="*/ 9 w 336"/>
                <a:gd name="T5" fmla="*/ 3 h 384"/>
                <a:gd name="T6" fmla="*/ 19 w 336"/>
                <a:gd name="T7" fmla="*/ 2 h 384"/>
                <a:gd name="T8" fmla="*/ 33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gray">
            <a:xfrm rot="-5408600">
              <a:off x="-50" y="4030"/>
              <a:ext cx="336" cy="242"/>
            </a:xfrm>
            <a:custGeom>
              <a:avLst/>
              <a:gdLst>
                <a:gd name="T0" fmla="*/ 0 w 336"/>
                <a:gd name="T1" fmla="*/ 1 h 384"/>
                <a:gd name="T2" fmla="*/ 0 w 336"/>
                <a:gd name="T3" fmla="*/ 1 h 384"/>
                <a:gd name="T4" fmla="*/ 96 w 336"/>
                <a:gd name="T5" fmla="*/ 1 h 384"/>
                <a:gd name="T6" fmla="*/ 192 w 336"/>
                <a:gd name="T7" fmla="*/ 1 h 384"/>
                <a:gd name="T8" fmla="*/ 336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gray">
            <a:xfrm rot="10769190">
              <a:off x="5519" y="4031"/>
              <a:ext cx="232" cy="287"/>
            </a:xfrm>
            <a:custGeom>
              <a:avLst/>
              <a:gdLst>
                <a:gd name="T0" fmla="*/ 0 w 336"/>
                <a:gd name="T1" fmla="*/ 1 h 384"/>
                <a:gd name="T2" fmla="*/ 0 w 336"/>
                <a:gd name="T3" fmla="*/ 5 h 384"/>
                <a:gd name="T4" fmla="*/ 1 w 336"/>
                <a:gd name="T5" fmla="*/ 2 h 384"/>
                <a:gd name="T6" fmla="*/ 1 w 336"/>
                <a:gd name="T7" fmla="*/ 1 h 384"/>
                <a:gd name="T8" fmla="*/ 1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gray">
            <a:xfrm rot="5400000">
              <a:off x="5472" y="0"/>
              <a:ext cx="288" cy="288"/>
            </a:xfrm>
            <a:custGeom>
              <a:avLst/>
              <a:gdLst>
                <a:gd name="T0" fmla="*/ 0 w 336"/>
                <a:gd name="T1" fmla="*/ 2 h 384"/>
                <a:gd name="T2" fmla="*/ 0 w 336"/>
                <a:gd name="T3" fmla="*/ 6 h 384"/>
                <a:gd name="T4" fmla="*/ 9 w 336"/>
                <a:gd name="T5" fmla="*/ 3 h 384"/>
                <a:gd name="T6" fmla="*/ 19 w 336"/>
                <a:gd name="T7" fmla="*/ 2 h 384"/>
                <a:gd name="T8" fmla="*/ 33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8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719667" y="1268418"/>
            <a:ext cx="10871200" cy="814387"/>
          </a:xfrm>
          <a:prstGeom prst="rect">
            <a:avLst/>
          </a:prstGeom>
        </p:spPr>
        <p:txBody>
          <a:bodyPr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182" name="Rectangle 14"/>
          <p:cNvSpPr>
            <a:spLocks noGrp="1" noChangeArrowheads="1"/>
          </p:cNvSpPr>
          <p:nvPr>
            <p:ph type="subTitle" sz="quarter" idx="1"/>
          </p:nvPr>
        </p:nvSpPr>
        <p:spPr bwMode="gray">
          <a:xfrm>
            <a:off x="1968500" y="5013325"/>
            <a:ext cx="8534400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2" name="Rectangle 7"/>
          <p:cNvSpPr>
            <a:spLocks noChangeArrowheads="1"/>
          </p:cNvSpPr>
          <p:nvPr userDrawn="1"/>
        </p:nvSpPr>
        <p:spPr bwMode="gray">
          <a:xfrm>
            <a:off x="14821" y="677962"/>
            <a:ext cx="12177183" cy="158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>
              <a:solidFill>
                <a:srgbClr val="1D528D"/>
              </a:solidFill>
              <a:latin typeface="Times New Roman" panose="02020603050405020304" pitchFamily="18" charset="0"/>
              <a:ea typeface="굴림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8642BACA-DB50-DEF6-5C74-A3E1AA7306FB}"/>
              </a:ext>
            </a:extLst>
          </p:cNvPr>
          <p:cNvSpPr txBox="1">
            <a:spLocks/>
          </p:cNvSpPr>
          <p:nvPr userDrawn="1"/>
        </p:nvSpPr>
        <p:spPr>
          <a:xfrm>
            <a:off x="9391650" y="60222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1E7B124-8D92-4B6F-BF98-ABA3F83B894F}" type="slidenum">
              <a:rPr lang="ko-KR" altLang="en-US" sz="1400" smtClean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pPr algn="r">
                <a:defRPr/>
              </a:pPr>
              <a:t>‹#›</a:t>
            </a:fld>
            <a:r>
              <a:rPr lang="en-US" altLang="ko-KR" sz="1400" dirty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/24</a:t>
            </a:r>
            <a:endParaRPr lang="ko-KR" altLang="en-US" sz="1400" dirty="0">
              <a:solidFill>
                <a:srgbClr val="7F7F7F"/>
              </a:solidFill>
              <a:latin typeface="Microsoft GothicNeo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533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9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D1736F0B-8BDA-A9B0-35A3-B23363104599}"/>
              </a:ext>
            </a:extLst>
          </p:cNvPr>
          <p:cNvSpPr txBox="1">
            <a:spLocks/>
          </p:cNvSpPr>
          <p:nvPr userDrawn="1"/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sp>
        <p:nvSpPr>
          <p:cNvPr id="31" name="슬라이드 번호 개체 틀 5">
            <a:extLst>
              <a:ext uri="{FF2B5EF4-FFF2-40B4-BE49-F238E27FC236}">
                <a16:creationId xmlns:a16="http://schemas.microsoft.com/office/drawing/2014/main" id="{39A2953F-FC95-D8B0-7500-C4454B5E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175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320BD5E-96D9-44D5-A512-8E6778DAE6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A4E61D48-EF27-DC69-9E07-B7566343BB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921" y="1628780"/>
            <a:ext cx="10850033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82EC0B68-390E-999D-3E97-79690BB8D9F0}"/>
              </a:ext>
            </a:extLst>
          </p:cNvPr>
          <p:cNvSpPr txBox="1">
            <a:spLocks/>
          </p:cNvSpPr>
          <p:nvPr userDrawn="1"/>
        </p:nvSpPr>
        <p:spPr>
          <a:xfrm>
            <a:off x="2305021" y="7096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5ADC63C2-C0B6-570D-645D-8E2C83828715}"/>
              </a:ext>
            </a:extLst>
          </p:cNvPr>
          <p:cNvSpPr txBox="1">
            <a:spLocks/>
          </p:cNvSpPr>
          <p:nvPr userDrawn="1"/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64AD41-381A-FBBF-0FD0-FDAB340D3DD0}"/>
              </a:ext>
            </a:extLst>
          </p:cNvPr>
          <p:cNvGrpSpPr/>
          <p:nvPr userDrawn="1"/>
        </p:nvGrpSpPr>
        <p:grpSpPr>
          <a:xfrm>
            <a:off x="-827833" y="276878"/>
            <a:ext cx="551543" cy="2630021"/>
            <a:chOff x="-827833" y="276878"/>
            <a:chExt cx="551543" cy="2630021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E04E867-792A-6855-1B1E-16E5B7989E0D}"/>
                </a:ext>
              </a:extLst>
            </p:cNvPr>
            <p:cNvSpPr/>
            <p:nvPr/>
          </p:nvSpPr>
          <p:spPr bwMode="auto">
            <a:xfrm>
              <a:off x="-827833" y="276878"/>
              <a:ext cx="551543" cy="5527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34E4D5E-3F40-C6EF-40B2-04FAC856459C}"/>
                </a:ext>
              </a:extLst>
            </p:cNvPr>
            <p:cNvSpPr/>
            <p:nvPr/>
          </p:nvSpPr>
          <p:spPr bwMode="auto">
            <a:xfrm>
              <a:off x="-827833" y="969317"/>
              <a:ext cx="551543" cy="552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1B82B7-3C38-5825-089E-B8BE81A0F11E}"/>
                </a:ext>
              </a:extLst>
            </p:cNvPr>
            <p:cNvSpPr/>
            <p:nvPr/>
          </p:nvSpPr>
          <p:spPr bwMode="auto">
            <a:xfrm>
              <a:off x="-827833" y="1661756"/>
              <a:ext cx="551543" cy="5527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F47FFC-E615-F83F-3D68-DF3A9207E133}"/>
                </a:ext>
              </a:extLst>
            </p:cNvPr>
            <p:cNvSpPr/>
            <p:nvPr/>
          </p:nvSpPr>
          <p:spPr bwMode="auto">
            <a:xfrm>
              <a:off x="-827833" y="2354195"/>
              <a:ext cx="551543" cy="5527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56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6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189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377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566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754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Arial" panose="020B0604020202020204" pitchFamily="34" charset="0"/>
        <a:buChar char="–"/>
        <a:defRPr sz="2400">
          <a:solidFill>
            <a:schemeClr val="tx2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400">
          <a:solidFill>
            <a:schemeClr val="tx2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panose="020B0604020202020204" pitchFamily="34" charset="0"/>
        <a:buChar char="–"/>
        <a:defRPr sz="2000">
          <a:solidFill>
            <a:schemeClr val="tx2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B4C732-F334-A9CB-7009-89ABBB4D74ED}"/>
              </a:ext>
            </a:extLst>
          </p:cNvPr>
          <p:cNvSpPr/>
          <p:nvPr/>
        </p:nvSpPr>
        <p:spPr bwMode="auto">
          <a:xfrm>
            <a:off x="7455184" y="-12568"/>
            <a:ext cx="4736816" cy="6870567"/>
          </a:xfrm>
          <a:prstGeom prst="rect">
            <a:avLst/>
          </a:prstGeom>
          <a:solidFill>
            <a:schemeClr val="accent6">
              <a:lumMod val="75000"/>
              <a:alpha val="2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평행 사변형 1">
            <a:extLst>
              <a:ext uri="{FF2B5EF4-FFF2-40B4-BE49-F238E27FC236}">
                <a16:creationId xmlns:a16="http://schemas.microsoft.com/office/drawing/2014/main" id="{C5B64E3A-0565-C697-3543-CF1FB2172645}"/>
              </a:ext>
            </a:extLst>
          </p:cNvPr>
          <p:cNvSpPr/>
          <p:nvPr/>
        </p:nvSpPr>
        <p:spPr>
          <a:xfrm flipH="1">
            <a:off x="6585769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A4362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54BB2F17-6D4F-DAFA-3648-26B018BE15A4}"/>
              </a:ext>
            </a:extLst>
          </p:cNvPr>
          <p:cNvSpPr/>
          <p:nvPr/>
        </p:nvSpPr>
        <p:spPr>
          <a:xfrm flipH="1">
            <a:off x="5961548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9B88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6" name="평행 사변형 13">
            <a:extLst>
              <a:ext uri="{FF2B5EF4-FFF2-40B4-BE49-F238E27FC236}">
                <a16:creationId xmlns:a16="http://schemas.microsoft.com/office/drawing/2014/main" id="{3957315A-419D-92FD-C0E3-9213D4F917BB}"/>
              </a:ext>
            </a:extLst>
          </p:cNvPr>
          <p:cNvSpPr/>
          <p:nvPr/>
        </p:nvSpPr>
        <p:spPr>
          <a:xfrm flipH="1">
            <a:off x="0" y="0"/>
            <a:ext cx="9439479" cy="6901543"/>
          </a:xfrm>
          <a:custGeom>
            <a:avLst/>
            <a:gdLst>
              <a:gd name="connsiteX0" fmla="*/ 0 w 3410857"/>
              <a:gd name="connsiteY0" fmla="*/ 6858000 h 6858000"/>
              <a:gd name="connsiteX1" fmla="*/ 1250216 w 3410857"/>
              <a:gd name="connsiteY1" fmla="*/ 0 h 6858000"/>
              <a:gd name="connsiteX2" fmla="*/ 3410857 w 3410857"/>
              <a:gd name="connsiteY2" fmla="*/ 0 h 6858000"/>
              <a:gd name="connsiteX3" fmla="*/ 2160641 w 3410857"/>
              <a:gd name="connsiteY3" fmla="*/ 6858000 h 6858000"/>
              <a:gd name="connsiteX4" fmla="*/ 0 w 3410857"/>
              <a:gd name="connsiteY4" fmla="*/ 6858000 h 6858000"/>
              <a:gd name="connsiteX0" fmla="*/ 0 w 6705600"/>
              <a:gd name="connsiteY0" fmla="*/ 6887029 h 6887029"/>
              <a:gd name="connsiteX1" fmla="*/ 1250216 w 6705600"/>
              <a:gd name="connsiteY1" fmla="*/ 29029 h 6887029"/>
              <a:gd name="connsiteX2" fmla="*/ 6705600 w 6705600"/>
              <a:gd name="connsiteY2" fmla="*/ 0 h 6887029"/>
              <a:gd name="connsiteX3" fmla="*/ 2160641 w 6705600"/>
              <a:gd name="connsiteY3" fmla="*/ 6887029 h 6887029"/>
              <a:gd name="connsiteX4" fmla="*/ 0 w 6705600"/>
              <a:gd name="connsiteY4" fmla="*/ 6887029 h 6887029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705600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44343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58857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458857"/>
              <a:gd name="connsiteY0" fmla="*/ 6887029 h 6959600"/>
              <a:gd name="connsiteX1" fmla="*/ 1250216 w 6458857"/>
              <a:gd name="connsiteY1" fmla="*/ 29029 h 6959600"/>
              <a:gd name="connsiteX2" fmla="*/ 6458857 w 6458857"/>
              <a:gd name="connsiteY2" fmla="*/ 0 h 6959600"/>
              <a:gd name="connsiteX3" fmla="*/ 6166583 w 6458857"/>
              <a:gd name="connsiteY3" fmla="*/ 6959600 h 6959600"/>
              <a:gd name="connsiteX4" fmla="*/ 0 w 6458857"/>
              <a:gd name="connsiteY4" fmla="*/ 6887029 h 6959600"/>
              <a:gd name="connsiteX0" fmla="*/ 0 w 6471383"/>
              <a:gd name="connsiteY0" fmla="*/ 6887029 h 6887029"/>
              <a:gd name="connsiteX1" fmla="*/ 1250216 w 6471383"/>
              <a:gd name="connsiteY1" fmla="*/ 29029 h 6887029"/>
              <a:gd name="connsiteX2" fmla="*/ 6458857 w 6471383"/>
              <a:gd name="connsiteY2" fmla="*/ 0 h 6887029"/>
              <a:gd name="connsiteX3" fmla="*/ 6471383 w 6471383"/>
              <a:gd name="connsiteY3" fmla="*/ 6887029 h 6887029"/>
              <a:gd name="connsiteX4" fmla="*/ 0 w 6471383"/>
              <a:gd name="connsiteY4" fmla="*/ 6887029 h 6887029"/>
              <a:gd name="connsiteX0" fmla="*/ 0 w 7257159"/>
              <a:gd name="connsiteY0" fmla="*/ 6872515 h 6872515"/>
              <a:gd name="connsiteX1" fmla="*/ 1250216 w 7257159"/>
              <a:gd name="connsiteY1" fmla="*/ 14515 h 6872515"/>
              <a:gd name="connsiteX2" fmla="*/ 7257143 w 7257159"/>
              <a:gd name="connsiteY2" fmla="*/ 0 h 6872515"/>
              <a:gd name="connsiteX3" fmla="*/ 6471383 w 7257159"/>
              <a:gd name="connsiteY3" fmla="*/ 6872515 h 6872515"/>
              <a:gd name="connsiteX4" fmla="*/ 0 w 7257159"/>
              <a:gd name="connsiteY4" fmla="*/ 6872515 h 6872515"/>
              <a:gd name="connsiteX0" fmla="*/ 0 w 7284183"/>
              <a:gd name="connsiteY0" fmla="*/ 6872515 h 6901543"/>
              <a:gd name="connsiteX1" fmla="*/ 1250216 w 7284183"/>
              <a:gd name="connsiteY1" fmla="*/ 14515 h 6901543"/>
              <a:gd name="connsiteX2" fmla="*/ 7257143 w 7284183"/>
              <a:gd name="connsiteY2" fmla="*/ 0 h 6901543"/>
              <a:gd name="connsiteX3" fmla="*/ 7284183 w 7284183"/>
              <a:gd name="connsiteY3" fmla="*/ 6901543 h 6901543"/>
              <a:gd name="connsiteX4" fmla="*/ 0 w 7284183"/>
              <a:gd name="connsiteY4" fmla="*/ 6872515 h 6901543"/>
              <a:gd name="connsiteX0" fmla="*/ 0 w 7547476"/>
              <a:gd name="connsiteY0" fmla="*/ 6872515 h 6901543"/>
              <a:gd name="connsiteX1" fmla="*/ 1250216 w 7547476"/>
              <a:gd name="connsiteY1" fmla="*/ 14515 h 6901543"/>
              <a:gd name="connsiteX2" fmla="*/ 7547429 w 7547476"/>
              <a:gd name="connsiteY2" fmla="*/ 0 h 6901543"/>
              <a:gd name="connsiteX3" fmla="*/ 7284183 w 7547476"/>
              <a:gd name="connsiteY3" fmla="*/ 6901543 h 6901543"/>
              <a:gd name="connsiteX4" fmla="*/ 0 w 7547476"/>
              <a:gd name="connsiteY4" fmla="*/ 6872515 h 6901543"/>
              <a:gd name="connsiteX0" fmla="*/ 0 w 7547612"/>
              <a:gd name="connsiteY0" fmla="*/ 6872515 h 6901543"/>
              <a:gd name="connsiteX1" fmla="*/ 1250216 w 7547612"/>
              <a:gd name="connsiteY1" fmla="*/ 14515 h 6901543"/>
              <a:gd name="connsiteX2" fmla="*/ 7547429 w 7547612"/>
              <a:gd name="connsiteY2" fmla="*/ 0 h 6901543"/>
              <a:gd name="connsiteX3" fmla="*/ 7487383 w 7547612"/>
              <a:gd name="connsiteY3" fmla="*/ 6901543 h 6901543"/>
              <a:gd name="connsiteX4" fmla="*/ 0 w 7547612"/>
              <a:gd name="connsiteY4" fmla="*/ 6872515 h 6901543"/>
              <a:gd name="connsiteX0" fmla="*/ 0 w 7533145"/>
              <a:gd name="connsiteY0" fmla="*/ 6872515 h 6901543"/>
              <a:gd name="connsiteX1" fmla="*/ 1250216 w 7533145"/>
              <a:gd name="connsiteY1" fmla="*/ 14515 h 6901543"/>
              <a:gd name="connsiteX2" fmla="*/ 7532915 w 7533145"/>
              <a:gd name="connsiteY2" fmla="*/ 0 h 6901543"/>
              <a:gd name="connsiteX3" fmla="*/ 7487383 w 7533145"/>
              <a:gd name="connsiteY3" fmla="*/ 6901543 h 6901543"/>
              <a:gd name="connsiteX4" fmla="*/ 0 w 7533145"/>
              <a:gd name="connsiteY4" fmla="*/ 6872515 h 6901543"/>
              <a:gd name="connsiteX0" fmla="*/ 0 w 7533928"/>
              <a:gd name="connsiteY0" fmla="*/ 6872515 h 6901543"/>
              <a:gd name="connsiteX1" fmla="*/ 1250216 w 7533928"/>
              <a:gd name="connsiteY1" fmla="*/ 14515 h 6901543"/>
              <a:gd name="connsiteX2" fmla="*/ 7532915 w 7533928"/>
              <a:gd name="connsiteY2" fmla="*/ 0 h 6901543"/>
              <a:gd name="connsiteX3" fmla="*/ 7530926 w 7533928"/>
              <a:gd name="connsiteY3" fmla="*/ 6901543 h 6901543"/>
              <a:gd name="connsiteX4" fmla="*/ 0 w 7533928"/>
              <a:gd name="connsiteY4" fmla="*/ 6872515 h 69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928" h="6901543">
                <a:moveTo>
                  <a:pt x="0" y="6872515"/>
                </a:moveTo>
                <a:lnTo>
                  <a:pt x="1250216" y="14515"/>
                </a:lnTo>
                <a:lnTo>
                  <a:pt x="7532915" y="0"/>
                </a:lnTo>
                <a:cubicBezTo>
                  <a:pt x="7537090" y="2295676"/>
                  <a:pt x="7526751" y="4605867"/>
                  <a:pt x="7530926" y="6901543"/>
                </a:cubicBezTo>
                <a:lnTo>
                  <a:pt x="0" y="68725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" name="Google Shape;93;p13"/>
          <p:cNvSpPr txBox="1">
            <a:spLocks/>
          </p:cNvSpPr>
          <p:nvPr/>
        </p:nvSpPr>
        <p:spPr>
          <a:xfrm>
            <a:off x="62807" y="1748928"/>
            <a:ext cx="7774907" cy="195479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3000" b="1" dirty="0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02_</a:t>
            </a:r>
            <a:r>
              <a:rPr kumimoji="1" lang="ko-KR" altLang="en-US" sz="3000" b="1" dirty="0" err="1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수렴시키기전략</a:t>
            </a:r>
            <a:endParaRPr kumimoji="1" lang="en-US" altLang="ko-KR" sz="2800" b="1" dirty="0">
              <a:solidFill>
                <a:srgbClr val="9B8873"/>
              </a:solidFill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4" name="Google Shape;153;p20">
            <a:extLst>
              <a:ext uri="{FF2B5EF4-FFF2-40B4-BE49-F238E27FC236}">
                <a16:creationId xmlns:a16="http://schemas.microsoft.com/office/drawing/2014/main" id="{84415F24-7766-B9E5-166D-8220180D999E}"/>
              </a:ext>
            </a:extLst>
          </p:cNvPr>
          <p:cNvSpPr txBox="1">
            <a:spLocks/>
          </p:cNvSpPr>
          <p:nvPr/>
        </p:nvSpPr>
        <p:spPr>
          <a:xfrm>
            <a:off x="105320" y="4706528"/>
            <a:ext cx="65482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2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안 용 상</a:t>
            </a:r>
            <a:endParaRPr lang="en-US" sz="2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Process Systems Engineering &amp; Intelligence Design Lab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Department of Chemical Engineering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Kyung </a:t>
            </a:r>
            <a:r>
              <a:rPr lang="en-US" sz="15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Hee</a:t>
            </a: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University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770ACD0-7F15-C001-7284-4D5DFAB63031}"/>
              </a:ext>
            </a:extLst>
          </p:cNvPr>
          <p:cNvGrpSpPr/>
          <p:nvPr/>
        </p:nvGrpSpPr>
        <p:grpSpPr>
          <a:xfrm>
            <a:off x="231580" y="85060"/>
            <a:ext cx="2920394" cy="661066"/>
            <a:chOff x="231580" y="85060"/>
            <a:chExt cx="2534216" cy="573650"/>
          </a:xfrm>
        </p:grpSpPr>
        <p:pic>
          <p:nvPicPr>
            <p:cNvPr id="7" name="그림 6" descr="텍스트, 로고, 엠블럼, 폰트이(가) 표시된 사진&#10;&#10;자동 생성된 설명">
              <a:extLst>
                <a:ext uri="{FF2B5EF4-FFF2-40B4-BE49-F238E27FC236}">
                  <a16:creationId xmlns:a16="http://schemas.microsoft.com/office/drawing/2014/main" id="{3475EF97-1A28-9382-0F84-3AE040061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80" y="215111"/>
              <a:ext cx="1539333" cy="3751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4072C66-F836-EE49-489B-30C12A491B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9" t="10161" r="5433" b="11878"/>
            <a:stretch/>
          </p:blipFill>
          <p:spPr>
            <a:xfrm>
              <a:off x="1868209" y="85060"/>
              <a:ext cx="897587" cy="573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957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try03 SCF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수렴 전략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단계별 접근법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3557881"/>
            <a:ext cx="11258550" cy="297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try03</a:t>
            </a:r>
            <a:r>
              <a:rPr lang="ko-KR" altLang="en-US" sz="1050" dirty="0">
                <a:latin typeface="+mn-ea"/>
              </a:rPr>
              <a:t>은 처음부터 </a:t>
            </a:r>
            <a:r>
              <a:rPr lang="ko-KR" altLang="en-US" sz="1050" dirty="0" err="1">
                <a:latin typeface="+mn-ea"/>
              </a:rPr>
              <a:t>이온쌍</a:t>
            </a:r>
            <a:r>
              <a:rPr lang="ko-KR" altLang="en-US" sz="1050" dirty="0">
                <a:latin typeface="+mn-ea"/>
              </a:rPr>
              <a:t> 전체를 넣고 </a:t>
            </a:r>
            <a:r>
              <a:rPr lang="en-US" altLang="ko-KR" sz="1050" dirty="0">
                <a:latin typeface="+mn-ea"/>
              </a:rPr>
              <a:t>ATOMIC guess</a:t>
            </a:r>
            <a:r>
              <a:rPr lang="ko-KR" altLang="en-US" sz="1050" dirty="0">
                <a:latin typeface="+mn-ea"/>
              </a:rPr>
              <a:t>로 수렴시킨 것이 아니라</a:t>
            </a:r>
            <a:r>
              <a:rPr lang="en-US" altLang="ko-KR" sz="1050" dirty="0">
                <a:latin typeface="+mn-ea"/>
              </a:rPr>
              <a:t>, MOF </a:t>
            </a:r>
            <a:r>
              <a:rPr lang="ko-KR" altLang="en-US" sz="1050" dirty="0">
                <a:latin typeface="+mn-ea"/>
              </a:rPr>
              <a:t>골격만 먼저 </a:t>
            </a:r>
            <a:r>
              <a:rPr lang="ko-KR" altLang="en-US" sz="1050" dirty="0" err="1">
                <a:latin typeface="+mn-ea"/>
              </a:rPr>
              <a:t>단일점</a:t>
            </a:r>
            <a:r>
              <a:rPr lang="en-US" altLang="ko-KR" sz="1050" dirty="0">
                <a:latin typeface="+mn-ea"/>
              </a:rPr>
              <a:t>(ENERGY) </a:t>
            </a:r>
            <a:r>
              <a:rPr lang="ko-KR" altLang="en-US" sz="1050" dirty="0">
                <a:latin typeface="+mn-ea"/>
              </a:rPr>
              <a:t>계산하여 </a:t>
            </a:r>
            <a:r>
              <a:rPr lang="en-US" altLang="ko-KR" sz="1050" dirty="0">
                <a:latin typeface="+mn-ea"/>
              </a:rPr>
              <a:t>wavefunction(.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을 확보하는 것부터 시작했습니다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두 번째 단계에서 </a:t>
            </a:r>
            <a:r>
              <a:rPr lang="en-US" altLang="ko-KR" sz="1050" dirty="0">
                <a:latin typeface="+mn-ea"/>
              </a:rPr>
              <a:t>EMIM⁺ </a:t>
            </a:r>
            <a:r>
              <a:rPr lang="ko-KR" altLang="en-US" sz="1050" dirty="0">
                <a:latin typeface="+mn-ea"/>
              </a:rPr>
              <a:t>양이온만 추가할 때 이미 </a:t>
            </a:r>
            <a:r>
              <a:rPr lang="en-US" altLang="ko-KR" sz="1050" dirty="0">
                <a:latin typeface="+mn-ea"/>
              </a:rPr>
              <a:t>ALPHA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0.15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0.13</a:t>
            </a:r>
            <a:r>
              <a:rPr lang="ko-KR" altLang="en-US" sz="1050" dirty="0">
                <a:latin typeface="+mn-ea"/>
              </a:rPr>
              <a:t>으로 낮추고 </a:t>
            </a:r>
            <a:r>
              <a:rPr lang="en-US" altLang="ko-KR" sz="1050" dirty="0">
                <a:latin typeface="+mn-ea"/>
              </a:rPr>
              <a:t>ELECTRONIC_TEMPERATURE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300 K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500 K</a:t>
            </a:r>
            <a:r>
              <a:rPr lang="ko-KR" altLang="en-US" sz="1050" dirty="0">
                <a:latin typeface="+mn-ea"/>
              </a:rPr>
              <a:t>로 올려야 했는데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이는 </a:t>
            </a:r>
            <a:r>
              <a:rPr lang="en-US" altLang="ko-KR" sz="1050" dirty="0" err="1">
                <a:latin typeface="+mn-ea"/>
              </a:rPr>
              <a:t>Ti</a:t>
            </a:r>
            <a:r>
              <a:rPr lang="en-US" altLang="ko-KR" sz="1050" dirty="0">
                <a:latin typeface="+mn-ea"/>
              </a:rPr>
              <a:t> d-</a:t>
            </a:r>
            <a:r>
              <a:rPr lang="ko-KR" altLang="en-US" sz="1050" dirty="0" err="1">
                <a:latin typeface="+mn-ea"/>
              </a:rPr>
              <a:t>오비탈과</a:t>
            </a:r>
            <a:r>
              <a:rPr lang="ko-KR" altLang="en-US" sz="1050" dirty="0">
                <a:latin typeface="+mn-ea"/>
              </a:rPr>
              <a:t> 유기 양이온 사이의 전하 재분배가 </a:t>
            </a:r>
            <a:r>
              <a:rPr lang="en-US" altLang="ko-KR" sz="1050" dirty="0">
                <a:latin typeface="+mn-ea"/>
              </a:rPr>
              <a:t>SCF</a:t>
            </a:r>
            <a:r>
              <a:rPr lang="ko-KR" altLang="en-US" sz="1050" dirty="0">
                <a:latin typeface="+mn-ea"/>
              </a:rPr>
              <a:t>를 불안정하게 만들었기 때문입니다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세 번째 단계에서 </a:t>
            </a:r>
            <a:r>
              <a:rPr lang="en-US" altLang="ko-KR" sz="1050" dirty="0">
                <a:latin typeface="+mn-ea"/>
              </a:rPr>
              <a:t>EMIM </a:t>
            </a:r>
            <a:r>
              <a:rPr lang="ko-KR" altLang="en-US" sz="1050" dirty="0">
                <a:latin typeface="+mn-ea"/>
              </a:rPr>
              <a:t>배치를 </a:t>
            </a:r>
            <a:r>
              <a:rPr lang="en-US" altLang="ko-KR" sz="1050" dirty="0">
                <a:latin typeface="+mn-ea"/>
              </a:rPr>
              <a:t>9</a:t>
            </a:r>
            <a:r>
              <a:rPr lang="ko-KR" altLang="en-US" sz="1050" dirty="0">
                <a:latin typeface="+mn-ea"/>
              </a:rPr>
              <a:t>가지</a:t>
            </a:r>
            <a:r>
              <a:rPr lang="en-US" altLang="ko-KR" sz="1050" dirty="0">
                <a:latin typeface="+mn-ea"/>
              </a:rPr>
              <a:t>(EMIM01~09)</a:t>
            </a:r>
            <a:r>
              <a:rPr lang="ko-KR" altLang="en-US" sz="1050" dirty="0">
                <a:latin typeface="+mn-ea"/>
              </a:rPr>
              <a:t>로 변화시켜 에너지를 비교했으며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최저 에너지</a:t>
            </a:r>
            <a:r>
              <a:rPr lang="en-US" altLang="ko-KR" sz="1050" dirty="0">
                <a:latin typeface="+mn-ea"/>
              </a:rPr>
              <a:t>(EMIM01, -1362.508 Ha)</a:t>
            </a:r>
            <a:r>
              <a:rPr lang="ko-KR" altLang="en-US" sz="1050" dirty="0">
                <a:latin typeface="+mn-ea"/>
              </a:rPr>
              <a:t>와 최고 에너지</a:t>
            </a:r>
            <a:r>
              <a:rPr lang="en-US" altLang="ko-KR" sz="1050" dirty="0">
                <a:latin typeface="+mn-ea"/>
              </a:rPr>
              <a:t>(EMIM09, -1362.491 Ha) </a:t>
            </a:r>
            <a:r>
              <a:rPr lang="ko-KR" altLang="en-US" sz="1050" dirty="0">
                <a:latin typeface="+mn-ea"/>
              </a:rPr>
              <a:t>사이에 약 </a:t>
            </a:r>
            <a:r>
              <a:rPr lang="en-US" altLang="ko-KR" sz="1050" dirty="0">
                <a:latin typeface="+mn-ea"/>
              </a:rPr>
              <a:t>44 kJ/mol</a:t>
            </a:r>
            <a:r>
              <a:rPr lang="ko-KR" altLang="en-US" sz="1050" dirty="0">
                <a:latin typeface="+mn-ea"/>
              </a:rPr>
              <a:t>의 차이가 있어 초기 구조 선택이 최종 에너지에 큰 영향을 미침을 확인했습니다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네 번째 단계에서 </a:t>
            </a:r>
            <a:r>
              <a:rPr lang="en-US" altLang="ko-KR" sz="1050" dirty="0">
                <a:latin typeface="+mn-ea"/>
              </a:rPr>
              <a:t>TFSI⁻ </a:t>
            </a:r>
            <a:r>
              <a:rPr lang="ko-KR" altLang="en-US" sz="1050" dirty="0">
                <a:latin typeface="+mn-ea"/>
              </a:rPr>
              <a:t>음이온을 추가할 때는 </a:t>
            </a:r>
            <a:r>
              <a:rPr lang="en-US" altLang="ko-KR" sz="1050" dirty="0">
                <a:latin typeface="+mn-ea"/>
              </a:rPr>
              <a:t>SCF_GUESS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ATOMIC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RESTART</a:t>
            </a:r>
            <a:r>
              <a:rPr lang="ko-KR" altLang="en-US" sz="1050" dirty="0">
                <a:latin typeface="+mn-ea"/>
              </a:rPr>
              <a:t>로 바꿔 이전 단계의 </a:t>
            </a:r>
            <a:r>
              <a:rPr lang="en-US" altLang="ko-KR" sz="1050" dirty="0">
                <a:latin typeface="+mn-ea"/>
              </a:rPr>
              <a:t>wavefunction</a:t>
            </a:r>
            <a:r>
              <a:rPr lang="ko-KR" altLang="en-US" sz="1050" dirty="0">
                <a:latin typeface="+mn-ea"/>
              </a:rPr>
              <a:t>을 초기값으로 재활용했고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 덕분에 </a:t>
            </a:r>
            <a:r>
              <a:rPr lang="en-US" altLang="ko-KR" sz="1050" dirty="0">
                <a:latin typeface="+mn-ea"/>
              </a:rPr>
              <a:t>ALPHA 0.15 / 300 K </a:t>
            </a:r>
            <a:r>
              <a:rPr lang="ko-KR" altLang="en-US" sz="1050" dirty="0">
                <a:latin typeface="+mn-ea"/>
              </a:rPr>
              <a:t>원래 설정으로도 안정적으로 수렴할 수 있었습니다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최종 수렴된 계산</a:t>
            </a:r>
            <a:r>
              <a:rPr lang="en-US" altLang="ko-KR" sz="1050" dirty="0">
                <a:latin typeface="+mn-ea"/>
              </a:rPr>
              <a:t>(BAMOF_EMIM_TFSI_Cluster-1)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GEO_OPT step 144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restart</a:t>
            </a:r>
            <a:r>
              <a:rPr lang="ko-KR" altLang="en-US" sz="1050" dirty="0">
                <a:latin typeface="+mn-ea"/>
              </a:rPr>
              <a:t>하여 계속 진행한 것으로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처음부터 끝까지 단일 실행으로 이루어진 것이 아니라 여러 차례 중단과 재시작을 거쳤습니다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BAMOF_with_Cluster04 </a:t>
            </a:r>
            <a:r>
              <a:rPr lang="ko-KR" altLang="en-US" sz="1050" dirty="0">
                <a:latin typeface="+mn-ea"/>
              </a:rPr>
              <a:t>폴더에서는 고정 원자가 </a:t>
            </a:r>
            <a:r>
              <a:rPr lang="en-US" altLang="ko-KR" sz="1050" dirty="0">
                <a:latin typeface="+mn-ea"/>
              </a:rPr>
              <a:t>1..124</a:t>
            </a:r>
            <a:r>
              <a:rPr lang="ko-KR" altLang="en-US" sz="1050" dirty="0">
                <a:latin typeface="+mn-ea"/>
              </a:rPr>
              <a:t>로 확대</a:t>
            </a:r>
            <a:r>
              <a:rPr lang="en-US" altLang="ko-KR" sz="1050" dirty="0">
                <a:latin typeface="+mn-ea"/>
              </a:rPr>
              <a:t>(</a:t>
            </a:r>
            <a:r>
              <a:rPr lang="ko-KR" altLang="en-US" sz="1050" dirty="0">
                <a:latin typeface="+mn-ea"/>
              </a:rPr>
              <a:t>기존 </a:t>
            </a:r>
            <a:r>
              <a:rPr lang="en-US" altLang="ko-KR" sz="1050" dirty="0">
                <a:latin typeface="+mn-ea"/>
              </a:rPr>
              <a:t>102→124)</a:t>
            </a:r>
            <a:r>
              <a:rPr lang="ko-KR" altLang="en-US" sz="1050" dirty="0">
                <a:latin typeface="+mn-ea"/>
              </a:rPr>
              <a:t>되고 원자 수가 </a:t>
            </a:r>
            <a:r>
              <a:rPr lang="en-US" altLang="ko-KR" sz="1050" dirty="0">
                <a:latin typeface="+mn-ea"/>
              </a:rPr>
              <a:t>164</a:t>
            </a:r>
            <a:r>
              <a:rPr lang="ko-KR" altLang="en-US" sz="1050" dirty="0">
                <a:latin typeface="+mn-ea"/>
              </a:rPr>
              <a:t>개인 약간 다른 시스템도 시도되었는데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 역시 </a:t>
            </a:r>
            <a:r>
              <a:rPr lang="en-US" altLang="ko-KR" sz="1050" dirty="0">
                <a:latin typeface="+mn-ea"/>
              </a:rPr>
              <a:t>step 130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restart</a:t>
            </a:r>
            <a:r>
              <a:rPr lang="ko-KR" altLang="en-US" sz="1050" dirty="0">
                <a:latin typeface="+mn-ea"/>
              </a:rPr>
              <a:t>한 계산으로 다양한 구조적 변형을 탐색했음을 보여줍니다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이 모든 과정을 종합하면</a:t>
            </a:r>
            <a:r>
              <a:rPr lang="en-US" altLang="ko-KR" sz="1050" dirty="0">
                <a:latin typeface="+mn-ea"/>
              </a:rPr>
              <a:t>, try03</a:t>
            </a:r>
            <a:r>
              <a:rPr lang="ko-KR" altLang="en-US" sz="1050" dirty="0">
                <a:latin typeface="+mn-ea"/>
              </a:rPr>
              <a:t>의 성공 비결은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점진적 </a:t>
            </a:r>
            <a:r>
              <a:rPr lang="en-US" altLang="ko-KR" sz="1050" dirty="0">
                <a:latin typeface="+mn-ea"/>
              </a:rPr>
              <a:t>wavefunction bootstrap" </a:t>
            </a:r>
            <a:r>
              <a:rPr lang="ko-KR" altLang="en-US" sz="1050" dirty="0">
                <a:latin typeface="+mn-ea"/>
              </a:rPr>
              <a:t>전략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즉 작은 시스템에서 큰 시스템으로 단계별로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ko-KR" altLang="en-US" sz="1050" dirty="0">
                <a:latin typeface="+mn-ea"/>
              </a:rPr>
              <a:t>을 물려받으며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초기값 품질을 높인 것이었습니다</a:t>
            </a:r>
            <a:r>
              <a:rPr lang="en-US" altLang="ko-KR" sz="1050" dirty="0">
                <a:latin typeface="+mn-ea"/>
              </a:rPr>
              <a:t>.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01134F2-C209-447A-A03E-683AD14FB85F}"/>
              </a:ext>
            </a:extLst>
          </p:cNvPr>
          <p:cNvGrpSpPr/>
          <p:nvPr/>
        </p:nvGrpSpPr>
        <p:grpSpPr>
          <a:xfrm>
            <a:off x="1613056" y="744855"/>
            <a:ext cx="8763000" cy="2684145"/>
            <a:chOff x="1613056" y="1041163"/>
            <a:chExt cx="8763000" cy="268414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EED445-870E-4C21-8B91-919F0C01D6EE}"/>
                </a:ext>
              </a:extLst>
            </p:cNvPr>
            <p:cNvSpPr txBox="1"/>
            <p:nvPr/>
          </p:nvSpPr>
          <p:spPr>
            <a:xfrm>
              <a:off x="3261115" y="1041163"/>
              <a:ext cx="5466882" cy="35028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75" b="1" spc="0" baseline="0" dirty="0">
                  <a:solidFill>
                    <a:srgbClr val="1E293B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try03 SCF Convergence Strategy: Stepwise Wavefunction Bootstrap</a:t>
              </a: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6181DA7E-1F65-4A90-B41B-94363557795D}"/>
                </a:ext>
              </a:extLst>
            </p:cNvPr>
            <p:cNvSpPr/>
            <p:nvPr/>
          </p:nvSpPr>
          <p:spPr>
            <a:xfrm>
              <a:off x="161305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6366F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9CEACD-213D-4DF7-93E6-842275193283}"/>
                </a:ext>
              </a:extLst>
            </p:cNvPr>
            <p:cNvSpPr txBox="1"/>
            <p:nvPr/>
          </p:nvSpPr>
          <p:spPr>
            <a:xfrm>
              <a:off x="1852317" y="1469788"/>
              <a:ext cx="1045478" cy="25930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1: MOF only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92D746-F9CB-4F96-9F17-99113A5290B6}"/>
                </a:ext>
              </a:extLst>
            </p:cNvPr>
            <p:cNvSpPr txBox="1"/>
            <p:nvPr/>
          </p:nvSpPr>
          <p:spPr>
            <a:xfrm>
              <a:off x="1810638" y="1631713"/>
              <a:ext cx="1128835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C7D2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RUN_TYPE ENERGY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FBBAAB-C484-4843-84ED-21FBCF734AF0}"/>
                </a:ext>
              </a:extLst>
            </p:cNvPr>
            <p:cNvSpPr txBox="1"/>
            <p:nvPr/>
          </p:nvSpPr>
          <p:spPr>
            <a:xfrm>
              <a:off x="2059104" y="1774588"/>
              <a:ext cx="631903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C7D2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102 atoms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30250A-9B57-4ADA-93FF-1DC74A197E55}"/>
                </a:ext>
              </a:extLst>
            </p:cNvPr>
            <p:cNvSpPr txBox="1"/>
            <p:nvPr/>
          </p:nvSpPr>
          <p:spPr>
            <a:xfrm>
              <a:off x="1853118" y="1917463"/>
              <a:ext cx="1043876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C7D2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ALPHA 0.15 / 300 K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E6DB1A-EFF0-4242-90C1-FE09A2353DF3}"/>
                </a:ext>
              </a:extLst>
            </p:cNvPr>
            <p:cNvSpPr txBox="1"/>
            <p:nvPr/>
          </p:nvSpPr>
          <p:spPr>
            <a:xfrm>
              <a:off x="1790601" y="2060338"/>
              <a:ext cx="1168910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C7D2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SCF_GUESS ATOMIC</a:t>
              </a: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6F48C23D-CA61-42D8-A46B-9D3ED0F73236}"/>
                </a:ext>
              </a:extLst>
            </p:cNvPr>
            <p:cNvSpPr/>
            <p:nvPr/>
          </p:nvSpPr>
          <p:spPr>
            <a:xfrm>
              <a:off x="178450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18CF8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F99B06-4EB1-43D4-AEA7-B6B7EE916B2D}"/>
                </a:ext>
              </a:extLst>
            </p:cNvPr>
            <p:cNvSpPr txBox="1"/>
            <p:nvPr/>
          </p:nvSpPr>
          <p:spPr>
            <a:xfrm>
              <a:off x="2042273" y="2251600"/>
              <a:ext cx="665567" cy="22878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→ .wfn 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확보</a:t>
              </a: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F99BBB18-C941-4159-9134-DA92E9733082}"/>
                </a:ext>
              </a:extLst>
            </p:cNvPr>
            <p:cNvSpPr/>
            <p:nvPr/>
          </p:nvSpPr>
          <p:spPr>
            <a:xfrm>
              <a:off x="3184681" y="1963183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94A3B8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1F16927-8854-43CE-A918-C332593E778E}"/>
                </a:ext>
              </a:extLst>
            </p:cNvPr>
            <p:cNvSpPr/>
            <p:nvPr/>
          </p:nvSpPr>
          <p:spPr>
            <a:xfrm>
              <a:off x="342280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B4FD61-4E58-4396-9D8A-6B727663A9CC}"/>
                </a:ext>
              </a:extLst>
            </p:cNvPr>
            <p:cNvSpPr txBox="1"/>
            <p:nvPr/>
          </p:nvSpPr>
          <p:spPr>
            <a:xfrm>
              <a:off x="3711760" y="1460263"/>
              <a:ext cx="946093" cy="25930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2: +EMIM</a:t>
              </a:r>
              <a:r>
                <a:rPr lang="ko-KR" altLang="en-US" sz="825" b="1" spc="0" baseline="0" dirty="0">
                  <a:solidFill>
                    <a:srgbClr val="FFFFFF"/>
                  </a:solidFill>
                  <a:latin typeface="Cambria Math"/>
                  <a:ea typeface="+mn-ea"/>
                  <a:cs typeface="Arial"/>
                  <a:sym typeface="Cambria Math"/>
                  <a:rtl val="0"/>
                </a:rPr>
                <a:t>⁺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73EFAB-9E14-4CB4-8F9F-E3AF535AC1CE}"/>
                </a:ext>
              </a:extLst>
            </p:cNvPr>
            <p:cNvSpPr txBox="1"/>
            <p:nvPr/>
          </p:nvSpPr>
          <p:spPr>
            <a:xfrm>
              <a:off x="3554665" y="1631713"/>
              <a:ext cx="1260281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F3C7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143 atoms / CHARGE +1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212C56-21F9-410B-9A94-36B81D2AB048}"/>
                </a:ext>
              </a:extLst>
            </p:cNvPr>
            <p:cNvSpPr txBox="1"/>
            <p:nvPr/>
          </p:nvSpPr>
          <p:spPr>
            <a:xfrm>
              <a:off x="3771071" y="1774588"/>
              <a:ext cx="827470" cy="24474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DE68A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ALPHA 0.13 ▼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9AFDB0-5092-487E-B5B0-68CDBB34857B}"/>
                </a:ext>
              </a:extLst>
            </p:cNvPr>
            <p:cNvSpPr txBox="1"/>
            <p:nvPr/>
          </p:nvSpPr>
          <p:spPr>
            <a:xfrm>
              <a:off x="3824771" y="1917463"/>
              <a:ext cx="720069" cy="24474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DE68A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T = 500 K ▲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00C3E8-B552-4049-9302-561FFF2F2B46}"/>
                </a:ext>
              </a:extLst>
            </p:cNvPr>
            <p:cNvSpPr txBox="1"/>
            <p:nvPr/>
          </p:nvSpPr>
          <p:spPr>
            <a:xfrm>
              <a:off x="3600351" y="2060338"/>
              <a:ext cx="1168910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F3C7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SCF_GUESS ATOMIC</a:t>
              </a: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40C878F0-EA99-4E43-B32B-0483E2AE5855}"/>
                </a:ext>
              </a:extLst>
            </p:cNvPr>
            <p:cNvSpPr/>
            <p:nvPr/>
          </p:nvSpPr>
          <p:spPr>
            <a:xfrm>
              <a:off x="359425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BBF24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9538BD-372C-42B3-A246-688D7BF7065B}"/>
                </a:ext>
              </a:extLst>
            </p:cNvPr>
            <p:cNvSpPr txBox="1"/>
            <p:nvPr/>
          </p:nvSpPr>
          <p:spPr>
            <a:xfrm>
              <a:off x="3852023" y="2251600"/>
              <a:ext cx="665567" cy="22878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→ .wfn </a:t>
              </a:r>
              <a:r>
                <a:rPr lang="ko-KR" altLang="en-US" sz="675" b="1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확보</a:t>
              </a: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A0AFDC5-132B-4AFC-A1C5-073BC250F3FE}"/>
                </a:ext>
              </a:extLst>
            </p:cNvPr>
            <p:cNvSpPr/>
            <p:nvPr/>
          </p:nvSpPr>
          <p:spPr>
            <a:xfrm>
              <a:off x="4994431" y="1963183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94A3B8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B9701956-CA58-4488-B927-C6663AC00D65}"/>
                </a:ext>
              </a:extLst>
            </p:cNvPr>
            <p:cNvSpPr/>
            <p:nvPr/>
          </p:nvSpPr>
          <p:spPr>
            <a:xfrm>
              <a:off x="523255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F4444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1388804-BE89-4BA7-8F3E-F181CB3BC187}"/>
                </a:ext>
              </a:extLst>
            </p:cNvPr>
            <p:cNvSpPr txBox="1"/>
            <p:nvPr/>
          </p:nvSpPr>
          <p:spPr>
            <a:xfrm>
              <a:off x="5455786" y="1469788"/>
              <a:ext cx="1077539" cy="25930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3: Variations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A9EF7CE-C81D-4C07-9D1F-F608B96F010C}"/>
                </a:ext>
              </a:extLst>
            </p:cNvPr>
            <p:cNvSpPr txBox="1"/>
            <p:nvPr/>
          </p:nvSpPr>
          <p:spPr>
            <a:xfrm>
              <a:off x="5460595" y="1612663"/>
              <a:ext cx="1067921" cy="2439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EMIM01~09 (9 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위치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1413F4-9F3E-4BB5-86FA-133E7335C69E}"/>
                </a:ext>
              </a:extLst>
            </p:cNvPr>
            <p:cNvSpPr txBox="1"/>
            <p:nvPr/>
          </p:nvSpPr>
          <p:spPr>
            <a:xfrm>
              <a:off x="5648147" y="1755538"/>
              <a:ext cx="692818" cy="2439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sym typeface="맑은 고딕"/>
                  <a:rtl val="0"/>
                </a:rPr>
                <a:t>에너지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비교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232A70C-2245-49DF-B6EF-28B5A1A884DA}"/>
                </a:ext>
              </a:extLst>
            </p:cNvPr>
            <p:cNvSpPr txBox="1"/>
            <p:nvPr/>
          </p:nvSpPr>
          <p:spPr>
            <a:xfrm>
              <a:off x="5579217" y="1917463"/>
              <a:ext cx="830677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CACA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ΔE ≈ 44 kJ/mol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3D63C0-D9E8-41FB-95E5-1C55CDC57BC4}"/>
                </a:ext>
              </a:extLst>
            </p:cNvPr>
            <p:cNvSpPr txBox="1"/>
            <p:nvPr/>
          </p:nvSpPr>
          <p:spPr>
            <a:xfrm>
              <a:off x="5586432" y="2041288"/>
              <a:ext cx="816249" cy="2439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sym typeface="맑은 고딕"/>
                  <a:rtl val="0"/>
                </a:rPr>
                <a:t>최적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위치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선정</a:t>
              </a: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1CAF0A48-1B96-46E8-9BA1-7834E2520B10}"/>
                </a:ext>
              </a:extLst>
            </p:cNvPr>
            <p:cNvSpPr/>
            <p:nvPr/>
          </p:nvSpPr>
          <p:spPr>
            <a:xfrm>
              <a:off x="540400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8717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81C1BA-8664-4F82-AAB7-4F1F70ECB4A7}"/>
                </a:ext>
              </a:extLst>
            </p:cNvPr>
            <p:cNvSpPr txBox="1"/>
            <p:nvPr/>
          </p:nvSpPr>
          <p:spPr>
            <a:xfrm>
              <a:off x="5587233" y="2251600"/>
              <a:ext cx="814647" cy="22878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→ EMIM01 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선택</a:t>
              </a:r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D5E07450-1EA2-44E2-89D3-D203B3D46027}"/>
                </a:ext>
              </a:extLst>
            </p:cNvPr>
            <p:cNvSpPr/>
            <p:nvPr/>
          </p:nvSpPr>
          <p:spPr>
            <a:xfrm>
              <a:off x="6804181" y="1963183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94A3B8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747A0931-7343-4497-BB46-3534DE5B0924}"/>
                </a:ext>
              </a:extLst>
            </p:cNvPr>
            <p:cNvSpPr/>
            <p:nvPr/>
          </p:nvSpPr>
          <p:spPr>
            <a:xfrm>
              <a:off x="704230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0B98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E859D8A-A50B-4413-9EFF-9021665C0BFE}"/>
                </a:ext>
              </a:extLst>
            </p:cNvPr>
            <p:cNvSpPr txBox="1"/>
            <p:nvPr/>
          </p:nvSpPr>
          <p:spPr>
            <a:xfrm>
              <a:off x="7355305" y="1460263"/>
              <a:ext cx="898003" cy="25930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4: +TFSI</a:t>
              </a:r>
              <a:r>
                <a:rPr lang="ko-KR" altLang="en-US" sz="825" b="1" spc="0" baseline="0" dirty="0">
                  <a:solidFill>
                    <a:srgbClr val="FFFFFF"/>
                  </a:solidFill>
                  <a:latin typeface="Cambria Math"/>
                  <a:ea typeface="+mn-ea"/>
                  <a:cs typeface="Arial"/>
                  <a:sym typeface="Cambria Math"/>
                  <a:rtl val="0"/>
                </a:rPr>
                <a:t>⁻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2E67E57-C17E-4EBA-B9A2-E56A5B745101}"/>
                </a:ext>
              </a:extLst>
            </p:cNvPr>
            <p:cNvSpPr txBox="1"/>
            <p:nvPr/>
          </p:nvSpPr>
          <p:spPr>
            <a:xfrm>
              <a:off x="7380952" y="1631713"/>
              <a:ext cx="846707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1FAE5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158~164 atoms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43990E7-C597-470E-A9D6-A47956E51D0D}"/>
                </a:ext>
              </a:extLst>
            </p:cNvPr>
            <p:cNvSpPr txBox="1"/>
            <p:nvPr/>
          </p:nvSpPr>
          <p:spPr>
            <a:xfrm>
              <a:off x="7125274" y="1765063"/>
              <a:ext cx="1358064" cy="24474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A7F3D0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SCF_GUESS RESTART </a:t>
              </a:r>
              <a:r>
                <a:rPr lang="ko-KR" altLang="en-US" sz="750" spc="0" baseline="0" dirty="0">
                  <a:solidFill>
                    <a:srgbClr val="A7F3D0"/>
                  </a:solidFill>
                  <a:latin typeface="Segoe UI Symbol"/>
                  <a:ea typeface="+mn-ea"/>
                  <a:cs typeface="Arial"/>
                  <a:sym typeface="Segoe UI Symbol"/>
                  <a:rtl val="0"/>
                </a:rPr>
                <a:t>★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2BDA2A-6DAB-4DCA-8045-F9E63EAF0AAF}"/>
                </a:ext>
              </a:extLst>
            </p:cNvPr>
            <p:cNvSpPr txBox="1"/>
            <p:nvPr/>
          </p:nvSpPr>
          <p:spPr>
            <a:xfrm>
              <a:off x="7282368" y="1917463"/>
              <a:ext cx="1043876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1FAE5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ALPHA 0.15 / 300 K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2D1CB59-C13C-46F2-A0B4-C0083EA400C7}"/>
                </a:ext>
              </a:extLst>
            </p:cNvPr>
            <p:cNvSpPr txBox="1"/>
            <p:nvPr/>
          </p:nvSpPr>
          <p:spPr>
            <a:xfrm>
              <a:off x="7356106" y="2041288"/>
              <a:ext cx="896399" cy="2439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1FAE5"/>
                  </a:solidFill>
                  <a:latin typeface="맑은 고딕"/>
                  <a:ea typeface="맑은 고딕"/>
                  <a:sym typeface="맑은 고딕"/>
                  <a:rtl val="0"/>
                </a:rPr>
                <a:t>이전</a:t>
              </a:r>
              <a:r>
                <a:rPr lang="ko-KR" altLang="en-US" sz="750" spc="0" baseline="0" dirty="0">
                  <a:solidFill>
                    <a:srgbClr val="D1FAE5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.wfn </a:t>
              </a:r>
              <a:r>
                <a:rPr lang="ko-KR" altLang="en-US" sz="750" spc="0" baseline="0" dirty="0">
                  <a:solidFill>
                    <a:srgbClr val="D1FAE5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재활용</a:t>
              </a: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4C3E948D-0D7B-4DE4-993E-5D1A25C3EB80}"/>
                </a:ext>
              </a:extLst>
            </p:cNvPr>
            <p:cNvSpPr/>
            <p:nvPr/>
          </p:nvSpPr>
          <p:spPr>
            <a:xfrm>
              <a:off x="721375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34D399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E64DEBF-AEFD-4AD1-8814-3758F7581AE7}"/>
                </a:ext>
              </a:extLst>
            </p:cNvPr>
            <p:cNvSpPr txBox="1"/>
            <p:nvPr/>
          </p:nvSpPr>
          <p:spPr>
            <a:xfrm>
              <a:off x="7348892" y="2251600"/>
              <a:ext cx="910827" cy="22878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064E3B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→ GEO_OPT </a:t>
              </a:r>
              <a:r>
                <a:rPr lang="ko-KR" altLang="en-US" sz="675" b="1" spc="0" baseline="0" dirty="0">
                  <a:solidFill>
                    <a:srgbClr val="064E3B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진행</a:t>
              </a:r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EC8791D9-147E-4258-83FC-D1CC74876A82}"/>
                </a:ext>
              </a:extLst>
            </p:cNvPr>
            <p:cNvSpPr/>
            <p:nvPr/>
          </p:nvSpPr>
          <p:spPr>
            <a:xfrm>
              <a:off x="8613931" y="1963183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94A3B8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F8428171-8B0F-443A-A06C-584D1767C763}"/>
                </a:ext>
              </a:extLst>
            </p:cNvPr>
            <p:cNvSpPr/>
            <p:nvPr/>
          </p:nvSpPr>
          <p:spPr>
            <a:xfrm>
              <a:off x="885205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3B82F6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9B215C-B97A-4886-BB59-5FB634683741}"/>
                </a:ext>
              </a:extLst>
            </p:cNvPr>
            <p:cNvSpPr txBox="1"/>
            <p:nvPr/>
          </p:nvSpPr>
          <p:spPr>
            <a:xfrm>
              <a:off x="9085706" y="1441213"/>
              <a:ext cx="1056700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5: </a:t>
              </a:r>
              <a:r>
                <a:rPr lang="ko-KR" altLang="en-US" sz="900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</a:t>
              </a: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완료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537026-A62C-4DD6-8FE8-A970D4872756}"/>
                </a:ext>
              </a:extLst>
            </p:cNvPr>
            <p:cNvSpPr txBox="1"/>
            <p:nvPr/>
          </p:nvSpPr>
          <p:spPr>
            <a:xfrm>
              <a:off x="9073683" y="1631713"/>
              <a:ext cx="1080745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BEA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158 atoms / step 144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FEB3DC0-BE9C-4D1A-BEA4-80036D40BFC7}"/>
                </a:ext>
              </a:extLst>
            </p:cNvPr>
            <p:cNvSpPr txBox="1"/>
            <p:nvPr/>
          </p:nvSpPr>
          <p:spPr>
            <a:xfrm>
              <a:off x="9145017" y="1774588"/>
              <a:ext cx="938077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BFDB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E = -1613.798 Ha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23A8BB1-FD96-4FCD-8A5B-D24B91B87F89}"/>
                </a:ext>
              </a:extLst>
            </p:cNvPr>
            <p:cNvSpPr txBox="1"/>
            <p:nvPr/>
          </p:nvSpPr>
          <p:spPr>
            <a:xfrm>
              <a:off x="8975900" y="1917463"/>
              <a:ext cx="1276311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BEA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GEO_OPT COMPLETED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1B5568-6CF1-481E-BA48-19A0686443BD}"/>
                </a:ext>
              </a:extLst>
            </p:cNvPr>
            <p:cNvSpPr txBox="1"/>
            <p:nvPr/>
          </p:nvSpPr>
          <p:spPr>
            <a:xfrm>
              <a:off x="9112957" y="2060338"/>
              <a:ext cx="1002197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BEA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BFGS 600 iter max</a:t>
              </a: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C667A2F9-CCFA-49E5-A3C4-8B830F05D5D5}"/>
                </a:ext>
              </a:extLst>
            </p:cNvPr>
            <p:cNvSpPr/>
            <p:nvPr/>
          </p:nvSpPr>
          <p:spPr>
            <a:xfrm>
              <a:off x="902350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0A5FA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9A06214-1B04-4040-915A-F7489F53FDF6}"/>
                </a:ext>
              </a:extLst>
            </p:cNvPr>
            <p:cNvSpPr txBox="1"/>
            <p:nvPr/>
          </p:nvSpPr>
          <p:spPr>
            <a:xfrm>
              <a:off x="9237991" y="2251600"/>
              <a:ext cx="752129" cy="22801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FFFFFF"/>
                  </a:solidFill>
                  <a:latin typeface="Segoe UI Symbol"/>
                  <a:ea typeface="+mn-ea"/>
                  <a:sym typeface="Segoe UI Symbol"/>
                  <a:rtl val="0"/>
                </a:rPr>
                <a:t>✓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최종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에너지</a:t>
              </a:r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02C2F39C-F027-418D-8245-CEC5142DA3F6}"/>
                </a:ext>
              </a:extLst>
            </p:cNvPr>
            <p:cNvSpPr/>
            <p:nvPr/>
          </p:nvSpPr>
          <p:spPr>
            <a:xfrm>
              <a:off x="1613056" y="2658508"/>
              <a:ext cx="8763000" cy="1066800"/>
            </a:xfrm>
            <a:custGeom>
              <a:avLst/>
              <a:gdLst>
                <a:gd name="connsiteX0" fmla="*/ 8667750 w 8763000"/>
                <a:gd name="connsiteY0" fmla="*/ 0 h 1066800"/>
                <a:gd name="connsiteX1" fmla="*/ 8763000 w 8763000"/>
                <a:gd name="connsiteY1" fmla="*/ 0 h 1066800"/>
                <a:gd name="connsiteX2" fmla="*/ 8763000 w 8763000"/>
                <a:gd name="connsiteY2" fmla="*/ 1066800 h 1066800"/>
                <a:gd name="connsiteX3" fmla="*/ 8667750 w 8763000"/>
                <a:gd name="connsiteY3" fmla="*/ 1066800 h 1066800"/>
                <a:gd name="connsiteX4" fmla="*/ 95250 w 8763000"/>
                <a:gd name="connsiteY4" fmla="*/ 1066800 h 1066800"/>
                <a:gd name="connsiteX5" fmla="*/ 0 w 8763000"/>
                <a:gd name="connsiteY5" fmla="*/ 1066800 h 1066800"/>
                <a:gd name="connsiteX6" fmla="*/ 0 w 8763000"/>
                <a:gd name="connsiteY6" fmla="*/ 0 h 1066800"/>
                <a:gd name="connsiteX7" fmla="*/ 95250 w 8763000"/>
                <a:gd name="connsiteY7" fmla="*/ 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3000" h="1066800">
                  <a:moveTo>
                    <a:pt x="8667750" y="0"/>
                  </a:moveTo>
                  <a:cubicBezTo>
                    <a:pt x="8720355" y="0"/>
                    <a:pt x="8763000" y="0"/>
                    <a:pt x="8763000" y="0"/>
                  </a:cubicBezTo>
                  <a:lnTo>
                    <a:pt x="8763000" y="1066800"/>
                  </a:lnTo>
                  <a:cubicBezTo>
                    <a:pt x="8763000" y="1066800"/>
                    <a:pt x="8720355" y="1066800"/>
                    <a:pt x="8667750" y="1066800"/>
                  </a:cubicBezTo>
                  <a:lnTo>
                    <a:pt x="95250" y="1066800"/>
                  </a:lnTo>
                  <a:cubicBezTo>
                    <a:pt x="42645" y="1066800"/>
                    <a:pt x="0" y="1066800"/>
                    <a:pt x="0" y="1066800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7ED"/>
            </a:solidFill>
            <a:ln w="11430" cap="flat">
              <a:solidFill>
                <a:srgbClr val="FB923C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7282D28-B442-41AF-AE9A-7E0325696D73}"/>
                </a:ext>
              </a:extLst>
            </p:cNvPr>
            <p:cNvSpPr txBox="1"/>
            <p:nvPr/>
          </p:nvSpPr>
          <p:spPr>
            <a:xfrm>
              <a:off x="3066511" y="2660413"/>
              <a:ext cx="5856090" cy="30450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Key Insight: try03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은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한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번에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수렴시킨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것이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아니라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, wfn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을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단계별로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물려받아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점진적으로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848AADA-9C5C-4789-A313-12588EE74260}"/>
                </a:ext>
              </a:extLst>
            </p:cNvPr>
            <p:cNvSpPr txBox="1"/>
            <p:nvPr/>
          </p:nvSpPr>
          <p:spPr>
            <a:xfrm>
              <a:off x="1686691" y="2889013"/>
              <a:ext cx="4929556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• Step 1 → 2: MOF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골격의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전자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분포를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먼저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확보한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뒤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이온을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추가하여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wfn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초기값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품질을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높임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16BC93E-7C42-44AC-AE0B-079AFFAB3ABE}"/>
                </a:ext>
              </a:extLst>
            </p:cNvPr>
            <p:cNvSpPr txBox="1"/>
            <p:nvPr/>
          </p:nvSpPr>
          <p:spPr>
            <a:xfrm>
              <a:off x="1622010" y="3060463"/>
              <a:ext cx="5830443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• Step 2: ALPHA 0.15→0.13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하향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, T 300→500 K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상향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— EMIM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Cambria Math"/>
                  <a:ea typeface="맑은 고딕"/>
                  <a:cs typeface="Arial"/>
                  <a:sym typeface="Cambria Math"/>
                  <a:rtl val="0"/>
                </a:rPr>
                <a:t>⁺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단독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삽입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시에도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SCF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불안정성이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존재했음을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시사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5F1176C-DCB2-4F16-80CE-FA73CA4A0FE8}"/>
                </a:ext>
              </a:extLst>
            </p:cNvPr>
            <p:cNvSpPr txBox="1"/>
            <p:nvPr/>
          </p:nvSpPr>
          <p:spPr>
            <a:xfrm>
              <a:off x="1657068" y="3231913"/>
              <a:ext cx="5474576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• Step 3: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동일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SCF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설정으로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9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초기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배치를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비교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→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에너지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차이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최대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44 kJ/mol →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초기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구조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의존성이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큼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9095D7-ACA3-4A4F-95A3-8C94F9B10943}"/>
                </a:ext>
              </a:extLst>
            </p:cNvPr>
            <p:cNvSpPr txBox="1"/>
            <p:nvPr/>
          </p:nvSpPr>
          <p:spPr>
            <a:xfrm>
              <a:off x="1621233" y="3403363"/>
              <a:ext cx="5498621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• Step 4~5: SCF_GUESS RESTART +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이전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wfn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재활용으로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ALPHA 0.15 / 300 K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에서도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안정적으로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6154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try04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적용 전략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try03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교훈 기반 로드맵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3880198"/>
            <a:ext cx="11258550" cy="2834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+mn-ea"/>
              </a:rPr>
              <a:t>현재 </a:t>
            </a:r>
            <a:r>
              <a:rPr lang="en-US" altLang="ko-KR" sz="1000" dirty="0">
                <a:latin typeface="+mn-ea"/>
              </a:rPr>
              <a:t>OT method</a:t>
            </a:r>
            <a:r>
              <a:rPr lang="ko-KR" altLang="en-US" sz="1000" dirty="0">
                <a:latin typeface="+mn-ea"/>
              </a:rPr>
              <a:t>가 </a:t>
            </a:r>
            <a:r>
              <a:rPr lang="en-US" altLang="ko-KR" sz="1000" dirty="0">
                <a:latin typeface="+mn-ea"/>
              </a:rPr>
              <a:t>step 259</a:t>
            </a:r>
            <a:r>
              <a:rPr lang="ko-KR" altLang="en-US" sz="1000" dirty="0">
                <a:latin typeface="+mn-ea"/>
              </a:rPr>
              <a:t>에서 </a:t>
            </a:r>
            <a:r>
              <a:rPr lang="en-US" altLang="ko-KR" sz="1000" dirty="0">
                <a:latin typeface="+mn-ea"/>
              </a:rPr>
              <a:t>convergence 3×10⁻⁵ </a:t>
            </a:r>
            <a:r>
              <a:rPr lang="ko-KR" altLang="en-US" sz="1000" dirty="0">
                <a:latin typeface="+mn-ea"/>
              </a:rPr>
              <a:t>수준까지 도달했으며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에너지가 </a:t>
            </a:r>
            <a:r>
              <a:rPr lang="en-US" altLang="ko-KR" sz="1000" dirty="0">
                <a:latin typeface="+mn-ea"/>
              </a:rPr>
              <a:t>-1886.226 Ha</a:t>
            </a:r>
            <a:r>
              <a:rPr lang="ko-KR" altLang="en-US" sz="1000" dirty="0">
                <a:latin typeface="+mn-ea"/>
              </a:rPr>
              <a:t>로 단조 감소 추세를 보이고 있어 </a:t>
            </a:r>
            <a:r>
              <a:rPr lang="en-US" altLang="ko-KR" sz="1000" dirty="0">
                <a:latin typeface="+mn-ea"/>
              </a:rPr>
              <a:t>OUTER_SCF </a:t>
            </a:r>
            <a:r>
              <a:rPr lang="ko-KR" altLang="en-US" sz="1000" dirty="0">
                <a:latin typeface="+mn-ea"/>
              </a:rPr>
              <a:t>반복을 통한 수렴 가능성이 있습니다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Plan A(OT </a:t>
            </a:r>
            <a:r>
              <a:rPr lang="ko-KR" altLang="en-US" sz="1000" dirty="0">
                <a:latin typeface="+mn-ea"/>
              </a:rPr>
              <a:t>수렴 성공 시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는 </a:t>
            </a:r>
            <a:r>
              <a:rPr lang="en-US" altLang="ko-KR" sz="1000" dirty="0">
                <a:latin typeface="+mn-ea"/>
              </a:rPr>
              <a:t>OT</a:t>
            </a:r>
            <a:r>
              <a:rPr lang="ko-KR" altLang="en-US" sz="1000" dirty="0">
                <a:latin typeface="+mn-ea"/>
              </a:rPr>
              <a:t>로 확보한 </a:t>
            </a:r>
            <a:r>
              <a:rPr lang="en-US" altLang="ko-KR" sz="1000" dirty="0">
                <a:latin typeface="+mn-ea"/>
              </a:rPr>
              <a:t>wavefunction</a:t>
            </a:r>
            <a:r>
              <a:rPr lang="ko-KR" altLang="en-US" sz="1000" dirty="0">
                <a:latin typeface="+mn-ea"/>
              </a:rPr>
              <a:t>을 </a:t>
            </a:r>
            <a:r>
              <a:rPr lang="en-US" altLang="ko-KR" sz="1000" dirty="0">
                <a:latin typeface="+mn-ea"/>
              </a:rPr>
              <a:t>SCF_GUESS RESTART</a:t>
            </a:r>
            <a:r>
              <a:rPr lang="ko-KR" altLang="en-US" sz="1000" dirty="0">
                <a:latin typeface="+mn-ea"/>
              </a:rPr>
              <a:t>로 전환하고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원래 </a:t>
            </a:r>
            <a:r>
              <a:rPr lang="en-US" altLang="ko-KR" sz="1000" dirty="0" err="1">
                <a:latin typeface="+mn-ea"/>
              </a:rPr>
              <a:t>Broyden</a:t>
            </a:r>
            <a:r>
              <a:rPr lang="en-US" altLang="ko-KR" sz="1000" dirty="0">
                <a:latin typeface="+mn-ea"/>
              </a:rPr>
              <a:t> mixing(ALPHA 0.15, 300 K)</a:t>
            </a:r>
            <a:r>
              <a:rPr lang="ko-KR" altLang="en-US" sz="1000" dirty="0">
                <a:latin typeface="+mn-ea"/>
              </a:rPr>
              <a:t>으로 </a:t>
            </a:r>
            <a:r>
              <a:rPr lang="en-US" altLang="ko-KR" sz="1000" dirty="0">
                <a:latin typeface="+mn-ea"/>
              </a:rPr>
              <a:t>production GEO_OPT</a:t>
            </a:r>
            <a:r>
              <a:rPr lang="ko-KR" altLang="en-US" sz="1000" dirty="0">
                <a:latin typeface="+mn-ea"/>
              </a:rPr>
              <a:t>를 실행하는 가장 빠른 경로입니다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Plan B(OT </a:t>
            </a:r>
            <a:r>
              <a:rPr lang="ko-KR" altLang="en-US" sz="1000" dirty="0">
                <a:latin typeface="+mn-ea"/>
              </a:rPr>
              <a:t>실패 시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는 </a:t>
            </a:r>
            <a:r>
              <a:rPr lang="en-US" altLang="ko-KR" sz="1000" dirty="0">
                <a:latin typeface="+mn-ea"/>
              </a:rPr>
              <a:t>try03</a:t>
            </a:r>
            <a:r>
              <a:rPr lang="ko-KR" altLang="en-US" sz="1000" dirty="0">
                <a:latin typeface="+mn-ea"/>
              </a:rPr>
              <a:t>에서 검증된 단계별 </a:t>
            </a:r>
            <a:r>
              <a:rPr lang="en-US" altLang="ko-KR" sz="1000" dirty="0">
                <a:latin typeface="+mn-ea"/>
              </a:rPr>
              <a:t>bootstrap </a:t>
            </a:r>
            <a:r>
              <a:rPr lang="ko-KR" altLang="en-US" sz="1000" dirty="0">
                <a:latin typeface="+mn-ea"/>
              </a:rPr>
              <a:t>전략을 따르는 것으로</a:t>
            </a:r>
            <a:r>
              <a:rPr lang="en-US" altLang="ko-KR" sz="1000" dirty="0">
                <a:latin typeface="+mn-ea"/>
              </a:rPr>
              <a:t>, MOF </a:t>
            </a:r>
            <a:r>
              <a:rPr lang="ko-KR" altLang="en-US" sz="1000" dirty="0">
                <a:latin typeface="+mn-ea"/>
              </a:rPr>
              <a:t>골격만</a:t>
            </a:r>
            <a:r>
              <a:rPr lang="en-US" altLang="ko-KR" sz="1000" dirty="0">
                <a:latin typeface="+mn-ea"/>
              </a:rPr>
              <a:t>(102 atoms) ENERGY </a:t>
            </a:r>
            <a:r>
              <a:rPr lang="ko-KR" altLang="en-US" sz="1000" dirty="0" err="1">
                <a:latin typeface="+mn-ea"/>
              </a:rPr>
              <a:t>런을</a:t>
            </a:r>
            <a:r>
              <a:rPr lang="ko-KR" altLang="en-US" sz="1000" dirty="0">
                <a:latin typeface="+mn-ea"/>
              </a:rPr>
              <a:t> 먼저 돌려 </a:t>
            </a:r>
            <a:r>
              <a:rPr lang="en-US" altLang="ko-KR" sz="1000" dirty="0" err="1">
                <a:latin typeface="+mn-ea"/>
              </a:rPr>
              <a:t>wfn</a:t>
            </a:r>
            <a:r>
              <a:rPr lang="en-US" altLang="ko-KR" sz="1000" dirty="0">
                <a:latin typeface="+mn-ea"/>
              </a:rPr>
              <a:t>₁</a:t>
            </a:r>
            <a:r>
              <a:rPr lang="ko-KR" altLang="en-US" sz="1000" dirty="0">
                <a:latin typeface="+mn-ea"/>
              </a:rPr>
              <a:t>을 확보한 뒤</a:t>
            </a:r>
            <a:r>
              <a:rPr lang="en-US" altLang="ko-KR" sz="1000" dirty="0">
                <a:latin typeface="+mn-ea"/>
              </a:rPr>
              <a:t>, try03</a:t>
            </a:r>
            <a:r>
              <a:rPr lang="ko-KR" altLang="en-US" sz="1000" dirty="0">
                <a:latin typeface="+mn-ea"/>
              </a:rPr>
              <a:t>의 수렴된 </a:t>
            </a:r>
            <a:r>
              <a:rPr lang="en-US" altLang="ko-KR" sz="1000" dirty="0">
                <a:latin typeface="+mn-ea"/>
              </a:rPr>
              <a:t>158-atom </a:t>
            </a:r>
            <a:r>
              <a:rPr lang="en-US" altLang="ko-KR" sz="1000" dirty="0" err="1">
                <a:latin typeface="+mn-ea"/>
              </a:rPr>
              <a:t>wfn</a:t>
            </a:r>
            <a:r>
              <a:rPr lang="ko-KR" altLang="en-US" sz="1000" dirty="0">
                <a:latin typeface="+mn-ea"/>
              </a:rPr>
              <a:t>을 초기값으로 활용하여 </a:t>
            </a:r>
            <a:r>
              <a:rPr lang="en-US" altLang="ko-KR" sz="1000" dirty="0">
                <a:latin typeface="+mn-ea"/>
              </a:rPr>
              <a:t>192-atom </a:t>
            </a:r>
            <a:r>
              <a:rPr lang="ko-KR" altLang="en-US" sz="1000" dirty="0">
                <a:latin typeface="+mn-ea"/>
              </a:rPr>
              <a:t>시스템의 </a:t>
            </a:r>
            <a:r>
              <a:rPr lang="en-US" altLang="ko-KR" sz="1000" dirty="0">
                <a:latin typeface="+mn-ea"/>
              </a:rPr>
              <a:t>SCF</a:t>
            </a:r>
            <a:r>
              <a:rPr lang="ko-KR" altLang="en-US" sz="1000" dirty="0">
                <a:latin typeface="+mn-ea"/>
              </a:rPr>
              <a:t>를 시작합니다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Plan B</a:t>
            </a:r>
            <a:r>
              <a:rPr lang="ko-KR" altLang="en-US" sz="1000" dirty="0">
                <a:latin typeface="+mn-ea"/>
              </a:rPr>
              <a:t>의 핵심은 </a:t>
            </a:r>
            <a:r>
              <a:rPr lang="en-US" altLang="ko-KR" sz="1000" dirty="0">
                <a:latin typeface="+mn-ea"/>
              </a:rPr>
              <a:t>try03</a:t>
            </a:r>
            <a:r>
              <a:rPr lang="ko-KR" altLang="en-US" sz="1000" dirty="0">
                <a:latin typeface="+mn-ea"/>
              </a:rPr>
              <a:t>의 </a:t>
            </a:r>
            <a:r>
              <a:rPr lang="en-US" altLang="ko-KR" sz="1000" dirty="0" err="1">
                <a:latin typeface="+mn-ea"/>
              </a:rPr>
              <a:t>BAMOF_EMIM_TFSI_Cluster-RESTART.wfn</a:t>
            </a:r>
            <a:r>
              <a:rPr lang="en-US" altLang="ko-KR" sz="1000" dirty="0">
                <a:latin typeface="+mn-ea"/>
              </a:rPr>
              <a:t> </a:t>
            </a:r>
            <a:r>
              <a:rPr lang="ko-KR" altLang="en-US" sz="1000" dirty="0">
                <a:latin typeface="+mn-ea"/>
              </a:rPr>
              <a:t>파일을 직접 가져와서 </a:t>
            </a:r>
            <a:r>
              <a:rPr lang="en-US" altLang="ko-KR" sz="1000" dirty="0">
                <a:latin typeface="+mn-ea"/>
              </a:rPr>
              <a:t>try04</a:t>
            </a:r>
            <a:r>
              <a:rPr lang="ko-KR" altLang="en-US" sz="1000" dirty="0">
                <a:latin typeface="+mn-ea"/>
              </a:rPr>
              <a:t>의 초기 </a:t>
            </a:r>
            <a:r>
              <a:rPr lang="en-US" altLang="ko-KR" sz="1000" dirty="0">
                <a:latin typeface="+mn-ea"/>
              </a:rPr>
              <a:t>wavefunction</a:t>
            </a:r>
            <a:r>
              <a:rPr lang="ko-KR" altLang="en-US" sz="1000" dirty="0">
                <a:latin typeface="+mn-ea"/>
              </a:rPr>
              <a:t>으로 사용하는 것인데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원자 수가 다르므로</a:t>
            </a:r>
            <a:r>
              <a:rPr lang="en-US" altLang="ko-KR" sz="1000" dirty="0">
                <a:latin typeface="+mn-ea"/>
              </a:rPr>
              <a:t>(158 vs 192) </a:t>
            </a:r>
            <a:r>
              <a:rPr lang="ko-KR" altLang="en-US" sz="1000" dirty="0">
                <a:latin typeface="+mn-ea"/>
              </a:rPr>
              <a:t>추가된 </a:t>
            </a:r>
            <a:r>
              <a:rPr lang="en-US" altLang="ko-KR" sz="1000" dirty="0">
                <a:latin typeface="+mn-ea"/>
              </a:rPr>
              <a:t>34</a:t>
            </a:r>
            <a:r>
              <a:rPr lang="ko-KR" altLang="en-US" sz="1000" dirty="0">
                <a:latin typeface="+mn-ea"/>
              </a:rPr>
              <a:t>개 원자에 대해 </a:t>
            </a:r>
            <a:r>
              <a:rPr lang="en-US" altLang="ko-KR" sz="1000" dirty="0">
                <a:latin typeface="+mn-ea"/>
              </a:rPr>
              <a:t>ATOMIC guess</a:t>
            </a:r>
            <a:r>
              <a:rPr lang="ko-KR" altLang="en-US" sz="1000" dirty="0">
                <a:latin typeface="+mn-ea"/>
              </a:rPr>
              <a:t>를 보충하는 방식으로 처리됩니다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Plan C(</a:t>
            </a:r>
            <a:r>
              <a:rPr lang="ko-KR" altLang="en-US" sz="1000" dirty="0">
                <a:latin typeface="+mn-ea"/>
              </a:rPr>
              <a:t>하이브리드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는 현재 </a:t>
            </a:r>
            <a:r>
              <a:rPr lang="en-US" altLang="ko-KR" sz="1000" dirty="0">
                <a:latin typeface="+mn-ea"/>
              </a:rPr>
              <a:t>OT </a:t>
            </a:r>
            <a:r>
              <a:rPr lang="ko-KR" altLang="en-US" sz="1000" dirty="0">
                <a:latin typeface="+mn-ea"/>
              </a:rPr>
              <a:t>계산의 </a:t>
            </a:r>
            <a:r>
              <a:rPr lang="en-US" altLang="ko-KR" sz="1000" dirty="0">
                <a:latin typeface="+mn-ea"/>
              </a:rPr>
              <a:t>EPS_SCF</a:t>
            </a:r>
            <a:r>
              <a:rPr lang="ko-KR" altLang="en-US" sz="1000" dirty="0">
                <a:latin typeface="+mn-ea"/>
              </a:rPr>
              <a:t>를 </a:t>
            </a:r>
            <a:r>
              <a:rPr lang="en-US" altLang="ko-KR" sz="1000" dirty="0">
                <a:latin typeface="+mn-ea"/>
              </a:rPr>
              <a:t>1×10⁻³</a:t>
            </a:r>
            <a:r>
              <a:rPr lang="ko-KR" altLang="en-US" sz="1000" dirty="0">
                <a:latin typeface="+mn-ea"/>
              </a:rPr>
              <a:t>으로 완화하여 빠르게 대략적인 </a:t>
            </a:r>
            <a:r>
              <a:rPr lang="en-US" altLang="ko-KR" sz="1000" dirty="0" err="1">
                <a:latin typeface="+mn-ea"/>
              </a:rPr>
              <a:t>wfn</a:t>
            </a:r>
            <a:r>
              <a:rPr lang="ko-KR" altLang="en-US" sz="1000" dirty="0">
                <a:latin typeface="+mn-ea"/>
              </a:rPr>
              <a:t>을 확보한 뒤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그 </a:t>
            </a:r>
            <a:r>
              <a:rPr lang="en-US" altLang="ko-KR" sz="1000" dirty="0" err="1">
                <a:latin typeface="+mn-ea"/>
              </a:rPr>
              <a:t>wfn</a:t>
            </a:r>
            <a:r>
              <a:rPr lang="ko-KR" altLang="en-US" sz="1000" dirty="0">
                <a:latin typeface="+mn-ea"/>
              </a:rPr>
              <a:t>을 </a:t>
            </a:r>
            <a:r>
              <a:rPr lang="en-US" altLang="ko-KR" sz="1000" dirty="0" err="1">
                <a:latin typeface="+mn-ea"/>
              </a:rPr>
              <a:t>Broyden</a:t>
            </a:r>
            <a:r>
              <a:rPr lang="en-US" altLang="ko-KR" sz="1000" dirty="0">
                <a:latin typeface="+mn-ea"/>
              </a:rPr>
              <a:t> mixing(ALPHA 0.13, T=500 K)</a:t>
            </a:r>
            <a:r>
              <a:rPr lang="ko-KR" altLang="en-US" sz="1000" dirty="0">
                <a:latin typeface="+mn-ea"/>
              </a:rPr>
              <a:t>의 </a:t>
            </a:r>
            <a:r>
              <a:rPr lang="en-US" altLang="ko-KR" sz="1000" dirty="0">
                <a:latin typeface="+mn-ea"/>
              </a:rPr>
              <a:t>RESTART </a:t>
            </a:r>
            <a:r>
              <a:rPr lang="ko-KR" altLang="en-US" sz="1000" dirty="0">
                <a:latin typeface="+mn-ea"/>
              </a:rPr>
              <a:t>초기값으로 전환하는 전략입니다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try03 </a:t>
            </a:r>
            <a:r>
              <a:rPr lang="ko-KR" altLang="en-US" sz="1000" dirty="0">
                <a:latin typeface="+mn-ea"/>
              </a:rPr>
              <a:t>분석에서 발견한 가장 중요한 교훈은 </a:t>
            </a:r>
            <a:r>
              <a:rPr lang="en-US" altLang="ko-KR" sz="1000" dirty="0">
                <a:latin typeface="+mn-ea"/>
              </a:rPr>
              <a:t>ALPHA 0.13</a:t>
            </a:r>
            <a:r>
              <a:rPr lang="ko-KR" altLang="en-US" sz="1000" dirty="0">
                <a:latin typeface="+mn-ea"/>
              </a:rPr>
              <a:t>과 </a:t>
            </a:r>
            <a:r>
              <a:rPr lang="en-US" altLang="ko-KR" sz="1000" dirty="0">
                <a:latin typeface="+mn-ea"/>
              </a:rPr>
              <a:t>ELECTRONIC_TEMPERATURE 500 K </a:t>
            </a:r>
            <a:r>
              <a:rPr lang="ko-KR" altLang="en-US" sz="1000" dirty="0">
                <a:latin typeface="+mn-ea"/>
              </a:rPr>
              <a:t>조합이 이 </a:t>
            </a:r>
            <a:r>
              <a:rPr lang="en-US" altLang="ko-KR" sz="1000" dirty="0" err="1">
                <a:latin typeface="+mn-ea"/>
              </a:rPr>
              <a:t>Ti</a:t>
            </a:r>
            <a:r>
              <a:rPr lang="en-US" altLang="ko-KR" sz="1000" dirty="0">
                <a:latin typeface="+mn-ea"/>
              </a:rPr>
              <a:t>-MOF </a:t>
            </a:r>
            <a:r>
              <a:rPr lang="ko-KR" altLang="en-US" sz="1000" dirty="0">
                <a:latin typeface="+mn-ea"/>
              </a:rPr>
              <a:t>시스템에서 경험적으로 검증된 </a:t>
            </a:r>
            <a:r>
              <a:rPr lang="en-US" altLang="ko-KR" sz="1000" dirty="0">
                <a:latin typeface="+mn-ea"/>
              </a:rPr>
              <a:t>SCF </a:t>
            </a:r>
            <a:r>
              <a:rPr lang="ko-KR" altLang="en-US" sz="1000" dirty="0">
                <a:latin typeface="+mn-ea"/>
              </a:rPr>
              <a:t>설정이라는 점이며</a:t>
            </a:r>
            <a:r>
              <a:rPr lang="en-US" altLang="ko-KR" sz="1000" dirty="0">
                <a:latin typeface="+mn-ea"/>
              </a:rPr>
              <a:t>, try04</a:t>
            </a:r>
            <a:r>
              <a:rPr lang="ko-KR" altLang="en-US" sz="1000" dirty="0">
                <a:latin typeface="+mn-ea"/>
              </a:rPr>
              <a:t>의 어떤 </a:t>
            </a:r>
            <a:r>
              <a:rPr lang="en-US" altLang="ko-KR" sz="1000" dirty="0">
                <a:latin typeface="+mn-ea"/>
              </a:rPr>
              <a:t>Plan</a:t>
            </a:r>
            <a:r>
              <a:rPr lang="ko-KR" altLang="en-US" sz="1000" dirty="0">
                <a:latin typeface="+mn-ea"/>
              </a:rPr>
              <a:t>에서든 이 값들을 기본으로 사용해야 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+mn-ea"/>
              </a:rPr>
              <a:t>세 가지 </a:t>
            </a:r>
            <a:r>
              <a:rPr lang="en-US" altLang="ko-KR" sz="1000" dirty="0">
                <a:latin typeface="+mn-ea"/>
              </a:rPr>
              <a:t>Plan </a:t>
            </a:r>
            <a:r>
              <a:rPr lang="ko-KR" altLang="en-US" sz="1000" dirty="0">
                <a:latin typeface="+mn-ea"/>
              </a:rPr>
              <a:t>모두 최종적으로는 </a:t>
            </a:r>
            <a:r>
              <a:rPr lang="en-US" altLang="ko-KR" sz="1000" dirty="0">
                <a:latin typeface="+mn-ea"/>
              </a:rPr>
              <a:t>SCF_GUESS RESTART + </a:t>
            </a:r>
            <a:r>
              <a:rPr lang="en-US" altLang="ko-KR" sz="1000" dirty="0" err="1">
                <a:latin typeface="+mn-ea"/>
              </a:rPr>
              <a:t>Broyden</a:t>
            </a:r>
            <a:r>
              <a:rPr lang="en-US" altLang="ko-KR" sz="1000" dirty="0">
                <a:latin typeface="+mn-ea"/>
              </a:rPr>
              <a:t>(α=0.15, 300 K)</a:t>
            </a:r>
            <a:r>
              <a:rPr lang="ko-KR" altLang="en-US" sz="1000" dirty="0">
                <a:latin typeface="+mn-ea"/>
              </a:rPr>
              <a:t>로 수렴시키는 것을 목표로 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이는 </a:t>
            </a:r>
            <a:r>
              <a:rPr lang="en-US" altLang="ko-KR" sz="1000" dirty="0">
                <a:latin typeface="+mn-ea"/>
              </a:rPr>
              <a:t>try03 </a:t>
            </a:r>
            <a:r>
              <a:rPr lang="ko-KR" altLang="en-US" sz="1000" dirty="0">
                <a:latin typeface="+mn-ea"/>
              </a:rPr>
              <a:t>최종 계산과 동일한 조건이므로 에너지 비교의 일관성을 보장합니다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62F4A-343B-4C6E-B92E-D5E25CB84A35}"/>
              </a:ext>
            </a:extLst>
          </p:cNvPr>
          <p:cNvSpPr txBox="1"/>
          <p:nvPr/>
        </p:nvSpPr>
        <p:spPr>
          <a:xfrm>
            <a:off x="3659326" y="784980"/>
            <a:ext cx="4324710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spc="0" baseline="0" dirty="0">
                <a:solidFill>
                  <a:srgbClr val="1E293B"/>
                </a:solidFill>
                <a:latin typeface="Arial"/>
                <a:ea typeface="+mn-ea"/>
                <a:cs typeface="Arial"/>
                <a:sym typeface="Arial"/>
                <a:rtl val="0"/>
              </a:rPr>
              <a:t>try04 Action Plan: 3-Track Convergence Strategy</a:t>
            </a: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715210AA-1D22-48FD-ABCF-8A9B88545FCF}"/>
              </a:ext>
            </a:extLst>
          </p:cNvPr>
          <p:cNvSpPr/>
          <p:nvPr/>
        </p:nvSpPr>
        <p:spPr>
          <a:xfrm>
            <a:off x="1002030" y="1155503"/>
            <a:ext cx="2095500" cy="838200"/>
          </a:xfrm>
          <a:custGeom>
            <a:avLst/>
            <a:gdLst>
              <a:gd name="connsiteX0" fmla="*/ 1990725 w 2095500"/>
              <a:gd name="connsiteY0" fmla="*/ 0 h 838200"/>
              <a:gd name="connsiteX1" fmla="*/ 2095500 w 2095500"/>
              <a:gd name="connsiteY1" fmla="*/ 0 h 838200"/>
              <a:gd name="connsiteX2" fmla="*/ 2095500 w 2095500"/>
              <a:gd name="connsiteY2" fmla="*/ 838200 h 838200"/>
              <a:gd name="connsiteX3" fmla="*/ 1990725 w 2095500"/>
              <a:gd name="connsiteY3" fmla="*/ 838200 h 838200"/>
              <a:gd name="connsiteX4" fmla="*/ 104775 w 2095500"/>
              <a:gd name="connsiteY4" fmla="*/ 838200 h 838200"/>
              <a:gd name="connsiteX5" fmla="*/ 0 w 2095500"/>
              <a:gd name="connsiteY5" fmla="*/ 838200 h 838200"/>
              <a:gd name="connsiteX6" fmla="*/ 0 w 2095500"/>
              <a:gd name="connsiteY6" fmla="*/ 0 h 838200"/>
              <a:gd name="connsiteX7" fmla="*/ 104775 w 2095500"/>
              <a:gd name="connsiteY7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838200">
                <a:moveTo>
                  <a:pt x="1990725" y="0"/>
                </a:moveTo>
                <a:cubicBezTo>
                  <a:pt x="2048591" y="0"/>
                  <a:pt x="2095500" y="0"/>
                  <a:pt x="2095500" y="0"/>
                </a:cubicBezTo>
                <a:lnTo>
                  <a:pt x="2095500" y="838200"/>
                </a:lnTo>
                <a:cubicBezTo>
                  <a:pt x="2095500" y="838200"/>
                  <a:pt x="2048591" y="838200"/>
                  <a:pt x="1990725" y="838200"/>
                </a:cubicBezTo>
                <a:lnTo>
                  <a:pt x="104775" y="838200"/>
                </a:lnTo>
                <a:cubicBezTo>
                  <a:pt x="46909" y="838200"/>
                  <a:pt x="0" y="838200"/>
                  <a:pt x="0" y="838200"/>
                </a:cubicBezTo>
                <a:lnTo>
                  <a:pt x="0" y="0"/>
                </a:lnTo>
                <a:cubicBezTo>
                  <a:pt x="0" y="0"/>
                  <a:pt x="46909" y="0"/>
                  <a:pt x="104775" y="0"/>
                </a:cubicBezTo>
                <a:close/>
              </a:path>
            </a:pathLst>
          </a:custGeom>
          <a:solidFill>
            <a:srgbClr val="F59E0B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25F9F-2B24-4A23-918D-C47662F642C9}"/>
              </a:ext>
            </a:extLst>
          </p:cNvPr>
          <p:cNvSpPr txBox="1"/>
          <p:nvPr/>
        </p:nvSpPr>
        <p:spPr>
          <a:xfrm>
            <a:off x="1710583" y="1183125"/>
            <a:ext cx="678391" cy="274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b="1" spc="0" baseline="0" dirty="0">
                <a:solidFill>
                  <a:srgbClr val="FFFFFF"/>
                </a:solidFill>
                <a:latin typeface="맑은 고딕"/>
                <a:ea typeface="맑은 고딕"/>
                <a:sym typeface="맑은 고딕"/>
                <a:rtl val="0"/>
              </a:rPr>
              <a:t>현재</a:t>
            </a:r>
            <a:r>
              <a:rPr lang="ko-KR" altLang="en-US" sz="90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상태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F9206-A79B-4169-BE21-9497AF989817}"/>
              </a:ext>
            </a:extLst>
          </p:cNvPr>
          <p:cNvSpPr txBox="1"/>
          <p:nvPr/>
        </p:nvSpPr>
        <p:spPr>
          <a:xfrm>
            <a:off x="1312237" y="1371720"/>
            <a:ext cx="1475083" cy="253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OT DIIS </a:t>
            </a:r>
            <a:r>
              <a:rPr lang="ko-KR" altLang="en-US" sz="800" spc="0" baseline="0" dirty="0">
                <a:solidFill>
                  <a:srgbClr val="FEF3C7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실행</a:t>
            </a: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800" spc="0" baseline="0" dirty="0">
                <a:solidFill>
                  <a:srgbClr val="FEF3C7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중</a:t>
            </a: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(step ~259)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D28DB8-E81D-4FBF-AEC2-E9363D91C9E8}"/>
              </a:ext>
            </a:extLst>
          </p:cNvPr>
          <p:cNvSpPr txBox="1"/>
          <p:nvPr/>
        </p:nvSpPr>
        <p:spPr>
          <a:xfrm>
            <a:off x="1625625" y="1528883"/>
            <a:ext cx="848309" cy="254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Conv ≈ 3×10</a:t>
            </a:r>
            <a:r>
              <a:rPr lang="ko-KR" altLang="en-US" sz="800" spc="0" baseline="0" dirty="0">
                <a:solidFill>
                  <a:srgbClr val="FEF3C7"/>
                </a:solidFill>
                <a:latin typeface="Cambria Math"/>
                <a:ea typeface="+mn-ea"/>
                <a:cs typeface="Arial"/>
                <a:sym typeface="Cambria Math"/>
                <a:rtl val="0"/>
              </a:rPr>
              <a:t>⁻</a:t>
            </a: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BB36E6-AB34-4984-B76E-B58A5A7C966E}"/>
              </a:ext>
            </a:extLst>
          </p:cNvPr>
          <p:cNvSpPr txBox="1"/>
          <p:nvPr/>
        </p:nvSpPr>
        <p:spPr>
          <a:xfrm>
            <a:off x="1552688" y="1686045"/>
            <a:ext cx="994183" cy="254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E ≈ -1886.226 Ha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4FE2751-316F-4D3F-96C1-782EE240DF37}"/>
              </a:ext>
            </a:extLst>
          </p:cNvPr>
          <p:cNvSpPr/>
          <p:nvPr/>
        </p:nvSpPr>
        <p:spPr>
          <a:xfrm>
            <a:off x="3149917" y="1270755"/>
            <a:ext cx="366712" cy="157162"/>
          </a:xfrm>
          <a:custGeom>
            <a:avLst/>
            <a:gdLst>
              <a:gd name="connsiteX0" fmla="*/ 0 w 366712"/>
              <a:gd name="connsiteY0" fmla="*/ 157163 h 157162"/>
              <a:gd name="connsiteX1" fmla="*/ 366713 w 366712"/>
              <a:gd name="connsiteY1" fmla="*/ 0 h 15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712" h="157162">
                <a:moveTo>
                  <a:pt x="0" y="157163"/>
                </a:moveTo>
                <a:lnTo>
                  <a:pt x="366713" y="0"/>
                </a:lnTo>
              </a:path>
            </a:pathLst>
          </a:custGeom>
          <a:ln w="20955" cap="flat">
            <a:solidFill>
              <a:srgbClr val="94A3B8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B455329F-B0BB-44A9-88C0-2E11B8CA560B}"/>
              </a:ext>
            </a:extLst>
          </p:cNvPr>
          <p:cNvSpPr/>
          <p:nvPr/>
        </p:nvSpPr>
        <p:spPr>
          <a:xfrm>
            <a:off x="3149917" y="1574603"/>
            <a:ext cx="366712" cy="712470"/>
          </a:xfrm>
          <a:custGeom>
            <a:avLst/>
            <a:gdLst>
              <a:gd name="connsiteX0" fmla="*/ 0 w 366712"/>
              <a:gd name="connsiteY0" fmla="*/ 0 h 712470"/>
              <a:gd name="connsiteX1" fmla="*/ 366713 w 366712"/>
              <a:gd name="connsiteY1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712" h="712470">
                <a:moveTo>
                  <a:pt x="0" y="0"/>
                </a:moveTo>
                <a:lnTo>
                  <a:pt x="366713" y="712470"/>
                </a:lnTo>
              </a:path>
            </a:pathLst>
          </a:custGeom>
          <a:ln w="20955" cap="flat">
            <a:solidFill>
              <a:srgbClr val="94A3B8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CD2E1F8-ECA2-4F60-8144-8E791139A90C}"/>
              </a:ext>
            </a:extLst>
          </p:cNvPr>
          <p:cNvSpPr/>
          <p:nvPr/>
        </p:nvSpPr>
        <p:spPr>
          <a:xfrm>
            <a:off x="3149917" y="1742243"/>
            <a:ext cx="366712" cy="1519237"/>
          </a:xfrm>
          <a:custGeom>
            <a:avLst/>
            <a:gdLst>
              <a:gd name="connsiteX0" fmla="*/ 0 w 366712"/>
              <a:gd name="connsiteY0" fmla="*/ 0 h 1519237"/>
              <a:gd name="connsiteX1" fmla="*/ 366713 w 366712"/>
              <a:gd name="connsiteY1" fmla="*/ 1519238 h 1519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712" h="1519237">
                <a:moveTo>
                  <a:pt x="0" y="0"/>
                </a:moveTo>
                <a:lnTo>
                  <a:pt x="366713" y="1519238"/>
                </a:lnTo>
              </a:path>
            </a:pathLst>
          </a:custGeom>
          <a:ln w="20955" cap="flat">
            <a:solidFill>
              <a:srgbClr val="94A3B8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7818A-7D17-4F17-97BF-520E4B6435F5}"/>
              </a:ext>
            </a:extLst>
          </p:cNvPr>
          <p:cNvSpPr txBox="1"/>
          <p:nvPr/>
        </p:nvSpPr>
        <p:spPr>
          <a:xfrm>
            <a:off x="2685638" y="871604"/>
            <a:ext cx="896399" cy="294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059669"/>
                </a:solidFill>
                <a:latin typeface="맑은 고딕"/>
                <a:ea typeface="맑은 고딕"/>
                <a:sym typeface="맑은 고딕"/>
                <a:rtl val="0"/>
              </a:rPr>
              <a:t>수렴</a:t>
            </a:r>
            <a:r>
              <a:rPr lang="ko-KR" altLang="en-US" sz="1000" b="1" spc="0" baseline="0" dirty="0">
                <a:solidFill>
                  <a:srgbClr val="059669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성공</a:t>
            </a:r>
            <a:r>
              <a:rPr lang="ko-KR" altLang="en-US" sz="1000" b="1" spc="0" baseline="0" dirty="0">
                <a:solidFill>
                  <a:srgbClr val="059669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08F4C8-E8AB-42BB-BFEE-8E8BDD856A08}"/>
              </a:ext>
            </a:extLst>
          </p:cNvPr>
          <p:cNvSpPr txBox="1"/>
          <p:nvPr/>
        </p:nvSpPr>
        <p:spPr>
          <a:xfrm>
            <a:off x="2685638" y="1950787"/>
            <a:ext cx="896399" cy="294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4338CA"/>
                </a:solidFill>
                <a:latin typeface="맑은 고딕"/>
                <a:ea typeface="맑은 고딕"/>
                <a:sym typeface="맑은 고딕"/>
                <a:rtl val="0"/>
              </a:rPr>
              <a:t>수렴</a:t>
            </a:r>
            <a:r>
              <a:rPr lang="ko-KR" altLang="en-US" sz="1000" b="1" spc="0" baseline="0" dirty="0">
                <a:solidFill>
                  <a:srgbClr val="4338CA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4338CA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실패</a:t>
            </a:r>
            <a:r>
              <a:rPr lang="ko-KR" altLang="en-US" sz="1000" b="1" spc="0" baseline="0" dirty="0">
                <a:solidFill>
                  <a:srgbClr val="4338CA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4338CA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B0DA23-1655-4AA8-80BD-00D73099C931}"/>
              </a:ext>
            </a:extLst>
          </p:cNvPr>
          <p:cNvSpPr txBox="1"/>
          <p:nvPr/>
        </p:nvSpPr>
        <p:spPr>
          <a:xfrm>
            <a:off x="2416333" y="2914717"/>
            <a:ext cx="1165704" cy="294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B91C1C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Plan B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도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실패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시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9E41B82B-FB63-477D-99A4-723864140BF3}"/>
              </a:ext>
            </a:extLst>
          </p:cNvPr>
          <p:cNvSpPr/>
          <p:nvPr/>
        </p:nvSpPr>
        <p:spPr>
          <a:xfrm>
            <a:off x="3569017" y="1092638"/>
            <a:ext cx="7124700" cy="838200"/>
          </a:xfrm>
          <a:custGeom>
            <a:avLst/>
            <a:gdLst>
              <a:gd name="connsiteX0" fmla="*/ 7019925 w 7124700"/>
              <a:gd name="connsiteY0" fmla="*/ 0 h 838200"/>
              <a:gd name="connsiteX1" fmla="*/ 7124700 w 7124700"/>
              <a:gd name="connsiteY1" fmla="*/ 0 h 838200"/>
              <a:gd name="connsiteX2" fmla="*/ 7124700 w 7124700"/>
              <a:gd name="connsiteY2" fmla="*/ 838200 h 838200"/>
              <a:gd name="connsiteX3" fmla="*/ 7019925 w 7124700"/>
              <a:gd name="connsiteY3" fmla="*/ 838200 h 838200"/>
              <a:gd name="connsiteX4" fmla="*/ 104775 w 7124700"/>
              <a:gd name="connsiteY4" fmla="*/ 838200 h 838200"/>
              <a:gd name="connsiteX5" fmla="*/ 0 w 7124700"/>
              <a:gd name="connsiteY5" fmla="*/ 838200 h 838200"/>
              <a:gd name="connsiteX6" fmla="*/ 0 w 7124700"/>
              <a:gd name="connsiteY6" fmla="*/ 0 h 838200"/>
              <a:gd name="connsiteX7" fmla="*/ 104775 w 7124700"/>
              <a:gd name="connsiteY7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4700" h="838200">
                <a:moveTo>
                  <a:pt x="7019925" y="0"/>
                </a:moveTo>
                <a:cubicBezTo>
                  <a:pt x="7077791" y="0"/>
                  <a:pt x="7124700" y="0"/>
                  <a:pt x="7124700" y="0"/>
                </a:cubicBezTo>
                <a:lnTo>
                  <a:pt x="7124700" y="838200"/>
                </a:lnTo>
                <a:cubicBezTo>
                  <a:pt x="7124700" y="838200"/>
                  <a:pt x="7077791" y="838200"/>
                  <a:pt x="7019925" y="838200"/>
                </a:cubicBezTo>
                <a:lnTo>
                  <a:pt x="104775" y="838200"/>
                </a:lnTo>
                <a:cubicBezTo>
                  <a:pt x="46909" y="838200"/>
                  <a:pt x="0" y="838200"/>
                  <a:pt x="0" y="838200"/>
                </a:cubicBezTo>
                <a:lnTo>
                  <a:pt x="0" y="0"/>
                </a:lnTo>
                <a:cubicBezTo>
                  <a:pt x="0" y="0"/>
                  <a:pt x="46909" y="0"/>
                  <a:pt x="104775" y="0"/>
                </a:cubicBezTo>
                <a:close/>
              </a:path>
            </a:pathLst>
          </a:custGeom>
          <a:solidFill>
            <a:srgbClr val="10B981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CB3079-0D2F-47A2-BDFC-0CBC112B0B44}"/>
              </a:ext>
            </a:extLst>
          </p:cNvPr>
          <p:cNvSpPr txBox="1"/>
          <p:nvPr/>
        </p:nvSpPr>
        <p:spPr>
          <a:xfrm>
            <a:off x="3675140" y="1109783"/>
            <a:ext cx="3004348" cy="3045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Plan A: OT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수렴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성공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→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바로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Production Run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192BC8C9-376D-4E6D-BB94-6444C1B6CDF0}"/>
              </a:ext>
            </a:extLst>
          </p:cNvPr>
          <p:cNvSpPr/>
          <p:nvPr/>
        </p:nvSpPr>
        <p:spPr>
          <a:xfrm>
            <a:off x="3726180" y="1375530"/>
            <a:ext cx="1466850" cy="440055"/>
          </a:xfrm>
          <a:custGeom>
            <a:avLst/>
            <a:gdLst>
              <a:gd name="connsiteX0" fmla="*/ 1403985 w 1466850"/>
              <a:gd name="connsiteY0" fmla="*/ 0 h 440055"/>
              <a:gd name="connsiteX1" fmla="*/ 1466850 w 1466850"/>
              <a:gd name="connsiteY1" fmla="*/ 0 h 440055"/>
              <a:gd name="connsiteX2" fmla="*/ 1466850 w 1466850"/>
              <a:gd name="connsiteY2" fmla="*/ 440055 h 440055"/>
              <a:gd name="connsiteX3" fmla="*/ 1403985 w 1466850"/>
              <a:gd name="connsiteY3" fmla="*/ 440055 h 440055"/>
              <a:gd name="connsiteX4" fmla="*/ 62865 w 1466850"/>
              <a:gd name="connsiteY4" fmla="*/ 440055 h 440055"/>
              <a:gd name="connsiteX5" fmla="*/ 0 w 1466850"/>
              <a:gd name="connsiteY5" fmla="*/ 440055 h 440055"/>
              <a:gd name="connsiteX6" fmla="*/ 0 w 1466850"/>
              <a:gd name="connsiteY6" fmla="*/ 0 h 440055"/>
              <a:gd name="connsiteX7" fmla="*/ 62865 w 1466850"/>
              <a:gd name="connsiteY7" fmla="*/ 0 h 44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6850" h="440055">
                <a:moveTo>
                  <a:pt x="1403985" y="0"/>
                </a:moveTo>
                <a:cubicBezTo>
                  <a:pt x="1438705" y="0"/>
                  <a:pt x="1466850" y="0"/>
                  <a:pt x="1466850" y="0"/>
                </a:cubicBezTo>
                <a:lnTo>
                  <a:pt x="1466850" y="440055"/>
                </a:lnTo>
                <a:cubicBezTo>
                  <a:pt x="1466850" y="440055"/>
                  <a:pt x="1438705" y="440055"/>
                  <a:pt x="1403985" y="440055"/>
                </a:cubicBezTo>
                <a:lnTo>
                  <a:pt x="62865" y="440055"/>
                </a:lnTo>
                <a:cubicBezTo>
                  <a:pt x="28145" y="440055"/>
                  <a:pt x="0" y="440055"/>
                  <a:pt x="0" y="440055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059669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FBBF4-C3B6-4433-9898-764234D6F7CA}"/>
              </a:ext>
            </a:extLst>
          </p:cNvPr>
          <p:cNvSpPr txBox="1"/>
          <p:nvPr/>
        </p:nvSpPr>
        <p:spPr>
          <a:xfrm>
            <a:off x="4061898" y="1403153"/>
            <a:ext cx="795410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OT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로</a:t>
            </a: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.wfn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확보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46286F-8D69-4B35-8E28-5A7FEBF630A8}"/>
              </a:ext>
            </a:extLst>
          </p:cNvPr>
          <p:cNvSpPr txBox="1"/>
          <p:nvPr/>
        </p:nvSpPr>
        <p:spPr>
          <a:xfrm>
            <a:off x="3876753" y="1570793"/>
            <a:ext cx="1165704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+mn-ea"/>
                <a:cs typeface="Arial"/>
                <a:sym typeface="Arial"/>
                <a:rtl val="0"/>
              </a:rPr>
              <a:t>SCF_GUESS RESTART</a:t>
            </a: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560B296E-4A71-4D8E-BCBB-0F9140945CEA}"/>
              </a:ext>
            </a:extLst>
          </p:cNvPr>
          <p:cNvSpPr/>
          <p:nvPr/>
        </p:nvSpPr>
        <p:spPr>
          <a:xfrm>
            <a:off x="5245417" y="159555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A7F3D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42CFB2CE-44C4-42C2-B482-D5908E6E662B}"/>
              </a:ext>
            </a:extLst>
          </p:cNvPr>
          <p:cNvSpPr/>
          <p:nvPr/>
        </p:nvSpPr>
        <p:spPr>
          <a:xfrm>
            <a:off x="5507355" y="1375530"/>
            <a:ext cx="1624012" cy="440055"/>
          </a:xfrm>
          <a:custGeom>
            <a:avLst/>
            <a:gdLst>
              <a:gd name="connsiteX0" fmla="*/ 1561148 w 1624012"/>
              <a:gd name="connsiteY0" fmla="*/ 0 h 440055"/>
              <a:gd name="connsiteX1" fmla="*/ 1624013 w 1624012"/>
              <a:gd name="connsiteY1" fmla="*/ 0 h 440055"/>
              <a:gd name="connsiteX2" fmla="*/ 1624013 w 1624012"/>
              <a:gd name="connsiteY2" fmla="*/ 440055 h 440055"/>
              <a:gd name="connsiteX3" fmla="*/ 1561148 w 1624012"/>
              <a:gd name="connsiteY3" fmla="*/ 440055 h 440055"/>
              <a:gd name="connsiteX4" fmla="*/ 62865 w 1624012"/>
              <a:gd name="connsiteY4" fmla="*/ 440055 h 440055"/>
              <a:gd name="connsiteX5" fmla="*/ 0 w 1624012"/>
              <a:gd name="connsiteY5" fmla="*/ 440055 h 440055"/>
              <a:gd name="connsiteX6" fmla="*/ 0 w 1624012"/>
              <a:gd name="connsiteY6" fmla="*/ 0 h 440055"/>
              <a:gd name="connsiteX7" fmla="*/ 62865 w 1624012"/>
              <a:gd name="connsiteY7" fmla="*/ 0 h 44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4012" h="440055">
                <a:moveTo>
                  <a:pt x="1561148" y="0"/>
                </a:moveTo>
                <a:cubicBezTo>
                  <a:pt x="1595867" y="0"/>
                  <a:pt x="1624013" y="0"/>
                  <a:pt x="1624013" y="0"/>
                </a:cubicBezTo>
                <a:lnTo>
                  <a:pt x="1624013" y="440055"/>
                </a:lnTo>
                <a:cubicBezTo>
                  <a:pt x="1624013" y="440055"/>
                  <a:pt x="1595867" y="440055"/>
                  <a:pt x="1561148" y="440055"/>
                </a:cubicBezTo>
                <a:lnTo>
                  <a:pt x="62865" y="440055"/>
                </a:lnTo>
                <a:cubicBezTo>
                  <a:pt x="28145" y="440055"/>
                  <a:pt x="0" y="440055"/>
                  <a:pt x="0" y="440055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059669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B440ED-B711-4906-A37D-FB780FD8185C}"/>
              </a:ext>
            </a:extLst>
          </p:cNvPr>
          <p:cNvSpPr txBox="1"/>
          <p:nvPr/>
        </p:nvSpPr>
        <p:spPr>
          <a:xfrm>
            <a:off x="5755316" y="1424108"/>
            <a:ext cx="1117614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Broyden(α=0.15, 300K)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7916B2-93C4-476F-B9F9-8975743D964B}"/>
              </a:ext>
            </a:extLst>
          </p:cNvPr>
          <p:cNvSpPr txBox="1"/>
          <p:nvPr/>
        </p:nvSpPr>
        <p:spPr>
          <a:xfrm>
            <a:off x="5812222" y="1549838"/>
            <a:ext cx="1003800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+mn-ea"/>
                <a:cs typeface="Arial"/>
                <a:sym typeface="Arial"/>
                <a:rtl val="0"/>
              </a:rPr>
              <a:t>wfn </a:t>
            </a:r>
            <a:r>
              <a:rPr lang="ko-KR" altLang="en-US" sz="700" spc="0" baseline="0" dirty="0">
                <a:solidFill>
                  <a:srgbClr val="D1FAE5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재활용으로</a:t>
            </a: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D1FAE5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안정</a:t>
            </a: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29C322D-AD47-4E34-9275-9E0A1ACF6A72}"/>
              </a:ext>
            </a:extLst>
          </p:cNvPr>
          <p:cNvSpPr/>
          <p:nvPr/>
        </p:nvSpPr>
        <p:spPr>
          <a:xfrm>
            <a:off x="7183755" y="159555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A7F3D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F79DD43C-0974-482A-ABCD-DAD9B03B9D74}"/>
              </a:ext>
            </a:extLst>
          </p:cNvPr>
          <p:cNvSpPr/>
          <p:nvPr/>
        </p:nvSpPr>
        <p:spPr>
          <a:xfrm>
            <a:off x="7445692" y="1375530"/>
            <a:ext cx="1466850" cy="440055"/>
          </a:xfrm>
          <a:custGeom>
            <a:avLst/>
            <a:gdLst>
              <a:gd name="connsiteX0" fmla="*/ 1403985 w 1466850"/>
              <a:gd name="connsiteY0" fmla="*/ 0 h 440055"/>
              <a:gd name="connsiteX1" fmla="*/ 1466850 w 1466850"/>
              <a:gd name="connsiteY1" fmla="*/ 0 h 440055"/>
              <a:gd name="connsiteX2" fmla="*/ 1466850 w 1466850"/>
              <a:gd name="connsiteY2" fmla="*/ 440055 h 440055"/>
              <a:gd name="connsiteX3" fmla="*/ 1403985 w 1466850"/>
              <a:gd name="connsiteY3" fmla="*/ 440055 h 440055"/>
              <a:gd name="connsiteX4" fmla="*/ 62865 w 1466850"/>
              <a:gd name="connsiteY4" fmla="*/ 440055 h 440055"/>
              <a:gd name="connsiteX5" fmla="*/ 0 w 1466850"/>
              <a:gd name="connsiteY5" fmla="*/ 440055 h 440055"/>
              <a:gd name="connsiteX6" fmla="*/ 0 w 1466850"/>
              <a:gd name="connsiteY6" fmla="*/ 0 h 440055"/>
              <a:gd name="connsiteX7" fmla="*/ 62865 w 1466850"/>
              <a:gd name="connsiteY7" fmla="*/ 0 h 44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6850" h="440055">
                <a:moveTo>
                  <a:pt x="1403985" y="0"/>
                </a:moveTo>
                <a:cubicBezTo>
                  <a:pt x="1438705" y="0"/>
                  <a:pt x="1466850" y="0"/>
                  <a:pt x="1466850" y="0"/>
                </a:cubicBezTo>
                <a:lnTo>
                  <a:pt x="1466850" y="440055"/>
                </a:lnTo>
                <a:cubicBezTo>
                  <a:pt x="1466850" y="440055"/>
                  <a:pt x="1438705" y="440055"/>
                  <a:pt x="1403985" y="440055"/>
                </a:cubicBezTo>
                <a:lnTo>
                  <a:pt x="62865" y="440055"/>
                </a:lnTo>
                <a:cubicBezTo>
                  <a:pt x="28145" y="440055"/>
                  <a:pt x="0" y="440055"/>
                  <a:pt x="0" y="440055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059669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CE61BC-42F0-46CB-8044-22C4C01DB4CF}"/>
              </a:ext>
            </a:extLst>
          </p:cNvPr>
          <p:cNvSpPr txBox="1"/>
          <p:nvPr/>
        </p:nvSpPr>
        <p:spPr>
          <a:xfrm>
            <a:off x="7545770" y="1424108"/>
            <a:ext cx="1266693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GEO_OPT MAX_ITER 600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1C6A34-3499-474A-B493-8661BB88B4D3}"/>
              </a:ext>
            </a:extLst>
          </p:cNvPr>
          <p:cNvSpPr txBox="1"/>
          <p:nvPr/>
        </p:nvSpPr>
        <p:spPr>
          <a:xfrm>
            <a:off x="7703666" y="1570793"/>
            <a:ext cx="950901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cluster + dissociate</a:t>
            </a: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425276BE-6468-4AB7-BB47-8A1AF30023D5}"/>
              </a:ext>
            </a:extLst>
          </p:cNvPr>
          <p:cNvSpPr/>
          <p:nvPr/>
        </p:nvSpPr>
        <p:spPr>
          <a:xfrm>
            <a:off x="8964930" y="159555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A7F3D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5BA2A168-480B-49D8-829F-D90C28AECAEE}"/>
              </a:ext>
            </a:extLst>
          </p:cNvPr>
          <p:cNvSpPr/>
          <p:nvPr/>
        </p:nvSpPr>
        <p:spPr>
          <a:xfrm>
            <a:off x="9226867" y="1375530"/>
            <a:ext cx="1362075" cy="440055"/>
          </a:xfrm>
          <a:custGeom>
            <a:avLst/>
            <a:gdLst>
              <a:gd name="connsiteX0" fmla="*/ 1299210 w 1362075"/>
              <a:gd name="connsiteY0" fmla="*/ 0 h 440055"/>
              <a:gd name="connsiteX1" fmla="*/ 1362075 w 1362075"/>
              <a:gd name="connsiteY1" fmla="*/ 0 h 440055"/>
              <a:gd name="connsiteX2" fmla="*/ 1362075 w 1362075"/>
              <a:gd name="connsiteY2" fmla="*/ 440055 h 440055"/>
              <a:gd name="connsiteX3" fmla="*/ 1299210 w 1362075"/>
              <a:gd name="connsiteY3" fmla="*/ 440055 h 440055"/>
              <a:gd name="connsiteX4" fmla="*/ 62865 w 1362075"/>
              <a:gd name="connsiteY4" fmla="*/ 440055 h 440055"/>
              <a:gd name="connsiteX5" fmla="*/ 0 w 1362075"/>
              <a:gd name="connsiteY5" fmla="*/ 440055 h 440055"/>
              <a:gd name="connsiteX6" fmla="*/ 0 w 1362075"/>
              <a:gd name="connsiteY6" fmla="*/ 0 h 440055"/>
              <a:gd name="connsiteX7" fmla="*/ 62865 w 1362075"/>
              <a:gd name="connsiteY7" fmla="*/ 0 h 44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2075" h="440055">
                <a:moveTo>
                  <a:pt x="1299210" y="0"/>
                </a:moveTo>
                <a:cubicBezTo>
                  <a:pt x="1333930" y="0"/>
                  <a:pt x="1362075" y="0"/>
                  <a:pt x="1362075" y="0"/>
                </a:cubicBezTo>
                <a:lnTo>
                  <a:pt x="1362075" y="440055"/>
                </a:lnTo>
                <a:cubicBezTo>
                  <a:pt x="1362075" y="440055"/>
                  <a:pt x="1333930" y="440055"/>
                  <a:pt x="1299210" y="440055"/>
                </a:cubicBezTo>
                <a:lnTo>
                  <a:pt x="62865" y="440055"/>
                </a:lnTo>
                <a:cubicBezTo>
                  <a:pt x="28145" y="440055"/>
                  <a:pt x="0" y="440055"/>
                  <a:pt x="0" y="440055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047857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147555-2C6E-4769-BA5D-731183A76C75}"/>
              </a:ext>
            </a:extLst>
          </p:cNvPr>
          <p:cNvSpPr txBox="1"/>
          <p:nvPr/>
        </p:nvSpPr>
        <p:spPr>
          <a:xfrm>
            <a:off x="9579129" y="1403153"/>
            <a:ext cx="657552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E_diss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계산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ABE43E-BB10-4332-901D-A1CEE40DF5E2}"/>
              </a:ext>
            </a:extLst>
          </p:cNvPr>
          <p:cNvSpPr txBox="1"/>
          <p:nvPr/>
        </p:nvSpPr>
        <p:spPr>
          <a:xfrm>
            <a:off x="9478139" y="1549838"/>
            <a:ext cx="859531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+mn-ea"/>
                <a:cs typeface="Arial"/>
                <a:sym typeface="Arial"/>
                <a:rtl val="0"/>
              </a:rPr>
              <a:t>try03</a:t>
            </a:r>
            <a:r>
              <a:rPr lang="ko-KR" altLang="en-US" sz="700" spc="0" baseline="0" dirty="0">
                <a:solidFill>
                  <a:srgbClr val="D1FAE5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과</a:t>
            </a: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D1FAE5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교차검증</a:t>
            </a: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BEB166DC-5E56-4EA5-8561-973E101181E6}"/>
              </a:ext>
            </a:extLst>
          </p:cNvPr>
          <p:cNvSpPr/>
          <p:nvPr/>
        </p:nvSpPr>
        <p:spPr>
          <a:xfrm>
            <a:off x="3569017" y="2035613"/>
            <a:ext cx="7124700" cy="890587"/>
          </a:xfrm>
          <a:custGeom>
            <a:avLst/>
            <a:gdLst>
              <a:gd name="connsiteX0" fmla="*/ 7019925 w 7124700"/>
              <a:gd name="connsiteY0" fmla="*/ 0 h 890587"/>
              <a:gd name="connsiteX1" fmla="*/ 7124700 w 7124700"/>
              <a:gd name="connsiteY1" fmla="*/ 0 h 890587"/>
              <a:gd name="connsiteX2" fmla="*/ 7124700 w 7124700"/>
              <a:gd name="connsiteY2" fmla="*/ 890588 h 890587"/>
              <a:gd name="connsiteX3" fmla="*/ 7019925 w 7124700"/>
              <a:gd name="connsiteY3" fmla="*/ 890588 h 890587"/>
              <a:gd name="connsiteX4" fmla="*/ 104775 w 7124700"/>
              <a:gd name="connsiteY4" fmla="*/ 890588 h 890587"/>
              <a:gd name="connsiteX5" fmla="*/ 0 w 7124700"/>
              <a:gd name="connsiteY5" fmla="*/ 890588 h 890587"/>
              <a:gd name="connsiteX6" fmla="*/ 0 w 7124700"/>
              <a:gd name="connsiteY6" fmla="*/ 0 h 890587"/>
              <a:gd name="connsiteX7" fmla="*/ 104775 w 7124700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4700" h="890587">
                <a:moveTo>
                  <a:pt x="7019925" y="0"/>
                </a:moveTo>
                <a:cubicBezTo>
                  <a:pt x="7077791" y="0"/>
                  <a:pt x="7124700" y="0"/>
                  <a:pt x="7124700" y="0"/>
                </a:cubicBezTo>
                <a:lnTo>
                  <a:pt x="7124700" y="890588"/>
                </a:lnTo>
                <a:cubicBezTo>
                  <a:pt x="7124700" y="890588"/>
                  <a:pt x="7077791" y="890588"/>
                  <a:pt x="7019925" y="890588"/>
                </a:cubicBezTo>
                <a:lnTo>
                  <a:pt x="104775" y="890588"/>
                </a:lnTo>
                <a:cubicBezTo>
                  <a:pt x="46909" y="890588"/>
                  <a:pt x="0" y="890588"/>
                  <a:pt x="0" y="890588"/>
                </a:cubicBezTo>
                <a:lnTo>
                  <a:pt x="0" y="0"/>
                </a:lnTo>
                <a:cubicBezTo>
                  <a:pt x="0" y="0"/>
                  <a:pt x="46909" y="0"/>
                  <a:pt x="104775" y="0"/>
                </a:cubicBezTo>
                <a:close/>
              </a:path>
            </a:pathLst>
          </a:custGeom>
          <a:solidFill>
            <a:srgbClr val="6366F1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E157D8-3CA2-42D0-85C6-B41BF7848648}"/>
              </a:ext>
            </a:extLst>
          </p:cNvPr>
          <p:cNvSpPr txBox="1"/>
          <p:nvPr/>
        </p:nvSpPr>
        <p:spPr>
          <a:xfrm>
            <a:off x="3669318" y="2052758"/>
            <a:ext cx="3518912" cy="3045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Plan B: try03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방식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—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단계별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Wavefunction Bootstrap</a:t>
            </a: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167F7365-8AFD-485B-881E-8126E5631AB7}"/>
              </a:ext>
            </a:extLst>
          </p:cNvPr>
          <p:cNvSpPr/>
          <p:nvPr/>
        </p:nvSpPr>
        <p:spPr>
          <a:xfrm>
            <a:off x="3726180" y="2318505"/>
            <a:ext cx="1257300" cy="502920"/>
          </a:xfrm>
          <a:custGeom>
            <a:avLst/>
            <a:gdLst>
              <a:gd name="connsiteX0" fmla="*/ 1194435 w 1257300"/>
              <a:gd name="connsiteY0" fmla="*/ 0 h 502920"/>
              <a:gd name="connsiteX1" fmla="*/ 1257300 w 1257300"/>
              <a:gd name="connsiteY1" fmla="*/ 0 h 502920"/>
              <a:gd name="connsiteX2" fmla="*/ 1257300 w 1257300"/>
              <a:gd name="connsiteY2" fmla="*/ 502920 h 502920"/>
              <a:gd name="connsiteX3" fmla="*/ 1194435 w 1257300"/>
              <a:gd name="connsiteY3" fmla="*/ 502920 h 502920"/>
              <a:gd name="connsiteX4" fmla="*/ 62865 w 1257300"/>
              <a:gd name="connsiteY4" fmla="*/ 502920 h 502920"/>
              <a:gd name="connsiteX5" fmla="*/ 0 w 1257300"/>
              <a:gd name="connsiteY5" fmla="*/ 502920 h 502920"/>
              <a:gd name="connsiteX6" fmla="*/ 0 w 1257300"/>
              <a:gd name="connsiteY6" fmla="*/ 0 h 502920"/>
              <a:gd name="connsiteX7" fmla="*/ 62865 w 1257300"/>
              <a:gd name="connsiteY7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7300" h="502920">
                <a:moveTo>
                  <a:pt x="1194435" y="0"/>
                </a:moveTo>
                <a:cubicBezTo>
                  <a:pt x="1229155" y="0"/>
                  <a:pt x="1257300" y="0"/>
                  <a:pt x="1257300" y="0"/>
                </a:cubicBezTo>
                <a:lnTo>
                  <a:pt x="1257300" y="502920"/>
                </a:lnTo>
                <a:cubicBezTo>
                  <a:pt x="1257300" y="502920"/>
                  <a:pt x="1229155" y="502920"/>
                  <a:pt x="1194435" y="502920"/>
                </a:cubicBezTo>
                <a:lnTo>
                  <a:pt x="62865" y="502920"/>
                </a:lnTo>
                <a:cubicBezTo>
                  <a:pt x="28145" y="502920"/>
                  <a:pt x="0" y="502920"/>
                  <a:pt x="0" y="50292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4F46E5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BCDCE1-9B7B-4956-A585-343724234571}"/>
              </a:ext>
            </a:extLst>
          </p:cNvPr>
          <p:cNvSpPr txBox="1"/>
          <p:nvPr/>
        </p:nvSpPr>
        <p:spPr>
          <a:xfrm>
            <a:off x="3972353" y="2367083"/>
            <a:ext cx="764953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B-1: MOF only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B923BB-2414-4A4E-821A-3B4DF3148679}"/>
              </a:ext>
            </a:extLst>
          </p:cNvPr>
          <p:cNvSpPr txBox="1"/>
          <p:nvPr/>
        </p:nvSpPr>
        <p:spPr>
          <a:xfrm>
            <a:off x="3860944" y="2503290"/>
            <a:ext cx="987770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ENERGY / ATOMIC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83C5BC-9EDA-41F7-9DCA-3F981C84E466}"/>
              </a:ext>
            </a:extLst>
          </p:cNvPr>
          <p:cNvSpPr txBox="1"/>
          <p:nvPr/>
        </p:nvSpPr>
        <p:spPr>
          <a:xfrm>
            <a:off x="4104601" y="2597588"/>
            <a:ext cx="500457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 .wfn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₁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D7C7BC21-2389-4EFA-BEAD-FD056A479C98}"/>
              </a:ext>
            </a:extLst>
          </p:cNvPr>
          <p:cNvSpPr/>
          <p:nvPr/>
        </p:nvSpPr>
        <p:spPr>
          <a:xfrm>
            <a:off x="5035867" y="2569965"/>
            <a:ext cx="157162" cy="10477"/>
          </a:xfrm>
          <a:custGeom>
            <a:avLst/>
            <a:gdLst>
              <a:gd name="connsiteX0" fmla="*/ 0 w 157162"/>
              <a:gd name="connsiteY0" fmla="*/ 0 h 10477"/>
              <a:gd name="connsiteX1" fmla="*/ 157163 w 157162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162" h="10477">
                <a:moveTo>
                  <a:pt x="0" y="0"/>
                </a:moveTo>
                <a:lnTo>
                  <a:pt x="157163" y="0"/>
                </a:lnTo>
              </a:path>
            </a:pathLst>
          </a:custGeom>
          <a:ln w="20955" cap="flat">
            <a:solidFill>
              <a:srgbClr val="A5B4FC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810473E1-E2F0-40B0-B792-49A93EF1429C}"/>
              </a:ext>
            </a:extLst>
          </p:cNvPr>
          <p:cNvSpPr/>
          <p:nvPr/>
        </p:nvSpPr>
        <p:spPr>
          <a:xfrm>
            <a:off x="5245417" y="2318505"/>
            <a:ext cx="1362075" cy="502920"/>
          </a:xfrm>
          <a:custGeom>
            <a:avLst/>
            <a:gdLst>
              <a:gd name="connsiteX0" fmla="*/ 1299210 w 1362075"/>
              <a:gd name="connsiteY0" fmla="*/ 0 h 502920"/>
              <a:gd name="connsiteX1" fmla="*/ 1362075 w 1362075"/>
              <a:gd name="connsiteY1" fmla="*/ 0 h 502920"/>
              <a:gd name="connsiteX2" fmla="*/ 1362075 w 1362075"/>
              <a:gd name="connsiteY2" fmla="*/ 502920 h 502920"/>
              <a:gd name="connsiteX3" fmla="*/ 1299210 w 1362075"/>
              <a:gd name="connsiteY3" fmla="*/ 502920 h 502920"/>
              <a:gd name="connsiteX4" fmla="*/ 62865 w 1362075"/>
              <a:gd name="connsiteY4" fmla="*/ 502920 h 502920"/>
              <a:gd name="connsiteX5" fmla="*/ 0 w 1362075"/>
              <a:gd name="connsiteY5" fmla="*/ 502920 h 502920"/>
              <a:gd name="connsiteX6" fmla="*/ 0 w 1362075"/>
              <a:gd name="connsiteY6" fmla="*/ 0 h 502920"/>
              <a:gd name="connsiteX7" fmla="*/ 62865 w 1362075"/>
              <a:gd name="connsiteY7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2075" h="502920">
                <a:moveTo>
                  <a:pt x="1299210" y="0"/>
                </a:moveTo>
                <a:cubicBezTo>
                  <a:pt x="1333930" y="0"/>
                  <a:pt x="1362075" y="0"/>
                  <a:pt x="1362075" y="0"/>
                </a:cubicBezTo>
                <a:lnTo>
                  <a:pt x="1362075" y="502920"/>
                </a:lnTo>
                <a:cubicBezTo>
                  <a:pt x="1362075" y="502920"/>
                  <a:pt x="1333930" y="502920"/>
                  <a:pt x="1299210" y="502920"/>
                </a:cubicBezTo>
                <a:lnTo>
                  <a:pt x="62865" y="502920"/>
                </a:lnTo>
                <a:cubicBezTo>
                  <a:pt x="28145" y="502920"/>
                  <a:pt x="0" y="502920"/>
                  <a:pt x="0" y="50292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4F46E5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63A66B-0F30-40A7-BB65-062B49582E49}"/>
              </a:ext>
            </a:extLst>
          </p:cNvPr>
          <p:cNvSpPr txBox="1"/>
          <p:nvPr/>
        </p:nvSpPr>
        <p:spPr>
          <a:xfrm>
            <a:off x="5451004" y="2367083"/>
            <a:ext cx="950901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B-2: +1 IP (158 at.)</a:t>
            </a:r>
          </a:p>
        </p:txBody>
      </p:sp>
      <p:sp>
        <p:nvSpPr>
          <p:cNvPr id="2176" name="TextBox 2175">
            <a:extLst>
              <a:ext uri="{FF2B5EF4-FFF2-40B4-BE49-F238E27FC236}">
                <a16:creationId xmlns:a16="http://schemas.microsoft.com/office/drawing/2014/main" id="{8A179C43-CFFD-4935-9ECA-6F9F3EC4B7AE}"/>
              </a:ext>
            </a:extLst>
          </p:cNvPr>
          <p:cNvSpPr txBox="1"/>
          <p:nvPr/>
        </p:nvSpPr>
        <p:spPr>
          <a:xfrm>
            <a:off x="5498294" y="2503290"/>
            <a:ext cx="856324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α=0.13 / T=500K</a:t>
            </a:r>
          </a:p>
        </p:txBody>
      </p:sp>
      <p:sp>
        <p:nvSpPr>
          <p:cNvPr id="2177" name="TextBox 2176">
            <a:extLst>
              <a:ext uri="{FF2B5EF4-FFF2-40B4-BE49-F238E27FC236}">
                <a16:creationId xmlns:a16="http://schemas.microsoft.com/office/drawing/2014/main" id="{CBF9B980-6382-49FA-BC10-11F905D43AF7}"/>
              </a:ext>
            </a:extLst>
          </p:cNvPr>
          <p:cNvSpPr txBox="1"/>
          <p:nvPr/>
        </p:nvSpPr>
        <p:spPr>
          <a:xfrm>
            <a:off x="5676226" y="2597588"/>
            <a:ext cx="500457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 .wfn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₂</a:t>
            </a:r>
          </a:p>
        </p:txBody>
      </p:sp>
      <p:sp>
        <p:nvSpPr>
          <p:cNvPr id="2178" name="자유형: 도형 2177">
            <a:extLst>
              <a:ext uri="{FF2B5EF4-FFF2-40B4-BE49-F238E27FC236}">
                <a16:creationId xmlns:a16="http://schemas.microsoft.com/office/drawing/2014/main" id="{1645B212-ACA1-4A24-8492-CFE5FEA95AAF}"/>
              </a:ext>
            </a:extLst>
          </p:cNvPr>
          <p:cNvSpPr/>
          <p:nvPr/>
        </p:nvSpPr>
        <p:spPr>
          <a:xfrm>
            <a:off x="6659880" y="2569965"/>
            <a:ext cx="157162" cy="10477"/>
          </a:xfrm>
          <a:custGeom>
            <a:avLst/>
            <a:gdLst>
              <a:gd name="connsiteX0" fmla="*/ 0 w 157162"/>
              <a:gd name="connsiteY0" fmla="*/ 0 h 10477"/>
              <a:gd name="connsiteX1" fmla="*/ 157163 w 157162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162" h="10477">
                <a:moveTo>
                  <a:pt x="0" y="0"/>
                </a:moveTo>
                <a:lnTo>
                  <a:pt x="157163" y="0"/>
                </a:lnTo>
              </a:path>
            </a:pathLst>
          </a:custGeom>
          <a:ln w="20955" cap="flat">
            <a:solidFill>
              <a:srgbClr val="A5B4FC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9" name="자유형: 도형 2178">
            <a:extLst>
              <a:ext uri="{FF2B5EF4-FFF2-40B4-BE49-F238E27FC236}">
                <a16:creationId xmlns:a16="http://schemas.microsoft.com/office/drawing/2014/main" id="{6B0EFA3F-3B5E-4B25-8A99-17F7F3BF8B07}"/>
              </a:ext>
            </a:extLst>
          </p:cNvPr>
          <p:cNvSpPr/>
          <p:nvPr/>
        </p:nvSpPr>
        <p:spPr>
          <a:xfrm>
            <a:off x="6869430" y="2318505"/>
            <a:ext cx="1362075" cy="502920"/>
          </a:xfrm>
          <a:custGeom>
            <a:avLst/>
            <a:gdLst>
              <a:gd name="connsiteX0" fmla="*/ 1299210 w 1362075"/>
              <a:gd name="connsiteY0" fmla="*/ 0 h 502920"/>
              <a:gd name="connsiteX1" fmla="*/ 1362075 w 1362075"/>
              <a:gd name="connsiteY1" fmla="*/ 0 h 502920"/>
              <a:gd name="connsiteX2" fmla="*/ 1362075 w 1362075"/>
              <a:gd name="connsiteY2" fmla="*/ 502920 h 502920"/>
              <a:gd name="connsiteX3" fmla="*/ 1299210 w 1362075"/>
              <a:gd name="connsiteY3" fmla="*/ 502920 h 502920"/>
              <a:gd name="connsiteX4" fmla="*/ 62865 w 1362075"/>
              <a:gd name="connsiteY4" fmla="*/ 502920 h 502920"/>
              <a:gd name="connsiteX5" fmla="*/ 0 w 1362075"/>
              <a:gd name="connsiteY5" fmla="*/ 502920 h 502920"/>
              <a:gd name="connsiteX6" fmla="*/ 0 w 1362075"/>
              <a:gd name="connsiteY6" fmla="*/ 0 h 502920"/>
              <a:gd name="connsiteX7" fmla="*/ 62865 w 1362075"/>
              <a:gd name="connsiteY7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2075" h="502920">
                <a:moveTo>
                  <a:pt x="1299210" y="0"/>
                </a:moveTo>
                <a:cubicBezTo>
                  <a:pt x="1333930" y="0"/>
                  <a:pt x="1362075" y="0"/>
                  <a:pt x="1362075" y="0"/>
                </a:cubicBezTo>
                <a:lnTo>
                  <a:pt x="1362075" y="502920"/>
                </a:lnTo>
                <a:cubicBezTo>
                  <a:pt x="1362075" y="502920"/>
                  <a:pt x="1333930" y="502920"/>
                  <a:pt x="1299210" y="502920"/>
                </a:cubicBezTo>
                <a:lnTo>
                  <a:pt x="62865" y="502920"/>
                </a:lnTo>
                <a:cubicBezTo>
                  <a:pt x="28145" y="502920"/>
                  <a:pt x="0" y="502920"/>
                  <a:pt x="0" y="50292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4F46E5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0" name="TextBox 2179">
            <a:extLst>
              <a:ext uri="{FF2B5EF4-FFF2-40B4-BE49-F238E27FC236}">
                <a16:creationId xmlns:a16="http://schemas.microsoft.com/office/drawing/2014/main" id="{269B2F47-D1EE-420E-8807-4765D3D80A8B}"/>
              </a:ext>
            </a:extLst>
          </p:cNvPr>
          <p:cNvSpPr txBox="1"/>
          <p:nvPr/>
        </p:nvSpPr>
        <p:spPr>
          <a:xfrm>
            <a:off x="7075016" y="2367083"/>
            <a:ext cx="950901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B-3: +2 IP (192 at.)</a:t>
            </a:r>
          </a:p>
        </p:txBody>
      </p:sp>
      <p:sp>
        <p:nvSpPr>
          <p:cNvPr id="2181" name="TextBox 2180">
            <a:extLst>
              <a:ext uri="{FF2B5EF4-FFF2-40B4-BE49-F238E27FC236}">
                <a16:creationId xmlns:a16="http://schemas.microsoft.com/office/drawing/2014/main" id="{12610F8F-E501-4D11-8C25-1D68AB56EB99}"/>
              </a:ext>
            </a:extLst>
          </p:cNvPr>
          <p:cNvSpPr txBox="1"/>
          <p:nvPr/>
        </p:nvSpPr>
        <p:spPr>
          <a:xfrm>
            <a:off x="7137533" y="2482335"/>
            <a:ext cx="825867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RESTART .wfn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₂</a:t>
            </a:r>
          </a:p>
        </p:txBody>
      </p:sp>
      <p:sp>
        <p:nvSpPr>
          <p:cNvPr id="2182" name="TextBox 2181">
            <a:extLst>
              <a:ext uri="{FF2B5EF4-FFF2-40B4-BE49-F238E27FC236}">
                <a16:creationId xmlns:a16="http://schemas.microsoft.com/office/drawing/2014/main" id="{8188E3C6-FD26-429C-9B2D-5279C38CE136}"/>
              </a:ext>
            </a:extLst>
          </p:cNvPr>
          <p:cNvSpPr txBox="1"/>
          <p:nvPr/>
        </p:nvSpPr>
        <p:spPr>
          <a:xfrm>
            <a:off x="7122306" y="2618543"/>
            <a:ext cx="856324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α=0.13 / T=500K</a:t>
            </a:r>
          </a:p>
        </p:txBody>
      </p:sp>
      <p:sp>
        <p:nvSpPr>
          <p:cNvPr id="2183" name="자유형: 도형 2182">
            <a:extLst>
              <a:ext uri="{FF2B5EF4-FFF2-40B4-BE49-F238E27FC236}">
                <a16:creationId xmlns:a16="http://schemas.microsoft.com/office/drawing/2014/main" id="{1B50D7C9-F7DD-4B20-9EF5-74A577AE34DF}"/>
              </a:ext>
            </a:extLst>
          </p:cNvPr>
          <p:cNvSpPr/>
          <p:nvPr/>
        </p:nvSpPr>
        <p:spPr>
          <a:xfrm>
            <a:off x="8283892" y="2569965"/>
            <a:ext cx="157162" cy="10477"/>
          </a:xfrm>
          <a:custGeom>
            <a:avLst/>
            <a:gdLst>
              <a:gd name="connsiteX0" fmla="*/ 0 w 157162"/>
              <a:gd name="connsiteY0" fmla="*/ 0 h 10477"/>
              <a:gd name="connsiteX1" fmla="*/ 157163 w 157162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162" h="10477">
                <a:moveTo>
                  <a:pt x="0" y="0"/>
                </a:moveTo>
                <a:lnTo>
                  <a:pt x="157163" y="0"/>
                </a:lnTo>
              </a:path>
            </a:pathLst>
          </a:custGeom>
          <a:ln w="20955" cap="flat">
            <a:solidFill>
              <a:srgbClr val="A5B4FC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4" name="자유형: 도형 2183">
            <a:extLst>
              <a:ext uri="{FF2B5EF4-FFF2-40B4-BE49-F238E27FC236}">
                <a16:creationId xmlns:a16="http://schemas.microsoft.com/office/drawing/2014/main" id="{A0B419B3-7EC9-46FC-9E22-F1D0362D8E8D}"/>
              </a:ext>
            </a:extLst>
          </p:cNvPr>
          <p:cNvSpPr/>
          <p:nvPr/>
        </p:nvSpPr>
        <p:spPr>
          <a:xfrm>
            <a:off x="8493442" y="2318505"/>
            <a:ext cx="2095500" cy="502920"/>
          </a:xfrm>
          <a:custGeom>
            <a:avLst/>
            <a:gdLst>
              <a:gd name="connsiteX0" fmla="*/ 2032635 w 2095500"/>
              <a:gd name="connsiteY0" fmla="*/ 0 h 502920"/>
              <a:gd name="connsiteX1" fmla="*/ 2095500 w 2095500"/>
              <a:gd name="connsiteY1" fmla="*/ 0 h 502920"/>
              <a:gd name="connsiteX2" fmla="*/ 2095500 w 2095500"/>
              <a:gd name="connsiteY2" fmla="*/ 502920 h 502920"/>
              <a:gd name="connsiteX3" fmla="*/ 2032635 w 2095500"/>
              <a:gd name="connsiteY3" fmla="*/ 502920 h 502920"/>
              <a:gd name="connsiteX4" fmla="*/ 62865 w 2095500"/>
              <a:gd name="connsiteY4" fmla="*/ 502920 h 502920"/>
              <a:gd name="connsiteX5" fmla="*/ 0 w 2095500"/>
              <a:gd name="connsiteY5" fmla="*/ 502920 h 502920"/>
              <a:gd name="connsiteX6" fmla="*/ 0 w 2095500"/>
              <a:gd name="connsiteY6" fmla="*/ 0 h 502920"/>
              <a:gd name="connsiteX7" fmla="*/ 62865 w 2095500"/>
              <a:gd name="connsiteY7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502920">
                <a:moveTo>
                  <a:pt x="2032635" y="0"/>
                </a:moveTo>
                <a:cubicBezTo>
                  <a:pt x="2067355" y="0"/>
                  <a:pt x="2095500" y="0"/>
                  <a:pt x="2095500" y="0"/>
                </a:cubicBezTo>
                <a:lnTo>
                  <a:pt x="2095500" y="502920"/>
                </a:lnTo>
                <a:cubicBezTo>
                  <a:pt x="2095500" y="502920"/>
                  <a:pt x="2067355" y="502920"/>
                  <a:pt x="2032635" y="502920"/>
                </a:cubicBezTo>
                <a:lnTo>
                  <a:pt x="62865" y="502920"/>
                </a:lnTo>
                <a:cubicBezTo>
                  <a:pt x="28145" y="502920"/>
                  <a:pt x="0" y="502920"/>
                  <a:pt x="0" y="50292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4338CA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5" name="TextBox 2184">
            <a:extLst>
              <a:ext uri="{FF2B5EF4-FFF2-40B4-BE49-F238E27FC236}">
                <a16:creationId xmlns:a16="http://schemas.microsoft.com/office/drawing/2014/main" id="{6BF5350D-C586-4F80-A0DB-551F4E0EBBA8}"/>
              </a:ext>
            </a:extLst>
          </p:cNvPr>
          <p:cNvSpPr txBox="1"/>
          <p:nvPr/>
        </p:nvSpPr>
        <p:spPr>
          <a:xfrm>
            <a:off x="8823688" y="2367083"/>
            <a:ext cx="1435008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B-4: GEO_OPT (α=0.15, 300K)</a:t>
            </a:r>
          </a:p>
        </p:txBody>
      </p:sp>
      <p:sp>
        <p:nvSpPr>
          <p:cNvPr id="2186" name="TextBox 2185">
            <a:extLst>
              <a:ext uri="{FF2B5EF4-FFF2-40B4-BE49-F238E27FC236}">
                <a16:creationId xmlns:a16="http://schemas.microsoft.com/office/drawing/2014/main" id="{3298DF3C-8F66-420C-998C-7F1B81B8D7A8}"/>
              </a:ext>
            </a:extLst>
          </p:cNvPr>
          <p:cNvSpPr txBox="1"/>
          <p:nvPr/>
        </p:nvSpPr>
        <p:spPr>
          <a:xfrm>
            <a:off x="8865366" y="2482335"/>
            <a:ext cx="1351652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RESTART .wfn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₃</a:t>
            </a: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→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수렴</a:t>
            </a: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기대</a:t>
            </a:r>
          </a:p>
        </p:txBody>
      </p:sp>
      <p:sp>
        <p:nvSpPr>
          <p:cNvPr id="2187" name="TextBox 2186">
            <a:extLst>
              <a:ext uri="{FF2B5EF4-FFF2-40B4-BE49-F238E27FC236}">
                <a16:creationId xmlns:a16="http://schemas.microsoft.com/office/drawing/2014/main" id="{3310F0B4-4FAC-4A4C-A854-B2703C5AF453}"/>
              </a:ext>
            </a:extLst>
          </p:cNvPr>
          <p:cNvSpPr txBox="1"/>
          <p:nvPr/>
        </p:nvSpPr>
        <p:spPr>
          <a:xfrm>
            <a:off x="9040895" y="2597588"/>
            <a:ext cx="1000594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try03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검증</a:t>
            </a: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완료</a:t>
            </a: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전략</a:t>
            </a:r>
          </a:p>
        </p:txBody>
      </p:sp>
      <p:sp>
        <p:nvSpPr>
          <p:cNvPr id="2188" name="자유형: 도형 2187">
            <a:extLst>
              <a:ext uri="{FF2B5EF4-FFF2-40B4-BE49-F238E27FC236}">
                <a16:creationId xmlns:a16="http://schemas.microsoft.com/office/drawing/2014/main" id="{601AF6D3-93AC-4672-AF2C-4206FB12A63A}"/>
              </a:ext>
            </a:extLst>
          </p:cNvPr>
          <p:cNvSpPr/>
          <p:nvPr/>
        </p:nvSpPr>
        <p:spPr>
          <a:xfrm>
            <a:off x="3569017" y="3041453"/>
            <a:ext cx="7124700" cy="691515"/>
          </a:xfrm>
          <a:custGeom>
            <a:avLst/>
            <a:gdLst>
              <a:gd name="connsiteX0" fmla="*/ 7019925 w 7124700"/>
              <a:gd name="connsiteY0" fmla="*/ 0 h 691515"/>
              <a:gd name="connsiteX1" fmla="*/ 7124700 w 7124700"/>
              <a:gd name="connsiteY1" fmla="*/ 0 h 691515"/>
              <a:gd name="connsiteX2" fmla="*/ 7124700 w 7124700"/>
              <a:gd name="connsiteY2" fmla="*/ 691515 h 691515"/>
              <a:gd name="connsiteX3" fmla="*/ 7019925 w 7124700"/>
              <a:gd name="connsiteY3" fmla="*/ 691515 h 691515"/>
              <a:gd name="connsiteX4" fmla="*/ 104775 w 7124700"/>
              <a:gd name="connsiteY4" fmla="*/ 691515 h 691515"/>
              <a:gd name="connsiteX5" fmla="*/ 0 w 7124700"/>
              <a:gd name="connsiteY5" fmla="*/ 691515 h 691515"/>
              <a:gd name="connsiteX6" fmla="*/ 0 w 7124700"/>
              <a:gd name="connsiteY6" fmla="*/ 0 h 691515"/>
              <a:gd name="connsiteX7" fmla="*/ 104775 w 7124700"/>
              <a:gd name="connsiteY7" fmla="*/ 0 h 69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4700" h="691515">
                <a:moveTo>
                  <a:pt x="7019925" y="0"/>
                </a:moveTo>
                <a:cubicBezTo>
                  <a:pt x="7077791" y="0"/>
                  <a:pt x="7124700" y="0"/>
                  <a:pt x="7124700" y="0"/>
                </a:cubicBezTo>
                <a:lnTo>
                  <a:pt x="7124700" y="691515"/>
                </a:lnTo>
                <a:cubicBezTo>
                  <a:pt x="7124700" y="691515"/>
                  <a:pt x="7077791" y="691515"/>
                  <a:pt x="7019925" y="691515"/>
                </a:cubicBezTo>
                <a:lnTo>
                  <a:pt x="104775" y="691515"/>
                </a:lnTo>
                <a:cubicBezTo>
                  <a:pt x="46909" y="691515"/>
                  <a:pt x="0" y="691515"/>
                  <a:pt x="0" y="691515"/>
                </a:cubicBezTo>
                <a:lnTo>
                  <a:pt x="0" y="0"/>
                </a:lnTo>
                <a:cubicBezTo>
                  <a:pt x="0" y="0"/>
                  <a:pt x="46909" y="0"/>
                  <a:pt x="104775" y="0"/>
                </a:cubicBezTo>
                <a:close/>
              </a:path>
            </a:pathLst>
          </a:custGeom>
          <a:solidFill>
            <a:srgbClr val="EF4444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0" name="TextBox 2189">
            <a:extLst>
              <a:ext uri="{FF2B5EF4-FFF2-40B4-BE49-F238E27FC236}">
                <a16:creationId xmlns:a16="http://schemas.microsoft.com/office/drawing/2014/main" id="{9135DC91-F044-45E6-9BF0-B0A9D1BCC625}"/>
              </a:ext>
            </a:extLst>
          </p:cNvPr>
          <p:cNvSpPr txBox="1"/>
          <p:nvPr/>
        </p:nvSpPr>
        <p:spPr>
          <a:xfrm>
            <a:off x="3681132" y="3058598"/>
            <a:ext cx="3275256" cy="3045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Plan C: Hybrid — OT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로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wfn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확보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후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Broyden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전환</a:t>
            </a:r>
          </a:p>
        </p:txBody>
      </p:sp>
      <p:sp>
        <p:nvSpPr>
          <p:cNvPr id="2203" name="자유형: 도형 2202">
            <a:extLst>
              <a:ext uri="{FF2B5EF4-FFF2-40B4-BE49-F238E27FC236}">
                <a16:creationId xmlns:a16="http://schemas.microsoft.com/office/drawing/2014/main" id="{ECE7E434-45D7-4F10-BBD6-4E19D47BBE31}"/>
              </a:ext>
            </a:extLst>
          </p:cNvPr>
          <p:cNvSpPr/>
          <p:nvPr/>
        </p:nvSpPr>
        <p:spPr>
          <a:xfrm>
            <a:off x="3726180" y="3334823"/>
            <a:ext cx="1990725" cy="293370"/>
          </a:xfrm>
          <a:custGeom>
            <a:avLst/>
            <a:gdLst>
              <a:gd name="connsiteX0" fmla="*/ 1927860 w 1990725"/>
              <a:gd name="connsiteY0" fmla="*/ 0 h 293370"/>
              <a:gd name="connsiteX1" fmla="*/ 1990725 w 1990725"/>
              <a:gd name="connsiteY1" fmla="*/ 0 h 293370"/>
              <a:gd name="connsiteX2" fmla="*/ 1990725 w 1990725"/>
              <a:gd name="connsiteY2" fmla="*/ 293370 h 293370"/>
              <a:gd name="connsiteX3" fmla="*/ 1927860 w 1990725"/>
              <a:gd name="connsiteY3" fmla="*/ 293370 h 293370"/>
              <a:gd name="connsiteX4" fmla="*/ 62865 w 1990725"/>
              <a:gd name="connsiteY4" fmla="*/ 293370 h 293370"/>
              <a:gd name="connsiteX5" fmla="*/ 0 w 1990725"/>
              <a:gd name="connsiteY5" fmla="*/ 293370 h 293370"/>
              <a:gd name="connsiteX6" fmla="*/ 0 w 1990725"/>
              <a:gd name="connsiteY6" fmla="*/ 0 h 293370"/>
              <a:gd name="connsiteX7" fmla="*/ 62865 w 1990725"/>
              <a:gd name="connsiteY7" fmla="*/ 0 h 29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90725" h="293370">
                <a:moveTo>
                  <a:pt x="1927860" y="0"/>
                </a:moveTo>
                <a:cubicBezTo>
                  <a:pt x="1962580" y="0"/>
                  <a:pt x="1990725" y="0"/>
                  <a:pt x="1990725" y="0"/>
                </a:cubicBezTo>
                <a:lnTo>
                  <a:pt x="1990725" y="293370"/>
                </a:lnTo>
                <a:cubicBezTo>
                  <a:pt x="1990725" y="293370"/>
                  <a:pt x="1962580" y="293370"/>
                  <a:pt x="1927860" y="293370"/>
                </a:cubicBezTo>
                <a:lnTo>
                  <a:pt x="62865" y="293370"/>
                </a:lnTo>
                <a:cubicBezTo>
                  <a:pt x="28145" y="293370"/>
                  <a:pt x="0" y="293370"/>
                  <a:pt x="0" y="29337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DC2626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4" name="TextBox 2203">
            <a:extLst>
              <a:ext uri="{FF2B5EF4-FFF2-40B4-BE49-F238E27FC236}">
                <a16:creationId xmlns:a16="http://schemas.microsoft.com/office/drawing/2014/main" id="{E8C3564C-EB92-491C-901B-F35FCCB55712}"/>
              </a:ext>
            </a:extLst>
          </p:cNvPr>
          <p:cNvSpPr txBox="1"/>
          <p:nvPr/>
        </p:nvSpPr>
        <p:spPr>
          <a:xfrm>
            <a:off x="3859766" y="3383400"/>
            <a:ext cx="1723549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OT (EPS_SCF 1e-3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완화</a:t>
            </a: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) → .wfn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확보</a:t>
            </a:r>
          </a:p>
        </p:txBody>
      </p:sp>
      <p:sp>
        <p:nvSpPr>
          <p:cNvPr id="2205" name="자유형: 도형 2204">
            <a:extLst>
              <a:ext uri="{FF2B5EF4-FFF2-40B4-BE49-F238E27FC236}">
                <a16:creationId xmlns:a16="http://schemas.microsoft.com/office/drawing/2014/main" id="{CF14A5F1-1F95-423D-9838-AE914EB990E4}"/>
              </a:ext>
            </a:extLst>
          </p:cNvPr>
          <p:cNvSpPr/>
          <p:nvPr/>
        </p:nvSpPr>
        <p:spPr>
          <a:xfrm>
            <a:off x="5769292" y="348150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FCA5A5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6" name="자유형: 도형 2205">
            <a:extLst>
              <a:ext uri="{FF2B5EF4-FFF2-40B4-BE49-F238E27FC236}">
                <a16:creationId xmlns:a16="http://schemas.microsoft.com/office/drawing/2014/main" id="{F4677309-9C71-491B-87B1-968F77B5FA5D}"/>
              </a:ext>
            </a:extLst>
          </p:cNvPr>
          <p:cNvSpPr/>
          <p:nvPr/>
        </p:nvSpPr>
        <p:spPr>
          <a:xfrm>
            <a:off x="6031230" y="3334823"/>
            <a:ext cx="2095500" cy="293370"/>
          </a:xfrm>
          <a:custGeom>
            <a:avLst/>
            <a:gdLst>
              <a:gd name="connsiteX0" fmla="*/ 2032635 w 2095500"/>
              <a:gd name="connsiteY0" fmla="*/ 0 h 293370"/>
              <a:gd name="connsiteX1" fmla="*/ 2095500 w 2095500"/>
              <a:gd name="connsiteY1" fmla="*/ 0 h 293370"/>
              <a:gd name="connsiteX2" fmla="*/ 2095500 w 2095500"/>
              <a:gd name="connsiteY2" fmla="*/ 293370 h 293370"/>
              <a:gd name="connsiteX3" fmla="*/ 2032635 w 2095500"/>
              <a:gd name="connsiteY3" fmla="*/ 293370 h 293370"/>
              <a:gd name="connsiteX4" fmla="*/ 62865 w 2095500"/>
              <a:gd name="connsiteY4" fmla="*/ 293370 h 293370"/>
              <a:gd name="connsiteX5" fmla="*/ 0 w 2095500"/>
              <a:gd name="connsiteY5" fmla="*/ 293370 h 293370"/>
              <a:gd name="connsiteX6" fmla="*/ 0 w 2095500"/>
              <a:gd name="connsiteY6" fmla="*/ 0 h 293370"/>
              <a:gd name="connsiteX7" fmla="*/ 62865 w 2095500"/>
              <a:gd name="connsiteY7" fmla="*/ 0 h 29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293370">
                <a:moveTo>
                  <a:pt x="2032635" y="0"/>
                </a:moveTo>
                <a:cubicBezTo>
                  <a:pt x="2067355" y="0"/>
                  <a:pt x="2095500" y="0"/>
                  <a:pt x="2095500" y="0"/>
                </a:cubicBezTo>
                <a:lnTo>
                  <a:pt x="2095500" y="293370"/>
                </a:lnTo>
                <a:cubicBezTo>
                  <a:pt x="2095500" y="293370"/>
                  <a:pt x="2067355" y="293370"/>
                  <a:pt x="2032635" y="293370"/>
                </a:cubicBezTo>
                <a:lnTo>
                  <a:pt x="62865" y="293370"/>
                </a:lnTo>
                <a:cubicBezTo>
                  <a:pt x="28145" y="293370"/>
                  <a:pt x="0" y="293370"/>
                  <a:pt x="0" y="29337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DC2626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7" name="TextBox 2206">
            <a:extLst>
              <a:ext uri="{FF2B5EF4-FFF2-40B4-BE49-F238E27FC236}">
                <a16:creationId xmlns:a16="http://schemas.microsoft.com/office/drawing/2014/main" id="{15C53387-D4FE-4835-B437-50C091D47349}"/>
              </a:ext>
            </a:extLst>
          </p:cNvPr>
          <p:cNvSpPr txBox="1"/>
          <p:nvPr/>
        </p:nvSpPr>
        <p:spPr>
          <a:xfrm>
            <a:off x="6233235" y="3404355"/>
            <a:ext cx="1691489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Broyden RESTART (α=0.13, T=500K)</a:t>
            </a:r>
          </a:p>
        </p:txBody>
      </p:sp>
      <p:sp>
        <p:nvSpPr>
          <p:cNvPr id="2208" name="자유형: 도형 2207">
            <a:extLst>
              <a:ext uri="{FF2B5EF4-FFF2-40B4-BE49-F238E27FC236}">
                <a16:creationId xmlns:a16="http://schemas.microsoft.com/office/drawing/2014/main" id="{7BC903F7-067B-49FA-BAC3-23FF14151436}"/>
              </a:ext>
            </a:extLst>
          </p:cNvPr>
          <p:cNvSpPr/>
          <p:nvPr/>
        </p:nvSpPr>
        <p:spPr>
          <a:xfrm>
            <a:off x="8179117" y="348150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FCA5A5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9" name="자유형: 도형 2208">
            <a:extLst>
              <a:ext uri="{FF2B5EF4-FFF2-40B4-BE49-F238E27FC236}">
                <a16:creationId xmlns:a16="http://schemas.microsoft.com/office/drawing/2014/main" id="{EA90DE58-8FA7-40F5-B1B1-BAA4E631E27C}"/>
              </a:ext>
            </a:extLst>
          </p:cNvPr>
          <p:cNvSpPr/>
          <p:nvPr/>
        </p:nvSpPr>
        <p:spPr>
          <a:xfrm>
            <a:off x="8441055" y="3334823"/>
            <a:ext cx="2147887" cy="293370"/>
          </a:xfrm>
          <a:custGeom>
            <a:avLst/>
            <a:gdLst>
              <a:gd name="connsiteX0" fmla="*/ 2085023 w 2147887"/>
              <a:gd name="connsiteY0" fmla="*/ 0 h 293370"/>
              <a:gd name="connsiteX1" fmla="*/ 2147888 w 2147887"/>
              <a:gd name="connsiteY1" fmla="*/ 0 h 293370"/>
              <a:gd name="connsiteX2" fmla="*/ 2147888 w 2147887"/>
              <a:gd name="connsiteY2" fmla="*/ 293370 h 293370"/>
              <a:gd name="connsiteX3" fmla="*/ 2085023 w 2147887"/>
              <a:gd name="connsiteY3" fmla="*/ 293370 h 293370"/>
              <a:gd name="connsiteX4" fmla="*/ 62865 w 2147887"/>
              <a:gd name="connsiteY4" fmla="*/ 293370 h 293370"/>
              <a:gd name="connsiteX5" fmla="*/ 0 w 2147887"/>
              <a:gd name="connsiteY5" fmla="*/ 293370 h 293370"/>
              <a:gd name="connsiteX6" fmla="*/ 0 w 2147887"/>
              <a:gd name="connsiteY6" fmla="*/ 0 h 293370"/>
              <a:gd name="connsiteX7" fmla="*/ 62865 w 2147887"/>
              <a:gd name="connsiteY7" fmla="*/ 0 h 29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887" h="293370">
                <a:moveTo>
                  <a:pt x="2085023" y="0"/>
                </a:moveTo>
                <a:cubicBezTo>
                  <a:pt x="2119742" y="0"/>
                  <a:pt x="2147888" y="0"/>
                  <a:pt x="2147888" y="0"/>
                </a:cubicBezTo>
                <a:lnTo>
                  <a:pt x="2147888" y="293370"/>
                </a:lnTo>
                <a:cubicBezTo>
                  <a:pt x="2147888" y="293370"/>
                  <a:pt x="2119742" y="293370"/>
                  <a:pt x="2085023" y="293370"/>
                </a:cubicBezTo>
                <a:lnTo>
                  <a:pt x="62865" y="293370"/>
                </a:lnTo>
                <a:cubicBezTo>
                  <a:pt x="28145" y="293370"/>
                  <a:pt x="0" y="293370"/>
                  <a:pt x="0" y="29337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B91C1C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0" name="TextBox 2209">
            <a:extLst>
              <a:ext uri="{FF2B5EF4-FFF2-40B4-BE49-F238E27FC236}">
                <a16:creationId xmlns:a16="http://schemas.microsoft.com/office/drawing/2014/main" id="{D7978FBC-758F-458A-953E-F336046C4A02}"/>
              </a:ext>
            </a:extLst>
          </p:cNvPr>
          <p:cNvSpPr txBox="1"/>
          <p:nvPr/>
        </p:nvSpPr>
        <p:spPr>
          <a:xfrm>
            <a:off x="8619130" y="3383400"/>
            <a:ext cx="1781257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EPS_SCF 5e-7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최종</a:t>
            </a: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수렴</a:t>
            </a: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→ GEO_OPT</a:t>
            </a:r>
          </a:p>
        </p:txBody>
      </p:sp>
    </p:spTree>
    <p:extLst>
      <p:ext uri="{BB962C8B-B14F-4D97-AF65-F5344CB8AC3E}">
        <p14:creationId xmlns:p14="http://schemas.microsoft.com/office/powerpoint/2010/main" val="274925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try04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적용 전략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try03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교훈 기반 로드맵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3880198"/>
            <a:ext cx="11258550" cy="248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DIIS method</a:t>
            </a:r>
            <a:r>
              <a:rPr lang="ko-KR" altLang="en-US" sz="1050" dirty="0">
                <a:latin typeface="+mn-ea"/>
              </a:rPr>
              <a:t>로 </a:t>
            </a:r>
            <a:r>
              <a:rPr lang="en-US" altLang="ko-KR" sz="1050" dirty="0">
                <a:latin typeface="+mn-ea"/>
              </a:rPr>
              <a:t>192</a:t>
            </a:r>
            <a:r>
              <a:rPr lang="ko-KR" altLang="en-US" sz="1050" dirty="0">
                <a:latin typeface="+mn-ea"/>
              </a:rPr>
              <a:t>원자 시스템의 첫 번째 </a:t>
            </a:r>
            <a:r>
              <a:rPr lang="en-US" altLang="ko-KR" sz="1050" dirty="0">
                <a:latin typeface="+mn-ea"/>
              </a:rPr>
              <a:t>GEO_OPT step SCF</a:t>
            </a:r>
            <a:r>
              <a:rPr lang="ko-KR" altLang="en-US" sz="1050" dirty="0">
                <a:latin typeface="+mn-ea"/>
              </a:rPr>
              <a:t>가 </a:t>
            </a:r>
            <a:r>
              <a:rPr lang="en-US" altLang="ko-KR" sz="1050" dirty="0">
                <a:latin typeface="+mn-ea"/>
              </a:rPr>
              <a:t>96 step</a:t>
            </a:r>
            <a:r>
              <a:rPr lang="ko-KR" altLang="en-US" sz="1050" dirty="0">
                <a:latin typeface="+mn-ea"/>
              </a:rPr>
              <a:t>만에 수렴에 성공했으며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첫 번째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의 총 에너지는 </a:t>
            </a:r>
            <a:r>
              <a:rPr lang="en-US" altLang="ko-KR" sz="1050" dirty="0">
                <a:latin typeface="+mn-ea"/>
              </a:rPr>
              <a:t>-1886.3494 Ha</a:t>
            </a:r>
            <a:r>
              <a:rPr lang="ko-KR" altLang="en-US" sz="1050" dirty="0">
                <a:latin typeface="+mn-ea"/>
              </a:rPr>
              <a:t>로 확인되었습니다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현재 두 번째 </a:t>
            </a:r>
            <a:r>
              <a:rPr lang="en-US" altLang="ko-KR" sz="1050" dirty="0">
                <a:latin typeface="+mn-ea"/>
              </a:rPr>
              <a:t>GEO_OPT step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SCF</a:t>
            </a:r>
            <a:r>
              <a:rPr lang="ko-KR" altLang="en-US" sz="1050" dirty="0">
                <a:latin typeface="+mn-ea"/>
              </a:rPr>
              <a:t>가 진행 중</a:t>
            </a:r>
            <a:r>
              <a:rPr lang="en-US" altLang="ko-KR" sz="1050" dirty="0">
                <a:latin typeface="+mn-ea"/>
              </a:rPr>
              <a:t>(step ~63, convergence 1.6×10⁻⁶)</a:t>
            </a:r>
            <a:r>
              <a:rPr lang="ko-KR" altLang="en-US" sz="1050" dirty="0">
                <a:latin typeface="+mn-ea"/>
              </a:rPr>
              <a:t>이며</a:t>
            </a:r>
            <a:r>
              <a:rPr lang="en-US" altLang="ko-KR" sz="1050" dirty="0">
                <a:latin typeface="+mn-ea"/>
              </a:rPr>
              <a:t>, ASPC wavefunction extrapolation </a:t>
            </a:r>
            <a:r>
              <a:rPr lang="ko-KR" altLang="en-US" sz="1050" dirty="0">
                <a:latin typeface="+mn-ea"/>
              </a:rPr>
              <a:t>덕분에 첫 번째보다 빠르게 수렴 중입니다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dry-run </a:t>
            </a:r>
            <a:r>
              <a:rPr lang="ko-KR" altLang="en-US" sz="1050" dirty="0">
                <a:latin typeface="+mn-ea"/>
              </a:rPr>
              <a:t>과정에서 </a:t>
            </a:r>
            <a:r>
              <a:rPr lang="en-US" altLang="ko-KR" sz="1050" dirty="0">
                <a:latin typeface="+mn-ea"/>
              </a:rPr>
              <a:t>BAMOF_2IP_cluster-RESTART.wfn (6.6 MB) </a:t>
            </a:r>
            <a:r>
              <a:rPr lang="ko-KR" altLang="en-US" sz="1050" dirty="0">
                <a:latin typeface="+mn-ea"/>
              </a:rPr>
              <a:t>파일이 생성되었으며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 파일이 </a:t>
            </a:r>
            <a:r>
              <a:rPr lang="en-US" altLang="ko-KR" sz="1050" dirty="0">
                <a:latin typeface="+mn-ea"/>
              </a:rPr>
              <a:t>production run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초기값으로 사용됩니다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Production run</a:t>
            </a:r>
            <a:r>
              <a:rPr lang="ko-KR" altLang="en-US" sz="1050" dirty="0">
                <a:latin typeface="+mn-ea"/>
              </a:rPr>
              <a:t>에서는 </a:t>
            </a:r>
            <a:r>
              <a:rPr lang="en-US" altLang="ko-KR" sz="1050" dirty="0">
                <a:latin typeface="+mn-ea"/>
              </a:rPr>
              <a:t>OT method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mixing(α=0.15, 300 K, ADDED_MOS 170)</a:t>
            </a:r>
            <a:r>
              <a:rPr lang="ko-KR" altLang="en-US" sz="1050" dirty="0">
                <a:latin typeface="+mn-ea"/>
              </a:rPr>
              <a:t>으로 전환하고 </a:t>
            </a:r>
            <a:r>
              <a:rPr lang="en-US" altLang="ko-KR" sz="1050" dirty="0">
                <a:latin typeface="+mn-ea"/>
              </a:rPr>
              <a:t>SCF_GUESS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RESTART</a:t>
            </a:r>
            <a:r>
              <a:rPr lang="ko-KR" altLang="en-US" sz="1050" dirty="0">
                <a:latin typeface="+mn-ea"/>
              </a:rPr>
              <a:t>로 설정하여</a:t>
            </a:r>
            <a:r>
              <a:rPr lang="en-US" altLang="ko-KR" sz="1050" dirty="0">
                <a:latin typeface="+mn-ea"/>
              </a:rPr>
              <a:t>, try03 </a:t>
            </a:r>
            <a:r>
              <a:rPr lang="ko-KR" altLang="en-US" sz="1050" dirty="0">
                <a:latin typeface="+mn-ea"/>
              </a:rPr>
              <a:t>최종 계산과 동일한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조건에서 </a:t>
            </a:r>
            <a:r>
              <a:rPr lang="en-US" altLang="ko-KR" sz="1050" dirty="0">
                <a:latin typeface="+mn-ea"/>
              </a:rPr>
              <a:t>GEO_OPT</a:t>
            </a:r>
            <a:r>
              <a:rPr lang="ko-KR" altLang="en-US" sz="1050" dirty="0">
                <a:latin typeface="+mn-ea"/>
              </a:rPr>
              <a:t>를 수행합니다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이 전환으로 </a:t>
            </a:r>
            <a:r>
              <a:rPr lang="en-US" altLang="ko-KR" sz="1050" dirty="0">
                <a:latin typeface="+mn-ea"/>
              </a:rPr>
              <a:t>SCF step</a:t>
            </a:r>
            <a:r>
              <a:rPr lang="ko-KR" altLang="en-US" sz="1050" dirty="0">
                <a:latin typeface="+mn-ea"/>
              </a:rPr>
              <a:t>당 소요 시간이 </a:t>
            </a:r>
            <a:r>
              <a:rPr lang="en-US" altLang="ko-KR" sz="1050" dirty="0">
                <a:latin typeface="+mn-ea"/>
              </a:rPr>
              <a:t>OT </a:t>
            </a:r>
            <a:r>
              <a:rPr lang="ko-KR" altLang="en-US" sz="1050" dirty="0">
                <a:latin typeface="+mn-ea"/>
              </a:rPr>
              <a:t>후반부의 </a:t>
            </a:r>
            <a:r>
              <a:rPr lang="en-US" altLang="ko-KR" sz="1050" dirty="0">
                <a:latin typeface="+mn-ea"/>
              </a:rPr>
              <a:t>15~20</a:t>
            </a:r>
            <a:r>
              <a:rPr lang="ko-KR" altLang="en-US" sz="1050" dirty="0">
                <a:latin typeface="+mn-ea"/>
              </a:rPr>
              <a:t>초에서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5~6</a:t>
            </a:r>
            <a:r>
              <a:rPr lang="ko-KR" altLang="en-US" sz="1050" dirty="0">
                <a:latin typeface="+mn-ea"/>
              </a:rPr>
              <a:t>초로 약 </a:t>
            </a:r>
            <a:r>
              <a:rPr lang="en-US" altLang="ko-KR" sz="1050" dirty="0">
                <a:latin typeface="+mn-ea"/>
              </a:rPr>
              <a:t>3~4</a:t>
            </a:r>
            <a:r>
              <a:rPr lang="ko-KR" altLang="en-US" sz="1050" dirty="0">
                <a:latin typeface="+mn-ea"/>
              </a:rPr>
              <a:t>배 단축되며</a:t>
            </a:r>
            <a:r>
              <a:rPr lang="en-US" altLang="ko-KR" sz="1050" dirty="0">
                <a:latin typeface="+mn-ea"/>
              </a:rPr>
              <a:t>, GEO_OPT step</a:t>
            </a:r>
            <a:r>
              <a:rPr lang="ko-KR" altLang="en-US" sz="1050" dirty="0">
                <a:latin typeface="+mn-ea"/>
              </a:rPr>
              <a:t>당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수렴도 </a:t>
            </a:r>
            <a:r>
              <a:rPr lang="en-US" altLang="ko-KR" sz="1050" dirty="0">
                <a:latin typeface="+mn-ea"/>
              </a:rPr>
              <a:t>20~30 step</a:t>
            </a:r>
            <a:r>
              <a:rPr lang="ko-KR" altLang="en-US" sz="1050" dirty="0">
                <a:latin typeface="+mn-ea"/>
              </a:rPr>
              <a:t>으로 크게 줄어들 것으로 예상됩니다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try04 cluster</a:t>
            </a:r>
            <a:r>
              <a:rPr lang="ko-KR" altLang="en-US" sz="1050" dirty="0">
                <a:latin typeface="+mn-ea"/>
              </a:rPr>
              <a:t>의 현재 에너지</a:t>
            </a:r>
            <a:r>
              <a:rPr lang="en-US" altLang="ko-KR" sz="1050" dirty="0">
                <a:latin typeface="+mn-ea"/>
              </a:rPr>
              <a:t>(-1886.35 Ha)</a:t>
            </a:r>
            <a:r>
              <a:rPr lang="ko-KR" altLang="en-US" sz="1050" dirty="0">
                <a:latin typeface="+mn-ea"/>
              </a:rPr>
              <a:t>와 </a:t>
            </a:r>
            <a:r>
              <a:rPr lang="en-US" altLang="ko-KR" sz="1050" dirty="0">
                <a:latin typeface="+mn-ea"/>
              </a:rPr>
              <a:t>try03 cluster(-1613.80 Ha)</a:t>
            </a:r>
            <a:r>
              <a:rPr lang="ko-KR" altLang="en-US" sz="1050" dirty="0">
                <a:latin typeface="+mn-ea"/>
              </a:rPr>
              <a:t>의 차이 약 </a:t>
            </a:r>
            <a:r>
              <a:rPr lang="en-US" altLang="ko-KR" sz="1050" dirty="0">
                <a:latin typeface="+mn-ea"/>
              </a:rPr>
              <a:t>-272.55 Ha</a:t>
            </a:r>
            <a:r>
              <a:rPr lang="ko-KR" altLang="en-US" sz="1050" dirty="0">
                <a:latin typeface="+mn-ea"/>
              </a:rPr>
              <a:t>는 추가된 </a:t>
            </a:r>
            <a:r>
              <a:rPr lang="en-US" altLang="ko-KR" sz="1050" dirty="0">
                <a:latin typeface="+mn-ea"/>
              </a:rPr>
              <a:t>34</a:t>
            </a:r>
            <a:r>
              <a:rPr lang="ko-KR" altLang="en-US" sz="1050" dirty="0">
                <a:latin typeface="+mn-ea"/>
              </a:rPr>
              <a:t>개 원자</a:t>
            </a:r>
            <a:r>
              <a:rPr lang="en-US" altLang="ko-KR" sz="1050" dirty="0">
                <a:latin typeface="+mn-ea"/>
              </a:rPr>
              <a:t>(2</a:t>
            </a:r>
            <a:r>
              <a:rPr lang="ko-KR" altLang="en-US" sz="1050" dirty="0">
                <a:latin typeface="+mn-ea"/>
              </a:rPr>
              <a:t>번째 </a:t>
            </a:r>
            <a:r>
              <a:rPr lang="ko-KR" altLang="en-US" sz="1050" dirty="0" err="1">
                <a:latin typeface="+mn-ea"/>
              </a:rPr>
              <a:t>이온쌍</a:t>
            </a:r>
            <a:r>
              <a:rPr lang="en-US" altLang="ko-KR" sz="1050" dirty="0">
                <a:latin typeface="+mn-ea"/>
              </a:rPr>
              <a:t>: EMIM⁺ + TFSI⁻)</a:t>
            </a:r>
            <a:r>
              <a:rPr lang="ko-KR" altLang="en-US" sz="1050" dirty="0">
                <a:latin typeface="+mn-ea"/>
              </a:rPr>
              <a:t>의 전자 에너지 기여분으로</a:t>
            </a:r>
            <a:r>
              <a:rPr lang="en-US" altLang="ko-KR" sz="1050" dirty="0">
                <a:latin typeface="+mn-ea"/>
              </a:rPr>
              <a:t>, GEO_OPT </a:t>
            </a:r>
            <a:r>
              <a:rPr lang="ko-KR" altLang="en-US" sz="1050" dirty="0">
                <a:latin typeface="+mn-ea"/>
              </a:rPr>
              <a:t>수렴 후 이 값이 안정화되면 </a:t>
            </a:r>
            <a:r>
              <a:rPr lang="en-US" altLang="ko-KR" sz="1050" dirty="0">
                <a:latin typeface="+mn-ea"/>
              </a:rPr>
              <a:t>dissociate </a:t>
            </a:r>
            <a:r>
              <a:rPr lang="ko-KR" altLang="en-US" sz="1050" dirty="0">
                <a:latin typeface="+mn-ea"/>
              </a:rPr>
              <a:t>계산과 비교하여 </a:t>
            </a:r>
            <a:r>
              <a:rPr lang="en-US" altLang="ko-KR" sz="1050" dirty="0" err="1">
                <a:latin typeface="+mn-ea"/>
              </a:rPr>
              <a:t>E_diss</a:t>
            </a:r>
            <a:r>
              <a:rPr lang="ko-KR" altLang="en-US" sz="1050" dirty="0">
                <a:latin typeface="+mn-ea"/>
              </a:rPr>
              <a:t>를 산출합니다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다음 단계로 </a:t>
            </a:r>
            <a:r>
              <a:rPr lang="en-US" altLang="ko-KR" sz="1050" dirty="0">
                <a:latin typeface="+mn-ea"/>
              </a:rPr>
              <a:t>OT dry-run </a:t>
            </a:r>
            <a:r>
              <a:rPr lang="ko-KR" altLang="en-US" sz="1050" dirty="0">
                <a:latin typeface="+mn-ea"/>
              </a:rPr>
              <a:t>완전 종료 직후 </a:t>
            </a:r>
            <a:r>
              <a:rPr lang="en-US" altLang="ko-KR" sz="1050" dirty="0">
                <a:latin typeface="+mn-ea"/>
              </a:rPr>
              <a:t>Docker </a:t>
            </a:r>
            <a:r>
              <a:rPr lang="ko-KR" altLang="en-US" sz="1050" dirty="0">
                <a:latin typeface="+mn-ea"/>
              </a:rPr>
              <a:t>컨테이너를 교체하고 </a:t>
            </a:r>
            <a:r>
              <a:rPr lang="en-US" altLang="ko-KR" sz="1050" dirty="0" err="1">
                <a:latin typeface="+mn-ea"/>
              </a:rPr>
              <a:t>production.inp</a:t>
            </a:r>
            <a:r>
              <a:rPr lang="en-US" altLang="ko-KR" sz="1050" dirty="0">
                <a:latin typeface="+mn-ea"/>
              </a:rPr>
              <a:t>(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RESTART, MAX_ITER 600)</a:t>
            </a:r>
            <a:r>
              <a:rPr lang="ko-KR" altLang="en-US" sz="1050" dirty="0">
                <a:latin typeface="+mn-ea"/>
              </a:rPr>
              <a:t>으로 즉시 전환하여 본격적인 구조 최적화를 시작할 예정입니다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050" dirty="0">
              <a:latin typeface="+mn-ea"/>
            </a:endParaRPr>
          </a:p>
        </p:txBody>
      </p:sp>
      <p:pic>
        <p:nvPicPr>
          <p:cNvPr id="65" name="그래픽 64">
            <a:extLst>
              <a:ext uri="{FF2B5EF4-FFF2-40B4-BE49-F238E27FC236}">
                <a16:creationId xmlns:a16="http://schemas.microsoft.com/office/drawing/2014/main" id="{E0DA067C-5D46-4CFA-B26E-395ABBF2B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9720" y="781050"/>
            <a:ext cx="9144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40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try04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적용 전략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try03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교훈 기반 로드맵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3600450"/>
            <a:ext cx="11258550" cy="3456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dry-run</a:t>
            </a:r>
            <a:r>
              <a:rPr lang="ko-KR" altLang="en-US" sz="1050" dirty="0">
                <a:latin typeface="+mn-ea"/>
              </a:rPr>
              <a:t>이 총 </a:t>
            </a:r>
            <a:r>
              <a:rPr lang="en-US" altLang="ko-KR" sz="1050" dirty="0">
                <a:latin typeface="+mn-ea"/>
              </a:rPr>
              <a:t>57</a:t>
            </a:r>
            <a:r>
              <a:rPr lang="ko-KR" altLang="en-US" sz="1050" dirty="0">
                <a:latin typeface="+mn-ea"/>
              </a:rPr>
              <a:t>분 만에 완료되었으며</a:t>
            </a:r>
            <a:r>
              <a:rPr lang="en-US" altLang="ko-KR" sz="1050" dirty="0">
                <a:latin typeface="+mn-ea"/>
              </a:rPr>
              <a:t>, GEO_OPT 3</a:t>
            </a:r>
            <a:r>
              <a:rPr lang="ko-KR" altLang="en-US" sz="1050" dirty="0">
                <a:latin typeface="+mn-ea"/>
              </a:rPr>
              <a:t>개 </a:t>
            </a:r>
            <a:r>
              <a:rPr lang="en-US" altLang="ko-KR" sz="1050" dirty="0">
                <a:latin typeface="+mn-ea"/>
              </a:rPr>
              <a:t>step(step 0~2)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SCF</a:t>
            </a:r>
            <a:r>
              <a:rPr lang="ko-KR" altLang="en-US" sz="1050" dirty="0">
                <a:latin typeface="+mn-ea"/>
              </a:rPr>
              <a:t>가 각각 </a:t>
            </a:r>
            <a:r>
              <a:rPr lang="en-US" altLang="ko-KR" sz="1050" dirty="0">
                <a:latin typeface="+mn-ea"/>
              </a:rPr>
              <a:t>96, 75, 101 step</a:t>
            </a:r>
            <a:r>
              <a:rPr lang="ko-KR" altLang="en-US" sz="1050" dirty="0">
                <a:latin typeface="+mn-ea"/>
              </a:rPr>
              <a:t>에서 모두 수렴하여 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실패 </a:t>
            </a:r>
            <a:r>
              <a:rPr lang="en-US" altLang="ko-KR" sz="1050" dirty="0">
                <a:latin typeface="+mn-ea"/>
              </a:rPr>
              <a:t>0</a:t>
            </a:r>
            <a:r>
              <a:rPr lang="ko-KR" altLang="en-US" sz="1050" dirty="0">
                <a:latin typeface="+mn-ea"/>
              </a:rPr>
              <a:t>회라는 완벽한 결과를 기록했습니다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GEO_OPT </a:t>
            </a:r>
            <a:r>
              <a:rPr lang="ko-KR" altLang="en-US" sz="1050" dirty="0">
                <a:latin typeface="+mn-ea"/>
              </a:rPr>
              <a:t>에너지가 </a:t>
            </a:r>
            <a:r>
              <a:rPr lang="en-US" altLang="ko-KR" sz="1050" dirty="0">
                <a:latin typeface="+mn-ea"/>
              </a:rPr>
              <a:t>step 0(-1886.35 Ha) → step 1(-1911.53 Ha) → step 2(-1919.01 Ha)</a:t>
            </a:r>
            <a:r>
              <a:rPr lang="ko-KR" altLang="en-US" sz="1050" dirty="0">
                <a:latin typeface="+mn-ea"/>
              </a:rPr>
              <a:t>로 매 </a:t>
            </a:r>
            <a:r>
              <a:rPr lang="en-US" altLang="ko-KR" sz="1050" dirty="0">
                <a:latin typeface="+mn-ea"/>
              </a:rPr>
              <a:t>step </a:t>
            </a:r>
            <a:r>
              <a:rPr lang="ko-KR" altLang="en-US" sz="1050" dirty="0">
                <a:latin typeface="+mn-ea"/>
              </a:rPr>
              <a:t>급격히 하강하고 있는데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이는 초기 구조</a:t>
            </a:r>
            <a:r>
              <a:rPr lang="en-US" altLang="ko-KR" sz="1050" dirty="0">
                <a:latin typeface="+mn-ea"/>
              </a:rPr>
              <a:t>(build_structures.py</a:t>
            </a:r>
            <a:r>
              <a:rPr lang="ko-KR" altLang="en-US" sz="1050" dirty="0">
                <a:latin typeface="+mn-ea"/>
              </a:rPr>
              <a:t>로 생성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가 평형에서 멀리 떨어져 있어 이온쌍의 위치가 크게 재배치되는 초기 </a:t>
            </a:r>
            <a:r>
              <a:rPr lang="en-US" altLang="ko-KR" sz="1050" dirty="0">
                <a:latin typeface="+mn-ea"/>
              </a:rPr>
              <a:t>relaxation </a:t>
            </a:r>
            <a:r>
              <a:rPr lang="ko-KR" altLang="en-US" sz="1050" dirty="0">
                <a:latin typeface="+mn-ea"/>
              </a:rPr>
              <a:t>단계이기 때문입니다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ΔE</a:t>
            </a:r>
            <a:r>
              <a:rPr lang="ko-KR" altLang="en-US" sz="1050" dirty="0">
                <a:latin typeface="+mn-ea"/>
              </a:rPr>
              <a:t>가 </a:t>
            </a:r>
            <a:r>
              <a:rPr lang="en-US" altLang="ko-KR" sz="1050" dirty="0">
                <a:latin typeface="+mn-ea"/>
              </a:rPr>
              <a:t>step 0→1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-25.2 Ha, step 1→2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-7.5 Ha</a:t>
            </a:r>
            <a:r>
              <a:rPr lang="ko-KR" altLang="en-US" sz="1050" dirty="0">
                <a:latin typeface="+mn-ea"/>
              </a:rPr>
              <a:t>로 감소 폭이 줄어들고 있으며</a:t>
            </a:r>
            <a:r>
              <a:rPr lang="en-US" altLang="ko-KR" sz="1050" dirty="0">
                <a:latin typeface="+mn-ea"/>
              </a:rPr>
              <a:t>, production run</a:t>
            </a:r>
            <a:r>
              <a:rPr lang="ko-KR" altLang="en-US" sz="1050" dirty="0">
                <a:latin typeface="+mn-ea"/>
              </a:rPr>
              <a:t>이 진행될수록 </a:t>
            </a:r>
            <a:r>
              <a:rPr lang="en-US" altLang="ko-KR" sz="1050" dirty="0">
                <a:latin typeface="+mn-ea"/>
              </a:rPr>
              <a:t>ΔE</a:t>
            </a:r>
            <a:r>
              <a:rPr lang="ko-KR" altLang="en-US" sz="1050" dirty="0">
                <a:latin typeface="+mn-ea"/>
              </a:rPr>
              <a:t>가 </a:t>
            </a:r>
            <a:r>
              <a:rPr lang="en-US" altLang="ko-KR" sz="1050" dirty="0" err="1">
                <a:latin typeface="+mn-ea"/>
              </a:rPr>
              <a:t>mHa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수준으로 수렴하여 최종적으로 </a:t>
            </a:r>
            <a:r>
              <a:rPr lang="en-US" altLang="ko-KR" sz="1050" dirty="0">
                <a:latin typeface="+mn-ea"/>
              </a:rPr>
              <a:t>GEO_OPT convergence </a:t>
            </a:r>
            <a:r>
              <a:rPr lang="ko-KR" altLang="en-US" sz="1050" dirty="0">
                <a:latin typeface="+mn-ea"/>
              </a:rPr>
              <a:t>기준</a:t>
            </a:r>
            <a:r>
              <a:rPr lang="en-US" altLang="ko-KR" sz="1050" dirty="0">
                <a:latin typeface="+mn-ea"/>
              </a:rPr>
              <a:t>(MAX_FORCE 4.5×10⁻⁴)</a:t>
            </a:r>
            <a:r>
              <a:rPr lang="ko-KR" altLang="en-US" sz="1050" dirty="0">
                <a:latin typeface="+mn-ea"/>
              </a:rPr>
              <a:t>을 충족할 것으로 예상됩니다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Production run</a:t>
            </a:r>
            <a:r>
              <a:rPr lang="ko-KR" altLang="en-US" sz="1050" dirty="0">
                <a:latin typeface="+mn-ea"/>
              </a:rPr>
              <a:t>에서는 </a:t>
            </a:r>
            <a:r>
              <a:rPr lang="en-US" altLang="ko-KR" sz="1050" dirty="0">
                <a:latin typeface="+mn-ea"/>
              </a:rPr>
              <a:t>OT DIIS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mixing(α=0.15, T=300 K)</a:t>
            </a:r>
            <a:r>
              <a:rPr lang="ko-KR" altLang="en-US" sz="1050" dirty="0">
                <a:latin typeface="+mn-ea"/>
              </a:rPr>
              <a:t>으로 전환하고 </a:t>
            </a:r>
            <a:r>
              <a:rPr lang="en-US" altLang="ko-KR" sz="1050" dirty="0">
                <a:latin typeface="+mn-ea"/>
              </a:rPr>
              <a:t>SCF_GUESS RESTART</a:t>
            </a:r>
            <a:r>
              <a:rPr lang="ko-KR" altLang="en-US" sz="1050" dirty="0">
                <a:latin typeface="+mn-ea"/>
              </a:rPr>
              <a:t>를 사용하여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당 소요 시간을 </a:t>
            </a:r>
            <a:r>
              <a:rPr lang="en-US" altLang="ko-KR" sz="1050" dirty="0">
                <a:latin typeface="+mn-ea"/>
              </a:rPr>
              <a:t>15~20</a:t>
            </a:r>
            <a:r>
              <a:rPr lang="ko-KR" altLang="en-US" sz="1050" dirty="0">
                <a:latin typeface="+mn-ea"/>
              </a:rPr>
              <a:t>초에서 </a:t>
            </a:r>
            <a:r>
              <a:rPr lang="en-US" altLang="ko-KR" sz="1050" dirty="0">
                <a:latin typeface="+mn-ea"/>
              </a:rPr>
              <a:t>5~6</a:t>
            </a:r>
            <a:r>
              <a:rPr lang="ko-KR" altLang="en-US" sz="1050" dirty="0">
                <a:latin typeface="+mn-ea"/>
              </a:rPr>
              <a:t>초로</a:t>
            </a:r>
            <a:r>
              <a:rPr lang="en-US" altLang="ko-KR" sz="1050" dirty="0">
                <a:latin typeface="+mn-ea"/>
              </a:rPr>
              <a:t>, SCF </a:t>
            </a:r>
            <a:r>
              <a:rPr lang="ko-KR" altLang="en-US" sz="1050" dirty="0">
                <a:latin typeface="+mn-ea"/>
              </a:rPr>
              <a:t>수렴 </a:t>
            </a:r>
            <a:r>
              <a:rPr lang="en-US" altLang="ko-KR" sz="1050" dirty="0">
                <a:latin typeface="+mn-ea"/>
              </a:rPr>
              <a:t>step </a:t>
            </a:r>
            <a:r>
              <a:rPr lang="ko-KR" altLang="en-US" sz="1050" dirty="0">
                <a:latin typeface="+mn-ea"/>
              </a:rPr>
              <a:t>수를 </a:t>
            </a:r>
            <a:r>
              <a:rPr lang="en-US" altLang="ko-KR" sz="1050" dirty="0">
                <a:latin typeface="+mn-ea"/>
              </a:rPr>
              <a:t>75~101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20~30</a:t>
            </a:r>
            <a:r>
              <a:rPr lang="ko-KR" altLang="en-US" sz="1050" dirty="0">
                <a:latin typeface="+mn-ea"/>
              </a:rPr>
              <a:t>으로 대폭 단축합니다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GEO_OPT step</a:t>
            </a:r>
            <a:r>
              <a:rPr lang="ko-KR" altLang="en-US" sz="1050" dirty="0">
                <a:latin typeface="+mn-ea"/>
              </a:rPr>
              <a:t>당 약 </a:t>
            </a:r>
            <a:r>
              <a:rPr lang="en-US" altLang="ko-KR" sz="1050" dirty="0">
                <a:latin typeface="+mn-ea"/>
              </a:rPr>
              <a:t>2.3</a:t>
            </a:r>
            <a:r>
              <a:rPr lang="ko-KR" altLang="en-US" sz="1050" dirty="0">
                <a:latin typeface="+mn-ea"/>
              </a:rPr>
              <a:t>분</a:t>
            </a:r>
            <a:r>
              <a:rPr lang="en-US" altLang="ko-KR" sz="1050" dirty="0">
                <a:latin typeface="+mn-ea"/>
              </a:rPr>
              <a:t>(25 SCF × 5.5</a:t>
            </a:r>
            <a:r>
              <a:rPr lang="ko-KR" altLang="en-US" sz="1050" dirty="0">
                <a:latin typeface="+mn-ea"/>
              </a:rPr>
              <a:t>초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으로 추정하면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수렴까지 약 </a:t>
            </a:r>
            <a:r>
              <a:rPr lang="en-US" altLang="ko-KR" sz="1050" dirty="0">
                <a:latin typeface="+mn-ea"/>
              </a:rPr>
              <a:t>200~300 GEO_OPT step</a:t>
            </a:r>
            <a:r>
              <a:rPr lang="ko-KR" altLang="en-US" sz="1050" dirty="0">
                <a:latin typeface="+mn-ea"/>
              </a:rPr>
              <a:t>이 필요할 경우 총 </a:t>
            </a:r>
            <a:r>
              <a:rPr lang="en-US" altLang="ko-KR" sz="1050" dirty="0">
                <a:latin typeface="+mn-ea"/>
              </a:rPr>
              <a:t>production </a:t>
            </a:r>
            <a:r>
              <a:rPr lang="ko-KR" altLang="en-US" sz="1050" dirty="0">
                <a:latin typeface="+mn-ea"/>
              </a:rPr>
              <a:t>소요시간은 약 </a:t>
            </a:r>
            <a:r>
              <a:rPr lang="en-US" altLang="ko-KR" sz="1050" dirty="0">
                <a:latin typeface="+mn-ea"/>
              </a:rPr>
              <a:t>8~12</a:t>
            </a:r>
            <a:r>
              <a:rPr lang="ko-KR" altLang="en-US" sz="1050" dirty="0">
                <a:latin typeface="+mn-ea"/>
              </a:rPr>
              <a:t>시간이며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이는 </a:t>
            </a:r>
            <a:r>
              <a:rPr lang="en-US" altLang="ko-KR" sz="1050" dirty="0" err="1">
                <a:latin typeface="+mn-ea"/>
              </a:rPr>
              <a:t>tmux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백그라운드 실행으로 </a:t>
            </a:r>
            <a:r>
              <a:rPr lang="en-US" altLang="ko-KR" sz="1050" dirty="0">
                <a:latin typeface="+mn-ea"/>
              </a:rPr>
              <a:t>overnight</a:t>
            </a:r>
            <a:r>
              <a:rPr lang="ko-KR" altLang="en-US" sz="1050" dirty="0">
                <a:latin typeface="+mn-ea"/>
              </a:rPr>
              <a:t>에 완료 가능한 규모입니다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dry-run</a:t>
            </a:r>
            <a:r>
              <a:rPr lang="ko-KR" altLang="en-US" sz="1050" dirty="0">
                <a:latin typeface="+mn-ea"/>
              </a:rPr>
              <a:t>의 </a:t>
            </a:r>
            <a:r>
              <a:rPr lang="en-US" altLang="ko-KR" sz="1050" dirty="0">
                <a:latin typeface="+mn-ea"/>
              </a:rPr>
              <a:t>--rm </a:t>
            </a:r>
            <a:r>
              <a:rPr lang="ko-KR" altLang="en-US" sz="1050" dirty="0">
                <a:latin typeface="+mn-ea"/>
              </a:rPr>
              <a:t>플래그로 인해 종료 시 </a:t>
            </a:r>
            <a:r>
              <a:rPr lang="en-US" altLang="ko-KR" sz="1050" dirty="0">
                <a:latin typeface="+mn-ea"/>
              </a:rPr>
              <a:t>Docker </a:t>
            </a:r>
            <a:r>
              <a:rPr lang="ko-KR" altLang="en-US" sz="1050" dirty="0">
                <a:latin typeface="+mn-ea"/>
              </a:rPr>
              <a:t>컨테이너가 자동 삭제되므로 별도의 정리 작업 없이 즉시 새 컨테이너로 </a:t>
            </a:r>
            <a:r>
              <a:rPr lang="en-US" altLang="ko-KR" sz="1050" dirty="0" err="1">
                <a:latin typeface="+mn-ea"/>
              </a:rPr>
              <a:t>production.inp</a:t>
            </a:r>
            <a:r>
              <a:rPr lang="ko-KR" altLang="en-US" sz="1050" dirty="0">
                <a:latin typeface="+mn-ea"/>
              </a:rPr>
              <a:t>을 실행할 수 있으며</a:t>
            </a:r>
            <a:r>
              <a:rPr lang="en-US" altLang="ko-KR" sz="1050" dirty="0">
                <a:latin typeface="+mn-ea"/>
              </a:rPr>
              <a:t>, 6.6 MB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 err="1">
                <a:latin typeface="+mn-ea"/>
              </a:rPr>
              <a:t>RESTART.wfn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파일이 디스크에 보존되어 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다음 즉시 실행 항목은 </a:t>
            </a:r>
            <a:r>
              <a:rPr lang="en-US" altLang="ko-KR" sz="1050" dirty="0" err="1">
                <a:latin typeface="+mn-ea"/>
              </a:rPr>
              <a:t>tmux</a:t>
            </a:r>
            <a:r>
              <a:rPr lang="ko-KR" altLang="en-US" sz="1050" dirty="0">
                <a:latin typeface="+mn-ea"/>
              </a:rPr>
              <a:t>로 </a:t>
            </a:r>
            <a:r>
              <a:rPr lang="en-US" altLang="ko-KR" sz="1050" dirty="0">
                <a:latin typeface="+mn-ea"/>
              </a:rPr>
              <a:t>production run</a:t>
            </a:r>
            <a:r>
              <a:rPr lang="ko-KR" altLang="en-US" sz="1050" dirty="0">
                <a:latin typeface="+mn-ea"/>
              </a:rPr>
              <a:t>을 백그라운드 시작한 뒤</a:t>
            </a:r>
            <a:r>
              <a:rPr lang="en-US" altLang="ko-KR" sz="1050" dirty="0">
                <a:latin typeface="+mn-ea"/>
              </a:rPr>
              <a:t>, dissociate </a:t>
            </a:r>
            <a:r>
              <a:rPr lang="ko-KR" altLang="en-US" sz="1050" dirty="0">
                <a:latin typeface="+mn-ea"/>
              </a:rPr>
              <a:t>폴더에도 동일한 </a:t>
            </a:r>
            <a:r>
              <a:rPr lang="en-US" altLang="ko-KR" sz="1050" dirty="0">
                <a:latin typeface="+mn-ea"/>
              </a:rPr>
              <a:t>OT dry-run →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전환 파이프라인을 준비하여 </a:t>
            </a:r>
            <a:r>
              <a:rPr lang="en-US" altLang="ko-KR" sz="1050" dirty="0">
                <a:latin typeface="+mn-ea"/>
              </a:rPr>
              <a:t>cluster </a:t>
            </a:r>
            <a:r>
              <a:rPr lang="ko-KR" altLang="en-US" sz="1050" dirty="0">
                <a:latin typeface="+mn-ea"/>
              </a:rPr>
              <a:t>수렴 후 곧바로 이어서 실행하는 것입니다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050" dirty="0">
              <a:latin typeface="+mn-ea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9134EEC-5B56-4308-A719-B7C3E0E26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915" y="723900"/>
            <a:ext cx="9543962" cy="298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64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Broyden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실패 →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OT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전환 결정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176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RESTART (α=0.15, 300 K)</a:t>
            </a:r>
            <a:r>
              <a:rPr lang="ko-KR" altLang="en-US" sz="1050" dirty="0">
                <a:latin typeface="+mn-ea"/>
              </a:rPr>
              <a:t>로 </a:t>
            </a:r>
            <a:r>
              <a:rPr lang="en-US" altLang="ko-KR" sz="1050" dirty="0" err="1">
                <a:latin typeface="+mn-ea"/>
              </a:rPr>
              <a:t>production.inp</a:t>
            </a:r>
            <a:r>
              <a:rPr lang="ko-KR" altLang="en-US" sz="1050" dirty="0">
                <a:latin typeface="+mn-ea"/>
              </a:rPr>
              <a:t>을 실행했으나</a:t>
            </a:r>
            <a:r>
              <a:rPr lang="en-US" altLang="ko-KR" sz="1050" dirty="0">
                <a:latin typeface="+mn-ea"/>
              </a:rPr>
              <a:t>, SCF </a:t>
            </a:r>
            <a:r>
              <a:rPr lang="ko-KR" altLang="en-US" sz="1050" dirty="0">
                <a:latin typeface="+mn-ea"/>
              </a:rPr>
              <a:t>에너지가 </a:t>
            </a:r>
            <a:r>
              <a:rPr lang="en-US" altLang="ko-KR" sz="1050" dirty="0">
                <a:latin typeface="+mn-ea"/>
              </a:rPr>
              <a:t>-1886 ~ -1887 Ha </a:t>
            </a:r>
            <a:r>
              <a:rPr lang="ko-KR" altLang="en-US" sz="1050" dirty="0">
                <a:latin typeface="+mn-ea"/>
              </a:rPr>
              <a:t>사이에서 진동하며 </a:t>
            </a:r>
            <a:r>
              <a:rPr lang="en-US" altLang="ko-KR" sz="1050" dirty="0">
                <a:latin typeface="+mn-ea"/>
              </a:rPr>
              <a:t>OT dry-run </a:t>
            </a:r>
            <a:r>
              <a:rPr lang="ko-KR" altLang="en-US" sz="1050" dirty="0" err="1">
                <a:latin typeface="+mn-ea"/>
              </a:rPr>
              <a:t>최종값</a:t>
            </a:r>
            <a:r>
              <a:rPr lang="en-US" altLang="ko-KR" sz="1050" dirty="0">
                <a:latin typeface="+mn-ea"/>
              </a:rPr>
              <a:t>(-1919 Ha)</a:t>
            </a:r>
            <a:r>
              <a:rPr lang="ko-KR" altLang="en-US" sz="1050" dirty="0">
                <a:latin typeface="+mn-ea"/>
              </a:rPr>
              <a:t>에 수렴하지 못함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원인은 </a:t>
            </a:r>
            <a:r>
              <a:rPr lang="en-US" altLang="ko-KR" sz="1050" dirty="0">
                <a:latin typeface="+mn-ea"/>
              </a:rPr>
              <a:t>OT(</a:t>
            </a:r>
            <a:r>
              <a:rPr lang="ko-KR" altLang="en-US" sz="1050" dirty="0">
                <a:latin typeface="+mn-ea"/>
              </a:rPr>
              <a:t>정수 </a:t>
            </a:r>
            <a:r>
              <a:rPr lang="en-US" altLang="ko-KR" sz="1050" dirty="0">
                <a:latin typeface="+mn-ea"/>
              </a:rPr>
              <a:t>occupation)</a:t>
            </a:r>
            <a:r>
              <a:rPr lang="ko-KR" altLang="en-US" sz="1050" dirty="0">
                <a:latin typeface="+mn-ea"/>
              </a:rPr>
              <a:t>와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(Fermi-Dirac smearing)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occupation </a:t>
            </a:r>
            <a:r>
              <a:rPr lang="ko-KR" altLang="en-US" sz="1050" dirty="0">
                <a:latin typeface="+mn-ea"/>
              </a:rPr>
              <a:t>불일치로</a:t>
            </a:r>
            <a:r>
              <a:rPr lang="en-US" altLang="ko-KR" sz="1050" dirty="0">
                <a:latin typeface="+mn-ea"/>
              </a:rPr>
              <a:t>, RESTART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ko-KR" altLang="en-US" sz="1050" dirty="0">
                <a:latin typeface="+mn-ea"/>
              </a:rPr>
              <a:t>의 초기 밀도행렬이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방식과 호환되지 않았기 때문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11 step</a:t>
            </a:r>
            <a:r>
              <a:rPr lang="ko-KR" altLang="en-US" sz="1050" dirty="0">
                <a:latin typeface="+mn-ea"/>
              </a:rPr>
              <a:t>까지 에너지 변화</a:t>
            </a:r>
            <a:r>
              <a:rPr lang="en-US" altLang="ko-KR" sz="1050" dirty="0">
                <a:latin typeface="+mn-ea"/>
              </a:rPr>
              <a:t>(Change)</a:t>
            </a:r>
            <a:r>
              <a:rPr lang="ko-KR" altLang="en-US" sz="1050" dirty="0">
                <a:latin typeface="+mn-ea"/>
              </a:rPr>
              <a:t>가 </a:t>
            </a:r>
            <a:r>
              <a:rPr lang="en-US" altLang="ko-KR" sz="1050" dirty="0">
                <a:latin typeface="+mn-ea"/>
              </a:rPr>
              <a:t>±0.6 Ha </a:t>
            </a:r>
            <a:r>
              <a:rPr lang="ko-KR" altLang="en-US" sz="1050" dirty="0">
                <a:latin typeface="+mn-ea"/>
              </a:rPr>
              <a:t>수준으로 감소 추세 없이 발산 패턴을 보임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즉시 </a:t>
            </a:r>
            <a:r>
              <a:rPr lang="en-US" altLang="ko-KR" sz="1050" dirty="0">
                <a:latin typeface="+mn-ea"/>
              </a:rPr>
              <a:t>Docker </a:t>
            </a:r>
            <a:r>
              <a:rPr lang="ko-KR" altLang="en-US" sz="1050" dirty="0">
                <a:latin typeface="+mn-ea"/>
              </a:rPr>
              <a:t>컨테이너를 중지하고 </a:t>
            </a:r>
            <a:r>
              <a:rPr lang="en-US" altLang="ko-KR" sz="1050" dirty="0">
                <a:latin typeface="+mn-ea"/>
              </a:rPr>
              <a:t>OT </a:t>
            </a:r>
            <a:r>
              <a:rPr lang="ko-KR" altLang="en-US" sz="1050" dirty="0">
                <a:latin typeface="+mn-ea"/>
              </a:rPr>
              <a:t>방식으로 </a:t>
            </a:r>
            <a:r>
              <a:rPr lang="en-US" altLang="ko-KR" sz="1050" dirty="0">
                <a:latin typeface="+mn-ea"/>
              </a:rPr>
              <a:t>production run</a:t>
            </a:r>
            <a:r>
              <a:rPr lang="ko-KR" altLang="en-US" sz="1050" dirty="0">
                <a:latin typeface="+mn-ea"/>
              </a:rPr>
              <a:t>을 전환하기로 결정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production_ot.inp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파일 생성</a:t>
            </a:r>
            <a:r>
              <a:rPr lang="en-US" altLang="ko-KR" sz="1050" dirty="0">
                <a:latin typeface="+mn-ea"/>
              </a:rPr>
              <a:t>: OT DIIS, FULL_ALL preconditioner, ENERGY_GAP 0.01, OUTER_SCF MAX_SCF 20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SCF_GUESS RESTART + STEP_START_VAL 2</a:t>
            </a:r>
            <a:r>
              <a:rPr lang="ko-KR" altLang="en-US" sz="1050" dirty="0">
                <a:latin typeface="+mn-ea"/>
              </a:rPr>
              <a:t>로 기존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ko-KR" altLang="en-US" sz="1050" dirty="0">
                <a:latin typeface="+mn-ea"/>
              </a:rPr>
              <a:t>과 </a:t>
            </a:r>
            <a:r>
              <a:rPr lang="en-US" altLang="ko-KR" sz="1050" dirty="0">
                <a:latin typeface="+mn-ea"/>
              </a:rPr>
              <a:t>GEO_OPT </a:t>
            </a:r>
            <a:r>
              <a:rPr lang="ko-KR" altLang="en-US" sz="1050" dirty="0">
                <a:latin typeface="+mn-ea"/>
              </a:rPr>
              <a:t>진행 상황을 이어받음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ASPC extrapolation(ORDER 3)</a:t>
            </a:r>
            <a:r>
              <a:rPr lang="ko-KR" altLang="en-US" sz="1050" dirty="0">
                <a:latin typeface="+mn-ea"/>
              </a:rPr>
              <a:t>으로 후속 </a:t>
            </a:r>
            <a:r>
              <a:rPr lang="en-US" altLang="ko-KR" sz="1050" dirty="0">
                <a:latin typeface="+mn-ea"/>
              </a:rPr>
              <a:t>GEO_OPT step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초기값을 점진적으로 개선</a:t>
            </a:r>
            <a:endParaRPr lang="en-US" altLang="ko-KR" sz="1050" dirty="0">
              <a:latin typeface="+mn-ea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0959FF2-B613-47AB-A74B-FE1B32E25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400" y="845820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26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OT Dry-Run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결과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(57min, 3/3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수렴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176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DIIS dry-run(MAX_ITER 2)</a:t>
            </a:r>
            <a:r>
              <a:rPr lang="ko-KR" altLang="en-US" sz="1050" dirty="0">
                <a:latin typeface="+mn-ea"/>
              </a:rPr>
              <a:t>이 </a:t>
            </a:r>
            <a:r>
              <a:rPr lang="en-US" altLang="ko-KR" sz="1050" dirty="0">
                <a:latin typeface="+mn-ea"/>
              </a:rPr>
              <a:t>57</a:t>
            </a:r>
            <a:r>
              <a:rPr lang="ko-KR" altLang="en-US" sz="1050" dirty="0">
                <a:latin typeface="+mn-ea"/>
              </a:rPr>
              <a:t>분 만에 완료</a:t>
            </a:r>
            <a:r>
              <a:rPr lang="en-US" altLang="ko-KR" sz="1050" dirty="0">
                <a:latin typeface="+mn-ea"/>
              </a:rPr>
              <a:t>: GEO_OPT 3</a:t>
            </a:r>
            <a:r>
              <a:rPr lang="ko-KR" altLang="en-US" sz="1050" dirty="0">
                <a:latin typeface="+mn-ea"/>
              </a:rPr>
              <a:t>단계</a:t>
            </a:r>
            <a:r>
              <a:rPr lang="en-US" altLang="ko-KR" sz="1050" dirty="0">
                <a:latin typeface="+mn-ea"/>
              </a:rPr>
              <a:t>(step 0→2)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SCF</a:t>
            </a:r>
            <a:r>
              <a:rPr lang="ko-KR" altLang="en-US" sz="1050" dirty="0">
                <a:latin typeface="+mn-ea"/>
              </a:rPr>
              <a:t>가 각각 </a:t>
            </a:r>
            <a:r>
              <a:rPr lang="en-US" altLang="ko-KR" sz="1050" dirty="0">
                <a:latin typeface="+mn-ea"/>
              </a:rPr>
              <a:t>96, 75, 101</a:t>
            </a:r>
            <a:r>
              <a:rPr lang="ko-KR" altLang="en-US" sz="1050" dirty="0">
                <a:latin typeface="+mn-ea"/>
              </a:rPr>
              <a:t>회 수렴 </a:t>
            </a:r>
            <a:r>
              <a:rPr lang="en-US" altLang="ko-KR" sz="1050" dirty="0">
                <a:latin typeface="+mn-ea"/>
              </a:rPr>
              <a:t>(0</a:t>
            </a:r>
            <a:r>
              <a:rPr lang="ko-KR" altLang="en-US" sz="1050" dirty="0">
                <a:latin typeface="+mn-ea"/>
              </a:rPr>
              <a:t>회 실패</a:t>
            </a:r>
            <a:r>
              <a:rPr lang="en-US" altLang="ko-KR" sz="1050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에너지</a:t>
            </a:r>
            <a:r>
              <a:rPr lang="en-US" altLang="ko-KR" sz="1050" dirty="0">
                <a:latin typeface="+mn-ea"/>
              </a:rPr>
              <a:t>: Step 0 = -1886.349 Ha → Step 1 = -1911.530 Ha → Step 2 = -1919.008 Ha</a:t>
            </a:r>
            <a:r>
              <a:rPr lang="ko-KR" altLang="en-US" sz="1050" dirty="0">
                <a:latin typeface="+mn-ea"/>
              </a:rPr>
              <a:t>로 단조 감소 확인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l-GR" altLang="ko-KR" sz="1050" dirty="0">
                <a:latin typeface="+mn-ea"/>
              </a:rPr>
              <a:t>Δ</a:t>
            </a:r>
            <a:r>
              <a:rPr lang="en-US" altLang="ko-KR" sz="1050" dirty="0">
                <a:latin typeface="+mn-ea"/>
              </a:rPr>
              <a:t>E = -25.2 Ha (0→1), -7.5 Ha (1→2): </a:t>
            </a:r>
            <a:r>
              <a:rPr lang="ko-KR" altLang="en-US" sz="1050" dirty="0">
                <a:latin typeface="+mn-ea"/>
              </a:rPr>
              <a:t>구조가 아직 초기 </a:t>
            </a:r>
            <a:r>
              <a:rPr lang="en-US" altLang="ko-KR" sz="1050" dirty="0">
                <a:latin typeface="+mn-ea"/>
              </a:rPr>
              <a:t>relaxation </a:t>
            </a:r>
            <a:r>
              <a:rPr lang="ko-KR" altLang="en-US" sz="1050" dirty="0">
                <a:latin typeface="+mn-ea"/>
              </a:rPr>
              <a:t>단계이며 </a:t>
            </a:r>
            <a:r>
              <a:rPr lang="en-US" altLang="ko-KR" sz="1050" dirty="0">
                <a:latin typeface="+mn-ea"/>
              </a:rPr>
              <a:t>production</a:t>
            </a:r>
            <a:r>
              <a:rPr lang="ko-KR" altLang="en-US" sz="1050" dirty="0">
                <a:latin typeface="+mn-ea"/>
              </a:rPr>
              <a:t>에서 수백 </a:t>
            </a:r>
            <a:r>
              <a:rPr lang="en-US" altLang="ko-KR" sz="1050" dirty="0">
                <a:latin typeface="+mn-ea"/>
              </a:rPr>
              <a:t>step </a:t>
            </a:r>
            <a:r>
              <a:rPr lang="ko-KR" altLang="en-US" sz="1050" dirty="0">
                <a:latin typeface="+mn-ea"/>
              </a:rPr>
              <a:t>후 수렴 예상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GPU </a:t>
            </a:r>
            <a:r>
              <a:rPr lang="ko-KR" altLang="en-US" sz="1050" dirty="0">
                <a:latin typeface="+mn-ea"/>
              </a:rPr>
              <a:t>활용</a:t>
            </a:r>
            <a:r>
              <a:rPr lang="en-US" altLang="ko-KR" sz="1050" dirty="0">
                <a:latin typeface="+mn-ea"/>
              </a:rPr>
              <a:t>: RTX 5090 100% </a:t>
            </a:r>
            <a:r>
              <a:rPr lang="ko-KR" altLang="en-US" sz="1050" dirty="0">
                <a:latin typeface="+mn-ea"/>
              </a:rPr>
              <a:t>사용</a:t>
            </a:r>
            <a:r>
              <a:rPr lang="en-US" altLang="ko-KR" sz="1050" dirty="0">
                <a:latin typeface="+mn-ea"/>
              </a:rPr>
              <a:t>, 12.8 GB VRAM, 252 W </a:t>
            </a:r>
            <a:r>
              <a:rPr lang="ko-KR" altLang="en-US" sz="1050" dirty="0">
                <a:latin typeface="+mn-ea"/>
              </a:rPr>
              <a:t>소비</a:t>
            </a:r>
            <a:r>
              <a:rPr lang="en-US" altLang="ko-KR" sz="1050" dirty="0">
                <a:latin typeface="+mn-ea"/>
              </a:rPr>
              <a:t>; CPU 404% (16 threads)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ASPC extrapolation </a:t>
            </a:r>
            <a:r>
              <a:rPr lang="ko-KR" altLang="en-US" sz="1050" dirty="0">
                <a:latin typeface="+mn-ea"/>
              </a:rPr>
              <a:t>효과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첫 </a:t>
            </a:r>
            <a:r>
              <a:rPr lang="en-US" altLang="ko-KR" sz="1050" dirty="0">
                <a:latin typeface="+mn-ea"/>
              </a:rPr>
              <a:t>SCF 96 step → </a:t>
            </a:r>
            <a:r>
              <a:rPr lang="ko-KR" altLang="en-US" sz="1050" dirty="0">
                <a:latin typeface="+mn-ea"/>
              </a:rPr>
              <a:t>두 번째 </a:t>
            </a:r>
            <a:r>
              <a:rPr lang="en-US" altLang="ko-KR" sz="1050" dirty="0">
                <a:latin typeface="+mn-ea"/>
              </a:rPr>
              <a:t>75 step</a:t>
            </a:r>
            <a:r>
              <a:rPr lang="ko-KR" altLang="en-US" sz="1050" dirty="0">
                <a:latin typeface="+mn-ea"/>
              </a:rPr>
              <a:t>으로 </a:t>
            </a:r>
            <a:r>
              <a:rPr lang="en-US" altLang="ko-KR" sz="1050" dirty="0">
                <a:latin typeface="+mn-ea"/>
              </a:rPr>
              <a:t>22% </a:t>
            </a:r>
            <a:r>
              <a:rPr lang="ko-KR" altLang="en-US" sz="1050" dirty="0">
                <a:latin typeface="+mn-ea"/>
              </a:rPr>
              <a:t>감소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이후 추가 감소 예상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wfn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파일</a:t>
            </a:r>
            <a:r>
              <a:rPr lang="en-US" altLang="ko-KR" sz="1050" dirty="0">
                <a:latin typeface="+mn-ea"/>
              </a:rPr>
              <a:t>(6.6 MB) </a:t>
            </a:r>
            <a:r>
              <a:rPr lang="ko-KR" altLang="en-US" sz="1050" dirty="0">
                <a:latin typeface="+mn-ea"/>
              </a:rPr>
              <a:t>정상 생성</a:t>
            </a:r>
            <a:r>
              <a:rPr lang="en-US" altLang="ko-KR" sz="1050" dirty="0">
                <a:latin typeface="+mn-ea"/>
              </a:rPr>
              <a:t>, BAMOF_2IP_cluster-RESTART.wfn</a:t>
            </a:r>
            <a:r>
              <a:rPr lang="ko-KR" altLang="en-US" sz="1050" dirty="0">
                <a:latin typeface="+mn-ea"/>
              </a:rPr>
              <a:t>으로 </a:t>
            </a:r>
            <a:r>
              <a:rPr lang="en-US" altLang="ko-KR" sz="1050" dirty="0">
                <a:latin typeface="+mn-ea"/>
              </a:rPr>
              <a:t>production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RESTART </a:t>
            </a:r>
            <a:r>
              <a:rPr lang="ko-KR" altLang="en-US" sz="1050" dirty="0">
                <a:latin typeface="+mn-ea"/>
              </a:rPr>
              <a:t>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당 시간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초반 </a:t>
            </a:r>
            <a:r>
              <a:rPr lang="en-US" altLang="ko-KR" sz="1050" dirty="0">
                <a:latin typeface="+mn-ea"/>
              </a:rPr>
              <a:t>~5.4 s → </a:t>
            </a:r>
            <a:r>
              <a:rPr lang="ko-KR" altLang="en-US" sz="1050" dirty="0">
                <a:latin typeface="+mn-ea"/>
              </a:rPr>
              <a:t>후반</a:t>
            </a:r>
            <a:r>
              <a:rPr lang="en-US" altLang="ko-KR" sz="1050" dirty="0">
                <a:latin typeface="+mn-ea"/>
              </a:rPr>
              <a:t>(preconditioner </a:t>
            </a:r>
            <a:r>
              <a:rPr lang="ko-KR" altLang="en-US" sz="1050" dirty="0">
                <a:latin typeface="+mn-ea"/>
              </a:rPr>
              <a:t>재계산</a:t>
            </a:r>
            <a:r>
              <a:rPr lang="en-US" altLang="ko-KR" sz="1050" dirty="0">
                <a:latin typeface="+mn-ea"/>
              </a:rPr>
              <a:t>) ~15–20 s, GEO_OPT 1 step </a:t>
            </a:r>
            <a:r>
              <a:rPr lang="ko-KR" altLang="en-US" sz="1050" dirty="0">
                <a:latin typeface="+mn-ea"/>
              </a:rPr>
              <a:t>평균 </a:t>
            </a:r>
            <a:r>
              <a:rPr lang="en-US" altLang="ko-KR" sz="1050" dirty="0">
                <a:latin typeface="+mn-ea"/>
              </a:rPr>
              <a:t>~19 min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72FB3ED8-DF8D-4E72-BFF6-40624EB81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392" y="868651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32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OT SCF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수렴 속도 비교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첫 번째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vs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두 번째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GEO_OPT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176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첫 번째 </a:t>
            </a:r>
            <a:r>
              <a:rPr lang="en-US" altLang="ko-KR" sz="1050" dirty="0">
                <a:latin typeface="+mn-ea"/>
              </a:rPr>
              <a:t>GEO_OPT step: ATOMIC guess</a:t>
            </a:r>
            <a:r>
              <a:rPr lang="ko-KR" altLang="en-US" sz="1050" dirty="0">
                <a:latin typeface="+mn-ea"/>
              </a:rPr>
              <a:t>에서 시작하여 </a:t>
            </a:r>
            <a:r>
              <a:rPr lang="en-US" altLang="ko-KR" sz="1050" dirty="0">
                <a:latin typeface="+mn-ea"/>
              </a:rPr>
              <a:t>SCF 96</a:t>
            </a:r>
            <a:r>
              <a:rPr lang="ko-KR" altLang="en-US" sz="1050" dirty="0">
                <a:latin typeface="+mn-ea"/>
              </a:rPr>
              <a:t>회 만에 수렴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약 </a:t>
            </a:r>
            <a:r>
              <a:rPr lang="en-US" altLang="ko-KR" sz="1050" dirty="0">
                <a:latin typeface="+mn-ea"/>
              </a:rPr>
              <a:t>28</a:t>
            </a:r>
            <a:r>
              <a:rPr lang="ko-KR" altLang="en-US" sz="1050" dirty="0">
                <a:latin typeface="+mn-ea"/>
              </a:rPr>
              <a:t>분 소요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두 번째 </a:t>
            </a:r>
            <a:r>
              <a:rPr lang="en-US" altLang="ko-KR" sz="1050" dirty="0">
                <a:latin typeface="+mn-ea"/>
              </a:rPr>
              <a:t>GEO_OPT step: ASPC extrapolation</a:t>
            </a:r>
            <a:r>
              <a:rPr lang="ko-KR" altLang="en-US" sz="1050" dirty="0">
                <a:latin typeface="+mn-ea"/>
              </a:rPr>
              <a:t>으로 이전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기반 초기값 생성</a:t>
            </a:r>
            <a:r>
              <a:rPr lang="en-US" altLang="ko-KR" sz="1050" dirty="0">
                <a:latin typeface="+mn-ea"/>
              </a:rPr>
              <a:t>, SCF 75</a:t>
            </a:r>
            <a:r>
              <a:rPr lang="ko-KR" altLang="en-US" sz="1050" dirty="0">
                <a:latin typeface="+mn-ea"/>
              </a:rPr>
              <a:t>회로 </a:t>
            </a:r>
            <a:r>
              <a:rPr lang="en-US" altLang="ko-KR" sz="1050" dirty="0">
                <a:latin typeface="+mn-ea"/>
              </a:rPr>
              <a:t>22% </a:t>
            </a:r>
            <a:r>
              <a:rPr lang="ko-KR" altLang="en-US" sz="1050" dirty="0">
                <a:latin typeface="+mn-ea"/>
              </a:rPr>
              <a:t>단축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세 번째 </a:t>
            </a:r>
            <a:r>
              <a:rPr lang="en-US" altLang="ko-KR" sz="1050" dirty="0">
                <a:latin typeface="+mn-ea"/>
              </a:rPr>
              <a:t>GEO_OPT step: SCF 101</a:t>
            </a:r>
            <a:r>
              <a:rPr lang="ko-KR" altLang="en-US" sz="1050" dirty="0">
                <a:latin typeface="+mn-ea"/>
              </a:rPr>
              <a:t>회로 증가했으나 이는 구조 변화가 큰 초기 </a:t>
            </a:r>
            <a:r>
              <a:rPr lang="en-US" altLang="ko-KR" sz="1050" dirty="0">
                <a:latin typeface="+mn-ea"/>
              </a:rPr>
              <a:t>relaxation </a:t>
            </a:r>
            <a:r>
              <a:rPr lang="ko-KR" altLang="en-US" sz="1050" dirty="0">
                <a:latin typeface="+mn-ea"/>
              </a:rPr>
              <a:t>구간의 특성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이후 </a:t>
            </a:r>
            <a:r>
              <a:rPr lang="en-US" altLang="ko-KR" sz="1050" dirty="0">
                <a:latin typeface="+mn-ea"/>
              </a:rPr>
              <a:t>GEO_OPT step</a:t>
            </a:r>
            <a:r>
              <a:rPr lang="ko-KR" altLang="en-US" sz="1050" dirty="0">
                <a:latin typeface="+mn-ea"/>
              </a:rPr>
              <a:t>에서는 구조 변화량이 줄어 </a:t>
            </a:r>
            <a:r>
              <a:rPr lang="en-US" altLang="ko-KR" sz="1050" dirty="0">
                <a:latin typeface="+mn-ea"/>
              </a:rPr>
              <a:t>SCF 40~60</a:t>
            </a:r>
            <a:r>
              <a:rPr lang="ko-KR" altLang="en-US" sz="1050" dirty="0">
                <a:latin typeface="+mn-ea"/>
              </a:rPr>
              <a:t>회 → 후반 </a:t>
            </a:r>
            <a:r>
              <a:rPr lang="en-US" altLang="ko-KR" sz="1050" dirty="0">
                <a:latin typeface="+mn-ea"/>
              </a:rPr>
              <a:t>20~30</a:t>
            </a:r>
            <a:r>
              <a:rPr lang="ko-KR" altLang="en-US" sz="1050" dirty="0">
                <a:latin typeface="+mn-ea"/>
              </a:rPr>
              <a:t>회로 점진적 감소 예상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ASPC(ORDER 3)</a:t>
            </a:r>
            <a:r>
              <a:rPr lang="ko-KR" altLang="en-US" sz="1050" dirty="0">
                <a:latin typeface="+mn-ea"/>
              </a:rPr>
              <a:t>는 </a:t>
            </a:r>
            <a:r>
              <a:rPr lang="en-US" altLang="ko-KR" sz="1050" dirty="0">
                <a:latin typeface="+mn-ea"/>
              </a:rPr>
              <a:t>3</a:t>
            </a:r>
            <a:r>
              <a:rPr lang="ko-KR" altLang="en-US" sz="1050" dirty="0">
                <a:latin typeface="+mn-ea"/>
              </a:rPr>
              <a:t>개의 이전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ko-KR" altLang="en-US" sz="1050" dirty="0">
                <a:latin typeface="+mn-ea"/>
              </a:rPr>
              <a:t>을 참조하므로 </a:t>
            </a:r>
            <a:r>
              <a:rPr lang="en-US" altLang="ko-KR" sz="1050" dirty="0">
                <a:latin typeface="+mn-ea"/>
              </a:rPr>
              <a:t>step 4 </a:t>
            </a:r>
            <a:r>
              <a:rPr lang="ko-KR" altLang="en-US" sz="1050" dirty="0">
                <a:latin typeface="+mn-ea"/>
              </a:rPr>
              <a:t>이후부터 </a:t>
            </a:r>
            <a:r>
              <a:rPr lang="en-US" altLang="ko-KR" sz="1050" dirty="0">
                <a:latin typeface="+mn-ea"/>
              </a:rPr>
              <a:t>full </a:t>
            </a:r>
            <a:r>
              <a:rPr lang="ko-KR" altLang="en-US" sz="1050" dirty="0">
                <a:latin typeface="+mn-ea"/>
              </a:rPr>
              <a:t>효과 발현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production run</a:t>
            </a:r>
            <a:r>
              <a:rPr lang="ko-KR" altLang="en-US" sz="1050" dirty="0">
                <a:latin typeface="+mn-ea"/>
              </a:rPr>
              <a:t>에서 예상 </a:t>
            </a:r>
            <a:r>
              <a:rPr lang="en-US" altLang="ko-KR" sz="1050" dirty="0">
                <a:latin typeface="+mn-ea"/>
              </a:rPr>
              <a:t>GEO_OPT step </a:t>
            </a:r>
            <a:r>
              <a:rPr lang="ko-KR" altLang="en-US" sz="1050" dirty="0">
                <a:latin typeface="+mn-ea"/>
              </a:rPr>
              <a:t>시간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초반 </a:t>
            </a:r>
            <a:r>
              <a:rPr lang="en-US" altLang="ko-KR" sz="1050" dirty="0">
                <a:latin typeface="+mn-ea"/>
              </a:rPr>
              <a:t>~12 min → </a:t>
            </a:r>
            <a:r>
              <a:rPr lang="ko-KR" altLang="en-US" sz="1050" dirty="0">
                <a:latin typeface="+mn-ea"/>
              </a:rPr>
              <a:t>중반 </a:t>
            </a:r>
            <a:r>
              <a:rPr lang="en-US" altLang="ko-KR" sz="1050" dirty="0">
                <a:latin typeface="+mn-ea"/>
              </a:rPr>
              <a:t>~7 min → </a:t>
            </a:r>
            <a:r>
              <a:rPr lang="ko-KR" altLang="en-US" sz="1050" dirty="0">
                <a:latin typeface="+mn-ea"/>
              </a:rPr>
              <a:t>후반 </a:t>
            </a:r>
            <a:r>
              <a:rPr lang="en-US" altLang="ko-KR" sz="1050" dirty="0">
                <a:latin typeface="+mn-ea"/>
              </a:rPr>
              <a:t>~4 min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전체 </a:t>
            </a:r>
            <a:r>
              <a:rPr lang="en-US" altLang="ko-KR" sz="1050" dirty="0">
                <a:latin typeface="+mn-ea"/>
              </a:rPr>
              <a:t>200~300 GEO_OPT steps </a:t>
            </a:r>
            <a:r>
              <a:rPr lang="ko-KR" altLang="en-US" sz="1050" dirty="0">
                <a:latin typeface="+mn-ea"/>
              </a:rPr>
              <a:t>예상 소요 시간</a:t>
            </a:r>
            <a:r>
              <a:rPr lang="en-US" altLang="ko-KR" sz="1050" dirty="0">
                <a:latin typeface="+mn-ea"/>
              </a:rPr>
              <a:t>: ~12~18</a:t>
            </a:r>
            <a:r>
              <a:rPr lang="ko-KR" altLang="en-US" sz="1050" dirty="0">
                <a:latin typeface="+mn-ea"/>
              </a:rPr>
              <a:t>시간</a:t>
            </a:r>
            <a:r>
              <a:rPr lang="en-US" altLang="ko-KR" sz="1050" dirty="0">
                <a:latin typeface="+mn-ea"/>
              </a:rPr>
              <a:t>, overnight </a:t>
            </a:r>
            <a:r>
              <a:rPr lang="ko-KR" altLang="en-US" sz="1050" dirty="0">
                <a:latin typeface="+mn-ea"/>
              </a:rPr>
              <a:t>실행으로 충분</a:t>
            </a:r>
            <a:endParaRPr lang="en-US" altLang="ko-KR" sz="1050" dirty="0">
              <a:latin typeface="+mn-ea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2301808F-47DA-4277-BC65-C38EB6D10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8240" y="937524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76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try03 vs try04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하드웨어 성능 비교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176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try03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CPU-only(docker.io/cp2k/cp2k:latest)</a:t>
            </a:r>
            <a:r>
              <a:rPr lang="ko-KR" altLang="en-US" sz="1050" dirty="0">
                <a:latin typeface="+mn-ea"/>
              </a:rPr>
              <a:t>로 </a:t>
            </a:r>
            <a:r>
              <a:rPr lang="en-US" altLang="ko-KR" sz="1050" dirty="0">
                <a:latin typeface="+mn-ea"/>
              </a:rPr>
              <a:t>MPI 10 × OMP 6 = 60 threads </a:t>
            </a:r>
            <a:r>
              <a:rPr lang="ko-KR" altLang="en-US" sz="1050" dirty="0">
                <a:latin typeface="+mn-ea"/>
              </a:rPr>
              <a:t>사용</a:t>
            </a:r>
            <a:r>
              <a:rPr lang="en-US" altLang="ko-KR" sz="1050" dirty="0">
                <a:latin typeface="+mn-ea"/>
              </a:rPr>
              <a:t>, GPU </a:t>
            </a:r>
            <a:r>
              <a:rPr lang="ko-KR" altLang="en-US" sz="1050" dirty="0">
                <a:latin typeface="+mn-ea"/>
              </a:rPr>
              <a:t>없음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try04</a:t>
            </a:r>
            <a:r>
              <a:rPr lang="ko-KR" altLang="en-US" sz="1050" dirty="0">
                <a:latin typeface="+mn-ea"/>
              </a:rPr>
              <a:t>는 </a:t>
            </a:r>
            <a:r>
              <a:rPr lang="en-US" altLang="ko-KR" sz="1050" dirty="0">
                <a:latin typeface="+mn-ea"/>
              </a:rPr>
              <a:t>GPU-accelerated(</a:t>
            </a:r>
            <a:r>
              <a:rPr lang="en-US" altLang="ko-KR" sz="1050" dirty="0" err="1">
                <a:latin typeface="+mn-ea"/>
              </a:rPr>
              <a:t>keti</a:t>
            </a:r>
            <a:r>
              <a:rPr lang="en-US" altLang="ko-KR" sz="1050" dirty="0">
                <a:latin typeface="+mn-ea"/>
              </a:rPr>
              <a:t>/cp2k:2025.2-gpu)</a:t>
            </a:r>
            <a:r>
              <a:rPr lang="ko-KR" altLang="en-US" sz="1050" dirty="0">
                <a:latin typeface="+mn-ea"/>
              </a:rPr>
              <a:t>로 </a:t>
            </a:r>
            <a:r>
              <a:rPr lang="en-US" altLang="ko-KR" sz="1050" dirty="0">
                <a:latin typeface="+mn-ea"/>
              </a:rPr>
              <a:t>RTX 5090(100%) + CPU 16 threads </a:t>
            </a:r>
            <a:r>
              <a:rPr lang="ko-KR" altLang="en-US" sz="1050" dirty="0">
                <a:latin typeface="+mn-ea"/>
              </a:rPr>
              <a:t>동시 활용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try03 BAMOF_EMIM_TFSI_Cluster-1(158</a:t>
            </a:r>
            <a:r>
              <a:rPr lang="ko-KR" altLang="en-US" sz="1050" dirty="0">
                <a:latin typeface="+mn-ea"/>
              </a:rPr>
              <a:t>원자</a:t>
            </a:r>
            <a:r>
              <a:rPr lang="en-US" altLang="ko-KR" sz="1050" dirty="0">
                <a:latin typeface="+mn-ea"/>
              </a:rPr>
              <a:t>) production: 16:28→19:56, </a:t>
            </a:r>
            <a:r>
              <a:rPr lang="ko-KR" altLang="en-US" sz="1050" dirty="0">
                <a:latin typeface="+mn-ea"/>
              </a:rPr>
              <a:t>총 </a:t>
            </a:r>
            <a:r>
              <a:rPr lang="en-US" altLang="ko-KR" sz="1050" dirty="0">
                <a:latin typeface="+mn-ea"/>
              </a:rPr>
              <a:t>3</a:t>
            </a:r>
            <a:r>
              <a:rPr lang="ko-KR" altLang="en-US" sz="1050" dirty="0">
                <a:latin typeface="+mn-ea"/>
              </a:rPr>
              <a:t>시간 </a:t>
            </a:r>
            <a:r>
              <a:rPr lang="en-US" altLang="ko-KR" sz="1050" dirty="0">
                <a:latin typeface="+mn-ea"/>
              </a:rPr>
              <a:t>28</a:t>
            </a:r>
            <a:r>
              <a:rPr lang="ko-KR" altLang="en-US" sz="1050" dirty="0">
                <a:latin typeface="+mn-ea"/>
              </a:rPr>
              <a:t>분 </a:t>
            </a:r>
            <a:r>
              <a:rPr lang="en-US" altLang="ko-KR" sz="1050" dirty="0">
                <a:latin typeface="+mn-ea"/>
              </a:rPr>
              <a:t>(CPU-only)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try04 OT dry-run(192</a:t>
            </a:r>
            <a:r>
              <a:rPr lang="ko-KR" altLang="en-US" sz="1050" dirty="0">
                <a:latin typeface="+mn-ea"/>
              </a:rPr>
              <a:t>원자</a:t>
            </a:r>
            <a:r>
              <a:rPr lang="en-US" altLang="ko-KR" sz="1050" dirty="0">
                <a:latin typeface="+mn-ea"/>
              </a:rPr>
              <a:t>, 3 GEO steps): 15:21→16:18, </a:t>
            </a:r>
            <a:r>
              <a:rPr lang="ko-KR" altLang="en-US" sz="1050" dirty="0">
                <a:latin typeface="+mn-ea"/>
              </a:rPr>
              <a:t>총 </a:t>
            </a:r>
            <a:r>
              <a:rPr lang="en-US" altLang="ko-KR" sz="1050" dirty="0">
                <a:latin typeface="+mn-ea"/>
              </a:rPr>
              <a:t>57</a:t>
            </a:r>
            <a:r>
              <a:rPr lang="ko-KR" altLang="en-US" sz="1050" dirty="0">
                <a:latin typeface="+mn-ea"/>
              </a:rPr>
              <a:t>분 </a:t>
            </a:r>
            <a:r>
              <a:rPr lang="en-US" altLang="ko-KR" sz="1050" dirty="0">
                <a:latin typeface="+mn-ea"/>
              </a:rPr>
              <a:t>(GPU-accelerated)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원자 수 </a:t>
            </a:r>
            <a:r>
              <a:rPr lang="en-US" altLang="ko-KR" sz="1050" dirty="0">
                <a:latin typeface="+mn-ea"/>
              </a:rPr>
              <a:t>21% </a:t>
            </a:r>
            <a:r>
              <a:rPr lang="ko-KR" altLang="en-US" sz="1050" dirty="0">
                <a:latin typeface="+mn-ea"/>
              </a:rPr>
              <a:t>증가에도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당 시간 비교</a:t>
            </a:r>
            <a:r>
              <a:rPr lang="en-US" altLang="ko-KR" sz="1050" dirty="0">
                <a:latin typeface="+mn-ea"/>
              </a:rPr>
              <a:t>: try03 CPU ~12–15 s/SCF → try04 GPU 5.4–20 s/SCF (OT method </a:t>
            </a:r>
            <a:r>
              <a:rPr lang="ko-KR" altLang="en-US" sz="1050" dirty="0">
                <a:latin typeface="+mn-ea"/>
              </a:rPr>
              <a:t>특성상 후반 느려짐</a:t>
            </a:r>
            <a:r>
              <a:rPr lang="en-US" altLang="ko-KR" sz="1050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RTX 5090</a:t>
            </a:r>
            <a:r>
              <a:rPr lang="ko-KR" altLang="en-US" sz="1050" dirty="0">
                <a:latin typeface="+mn-ea"/>
              </a:rPr>
              <a:t>의 핵심 기여</a:t>
            </a:r>
            <a:r>
              <a:rPr lang="en-US" altLang="ko-KR" sz="1050" dirty="0">
                <a:latin typeface="+mn-ea"/>
              </a:rPr>
              <a:t>: 1,792 GB/s </a:t>
            </a:r>
            <a:r>
              <a:rPr lang="ko-KR" altLang="en-US" sz="1050" dirty="0">
                <a:latin typeface="+mn-ea"/>
              </a:rPr>
              <a:t>메모리 대역폭이 </a:t>
            </a:r>
            <a:r>
              <a:rPr lang="en-US" altLang="ko-KR" sz="1050" dirty="0">
                <a:latin typeface="+mn-ea"/>
              </a:rPr>
              <a:t>grid FFT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CPU </a:t>
            </a:r>
            <a:r>
              <a:rPr lang="ko-KR" altLang="en-US" sz="1050" dirty="0">
                <a:latin typeface="+mn-ea"/>
              </a:rPr>
              <a:t>대비 </a:t>
            </a:r>
            <a:r>
              <a:rPr lang="en-US" altLang="ko-KR" sz="1050" dirty="0">
                <a:latin typeface="+mn-ea"/>
              </a:rPr>
              <a:t>3–4× </a:t>
            </a:r>
            <a:r>
              <a:rPr lang="ko-KR" altLang="en-US" sz="1050" dirty="0">
                <a:latin typeface="+mn-ea"/>
              </a:rPr>
              <a:t>가속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L4(2×)</a:t>
            </a:r>
            <a:r>
              <a:rPr lang="ko-KR" altLang="en-US" sz="1050" dirty="0">
                <a:latin typeface="+mn-ea"/>
              </a:rPr>
              <a:t>로 이동 시 대역폭 </a:t>
            </a:r>
            <a:r>
              <a:rPr lang="en-US" altLang="ko-KR" sz="1050" dirty="0">
                <a:latin typeface="+mn-ea"/>
              </a:rPr>
              <a:t>600 GB/s + FP64 0.946 TFLOPS</a:t>
            </a:r>
            <a:r>
              <a:rPr lang="ko-KR" altLang="en-US" sz="1050" dirty="0">
                <a:latin typeface="+mn-ea"/>
              </a:rPr>
              <a:t>로 </a:t>
            </a:r>
            <a:r>
              <a:rPr lang="en-US" altLang="ko-KR" sz="1050" dirty="0">
                <a:latin typeface="+mn-ea"/>
              </a:rPr>
              <a:t>try03 CPU-only</a:t>
            </a:r>
            <a:r>
              <a:rPr lang="ko-KR" altLang="en-US" sz="1050" dirty="0">
                <a:latin typeface="+mn-ea"/>
              </a:rPr>
              <a:t>보다 느릴 수 있음</a:t>
            </a:r>
            <a:endParaRPr lang="en-US" altLang="ko-KR" sz="1050" dirty="0">
              <a:latin typeface="+mn-ea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A4CB5C0F-769C-4BE1-AE83-D3A735F45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7968" y="937524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51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Production Run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실행 계획 및 다음 단계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2002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production_ot.inp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생성 완료</a:t>
            </a:r>
            <a:r>
              <a:rPr lang="en-US" altLang="ko-KR" sz="1050" dirty="0">
                <a:latin typeface="+mn-ea"/>
              </a:rPr>
              <a:t>: OT DIIS, FULL_ALL, RESTART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en-US" altLang="ko-KR" sz="1050" dirty="0">
                <a:latin typeface="+mn-ea"/>
              </a:rPr>
              <a:t>, STEP_START_VAL 2, MAX_ITER 600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Docker </a:t>
            </a:r>
            <a:r>
              <a:rPr lang="ko-KR" altLang="en-US" sz="1050" dirty="0">
                <a:latin typeface="+mn-ea"/>
              </a:rPr>
              <a:t>컨테이너는 </a:t>
            </a:r>
            <a:r>
              <a:rPr lang="en-US" altLang="ko-KR" sz="1050" dirty="0">
                <a:latin typeface="+mn-ea"/>
              </a:rPr>
              <a:t>--rm </a:t>
            </a:r>
            <a:r>
              <a:rPr lang="ko-KR" altLang="en-US" sz="1050" dirty="0">
                <a:latin typeface="+mn-ea"/>
              </a:rPr>
              <a:t>옵션으로 </a:t>
            </a:r>
            <a:r>
              <a:rPr lang="en-US" altLang="ko-KR" sz="1050" dirty="0">
                <a:latin typeface="+mn-ea"/>
              </a:rPr>
              <a:t>dry-run </a:t>
            </a:r>
            <a:r>
              <a:rPr lang="ko-KR" altLang="en-US" sz="1050" dirty="0">
                <a:latin typeface="+mn-ea"/>
              </a:rPr>
              <a:t>종료 시 자동 제거되므로 별도 교체 불필요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tmux</a:t>
            </a:r>
            <a:r>
              <a:rPr lang="en-US" altLang="ko-KR" sz="1050" dirty="0">
                <a:latin typeface="+mn-ea"/>
              </a:rPr>
              <a:t> detached session</a:t>
            </a:r>
            <a:r>
              <a:rPr lang="ko-KR" altLang="en-US" sz="1050" dirty="0">
                <a:latin typeface="+mn-ea"/>
              </a:rPr>
              <a:t>으로 </a:t>
            </a:r>
            <a:r>
              <a:rPr lang="en-US" altLang="ko-KR" sz="1050" dirty="0">
                <a:latin typeface="+mn-ea"/>
              </a:rPr>
              <a:t>production </a:t>
            </a:r>
            <a:r>
              <a:rPr lang="ko-KR" altLang="en-US" sz="1050" dirty="0">
                <a:latin typeface="+mn-ea"/>
              </a:rPr>
              <a:t>실행</a:t>
            </a:r>
            <a:r>
              <a:rPr lang="en-US" altLang="ko-KR" sz="1050" dirty="0">
                <a:latin typeface="+mn-ea"/>
              </a:rPr>
              <a:t>: overnight 12~18</a:t>
            </a:r>
            <a:r>
              <a:rPr lang="ko-KR" altLang="en-US" sz="1050" dirty="0">
                <a:latin typeface="+mn-ea"/>
              </a:rPr>
              <a:t>시간 예상</a:t>
            </a:r>
            <a:r>
              <a:rPr lang="en-US" altLang="ko-KR" sz="1050" dirty="0">
                <a:latin typeface="+mn-ea"/>
              </a:rPr>
              <a:t>, GPU 100% </a:t>
            </a:r>
            <a:r>
              <a:rPr lang="ko-KR" altLang="en-US" sz="1050" dirty="0">
                <a:latin typeface="+mn-ea"/>
              </a:rPr>
              <a:t>활용 지속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모니터링</a:t>
            </a:r>
            <a:r>
              <a:rPr lang="en-US" altLang="ko-KR" sz="1050" dirty="0">
                <a:latin typeface="+mn-ea"/>
              </a:rPr>
              <a:t>: monitor_scf.sh → SCF </a:t>
            </a:r>
            <a:r>
              <a:rPr lang="ko-KR" altLang="en-US" sz="1050" dirty="0">
                <a:latin typeface="+mn-ea"/>
              </a:rPr>
              <a:t>수렴 상태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에너지 추적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잔여 시간 예측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cluster </a:t>
            </a:r>
            <a:r>
              <a:rPr lang="ko-KR" altLang="en-US" sz="1050" dirty="0">
                <a:latin typeface="+mn-ea"/>
              </a:rPr>
              <a:t>수렴 후 </a:t>
            </a:r>
            <a:r>
              <a:rPr lang="en-US" altLang="ko-KR" sz="1050" dirty="0">
                <a:latin typeface="+mn-ea"/>
              </a:rPr>
              <a:t>dissociate </a:t>
            </a:r>
            <a:r>
              <a:rPr lang="ko-KR" altLang="en-US" sz="1050" dirty="0">
                <a:latin typeface="+mn-ea"/>
              </a:rPr>
              <a:t>계산 시작</a:t>
            </a:r>
            <a:r>
              <a:rPr lang="en-US" altLang="ko-KR" sz="1050" dirty="0">
                <a:latin typeface="+mn-ea"/>
              </a:rPr>
              <a:t>: BAMOF_2IP_dissociate/</a:t>
            </a:r>
            <a:r>
              <a:rPr lang="en-US" altLang="ko-KR" sz="1050" dirty="0" err="1">
                <a:latin typeface="+mn-ea"/>
              </a:rPr>
              <a:t>input_ot.inp</a:t>
            </a:r>
            <a:r>
              <a:rPr lang="en-US" altLang="ko-KR" sz="1050" dirty="0">
                <a:latin typeface="+mn-ea"/>
              </a:rPr>
              <a:t> (</a:t>
            </a:r>
            <a:r>
              <a:rPr lang="ko-KR" altLang="en-US" sz="1050" dirty="0">
                <a:latin typeface="+mn-ea"/>
              </a:rPr>
              <a:t>동일 </a:t>
            </a:r>
            <a:r>
              <a:rPr lang="en-US" altLang="ko-KR" sz="1050" dirty="0">
                <a:latin typeface="+mn-ea"/>
              </a:rPr>
              <a:t>OT </a:t>
            </a:r>
            <a:r>
              <a:rPr lang="ko-KR" altLang="en-US" sz="1050" dirty="0">
                <a:latin typeface="+mn-ea"/>
              </a:rPr>
              <a:t>설정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별도 좌표</a:t>
            </a:r>
            <a:r>
              <a:rPr lang="en-US" altLang="ko-KR" sz="1050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후처리 파이프라인 대기 중</a:t>
            </a:r>
            <a:r>
              <a:rPr lang="en-US" altLang="ko-KR" sz="1050" dirty="0">
                <a:latin typeface="+mn-ea"/>
              </a:rPr>
              <a:t>: plot_convergence.py, compute_ediss.py, export_final_structures.py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최종 목표</a:t>
            </a:r>
            <a:r>
              <a:rPr lang="en-US" altLang="ko-KR" sz="1050" dirty="0">
                <a:latin typeface="+mn-ea"/>
              </a:rPr>
              <a:t>: </a:t>
            </a:r>
            <a:r>
              <a:rPr lang="en-US" altLang="ko-KR" sz="1050" dirty="0" err="1">
                <a:latin typeface="+mn-ea"/>
              </a:rPr>
              <a:t>E_diss</a:t>
            </a:r>
            <a:r>
              <a:rPr lang="en-US" altLang="ko-KR" sz="1050" dirty="0">
                <a:latin typeface="+mn-ea"/>
              </a:rPr>
              <a:t> = E(dissociate) − E(cluster) → kJ/mol, kcal/mol, eV </a:t>
            </a:r>
            <a:r>
              <a:rPr lang="ko-KR" altLang="en-US" sz="1050" dirty="0">
                <a:latin typeface="+mn-ea"/>
              </a:rPr>
              <a:t>변환 후 </a:t>
            </a:r>
            <a:r>
              <a:rPr lang="en-US" altLang="ko-KR" sz="1050" dirty="0">
                <a:latin typeface="+mn-ea"/>
              </a:rPr>
              <a:t>try03</a:t>
            </a:r>
            <a:r>
              <a:rPr lang="ko-KR" altLang="en-US" sz="1050" dirty="0">
                <a:latin typeface="+mn-ea"/>
              </a:rPr>
              <a:t>과 교차 검증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050" dirty="0">
              <a:latin typeface="+mn-ea"/>
            </a:endParaRP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8D8D9BB9-C31D-4A3D-A01D-FB6F48690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8826" y="1010412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66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Production Run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실행 계획 및 다음 단계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2244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mixing (α=0.05, NBUFFER 8)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19 step </a:t>
            </a:r>
            <a:r>
              <a:rPr lang="ko-KR" altLang="en-US" sz="1050" dirty="0">
                <a:latin typeface="+mn-ea"/>
              </a:rPr>
              <a:t>동안 에너지가 </a:t>
            </a:r>
            <a:r>
              <a:rPr lang="en-US" altLang="ko-KR" sz="1050" dirty="0">
                <a:latin typeface="+mn-ea"/>
              </a:rPr>
              <a:t>–1889 ~ –1896 Ha </a:t>
            </a:r>
            <a:r>
              <a:rPr lang="ko-KR" altLang="en-US" sz="1050" dirty="0">
                <a:latin typeface="+mn-ea"/>
              </a:rPr>
              <a:t>사이에서 </a:t>
            </a:r>
            <a:r>
              <a:rPr lang="en-US" altLang="ko-KR" sz="1050" dirty="0">
                <a:latin typeface="+mn-ea"/>
              </a:rPr>
              <a:t>±7 Ha</a:t>
            </a:r>
            <a:r>
              <a:rPr lang="ko-KR" altLang="en-US" sz="1050" dirty="0">
                <a:latin typeface="+mn-ea"/>
              </a:rPr>
              <a:t>로 진동하며 수렴 실패</a:t>
            </a:r>
            <a:r>
              <a:rPr lang="en-US" altLang="ko-KR" sz="1050" dirty="0">
                <a:latin typeface="+mn-ea"/>
              </a:rPr>
              <a:t>; 192</a:t>
            </a:r>
            <a:r>
              <a:rPr lang="ko-KR" altLang="en-US" sz="1050" dirty="0">
                <a:latin typeface="+mn-ea"/>
              </a:rPr>
              <a:t>원자 시스템에서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은 초기 밀도 행렬 품질이 낮으면 </a:t>
            </a:r>
            <a:r>
              <a:rPr lang="en-US" altLang="ko-KR" sz="1050" dirty="0">
                <a:latin typeface="+mn-ea"/>
              </a:rPr>
              <a:t>mixing </a:t>
            </a:r>
            <a:r>
              <a:rPr lang="ko-KR" altLang="en-US" sz="1050" dirty="0">
                <a:latin typeface="+mn-ea"/>
              </a:rPr>
              <a:t>불안정성이 발생한다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즉시 작업 중단 후 </a:t>
            </a:r>
            <a:r>
              <a:rPr lang="en-US" altLang="ko-KR" sz="1050" dirty="0" err="1">
                <a:latin typeface="+mn-ea"/>
              </a:rPr>
              <a:t>input_test.inp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ADDED_MOS, SMEAR, DIAGONALIZATION, MIXING </a:t>
            </a:r>
            <a:r>
              <a:rPr lang="ko-KR" altLang="en-US" sz="1050" dirty="0">
                <a:latin typeface="+mn-ea"/>
              </a:rPr>
              <a:t>블록을 제거하고 </a:t>
            </a:r>
            <a:r>
              <a:rPr lang="en-US" altLang="ko-KR" sz="1050" dirty="0">
                <a:latin typeface="+mn-ea"/>
              </a:rPr>
              <a:t>OT (MINIMIZER DIIS, PRECONDITIONER FULL_ALL, ENERGY_GAP 0.01) </a:t>
            </a:r>
            <a:r>
              <a:rPr lang="ko-KR" altLang="en-US" sz="1050" dirty="0">
                <a:latin typeface="+mn-ea"/>
              </a:rPr>
              <a:t>블록으로 교체했다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method</a:t>
            </a:r>
            <a:r>
              <a:rPr lang="ko-KR" altLang="en-US" sz="1050" dirty="0">
                <a:latin typeface="+mn-ea"/>
              </a:rPr>
              <a:t>는 </a:t>
            </a:r>
            <a:r>
              <a:rPr lang="en-US" altLang="ko-KR" sz="1050" dirty="0">
                <a:latin typeface="+mn-ea"/>
              </a:rPr>
              <a:t>smearing </a:t>
            </a:r>
            <a:r>
              <a:rPr lang="ko-KR" altLang="en-US" sz="1050" dirty="0">
                <a:latin typeface="+mn-ea"/>
              </a:rPr>
              <a:t>없이 직접 에너지 </a:t>
            </a:r>
            <a:r>
              <a:rPr lang="en-US" altLang="ko-KR" sz="1050" dirty="0">
                <a:latin typeface="+mn-ea"/>
              </a:rPr>
              <a:t>functional</a:t>
            </a:r>
            <a:r>
              <a:rPr lang="ko-KR" altLang="en-US" sz="1050" dirty="0">
                <a:latin typeface="+mn-ea"/>
              </a:rPr>
              <a:t>을 최소화하므로 </a:t>
            </a:r>
            <a:r>
              <a:rPr lang="en-US" altLang="ko-KR" sz="1050" dirty="0">
                <a:latin typeface="+mn-ea"/>
              </a:rPr>
              <a:t>occupation number </a:t>
            </a:r>
            <a:r>
              <a:rPr lang="ko-KR" altLang="en-US" sz="1050" dirty="0">
                <a:latin typeface="+mn-ea"/>
              </a:rPr>
              <a:t>진동 문제가 없으며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에너지가 매 </a:t>
            </a:r>
            <a:r>
              <a:rPr lang="en-US" altLang="ko-KR" sz="1050" dirty="0">
                <a:latin typeface="+mn-ea"/>
              </a:rPr>
              <a:t>step </a:t>
            </a:r>
            <a:r>
              <a:rPr lang="ko-KR" altLang="en-US" sz="1050" dirty="0">
                <a:latin typeface="+mn-ea"/>
              </a:rPr>
              <a:t>단조 감소한다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dry-run (MAX_ITER 2) </a:t>
            </a:r>
            <a:r>
              <a:rPr lang="ko-KR" altLang="en-US" sz="1050" dirty="0">
                <a:latin typeface="+mn-ea"/>
              </a:rPr>
              <a:t>결과</a:t>
            </a:r>
            <a:r>
              <a:rPr lang="en-US" altLang="ko-KR" sz="1050" dirty="0">
                <a:latin typeface="+mn-ea"/>
              </a:rPr>
              <a:t>: step 0 SCF 96</a:t>
            </a:r>
            <a:r>
              <a:rPr lang="ko-KR" altLang="en-US" sz="1050" dirty="0">
                <a:latin typeface="+mn-ea"/>
              </a:rPr>
              <a:t>회 수렴 </a:t>
            </a:r>
            <a:r>
              <a:rPr lang="en-US" altLang="ko-KR" sz="1050" dirty="0">
                <a:latin typeface="+mn-ea"/>
              </a:rPr>
              <a:t>(E = –1886.35 Ha), step 1 SCF 75</a:t>
            </a:r>
            <a:r>
              <a:rPr lang="ko-KR" altLang="en-US" sz="1050" dirty="0">
                <a:latin typeface="+mn-ea"/>
              </a:rPr>
              <a:t>회 수렴 </a:t>
            </a:r>
            <a:r>
              <a:rPr lang="en-US" altLang="ko-KR" sz="1050" dirty="0">
                <a:latin typeface="+mn-ea"/>
              </a:rPr>
              <a:t>(E = –1911.53 Ha), step 2 SCF 101</a:t>
            </a:r>
            <a:r>
              <a:rPr lang="ko-KR" altLang="en-US" sz="1050" dirty="0">
                <a:latin typeface="+mn-ea"/>
              </a:rPr>
              <a:t>회 수렴 </a:t>
            </a:r>
            <a:r>
              <a:rPr lang="en-US" altLang="ko-KR" sz="1050" dirty="0">
                <a:latin typeface="+mn-ea"/>
              </a:rPr>
              <a:t>(E = –1919.01 Ha).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총 소요 </a:t>
            </a:r>
            <a:r>
              <a:rPr lang="en-US" altLang="ko-KR" sz="1050" dirty="0">
                <a:latin typeface="+mn-ea"/>
              </a:rPr>
              <a:t>57</a:t>
            </a:r>
            <a:r>
              <a:rPr lang="ko-KR" altLang="en-US" sz="1050" dirty="0">
                <a:latin typeface="+mn-ea"/>
              </a:rPr>
              <a:t>분 </a:t>
            </a:r>
            <a:r>
              <a:rPr lang="en-US" altLang="ko-KR" sz="1050" dirty="0">
                <a:latin typeface="+mn-ea"/>
              </a:rPr>
              <a:t>(2026-04-02 15:21 → 16:18), GPU Util 100%, 12.8 GB / 32.6 GB VRAM </a:t>
            </a:r>
            <a:r>
              <a:rPr lang="ko-KR" altLang="en-US" sz="1050" dirty="0">
                <a:latin typeface="+mn-ea"/>
              </a:rPr>
              <a:t>사용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FULL_ALL preconditioner </a:t>
            </a:r>
            <a:r>
              <a:rPr lang="ko-KR" altLang="en-US" sz="1050" dirty="0">
                <a:latin typeface="+mn-ea"/>
              </a:rPr>
              <a:t>때문에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당 시간이 초반 </a:t>
            </a:r>
            <a:r>
              <a:rPr lang="en-US" altLang="ko-KR" sz="1050" dirty="0">
                <a:latin typeface="+mn-ea"/>
              </a:rPr>
              <a:t>5.4 s</a:t>
            </a:r>
            <a:r>
              <a:rPr lang="ko-KR" altLang="en-US" sz="1050" dirty="0">
                <a:latin typeface="+mn-ea"/>
              </a:rPr>
              <a:t>에서 후반 </a:t>
            </a:r>
            <a:r>
              <a:rPr lang="en-US" altLang="ko-KR" sz="1050" dirty="0">
                <a:latin typeface="+mn-ea"/>
              </a:rPr>
              <a:t>15–20 s</a:t>
            </a:r>
            <a:r>
              <a:rPr lang="ko-KR" altLang="en-US" sz="1050" dirty="0">
                <a:latin typeface="+mn-ea"/>
              </a:rPr>
              <a:t>로 증가했으나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수렴 안정성이 보장되었다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으로 </a:t>
            </a:r>
            <a:r>
              <a:rPr lang="en-US" altLang="ko-KR" sz="1050" dirty="0">
                <a:latin typeface="+mn-ea"/>
              </a:rPr>
              <a:t>RESTART </a:t>
            </a:r>
            <a:r>
              <a:rPr lang="ko-KR" altLang="en-US" sz="1050" dirty="0">
                <a:latin typeface="+mn-ea"/>
              </a:rPr>
              <a:t>전환을 시도했으나 </a:t>
            </a:r>
            <a:r>
              <a:rPr lang="en-US" altLang="ko-KR" sz="1050" dirty="0">
                <a:latin typeface="+mn-ea"/>
              </a:rPr>
              <a:t>–1886 ~ –1887 Ha</a:t>
            </a:r>
            <a:r>
              <a:rPr lang="ko-KR" altLang="en-US" sz="1050" dirty="0">
                <a:latin typeface="+mn-ea"/>
              </a:rPr>
              <a:t>에서 재차 진동 → </a:t>
            </a:r>
            <a:r>
              <a:rPr lang="en-US" altLang="ko-KR" sz="1050" dirty="0">
                <a:latin typeface="+mn-ea"/>
              </a:rPr>
              <a:t>OT production (600 step)</a:t>
            </a:r>
            <a:r>
              <a:rPr lang="ko-KR" altLang="en-US" sz="1050" dirty="0">
                <a:latin typeface="+mn-ea"/>
              </a:rPr>
              <a:t>으로 최종 확정</a:t>
            </a:r>
            <a:r>
              <a:rPr lang="en-US" altLang="ko-KR" sz="1050" dirty="0">
                <a:latin typeface="+mn-ea"/>
              </a:rPr>
              <a:t>.</a:t>
            </a:r>
            <a:endParaRPr lang="ko-KR" altLang="en-US" sz="1050" dirty="0">
              <a:latin typeface="+mn-ea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57C2C829-233E-4904-B656-F352F4B50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763524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88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Production Run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실행 계획 및 다음 단계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542282"/>
            <a:ext cx="11258550" cy="176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dry-run </a:t>
            </a:r>
            <a:r>
              <a:rPr lang="ko-KR" altLang="en-US" sz="1050" dirty="0">
                <a:latin typeface="+mn-ea"/>
              </a:rPr>
              <a:t>완료 후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파일</a:t>
            </a:r>
            <a:r>
              <a:rPr lang="en-US" altLang="ko-KR" sz="1050" dirty="0">
                <a:latin typeface="+mn-ea"/>
              </a:rPr>
              <a:t>(6.6 MB)</a:t>
            </a:r>
            <a:r>
              <a:rPr lang="ko-KR" altLang="en-US" sz="1050" dirty="0">
                <a:latin typeface="+mn-ea"/>
              </a:rPr>
              <a:t>을 저장했고</a:t>
            </a:r>
            <a:r>
              <a:rPr lang="en-US" altLang="ko-KR" sz="1050" dirty="0">
                <a:latin typeface="+mn-ea"/>
              </a:rPr>
              <a:t>,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RESTART (</a:t>
            </a:r>
            <a:r>
              <a:rPr lang="el-GR" altLang="ko-KR" sz="1050" dirty="0">
                <a:latin typeface="+mn-ea"/>
              </a:rPr>
              <a:t>α=0.15, 300 </a:t>
            </a:r>
            <a:r>
              <a:rPr lang="en-US" altLang="ko-KR" sz="1050" dirty="0">
                <a:latin typeface="+mn-ea"/>
              </a:rPr>
              <a:t>K, ADDED_MOS 170)</a:t>
            </a:r>
            <a:r>
              <a:rPr lang="ko-KR" altLang="en-US" sz="1050" dirty="0">
                <a:latin typeface="+mn-ea"/>
              </a:rPr>
              <a:t>로 전환하여 </a:t>
            </a:r>
            <a:r>
              <a:rPr lang="en-US" altLang="ko-KR" sz="1050" dirty="0" err="1">
                <a:latin typeface="+mn-ea"/>
              </a:rPr>
              <a:t>production.inp</a:t>
            </a:r>
            <a:r>
              <a:rPr lang="ko-KR" altLang="en-US" sz="1050" dirty="0">
                <a:latin typeface="+mn-ea"/>
              </a:rPr>
              <a:t>을 실행했다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production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11 step </a:t>
            </a:r>
            <a:r>
              <a:rPr lang="ko-KR" altLang="en-US" sz="1050" dirty="0">
                <a:latin typeface="+mn-ea"/>
              </a:rPr>
              <a:t>확인 결과 에너지가 </a:t>
            </a:r>
            <a:r>
              <a:rPr lang="en-US" altLang="ko-KR" sz="1050" dirty="0">
                <a:latin typeface="+mn-ea"/>
              </a:rPr>
              <a:t>–1886.10 ~ –1887.42 Ha </a:t>
            </a:r>
            <a:r>
              <a:rPr lang="ko-KR" altLang="en-US" sz="1050" dirty="0">
                <a:latin typeface="+mn-ea"/>
              </a:rPr>
              <a:t>사이에서 진동</a:t>
            </a:r>
            <a:r>
              <a:rPr lang="en-US" altLang="ko-KR" sz="1050" dirty="0">
                <a:latin typeface="+mn-ea"/>
              </a:rPr>
              <a:t>; OT </a:t>
            </a:r>
            <a:r>
              <a:rPr lang="ko-KR" altLang="en-US" sz="1050" dirty="0" err="1">
                <a:latin typeface="+mn-ea"/>
              </a:rPr>
              <a:t>최종값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–1919 Ha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33 Ha </a:t>
            </a:r>
            <a:r>
              <a:rPr lang="ko-KR" altLang="en-US" sz="1050" dirty="0">
                <a:latin typeface="+mn-ea"/>
              </a:rPr>
              <a:t>이상 벗어났다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원인</a:t>
            </a:r>
            <a:r>
              <a:rPr lang="en-US" altLang="ko-KR" sz="1050" dirty="0">
                <a:latin typeface="+mn-ea"/>
              </a:rPr>
              <a:t>: OT</a:t>
            </a:r>
            <a:r>
              <a:rPr lang="ko-KR" altLang="en-US" sz="1050" dirty="0">
                <a:latin typeface="+mn-ea"/>
              </a:rPr>
              <a:t>는 정수 점유</a:t>
            </a:r>
            <a:r>
              <a:rPr lang="en-US" altLang="ko-KR" sz="1050" dirty="0">
                <a:latin typeface="+mn-ea"/>
              </a:rPr>
              <a:t>(integer occupation)</a:t>
            </a:r>
            <a:r>
              <a:rPr lang="ko-KR" altLang="en-US" sz="1050" dirty="0">
                <a:latin typeface="+mn-ea"/>
              </a:rPr>
              <a:t>를 사용하지만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Fermi-Dirac smearing</a:t>
            </a:r>
            <a:r>
              <a:rPr lang="ko-KR" altLang="en-US" sz="1050" dirty="0">
                <a:latin typeface="+mn-ea"/>
              </a:rPr>
              <a:t>을 적용하여 </a:t>
            </a:r>
            <a:r>
              <a:rPr lang="en-US" altLang="ko-KR" sz="1050" dirty="0">
                <a:latin typeface="+mn-ea"/>
              </a:rPr>
              <a:t>occupation</a:t>
            </a:r>
            <a:r>
              <a:rPr lang="ko-KR" altLang="en-US" sz="1050" dirty="0">
                <a:latin typeface="+mn-ea"/>
              </a:rPr>
              <a:t>이 달라지면서 </a:t>
            </a:r>
            <a:r>
              <a:rPr lang="en-US" altLang="ko-KR" sz="1050" dirty="0">
                <a:latin typeface="+mn-ea"/>
              </a:rPr>
              <a:t>density matrix </a:t>
            </a:r>
            <a:r>
              <a:rPr lang="ko-KR" altLang="en-US" sz="1050" dirty="0">
                <a:latin typeface="+mn-ea"/>
              </a:rPr>
              <a:t>불일치가 발생한다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해결</a:t>
            </a:r>
            <a:r>
              <a:rPr lang="en-US" altLang="ko-KR" sz="1050" dirty="0">
                <a:latin typeface="+mn-ea"/>
              </a:rPr>
              <a:t>: </a:t>
            </a:r>
            <a:r>
              <a:rPr lang="en-US" altLang="ko-KR" sz="1050" dirty="0" err="1">
                <a:latin typeface="+mn-ea"/>
              </a:rPr>
              <a:t>production.inp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중단 후 </a:t>
            </a:r>
            <a:r>
              <a:rPr lang="en-US" altLang="ko-KR" sz="1050" dirty="0" err="1">
                <a:latin typeface="+mn-ea"/>
              </a:rPr>
              <a:t>production_ot.inp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생성 </a:t>
            </a:r>
            <a:r>
              <a:rPr lang="en-US" altLang="ko-KR" sz="1050" dirty="0">
                <a:latin typeface="+mn-ea"/>
              </a:rPr>
              <a:t>— OT DIIS, FULL_ALL, STEP_START_VAL 2, SCF_GUESS RESTART, MAX_ITER 600.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try03 </a:t>
            </a:r>
            <a:r>
              <a:rPr lang="ko-KR" altLang="en-US" sz="1050" dirty="0">
                <a:latin typeface="+mn-ea"/>
              </a:rPr>
              <a:t>분석에서 확인</a:t>
            </a:r>
            <a:r>
              <a:rPr lang="en-US" altLang="ko-KR" sz="1050" dirty="0">
                <a:latin typeface="+mn-ea"/>
              </a:rPr>
              <a:t>: try03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이 수렴했지만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단계적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en-US" altLang="ko-KR" sz="1050" dirty="0">
                <a:latin typeface="+mn-ea"/>
              </a:rPr>
              <a:t> bootstrap (MOF only → +EMIM → +TFSI) </a:t>
            </a:r>
            <a:r>
              <a:rPr lang="ko-KR" altLang="en-US" sz="1050" dirty="0">
                <a:latin typeface="+mn-ea"/>
              </a:rPr>
              <a:t>덕분이었고</a:t>
            </a:r>
            <a:r>
              <a:rPr lang="en-US" altLang="ko-KR" sz="1050" dirty="0">
                <a:latin typeface="+mn-ea"/>
              </a:rPr>
              <a:t>, try04</a:t>
            </a:r>
            <a:r>
              <a:rPr lang="ko-KR" altLang="en-US" sz="1050" dirty="0">
                <a:latin typeface="+mn-ea"/>
              </a:rPr>
              <a:t>처럼 한번에 </a:t>
            </a:r>
            <a:r>
              <a:rPr lang="en-US" altLang="ko-KR" sz="1050" dirty="0">
                <a:latin typeface="+mn-ea"/>
              </a:rPr>
              <a:t>192</a:t>
            </a:r>
            <a:r>
              <a:rPr lang="ko-KR" altLang="en-US" sz="1050" dirty="0">
                <a:latin typeface="+mn-ea"/>
              </a:rPr>
              <a:t>원자를 넣으면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수렴이 불가능했다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production</a:t>
            </a:r>
            <a:r>
              <a:rPr lang="ko-KR" altLang="en-US" sz="1050" dirty="0">
                <a:latin typeface="+mn-ea"/>
              </a:rPr>
              <a:t>이 현재 실행 중이며</a:t>
            </a:r>
            <a:r>
              <a:rPr lang="en-US" altLang="ko-KR" sz="1050" dirty="0">
                <a:latin typeface="+mn-ea"/>
              </a:rPr>
              <a:t>, ASPC wavefunction extrapolation</a:t>
            </a:r>
            <a:r>
              <a:rPr lang="ko-KR" altLang="en-US" sz="1050" dirty="0">
                <a:latin typeface="+mn-ea"/>
              </a:rPr>
              <a:t>으로 </a:t>
            </a:r>
            <a:r>
              <a:rPr lang="en-US" altLang="ko-KR" sz="1050" dirty="0">
                <a:latin typeface="+mn-ea"/>
              </a:rPr>
              <a:t>3</a:t>
            </a:r>
            <a:r>
              <a:rPr lang="ko-KR" altLang="en-US" sz="1050" dirty="0">
                <a:latin typeface="+mn-ea"/>
              </a:rPr>
              <a:t>번째 </a:t>
            </a:r>
            <a:r>
              <a:rPr lang="en-US" altLang="ko-KR" sz="1050" dirty="0">
                <a:latin typeface="+mn-ea"/>
              </a:rPr>
              <a:t>GEO_OPT step</a:t>
            </a:r>
            <a:r>
              <a:rPr lang="ko-KR" altLang="en-US" sz="1050" dirty="0">
                <a:latin typeface="+mn-ea"/>
              </a:rPr>
              <a:t>부터는 </a:t>
            </a:r>
            <a:r>
              <a:rPr lang="en-US" altLang="ko-KR" sz="1050" dirty="0">
                <a:latin typeface="+mn-ea"/>
              </a:rPr>
              <a:t>SCF 40–60 step</a:t>
            </a:r>
            <a:r>
              <a:rPr lang="ko-KR" altLang="en-US" sz="1050" dirty="0">
                <a:latin typeface="+mn-ea"/>
              </a:rPr>
              <a:t>으로 단축될 것으로 예상된다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예상 총 소요시간</a:t>
            </a:r>
            <a:r>
              <a:rPr lang="en-US" altLang="ko-KR" sz="1050" dirty="0">
                <a:latin typeface="+mn-ea"/>
              </a:rPr>
              <a:t>: 200 GEO_OPT steps × ~4–6 min/step ≈ 13–20</a:t>
            </a:r>
            <a:r>
              <a:rPr lang="ko-KR" altLang="en-US" sz="1050" dirty="0">
                <a:latin typeface="+mn-ea"/>
              </a:rPr>
              <a:t>시간 </a:t>
            </a:r>
            <a:r>
              <a:rPr lang="en-US" altLang="ko-KR" sz="1050" dirty="0">
                <a:latin typeface="+mn-ea"/>
              </a:rPr>
              <a:t>(overnight 1</a:t>
            </a:r>
            <a:r>
              <a:rPr lang="ko-KR" altLang="en-US" sz="1050" dirty="0">
                <a:latin typeface="+mn-ea"/>
              </a:rPr>
              <a:t>회</a:t>
            </a:r>
            <a:r>
              <a:rPr lang="en-US" altLang="ko-KR" sz="1050" dirty="0">
                <a:latin typeface="+mn-ea"/>
              </a:rPr>
              <a:t>).</a:t>
            </a:r>
            <a:endParaRPr lang="ko-KR" altLang="en-US" sz="1050" dirty="0">
              <a:latin typeface="+mn-ea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B7BF477-6F25-4B15-BC36-BDDC7AFAA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556" y="781812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51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Production Run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실행 계획 및 다음 단계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542282"/>
            <a:ext cx="11258550" cy="2244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GitHub </a:t>
            </a:r>
            <a:r>
              <a:rPr lang="ko-KR" altLang="en-US" sz="1050" dirty="0">
                <a:latin typeface="+mn-ea"/>
              </a:rPr>
              <a:t>로그 분석</a:t>
            </a:r>
            <a:r>
              <a:rPr lang="en-US" altLang="ko-KR" sz="1050" dirty="0">
                <a:latin typeface="+mn-ea"/>
              </a:rPr>
              <a:t>: try03</a:t>
            </a:r>
            <a:r>
              <a:rPr lang="ko-KR" altLang="en-US" sz="1050" dirty="0">
                <a:latin typeface="+mn-ea"/>
              </a:rPr>
              <a:t>의 </a:t>
            </a:r>
            <a:r>
              <a:rPr lang="en-US" altLang="ko-KR" sz="1050" dirty="0">
                <a:latin typeface="+mn-ea"/>
              </a:rPr>
              <a:t>run_cp2k.sh</a:t>
            </a:r>
            <a:r>
              <a:rPr lang="ko-KR" altLang="en-US" sz="1050" dirty="0">
                <a:latin typeface="+mn-ea"/>
              </a:rPr>
              <a:t>는 </a:t>
            </a:r>
            <a:r>
              <a:rPr lang="en-US" altLang="ko-KR" sz="1050" dirty="0">
                <a:latin typeface="+mn-ea"/>
              </a:rPr>
              <a:t>docker.io/cp2k/cp2k:latest (CPU-only) </a:t>
            </a:r>
            <a:r>
              <a:rPr lang="ko-KR" altLang="en-US" sz="1050" dirty="0">
                <a:latin typeface="+mn-ea"/>
              </a:rPr>
              <a:t>이미지에서 </a:t>
            </a:r>
            <a:r>
              <a:rPr lang="en-US" altLang="ko-KR" sz="1050" dirty="0" err="1">
                <a:latin typeface="+mn-ea"/>
              </a:rPr>
              <a:t>mpirun</a:t>
            </a:r>
            <a:r>
              <a:rPr lang="en-US" altLang="ko-KR" sz="1050" dirty="0">
                <a:latin typeface="+mn-ea"/>
              </a:rPr>
              <a:t> -n 10 -</a:t>
            </a:r>
            <a:r>
              <a:rPr lang="en-US" altLang="ko-KR" sz="1050" dirty="0" err="1">
                <a:latin typeface="+mn-ea"/>
              </a:rPr>
              <a:t>genv</a:t>
            </a:r>
            <a:r>
              <a:rPr lang="en-US" altLang="ko-KR" sz="1050" dirty="0">
                <a:latin typeface="+mn-ea"/>
              </a:rPr>
              <a:t> OMP_NUM_THREADS=6 (60 threads)</a:t>
            </a:r>
            <a:r>
              <a:rPr lang="ko-KR" altLang="en-US" sz="1050" dirty="0">
                <a:latin typeface="+mn-ea"/>
              </a:rPr>
              <a:t>으로 실행되었다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BAMOF_SCF_re</a:t>
            </a:r>
            <a:r>
              <a:rPr lang="en-US" altLang="ko-KR" sz="1050" dirty="0">
                <a:latin typeface="+mn-ea"/>
              </a:rPr>
              <a:t> (102</a:t>
            </a:r>
            <a:r>
              <a:rPr lang="ko-KR" altLang="en-US" sz="1050" dirty="0">
                <a:latin typeface="+mn-ea"/>
              </a:rPr>
              <a:t>원자</a:t>
            </a:r>
            <a:r>
              <a:rPr lang="en-US" altLang="ko-KR" sz="1050" dirty="0">
                <a:latin typeface="+mn-ea"/>
              </a:rPr>
              <a:t>, ENERGY)</a:t>
            </a:r>
            <a:r>
              <a:rPr lang="ko-KR" altLang="en-US" sz="1050" dirty="0">
                <a:latin typeface="+mn-ea"/>
              </a:rPr>
              <a:t>는 </a:t>
            </a:r>
            <a:r>
              <a:rPr lang="en-US" altLang="ko-KR" sz="1050" dirty="0">
                <a:latin typeface="+mn-ea"/>
              </a:rPr>
              <a:t>14:00→14:03 </a:t>
            </a:r>
            <a:r>
              <a:rPr lang="ko-KR" altLang="en-US" sz="1050" dirty="0">
                <a:latin typeface="+mn-ea"/>
              </a:rPr>
              <a:t>단 </a:t>
            </a:r>
            <a:r>
              <a:rPr lang="en-US" altLang="ko-KR" sz="1050" dirty="0">
                <a:latin typeface="+mn-ea"/>
              </a:rPr>
              <a:t>3</a:t>
            </a:r>
            <a:r>
              <a:rPr lang="ko-KR" altLang="en-US" sz="1050" dirty="0">
                <a:latin typeface="+mn-ea"/>
              </a:rPr>
              <a:t>분에 완료</a:t>
            </a:r>
            <a:r>
              <a:rPr lang="en-US" altLang="ko-KR" sz="1050" dirty="0">
                <a:latin typeface="+mn-ea"/>
              </a:rPr>
              <a:t>; </a:t>
            </a:r>
            <a:r>
              <a:rPr lang="ko-KR" altLang="en-US" sz="1050" dirty="0">
                <a:latin typeface="+mn-ea"/>
              </a:rPr>
              <a:t>이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ko-KR" altLang="en-US" sz="1050" dirty="0">
                <a:latin typeface="+mn-ea"/>
              </a:rPr>
              <a:t>이 이후 모든 계산의 </a:t>
            </a:r>
            <a:r>
              <a:rPr lang="en-US" altLang="ko-KR" sz="1050" dirty="0">
                <a:latin typeface="+mn-ea"/>
              </a:rPr>
              <a:t>seed</a:t>
            </a:r>
            <a:r>
              <a:rPr lang="ko-KR" altLang="en-US" sz="1050" dirty="0">
                <a:latin typeface="+mn-ea"/>
              </a:rPr>
              <a:t>가 되었다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BAMOF_with_EMIM_linker_relax3 (143</a:t>
            </a:r>
            <a:r>
              <a:rPr lang="ko-KR" altLang="en-US" sz="1050" dirty="0">
                <a:latin typeface="+mn-ea"/>
              </a:rPr>
              <a:t>원자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α=0.13, T=500K</a:t>
            </a:r>
            <a:r>
              <a:rPr lang="ko-KR" altLang="en-US" sz="1050" dirty="0">
                <a:latin typeface="+mn-ea"/>
              </a:rPr>
              <a:t>로 </a:t>
            </a:r>
            <a:r>
              <a:rPr lang="en-US" altLang="ko-KR" sz="1050" dirty="0">
                <a:latin typeface="+mn-ea"/>
              </a:rPr>
              <a:t>softened mixing</a:t>
            </a:r>
            <a:r>
              <a:rPr lang="ko-KR" altLang="en-US" sz="1050" dirty="0">
                <a:latin typeface="+mn-ea"/>
              </a:rPr>
              <a:t>을 사용</a:t>
            </a:r>
            <a:r>
              <a:rPr lang="en-US" altLang="ko-KR" sz="1050" dirty="0">
                <a:latin typeface="+mn-ea"/>
              </a:rPr>
              <a:t>; </a:t>
            </a:r>
            <a:r>
              <a:rPr lang="ko-KR" altLang="en-US" sz="1050" dirty="0">
                <a:latin typeface="+mn-ea"/>
              </a:rPr>
              <a:t>각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실패 시도가 </a:t>
            </a:r>
            <a:r>
              <a:rPr lang="en-US" altLang="ko-KR" sz="1050" dirty="0">
                <a:latin typeface="+mn-ea"/>
              </a:rPr>
              <a:t>~12</a:t>
            </a:r>
            <a:r>
              <a:rPr lang="ko-KR" altLang="en-US" sz="1050" dirty="0" err="1">
                <a:latin typeface="+mn-ea"/>
              </a:rPr>
              <a:t>분씩</a:t>
            </a:r>
            <a:r>
              <a:rPr lang="ko-KR" altLang="en-US" sz="1050" dirty="0">
                <a:latin typeface="+mn-ea"/>
              </a:rPr>
              <a:t> 소요되었으나 최종 수렴 후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ko-KR" altLang="en-US" sz="1050" dirty="0">
                <a:latin typeface="+mn-ea"/>
              </a:rPr>
              <a:t>을 확보했다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BAMOF_EMIM_TFSI_Cluster-1 (158</a:t>
            </a:r>
            <a:r>
              <a:rPr lang="ko-KR" altLang="en-US" sz="1050" dirty="0">
                <a:latin typeface="+mn-ea"/>
              </a:rPr>
              <a:t>원자</a:t>
            </a:r>
            <a:r>
              <a:rPr lang="en-US" altLang="ko-KR" sz="1050" dirty="0">
                <a:latin typeface="+mn-ea"/>
              </a:rPr>
              <a:t>, GEO_OPT </a:t>
            </a:r>
            <a:r>
              <a:rPr lang="ko-KR" altLang="en-US" sz="1050" dirty="0">
                <a:latin typeface="+mn-ea"/>
              </a:rPr>
              <a:t>최종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16:28→19:56 </a:t>
            </a:r>
            <a:r>
              <a:rPr lang="ko-KR" altLang="en-US" sz="1050" dirty="0">
                <a:latin typeface="+mn-ea"/>
              </a:rPr>
              <a:t>총 </a:t>
            </a:r>
            <a:r>
              <a:rPr lang="en-US" altLang="ko-KR" sz="1050" dirty="0">
                <a:latin typeface="+mn-ea"/>
              </a:rPr>
              <a:t>3.5</a:t>
            </a:r>
            <a:r>
              <a:rPr lang="ko-KR" altLang="en-US" sz="1050" dirty="0">
                <a:latin typeface="+mn-ea"/>
              </a:rPr>
              <a:t>시간 소요</a:t>
            </a:r>
            <a:r>
              <a:rPr lang="en-US" altLang="ko-KR" sz="1050" dirty="0">
                <a:latin typeface="+mn-ea"/>
              </a:rPr>
              <a:t>; CPU-only </a:t>
            </a:r>
            <a:r>
              <a:rPr lang="ko-KR" altLang="en-US" sz="1050" dirty="0">
                <a:latin typeface="+mn-ea"/>
              </a:rPr>
              <a:t>환경에서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당 </a:t>
            </a:r>
            <a:r>
              <a:rPr lang="en-US" altLang="ko-KR" sz="1050" dirty="0">
                <a:latin typeface="+mn-ea"/>
              </a:rPr>
              <a:t>~4~6</a:t>
            </a:r>
            <a:r>
              <a:rPr lang="ko-KR" altLang="en-US" sz="1050" dirty="0">
                <a:latin typeface="+mn-ea"/>
              </a:rPr>
              <a:t>분이었다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try04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실패의 근본 원인</a:t>
            </a:r>
            <a:r>
              <a:rPr lang="en-US" altLang="ko-KR" sz="1050" dirty="0">
                <a:latin typeface="+mn-ea"/>
              </a:rPr>
              <a:t>: 192</a:t>
            </a:r>
            <a:r>
              <a:rPr lang="ko-KR" altLang="en-US" sz="1050" dirty="0">
                <a:latin typeface="+mn-ea"/>
              </a:rPr>
              <a:t>원자를 </a:t>
            </a:r>
            <a:r>
              <a:rPr lang="en-US" altLang="ko-KR" sz="1050" dirty="0">
                <a:latin typeface="+mn-ea"/>
              </a:rPr>
              <a:t>ATOMIC guess</a:t>
            </a:r>
            <a:r>
              <a:rPr lang="ko-KR" altLang="en-US" sz="1050" dirty="0">
                <a:latin typeface="+mn-ea"/>
              </a:rPr>
              <a:t>에서 시작하면 초기 밀도 행렬 품질이 너무 낮아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이 수렴하지 못한다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try03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MOF → +cation → +anion 3</a:t>
            </a:r>
            <a:r>
              <a:rPr lang="ko-KR" altLang="en-US" sz="1050" dirty="0">
                <a:latin typeface="+mn-ea"/>
              </a:rPr>
              <a:t>단계 </a:t>
            </a:r>
            <a:r>
              <a:rPr lang="en-US" altLang="ko-KR" sz="1050" dirty="0">
                <a:latin typeface="+mn-ea"/>
              </a:rPr>
              <a:t>bootstrap</a:t>
            </a:r>
            <a:r>
              <a:rPr lang="ko-KR" altLang="en-US" sz="1050" dirty="0">
                <a:latin typeface="+mn-ea"/>
              </a:rPr>
              <a:t>으로 밀도 행렬을 점진적으로 구축했기에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이 수렴할 수 있었다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결론</a:t>
            </a:r>
            <a:r>
              <a:rPr lang="en-US" altLang="ko-KR" sz="1050" dirty="0">
                <a:latin typeface="+mn-ea"/>
              </a:rPr>
              <a:t>: try04</a:t>
            </a:r>
            <a:r>
              <a:rPr lang="ko-KR" altLang="en-US" sz="1050" dirty="0">
                <a:latin typeface="+mn-ea"/>
              </a:rPr>
              <a:t>에서는 </a:t>
            </a:r>
            <a:r>
              <a:rPr lang="en-US" altLang="ko-KR" sz="1050" dirty="0">
                <a:latin typeface="+mn-ea"/>
              </a:rPr>
              <a:t>OT</a:t>
            </a:r>
            <a:r>
              <a:rPr lang="ko-KR" altLang="en-US" sz="1050" dirty="0">
                <a:latin typeface="+mn-ea"/>
              </a:rPr>
              <a:t>가 유일한 안정 경로이며</a:t>
            </a:r>
            <a:r>
              <a:rPr lang="en-US" altLang="ko-KR" sz="1050" dirty="0">
                <a:latin typeface="+mn-ea"/>
              </a:rPr>
              <a:t>, dissociate</a:t>
            </a:r>
            <a:r>
              <a:rPr lang="ko-KR" altLang="en-US" sz="1050" dirty="0">
                <a:latin typeface="+mn-ea"/>
              </a:rPr>
              <a:t>도 동일하게 </a:t>
            </a:r>
            <a:r>
              <a:rPr lang="en-US" altLang="ko-KR" sz="1050" dirty="0">
                <a:latin typeface="+mn-ea"/>
              </a:rPr>
              <a:t>OT</a:t>
            </a:r>
            <a:r>
              <a:rPr lang="ko-KR" altLang="en-US" sz="1050" dirty="0">
                <a:latin typeface="+mn-ea"/>
              </a:rPr>
              <a:t>로 실행해야 한다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br>
              <a:rPr lang="en-US" altLang="ko-KR" sz="1050" dirty="0">
                <a:latin typeface="+mn-ea"/>
              </a:rPr>
            </a:br>
            <a:endParaRPr lang="en-US" altLang="ko-KR" sz="1050" dirty="0">
              <a:latin typeface="+mn-ea"/>
            </a:endParaRP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640E0E76-17A2-4B6D-B08B-F8CDCC7FB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556" y="818388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73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Production Run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실행 계획 및 다음 단계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542282"/>
            <a:ext cx="11258550" cy="2002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try03 CPU-only (60 threads, no GPU)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158</a:t>
            </a:r>
            <a:r>
              <a:rPr lang="ko-KR" altLang="en-US" sz="1050" dirty="0">
                <a:latin typeface="+mn-ea"/>
              </a:rPr>
              <a:t>원자 </a:t>
            </a:r>
            <a:r>
              <a:rPr lang="en-US" altLang="ko-KR" sz="1050" dirty="0">
                <a:latin typeface="+mn-ea"/>
              </a:rPr>
              <a:t>GEO_OPT step</a:t>
            </a:r>
            <a:r>
              <a:rPr lang="ko-KR" altLang="en-US" sz="1050" dirty="0">
                <a:latin typeface="+mn-ea"/>
              </a:rPr>
              <a:t>당 </a:t>
            </a:r>
            <a:r>
              <a:rPr lang="en-US" altLang="ko-KR" sz="1050" dirty="0">
                <a:latin typeface="+mn-ea"/>
              </a:rPr>
              <a:t>~4–6</a:t>
            </a:r>
            <a:r>
              <a:rPr lang="ko-KR" altLang="en-US" sz="1050" dirty="0">
                <a:latin typeface="+mn-ea"/>
              </a:rPr>
              <a:t>분</a:t>
            </a:r>
            <a:r>
              <a:rPr lang="en-US" altLang="ko-KR" sz="1050" dirty="0">
                <a:latin typeface="+mn-ea"/>
              </a:rPr>
              <a:t>; try04 RTX 5090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192</a:t>
            </a:r>
            <a:r>
              <a:rPr lang="ko-KR" altLang="en-US" sz="1050" dirty="0">
                <a:latin typeface="+mn-ea"/>
              </a:rPr>
              <a:t>원자 </a:t>
            </a:r>
            <a:r>
              <a:rPr lang="en-US" altLang="ko-KR" sz="1050" dirty="0">
                <a:latin typeface="+mn-ea"/>
              </a:rPr>
              <a:t>OT step</a:t>
            </a:r>
            <a:r>
              <a:rPr lang="ko-KR" altLang="en-US" sz="1050" dirty="0">
                <a:latin typeface="+mn-ea"/>
              </a:rPr>
              <a:t>당 </a:t>
            </a:r>
            <a:r>
              <a:rPr lang="en-US" altLang="ko-KR" sz="1050" dirty="0">
                <a:latin typeface="+mn-ea"/>
              </a:rPr>
              <a:t>~2–5</a:t>
            </a:r>
            <a:r>
              <a:rPr lang="ko-KR" altLang="en-US" sz="1050" dirty="0">
                <a:latin typeface="+mn-ea"/>
              </a:rPr>
              <a:t>분으로 약 </a:t>
            </a:r>
            <a:r>
              <a:rPr lang="en-US" altLang="ko-KR" sz="1050" dirty="0">
                <a:latin typeface="+mn-ea"/>
              </a:rPr>
              <a:t>1.5–2×</a:t>
            </a:r>
            <a:r>
              <a:rPr lang="ko-KR" altLang="en-US" sz="1050" dirty="0">
                <a:latin typeface="+mn-ea"/>
              </a:rPr>
              <a:t>빠르다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RTX 5090</a:t>
            </a:r>
            <a:r>
              <a:rPr lang="ko-KR" altLang="en-US" sz="1050" dirty="0">
                <a:latin typeface="+mn-ea"/>
              </a:rPr>
              <a:t>의 핵심 우위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메모리 대역폭 </a:t>
            </a:r>
            <a:r>
              <a:rPr lang="en-US" altLang="ko-KR" sz="1050" dirty="0">
                <a:latin typeface="+mn-ea"/>
              </a:rPr>
              <a:t>1,792 GB/s</a:t>
            </a:r>
            <a:r>
              <a:rPr lang="ko-KR" altLang="en-US" sz="1050" dirty="0">
                <a:latin typeface="+mn-ea"/>
              </a:rPr>
              <a:t>가 </a:t>
            </a:r>
            <a:r>
              <a:rPr lang="en-US" altLang="ko-KR" sz="1050" dirty="0">
                <a:latin typeface="+mn-ea"/>
              </a:rPr>
              <a:t>CPU DDR5 (~200 GB/s)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9</a:t>
            </a:r>
            <a:r>
              <a:rPr lang="ko-KR" altLang="en-US" sz="1050" dirty="0">
                <a:latin typeface="+mn-ea"/>
              </a:rPr>
              <a:t>배</a:t>
            </a:r>
            <a:r>
              <a:rPr lang="en-US" altLang="ko-KR" sz="1050" dirty="0">
                <a:latin typeface="+mn-ea"/>
              </a:rPr>
              <a:t>, L4 (300 GB/s)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6</a:t>
            </a:r>
            <a:r>
              <a:rPr lang="ko-KR" altLang="en-US" sz="1050" dirty="0">
                <a:latin typeface="+mn-ea"/>
              </a:rPr>
              <a:t>배이며 </a:t>
            </a:r>
            <a:r>
              <a:rPr lang="en-US" altLang="ko-KR" sz="1050" dirty="0" err="1">
                <a:latin typeface="+mn-ea"/>
              </a:rPr>
              <a:t>grid_collocate</a:t>
            </a:r>
            <a:r>
              <a:rPr lang="en-US" altLang="ko-KR" sz="1050" dirty="0">
                <a:latin typeface="+mn-ea"/>
              </a:rPr>
              <a:t>/integrate</a:t>
            </a:r>
            <a:r>
              <a:rPr lang="ko-KR" altLang="en-US" sz="1050" dirty="0">
                <a:latin typeface="+mn-ea"/>
              </a:rPr>
              <a:t>가 </a:t>
            </a:r>
            <a:r>
              <a:rPr lang="en-US" altLang="ko-KR" sz="1050" dirty="0">
                <a:latin typeface="+mn-ea"/>
              </a:rPr>
              <a:t>bandwidth-bound</a:t>
            </a:r>
            <a:r>
              <a:rPr lang="ko-KR" altLang="en-US" sz="1050" dirty="0">
                <a:latin typeface="+mn-ea"/>
              </a:rPr>
              <a:t>이므로 결정적이다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FP64: RTX 5090 = 1.637 TFLOPS (1:64 ratio), 2×L4 = 0.946 TFLOPS </a:t>
            </a:r>
            <a:r>
              <a:rPr lang="ko-KR" altLang="en-US" sz="1050" dirty="0">
                <a:latin typeface="+mn-ea"/>
              </a:rPr>
              <a:t>합계</a:t>
            </a:r>
            <a:r>
              <a:rPr lang="en-US" altLang="ko-KR" sz="1050" dirty="0">
                <a:latin typeface="+mn-ea"/>
              </a:rPr>
              <a:t>; CP2K DBCSR </a:t>
            </a:r>
            <a:r>
              <a:rPr lang="ko-KR" altLang="en-US" sz="1050" dirty="0">
                <a:latin typeface="+mn-ea"/>
              </a:rPr>
              <a:t>공식 문서에서도 </a:t>
            </a:r>
            <a:r>
              <a:rPr lang="en-US" altLang="ko-KR" sz="1050" dirty="0">
                <a:latin typeface="+mn-ea"/>
              </a:rPr>
              <a:t>"1:64 renders them unsuitable"</a:t>
            </a:r>
            <a:r>
              <a:rPr lang="ko-KR" altLang="en-US" sz="1050" dirty="0">
                <a:latin typeface="+mn-ea"/>
              </a:rPr>
              <a:t>이라 언급하지만 </a:t>
            </a:r>
            <a:r>
              <a:rPr lang="en-US" altLang="ko-KR" sz="1050" dirty="0">
                <a:latin typeface="+mn-ea"/>
              </a:rPr>
              <a:t>grid </a:t>
            </a:r>
            <a:r>
              <a:rPr lang="ko-KR" altLang="en-US" sz="1050" dirty="0">
                <a:latin typeface="+mn-ea"/>
              </a:rPr>
              <a:t>연산은 </a:t>
            </a:r>
            <a:r>
              <a:rPr lang="en-US" altLang="ko-KR" sz="1050" dirty="0">
                <a:latin typeface="+mn-ea"/>
              </a:rPr>
              <a:t>bandwidth </a:t>
            </a:r>
            <a:r>
              <a:rPr lang="ko-KR" altLang="en-US" sz="1050" dirty="0">
                <a:latin typeface="+mn-ea"/>
              </a:rPr>
              <a:t>의존이라 </a:t>
            </a:r>
            <a:r>
              <a:rPr lang="en-US" altLang="ko-KR" sz="1050" dirty="0">
                <a:latin typeface="+mn-ea"/>
              </a:rPr>
              <a:t>5090</a:t>
            </a:r>
            <a:r>
              <a:rPr lang="ko-KR" altLang="en-US" sz="1050" dirty="0">
                <a:latin typeface="+mn-ea"/>
              </a:rPr>
              <a:t>이 유리하다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2×L4 </a:t>
            </a:r>
            <a:r>
              <a:rPr lang="ko-KR" altLang="en-US" sz="1050" dirty="0">
                <a:latin typeface="+mn-ea"/>
              </a:rPr>
              <a:t>서버의 장점은 </a:t>
            </a:r>
            <a:r>
              <a:rPr lang="en-US" altLang="ko-KR" sz="1050" dirty="0">
                <a:latin typeface="+mn-ea"/>
              </a:rPr>
              <a:t>VRAM </a:t>
            </a:r>
            <a:r>
              <a:rPr lang="ko-KR" altLang="en-US" sz="1050" dirty="0">
                <a:latin typeface="+mn-ea"/>
              </a:rPr>
              <a:t>합계 </a:t>
            </a:r>
            <a:r>
              <a:rPr lang="en-US" altLang="ko-KR" sz="1050" dirty="0">
                <a:latin typeface="+mn-ea"/>
              </a:rPr>
              <a:t>48 GB (</a:t>
            </a:r>
            <a:r>
              <a:rPr lang="ko-KR" altLang="en-US" sz="1050" dirty="0">
                <a:latin typeface="+mn-ea"/>
              </a:rPr>
              <a:t>더 큰 시스템 가능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와 서버 안정성 </a:t>
            </a:r>
            <a:r>
              <a:rPr lang="en-US" altLang="ko-KR" sz="1050" dirty="0">
                <a:latin typeface="+mn-ea"/>
              </a:rPr>
              <a:t>(</a:t>
            </a:r>
            <a:r>
              <a:rPr lang="ko-KR" altLang="en-US" sz="1050" dirty="0">
                <a:latin typeface="+mn-ea"/>
              </a:rPr>
              <a:t>장기 무인 운영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이나</a:t>
            </a:r>
            <a:r>
              <a:rPr lang="en-US" altLang="ko-KR" sz="1050" dirty="0">
                <a:latin typeface="+mn-ea"/>
              </a:rPr>
              <a:t>, FP64 + bandwidth </a:t>
            </a:r>
            <a:r>
              <a:rPr lang="ko-KR" altLang="en-US" sz="1050" dirty="0">
                <a:latin typeface="+mn-ea"/>
              </a:rPr>
              <a:t>열세로 </a:t>
            </a:r>
            <a:r>
              <a:rPr lang="en-US" altLang="ko-KR" sz="1050" dirty="0">
                <a:latin typeface="+mn-ea"/>
              </a:rPr>
              <a:t>DFT</a:t>
            </a:r>
            <a:r>
              <a:rPr lang="ko-KR" altLang="en-US" sz="1050" dirty="0">
                <a:latin typeface="+mn-ea"/>
              </a:rPr>
              <a:t>에서는 느리다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CP2K </a:t>
            </a:r>
            <a:r>
              <a:rPr lang="ko-KR" altLang="en-US" sz="1050" dirty="0">
                <a:latin typeface="+mn-ea"/>
              </a:rPr>
              <a:t>개발자 </a:t>
            </a:r>
            <a:r>
              <a:rPr lang="en-US" altLang="ko-KR" sz="1050" dirty="0">
                <a:latin typeface="+mn-ea"/>
              </a:rPr>
              <a:t>Frederick Stein (2026-02-07 </a:t>
            </a:r>
            <a:r>
              <a:rPr lang="ko-KR" altLang="en-US" sz="1050" dirty="0">
                <a:latin typeface="+mn-ea"/>
              </a:rPr>
              <a:t>공식 답변</a:t>
            </a:r>
            <a:r>
              <a:rPr lang="en-US" altLang="ko-KR" sz="1050" dirty="0">
                <a:latin typeface="+mn-ea"/>
              </a:rPr>
              <a:t>): "consumer cards will not provide an acceleration because CP2K relies on double-precision."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try03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CPU 60 threads × FP64 ~3–4 TFLOPS</a:t>
            </a:r>
            <a:r>
              <a:rPr lang="ko-KR" altLang="en-US" sz="1050" dirty="0">
                <a:latin typeface="+mn-ea"/>
              </a:rPr>
              <a:t>로 </a:t>
            </a:r>
            <a:r>
              <a:rPr lang="en-US" altLang="ko-KR" sz="1050" dirty="0" err="1">
                <a:latin typeface="+mn-ea"/>
              </a:rPr>
              <a:t>ScaLAPACK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연산에서 유리했으나</a:t>
            </a:r>
            <a:r>
              <a:rPr lang="en-US" altLang="ko-KR" sz="1050" dirty="0">
                <a:latin typeface="+mn-ea"/>
              </a:rPr>
              <a:t>, FFT grid </a:t>
            </a:r>
            <a:r>
              <a:rPr lang="ko-KR" altLang="en-US" sz="1050" dirty="0">
                <a:latin typeface="+mn-ea"/>
              </a:rPr>
              <a:t>연산은 </a:t>
            </a:r>
            <a:r>
              <a:rPr lang="en-US" altLang="ko-KR" sz="1050" dirty="0">
                <a:latin typeface="+mn-ea"/>
              </a:rPr>
              <a:t>GPU </a:t>
            </a:r>
            <a:r>
              <a:rPr lang="ko-KR" altLang="en-US" sz="1050" dirty="0">
                <a:latin typeface="+mn-ea"/>
              </a:rPr>
              <a:t>가속이 없어 순수 </a:t>
            </a:r>
            <a:r>
              <a:rPr lang="en-US" altLang="ko-KR" sz="1050" dirty="0">
                <a:latin typeface="+mn-ea"/>
              </a:rPr>
              <a:t>CPU </a:t>
            </a:r>
            <a:r>
              <a:rPr lang="ko-KR" altLang="en-US" sz="1050" dirty="0">
                <a:latin typeface="+mn-ea"/>
              </a:rPr>
              <a:t>대역폭에 의존했다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결론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현 </a:t>
            </a:r>
            <a:r>
              <a:rPr lang="en-US" altLang="ko-KR" sz="1050" dirty="0">
                <a:latin typeface="+mn-ea"/>
              </a:rPr>
              <a:t>192</a:t>
            </a:r>
            <a:r>
              <a:rPr lang="ko-KR" altLang="en-US" sz="1050" dirty="0">
                <a:latin typeface="+mn-ea"/>
              </a:rPr>
              <a:t>원자 시스템은 </a:t>
            </a:r>
            <a:r>
              <a:rPr lang="en-US" altLang="ko-KR" sz="1050" dirty="0">
                <a:latin typeface="+mn-ea"/>
              </a:rPr>
              <a:t>RTX 5090 </a:t>
            </a:r>
            <a:r>
              <a:rPr lang="ko-KR" altLang="en-US" sz="1050" dirty="0">
                <a:latin typeface="+mn-ea"/>
              </a:rPr>
              <a:t>로컬에서 </a:t>
            </a:r>
            <a:r>
              <a:rPr lang="en-US" altLang="ko-KR" sz="1050" dirty="0">
                <a:latin typeface="+mn-ea"/>
              </a:rPr>
              <a:t>overnight </a:t>
            </a:r>
            <a:r>
              <a:rPr lang="ko-KR" altLang="en-US" sz="1050" dirty="0">
                <a:latin typeface="+mn-ea"/>
              </a:rPr>
              <a:t>완료가 최적이며</a:t>
            </a:r>
            <a:r>
              <a:rPr lang="en-US" altLang="ko-KR" sz="1050" dirty="0">
                <a:latin typeface="+mn-ea"/>
              </a:rPr>
              <a:t>, L4</a:t>
            </a:r>
            <a:r>
              <a:rPr lang="ko-KR" altLang="en-US" sz="1050" dirty="0">
                <a:latin typeface="+mn-ea"/>
              </a:rPr>
              <a:t>는 </a:t>
            </a:r>
            <a:r>
              <a:rPr lang="en-US" altLang="ko-KR" sz="1050" dirty="0">
                <a:latin typeface="+mn-ea"/>
              </a:rPr>
              <a:t>dissociate </a:t>
            </a:r>
            <a:r>
              <a:rPr lang="ko-KR" altLang="en-US" sz="1050" dirty="0">
                <a:latin typeface="+mn-ea"/>
              </a:rPr>
              <a:t>등 독립 작업 병렬 용도로 활용 권장</a:t>
            </a:r>
            <a:r>
              <a:rPr lang="en-US" altLang="ko-KR" sz="1050" dirty="0">
                <a:latin typeface="+mn-ea"/>
              </a:rPr>
              <a:t>.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7058991A-4A4C-4C8B-B8C0-9E9272387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556" y="882660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53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Production Run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실행 계획 및 다음 단계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542282"/>
            <a:ext cx="11258550" cy="1517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plot_convergence.py </a:t>
            </a:r>
            <a:r>
              <a:rPr lang="ko-KR" altLang="en-US" sz="1050" dirty="0">
                <a:latin typeface="+mn-ea"/>
              </a:rPr>
              <a:t>에러 원인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스크립트가 </a:t>
            </a:r>
            <a:r>
              <a:rPr lang="en-US" altLang="ko-KR" sz="1050" dirty="0" err="1">
                <a:latin typeface="+mn-ea"/>
              </a:rPr>
              <a:t>simulation.input.out</a:t>
            </a:r>
            <a:r>
              <a:rPr lang="ko-KR" altLang="en-US" sz="1050" dirty="0">
                <a:latin typeface="+mn-ea"/>
              </a:rPr>
              <a:t>을 찾지만 실제 파일명은 </a:t>
            </a:r>
            <a:r>
              <a:rPr lang="en-US" altLang="ko-KR" sz="1050" dirty="0" err="1">
                <a:latin typeface="+mn-ea"/>
              </a:rPr>
              <a:t>production_ot.out</a:t>
            </a:r>
            <a:r>
              <a:rPr lang="en-US" altLang="ko-KR" sz="1050" dirty="0">
                <a:latin typeface="+mn-ea"/>
              </a:rPr>
              <a:t> (</a:t>
            </a:r>
            <a:r>
              <a:rPr lang="ko-KR" altLang="en-US" sz="1050" dirty="0">
                <a:latin typeface="+mn-ea"/>
              </a:rPr>
              <a:t>또는 </a:t>
            </a:r>
            <a:r>
              <a:rPr lang="en-US" altLang="ko-KR" sz="1050" dirty="0" err="1">
                <a:latin typeface="+mn-ea"/>
              </a:rPr>
              <a:t>test_output_ot.out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이며</a:t>
            </a:r>
            <a:r>
              <a:rPr lang="en-US" altLang="ko-KR" sz="1050" dirty="0">
                <a:latin typeface="+mn-ea"/>
              </a:rPr>
              <a:t>, dissociate </a:t>
            </a:r>
            <a:r>
              <a:rPr lang="ko-KR" altLang="en-US" sz="1050" dirty="0">
                <a:latin typeface="+mn-ea"/>
              </a:rPr>
              <a:t>계산은 아직 실행되지 않아 파일 자체가 없다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해결</a:t>
            </a:r>
            <a:r>
              <a:rPr lang="en-US" altLang="ko-KR" sz="1050" dirty="0">
                <a:latin typeface="+mn-ea"/>
              </a:rPr>
              <a:t>: --cluster </a:t>
            </a:r>
            <a:r>
              <a:rPr lang="ko-KR" altLang="en-US" sz="1050" dirty="0">
                <a:latin typeface="+mn-ea"/>
              </a:rPr>
              <a:t>인자를 </a:t>
            </a:r>
            <a:r>
              <a:rPr lang="en-US" altLang="ko-KR" sz="1050" dirty="0" err="1">
                <a:latin typeface="+mn-ea"/>
              </a:rPr>
              <a:t>production_ot.out</a:t>
            </a:r>
            <a:r>
              <a:rPr lang="ko-KR" altLang="en-US" sz="1050" dirty="0">
                <a:latin typeface="+mn-ea"/>
              </a:rPr>
              <a:t>으로</a:t>
            </a:r>
            <a:r>
              <a:rPr lang="en-US" altLang="ko-KR" sz="1050" dirty="0">
                <a:latin typeface="+mn-ea"/>
              </a:rPr>
              <a:t>, --dissociate</a:t>
            </a:r>
            <a:r>
              <a:rPr lang="ko-KR" altLang="en-US" sz="1050" dirty="0">
                <a:latin typeface="+mn-ea"/>
              </a:rPr>
              <a:t>를 </a:t>
            </a:r>
            <a:r>
              <a:rPr lang="en-US" altLang="ko-KR" sz="1050" dirty="0">
                <a:latin typeface="+mn-ea"/>
              </a:rPr>
              <a:t>/</a:t>
            </a:r>
            <a:r>
              <a:rPr lang="en-US" altLang="ko-KR" sz="1050" dirty="0" err="1">
                <a:latin typeface="+mn-ea"/>
              </a:rPr>
              <a:t>tmp</a:t>
            </a:r>
            <a:r>
              <a:rPr lang="en-US" altLang="ko-KR" sz="1050" dirty="0">
                <a:latin typeface="+mn-ea"/>
              </a:rPr>
              <a:t>/empty_cp2k.out (</a:t>
            </a:r>
            <a:r>
              <a:rPr lang="ko-KR" altLang="en-US" sz="1050" dirty="0">
                <a:latin typeface="+mn-ea"/>
              </a:rPr>
              <a:t>빈 파일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로 지정하고</a:t>
            </a:r>
            <a:r>
              <a:rPr lang="en-US" altLang="ko-KR" sz="1050" dirty="0">
                <a:latin typeface="+mn-ea"/>
              </a:rPr>
              <a:t>, export MPLCONFIGDIR=/</a:t>
            </a:r>
            <a:r>
              <a:rPr lang="en-US" altLang="ko-KR" sz="1050" dirty="0" err="1">
                <a:latin typeface="+mn-ea"/>
              </a:rPr>
              <a:t>tmp</a:t>
            </a:r>
            <a:r>
              <a:rPr lang="en-US" altLang="ko-KR" sz="1050" dirty="0">
                <a:latin typeface="+mn-ea"/>
              </a:rPr>
              <a:t>/</a:t>
            </a:r>
            <a:r>
              <a:rPr lang="en-US" altLang="ko-KR" sz="1050" dirty="0" err="1">
                <a:latin typeface="+mn-ea"/>
              </a:rPr>
              <a:t>mpl_config</a:t>
            </a:r>
            <a:r>
              <a:rPr lang="ko-KR" altLang="en-US" sz="1050" dirty="0">
                <a:latin typeface="+mn-ea"/>
              </a:rPr>
              <a:t>으로 </a:t>
            </a:r>
            <a:r>
              <a:rPr lang="en-US" altLang="ko-KR" sz="1050" dirty="0">
                <a:latin typeface="+mn-ea"/>
              </a:rPr>
              <a:t>matplotlib </a:t>
            </a:r>
            <a:r>
              <a:rPr lang="ko-KR" altLang="en-US" sz="1050" dirty="0">
                <a:latin typeface="+mn-ea"/>
              </a:rPr>
              <a:t>캐시 에러도 해결한다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GitHub</a:t>
            </a:r>
            <a:r>
              <a:rPr lang="ko-KR" altLang="en-US" sz="1050" dirty="0">
                <a:latin typeface="+mn-ea"/>
              </a:rPr>
              <a:t>에 </a:t>
            </a:r>
            <a:r>
              <a:rPr lang="en-US" altLang="ko-KR" sz="1050" dirty="0">
                <a:latin typeface="+mn-ea"/>
              </a:rPr>
              <a:t>push</a:t>
            </a:r>
            <a:r>
              <a:rPr lang="ko-KR" altLang="en-US" sz="1050" dirty="0">
                <a:latin typeface="+mn-ea"/>
              </a:rPr>
              <a:t>된 파일 확인</a:t>
            </a:r>
            <a:r>
              <a:rPr lang="en-US" altLang="ko-KR" sz="1050" dirty="0">
                <a:latin typeface="+mn-ea"/>
              </a:rPr>
              <a:t>: </a:t>
            </a:r>
            <a:r>
              <a:rPr lang="en-US" altLang="ko-KR" sz="1050" dirty="0" err="1">
                <a:latin typeface="+mn-ea"/>
              </a:rPr>
              <a:t>production_ot.inp</a:t>
            </a:r>
            <a:r>
              <a:rPr lang="en-US" altLang="ko-KR" sz="1050" dirty="0">
                <a:latin typeface="+mn-ea"/>
              </a:rPr>
              <a:t>, </a:t>
            </a:r>
            <a:r>
              <a:rPr lang="en-US" altLang="ko-KR" sz="1050" dirty="0" err="1">
                <a:latin typeface="+mn-ea"/>
              </a:rPr>
              <a:t>production_ot.out</a:t>
            </a:r>
            <a:r>
              <a:rPr lang="en-US" altLang="ko-KR" sz="1050" dirty="0">
                <a:latin typeface="+mn-ea"/>
              </a:rPr>
              <a:t>, </a:t>
            </a:r>
            <a:r>
              <a:rPr lang="en-US" altLang="ko-KR" sz="1050" dirty="0" err="1">
                <a:latin typeface="+mn-ea"/>
              </a:rPr>
              <a:t>production.out</a:t>
            </a:r>
            <a:r>
              <a:rPr lang="en-US" altLang="ko-KR" sz="1050" dirty="0">
                <a:latin typeface="+mn-ea"/>
              </a:rPr>
              <a:t>, </a:t>
            </a:r>
            <a:r>
              <a:rPr lang="en-US" altLang="ko-KR" sz="1050" dirty="0" err="1">
                <a:latin typeface="+mn-ea"/>
              </a:rPr>
              <a:t>test_output_ot.out</a:t>
            </a:r>
            <a:r>
              <a:rPr lang="en-US" altLang="ko-KR" sz="1050" dirty="0">
                <a:latin typeface="+mn-ea"/>
              </a:rPr>
              <a:t>, .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en-US" altLang="ko-KR" sz="1050" dirty="0">
                <a:latin typeface="+mn-ea"/>
              </a:rPr>
              <a:t> (6.6 MB), .restart </a:t>
            </a:r>
            <a:r>
              <a:rPr lang="ko-KR" altLang="en-US" sz="1050" dirty="0">
                <a:latin typeface="+mn-ea"/>
              </a:rPr>
              <a:t>파일 모두 존재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dissociate </a:t>
            </a:r>
            <a:r>
              <a:rPr lang="ko-KR" altLang="en-US" sz="1050" dirty="0">
                <a:latin typeface="+mn-ea"/>
              </a:rPr>
              <a:t>폴더에는 </a:t>
            </a:r>
            <a:r>
              <a:rPr lang="en-US" altLang="ko-KR" sz="1050" dirty="0" err="1">
                <a:latin typeface="+mn-ea"/>
              </a:rPr>
              <a:t>input_ot.inp</a:t>
            </a:r>
            <a:r>
              <a:rPr lang="ko-KR" altLang="en-US" sz="1050" dirty="0">
                <a:latin typeface="+mn-ea"/>
              </a:rPr>
              <a:t>이 준비되어 있으나 </a:t>
            </a:r>
            <a:r>
              <a:rPr lang="en-US" altLang="ko-KR" sz="1050" dirty="0">
                <a:latin typeface="+mn-ea"/>
              </a:rPr>
              <a:t>output </a:t>
            </a:r>
            <a:r>
              <a:rPr lang="ko-KR" altLang="en-US" sz="1050" dirty="0">
                <a:latin typeface="+mn-ea"/>
              </a:rPr>
              <a:t>파일이 없으므로 </a:t>
            </a:r>
            <a:r>
              <a:rPr lang="en-US" altLang="ko-KR" sz="1050" dirty="0">
                <a:latin typeface="+mn-ea"/>
              </a:rPr>
              <a:t>cluster </a:t>
            </a:r>
            <a:r>
              <a:rPr lang="ko-KR" altLang="en-US" sz="1050" dirty="0">
                <a:latin typeface="+mn-ea"/>
              </a:rPr>
              <a:t>수렴 후 실행 예정이다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WSL </a:t>
            </a:r>
            <a:r>
              <a:rPr lang="ko-KR" altLang="en-US" sz="1050" dirty="0" err="1">
                <a:latin typeface="+mn-ea"/>
              </a:rPr>
              <a:t>원라인</a:t>
            </a:r>
            <a:r>
              <a:rPr lang="ko-KR" altLang="en-US" sz="1050" dirty="0">
                <a:latin typeface="+mn-ea"/>
              </a:rPr>
              <a:t> 실행 명령</a:t>
            </a:r>
            <a:r>
              <a:rPr lang="en-US" altLang="ko-KR" sz="1050" dirty="0">
                <a:latin typeface="+mn-ea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1C23D-8EEB-48E2-8A98-C50C1E186FEB}"/>
              </a:ext>
            </a:extLst>
          </p:cNvPr>
          <p:cNvSpPr txBox="1"/>
          <p:nvPr/>
        </p:nvSpPr>
        <p:spPr>
          <a:xfrm>
            <a:off x="365281" y="6060070"/>
            <a:ext cx="11258550" cy="79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export MPLCONFIGDIR=/</a:t>
            </a:r>
            <a:r>
              <a:rPr lang="en-US" altLang="ko-KR" sz="1050" dirty="0" err="1">
                <a:latin typeface="+mn-ea"/>
              </a:rPr>
              <a:t>tmp</a:t>
            </a:r>
            <a:r>
              <a:rPr lang="en-US" altLang="ko-KR" sz="1050" dirty="0">
                <a:latin typeface="+mn-ea"/>
              </a:rPr>
              <a:t>/</a:t>
            </a:r>
            <a:r>
              <a:rPr lang="en-US" altLang="ko-KR" sz="1050" dirty="0" err="1">
                <a:latin typeface="+mn-ea"/>
              </a:rPr>
              <a:t>mpl_config</a:t>
            </a:r>
            <a:r>
              <a:rPr lang="en-US" altLang="ko-KR" sz="1050" dirty="0">
                <a:latin typeface="+mn-ea"/>
              </a:rPr>
              <a:t> &amp;&amp; </a:t>
            </a:r>
            <a:r>
              <a:rPr lang="en-US" altLang="ko-KR" sz="1050" dirty="0" err="1">
                <a:latin typeface="+mn-ea"/>
              </a:rPr>
              <a:t>mkdir</a:t>
            </a:r>
            <a:r>
              <a:rPr lang="en-US" altLang="ko-KR" sz="1050" dirty="0">
                <a:latin typeface="+mn-ea"/>
              </a:rPr>
              <a:t> -p $MPLCONFIGDIR &amp;&amp; touch /</a:t>
            </a:r>
            <a:r>
              <a:rPr lang="en-US" altLang="ko-KR" sz="1050" dirty="0" err="1">
                <a:latin typeface="+mn-ea"/>
              </a:rPr>
              <a:t>tmp</a:t>
            </a:r>
            <a:r>
              <a:rPr lang="en-US" altLang="ko-KR" sz="1050" dirty="0">
                <a:latin typeface="+mn-ea"/>
              </a:rPr>
              <a:t>/empty_cp2k.out &amp;&amp; python3 /mnt/d/PSID_BAMOF/try04/03_postprocessing/plot_convergence.py --cluster /</a:t>
            </a:r>
            <a:r>
              <a:rPr lang="en-US" altLang="ko-KR" sz="1050" dirty="0" err="1">
                <a:latin typeface="+mn-ea"/>
              </a:rPr>
              <a:t>mnt</a:t>
            </a:r>
            <a:r>
              <a:rPr lang="en-US" altLang="ko-KR" sz="1050" dirty="0">
                <a:latin typeface="+mn-ea"/>
              </a:rPr>
              <a:t>/d/PSID_BAMOF/try04/02_calculations/BAMOF_2IP_cluster/</a:t>
            </a:r>
            <a:r>
              <a:rPr lang="en-US" altLang="ko-KR" sz="1050" dirty="0" err="1">
                <a:latin typeface="+mn-ea"/>
              </a:rPr>
              <a:t>production_ot.out</a:t>
            </a:r>
            <a:r>
              <a:rPr lang="en-US" altLang="ko-KR" sz="1050" dirty="0">
                <a:latin typeface="+mn-ea"/>
              </a:rPr>
              <a:t> --dissociate /</a:t>
            </a:r>
            <a:r>
              <a:rPr lang="en-US" altLang="ko-KR" sz="1050" dirty="0" err="1">
                <a:latin typeface="+mn-ea"/>
              </a:rPr>
              <a:t>tmp</a:t>
            </a:r>
            <a:r>
              <a:rPr lang="en-US" altLang="ko-KR" sz="1050" dirty="0">
                <a:latin typeface="+mn-ea"/>
              </a:rPr>
              <a:t>/empty_cp2k.out --out-prefix /</a:t>
            </a:r>
            <a:r>
              <a:rPr lang="en-US" altLang="ko-KR" sz="1050" dirty="0" err="1">
                <a:latin typeface="+mn-ea"/>
              </a:rPr>
              <a:t>mnt</a:t>
            </a:r>
            <a:r>
              <a:rPr lang="en-US" altLang="ko-KR" sz="1050" dirty="0">
                <a:latin typeface="+mn-ea"/>
              </a:rPr>
              <a:t>/d/PSID_BAMOF/try04/03_postprocessing/</a:t>
            </a:r>
            <a:r>
              <a:rPr lang="en-US" altLang="ko-KR" sz="1050" dirty="0" err="1">
                <a:latin typeface="+mn-ea"/>
              </a:rPr>
              <a:t>convergence_probe</a:t>
            </a:r>
            <a:endParaRPr lang="en-US" altLang="ko-KR" sz="1050" dirty="0">
              <a:latin typeface="+mn-ea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8B388472-574F-4DA7-8D99-D95D5A00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2016" y="797930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90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8DF55BD-148B-54C1-0CE0-9B83DF6F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C1EFF2-AED7-F2CE-2708-48C146AD3C0E}"/>
              </a:ext>
            </a:extLst>
          </p:cNvPr>
          <p:cNvSpPr/>
          <p:nvPr/>
        </p:nvSpPr>
        <p:spPr bwMode="auto">
          <a:xfrm>
            <a:off x="7461862" y="1949"/>
            <a:ext cx="4736816" cy="6870567"/>
          </a:xfrm>
          <a:prstGeom prst="rect">
            <a:avLst/>
          </a:prstGeom>
          <a:solidFill>
            <a:schemeClr val="accent6">
              <a:lumMod val="75000"/>
              <a:alpha val="2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3BC96E5E-BC2E-58AA-F8E1-2FF8A16CB811}"/>
              </a:ext>
            </a:extLst>
          </p:cNvPr>
          <p:cNvSpPr/>
          <p:nvPr/>
        </p:nvSpPr>
        <p:spPr>
          <a:xfrm flipH="1">
            <a:off x="6585769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A4362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0C2FD315-FC3D-2EC1-8EDA-FAE7A42B292E}"/>
              </a:ext>
            </a:extLst>
          </p:cNvPr>
          <p:cNvSpPr/>
          <p:nvPr/>
        </p:nvSpPr>
        <p:spPr>
          <a:xfrm flipH="1">
            <a:off x="5961548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9B88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6B532978-9601-BEBD-9509-6EE7A575C331}"/>
              </a:ext>
            </a:extLst>
          </p:cNvPr>
          <p:cNvSpPr/>
          <p:nvPr/>
        </p:nvSpPr>
        <p:spPr>
          <a:xfrm flipH="1">
            <a:off x="-1" y="-14516"/>
            <a:ext cx="9439479" cy="6901543"/>
          </a:xfrm>
          <a:custGeom>
            <a:avLst/>
            <a:gdLst>
              <a:gd name="connsiteX0" fmla="*/ 0 w 3410857"/>
              <a:gd name="connsiteY0" fmla="*/ 6858000 h 6858000"/>
              <a:gd name="connsiteX1" fmla="*/ 1250216 w 3410857"/>
              <a:gd name="connsiteY1" fmla="*/ 0 h 6858000"/>
              <a:gd name="connsiteX2" fmla="*/ 3410857 w 3410857"/>
              <a:gd name="connsiteY2" fmla="*/ 0 h 6858000"/>
              <a:gd name="connsiteX3" fmla="*/ 2160641 w 3410857"/>
              <a:gd name="connsiteY3" fmla="*/ 6858000 h 6858000"/>
              <a:gd name="connsiteX4" fmla="*/ 0 w 3410857"/>
              <a:gd name="connsiteY4" fmla="*/ 6858000 h 6858000"/>
              <a:gd name="connsiteX0" fmla="*/ 0 w 6705600"/>
              <a:gd name="connsiteY0" fmla="*/ 6887029 h 6887029"/>
              <a:gd name="connsiteX1" fmla="*/ 1250216 w 6705600"/>
              <a:gd name="connsiteY1" fmla="*/ 29029 h 6887029"/>
              <a:gd name="connsiteX2" fmla="*/ 6705600 w 6705600"/>
              <a:gd name="connsiteY2" fmla="*/ 0 h 6887029"/>
              <a:gd name="connsiteX3" fmla="*/ 2160641 w 6705600"/>
              <a:gd name="connsiteY3" fmla="*/ 6887029 h 6887029"/>
              <a:gd name="connsiteX4" fmla="*/ 0 w 6705600"/>
              <a:gd name="connsiteY4" fmla="*/ 6887029 h 6887029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705600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44343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58857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458857"/>
              <a:gd name="connsiteY0" fmla="*/ 6887029 h 6959600"/>
              <a:gd name="connsiteX1" fmla="*/ 1250216 w 6458857"/>
              <a:gd name="connsiteY1" fmla="*/ 29029 h 6959600"/>
              <a:gd name="connsiteX2" fmla="*/ 6458857 w 6458857"/>
              <a:gd name="connsiteY2" fmla="*/ 0 h 6959600"/>
              <a:gd name="connsiteX3" fmla="*/ 6166583 w 6458857"/>
              <a:gd name="connsiteY3" fmla="*/ 6959600 h 6959600"/>
              <a:gd name="connsiteX4" fmla="*/ 0 w 6458857"/>
              <a:gd name="connsiteY4" fmla="*/ 6887029 h 6959600"/>
              <a:gd name="connsiteX0" fmla="*/ 0 w 6471383"/>
              <a:gd name="connsiteY0" fmla="*/ 6887029 h 6887029"/>
              <a:gd name="connsiteX1" fmla="*/ 1250216 w 6471383"/>
              <a:gd name="connsiteY1" fmla="*/ 29029 h 6887029"/>
              <a:gd name="connsiteX2" fmla="*/ 6458857 w 6471383"/>
              <a:gd name="connsiteY2" fmla="*/ 0 h 6887029"/>
              <a:gd name="connsiteX3" fmla="*/ 6471383 w 6471383"/>
              <a:gd name="connsiteY3" fmla="*/ 6887029 h 6887029"/>
              <a:gd name="connsiteX4" fmla="*/ 0 w 6471383"/>
              <a:gd name="connsiteY4" fmla="*/ 6887029 h 6887029"/>
              <a:gd name="connsiteX0" fmla="*/ 0 w 7257159"/>
              <a:gd name="connsiteY0" fmla="*/ 6872515 h 6872515"/>
              <a:gd name="connsiteX1" fmla="*/ 1250216 w 7257159"/>
              <a:gd name="connsiteY1" fmla="*/ 14515 h 6872515"/>
              <a:gd name="connsiteX2" fmla="*/ 7257143 w 7257159"/>
              <a:gd name="connsiteY2" fmla="*/ 0 h 6872515"/>
              <a:gd name="connsiteX3" fmla="*/ 6471383 w 7257159"/>
              <a:gd name="connsiteY3" fmla="*/ 6872515 h 6872515"/>
              <a:gd name="connsiteX4" fmla="*/ 0 w 7257159"/>
              <a:gd name="connsiteY4" fmla="*/ 6872515 h 6872515"/>
              <a:gd name="connsiteX0" fmla="*/ 0 w 7284183"/>
              <a:gd name="connsiteY0" fmla="*/ 6872515 h 6901543"/>
              <a:gd name="connsiteX1" fmla="*/ 1250216 w 7284183"/>
              <a:gd name="connsiteY1" fmla="*/ 14515 h 6901543"/>
              <a:gd name="connsiteX2" fmla="*/ 7257143 w 7284183"/>
              <a:gd name="connsiteY2" fmla="*/ 0 h 6901543"/>
              <a:gd name="connsiteX3" fmla="*/ 7284183 w 7284183"/>
              <a:gd name="connsiteY3" fmla="*/ 6901543 h 6901543"/>
              <a:gd name="connsiteX4" fmla="*/ 0 w 7284183"/>
              <a:gd name="connsiteY4" fmla="*/ 6872515 h 6901543"/>
              <a:gd name="connsiteX0" fmla="*/ 0 w 7547476"/>
              <a:gd name="connsiteY0" fmla="*/ 6872515 h 6901543"/>
              <a:gd name="connsiteX1" fmla="*/ 1250216 w 7547476"/>
              <a:gd name="connsiteY1" fmla="*/ 14515 h 6901543"/>
              <a:gd name="connsiteX2" fmla="*/ 7547429 w 7547476"/>
              <a:gd name="connsiteY2" fmla="*/ 0 h 6901543"/>
              <a:gd name="connsiteX3" fmla="*/ 7284183 w 7547476"/>
              <a:gd name="connsiteY3" fmla="*/ 6901543 h 6901543"/>
              <a:gd name="connsiteX4" fmla="*/ 0 w 7547476"/>
              <a:gd name="connsiteY4" fmla="*/ 6872515 h 6901543"/>
              <a:gd name="connsiteX0" fmla="*/ 0 w 7547612"/>
              <a:gd name="connsiteY0" fmla="*/ 6872515 h 6901543"/>
              <a:gd name="connsiteX1" fmla="*/ 1250216 w 7547612"/>
              <a:gd name="connsiteY1" fmla="*/ 14515 h 6901543"/>
              <a:gd name="connsiteX2" fmla="*/ 7547429 w 7547612"/>
              <a:gd name="connsiteY2" fmla="*/ 0 h 6901543"/>
              <a:gd name="connsiteX3" fmla="*/ 7487383 w 7547612"/>
              <a:gd name="connsiteY3" fmla="*/ 6901543 h 6901543"/>
              <a:gd name="connsiteX4" fmla="*/ 0 w 7547612"/>
              <a:gd name="connsiteY4" fmla="*/ 6872515 h 6901543"/>
              <a:gd name="connsiteX0" fmla="*/ 0 w 7533145"/>
              <a:gd name="connsiteY0" fmla="*/ 6872515 h 6901543"/>
              <a:gd name="connsiteX1" fmla="*/ 1250216 w 7533145"/>
              <a:gd name="connsiteY1" fmla="*/ 14515 h 6901543"/>
              <a:gd name="connsiteX2" fmla="*/ 7532915 w 7533145"/>
              <a:gd name="connsiteY2" fmla="*/ 0 h 6901543"/>
              <a:gd name="connsiteX3" fmla="*/ 7487383 w 7533145"/>
              <a:gd name="connsiteY3" fmla="*/ 6901543 h 6901543"/>
              <a:gd name="connsiteX4" fmla="*/ 0 w 7533145"/>
              <a:gd name="connsiteY4" fmla="*/ 6872515 h 6901543"/>
              <a:gd name="connsiteX0" fmla="*/ 0 w 7533928"/>
              <a:gd name="connsiteY0" fmla="*/ 6872515 h 6901543"/>
              <a:gd name="connsiteX1" fmla="*/ 1250216 w 7533928"/>
              <a:gd name="connsiteY1" fmla="*/ 14515 h 6901543"/>
              <a:gd name="connsiteX2" fmla="*/ 7532915 w 7533928"/>
              <a:gd name="connsiteY2" fmla="*/ 0 h 6901543"/>
              <a:gd name="connsiteX3" fmla="*/ 7530926 w 7533928"/>
              <a:gd name="connsiteY3" fmla="*/ 6901543 h 6901543"/>
              <a:gd name="connsiteX4" fmla="*/ 0 w 7533928"/>
              <a:gd name="connsiteY4" fmla="*/ 6872515 h 69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928" h="6901543">
                <a:moveTo>
                  <a:pt x="0" y="6872515"/>
                </a:moveTo>
                <a:lnTo>
                  <a:pt x="1250216" y="14515"/>
                </a:lnTo>
                <a:lnTo>
                  <a:pt x="7532915" y="0"/>
                </a:lnTo>
                <a:cubicBezTo>
                  <a:pt x="7537090" y="2295676"/>
                  <a:pt x="7526751" y="4605867"/>
                  <a:pt x="7530926" y="6901543"/>
                </a:cubicBezTo>
                <a:lnTo>
                  <a:pt x="0" y="68725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DFA242A-83D7-A262-CB5F-828BDBB1360E}"/>
              </a:ext>
            </a:extLst>
          </p:cNvPr>
          <p:cNvGrpSpPr/>
          <p:nvPr/>
        </p:nvGrpSpPr>
        <p:grpSpPr>
          <a:xfrm>
            <a:off x="231580" y="85060"/>
            <a:ext cx="2920394" cy="661066"/>
            <a:chOff x="231580" y="85060"/>
            <a:chExt cx="2534216" cy="573650"/>
          </a:xfrm>
        </p:grpSpPr>
        <p:pic>
          <p:nvPicPr>
            <p:cNvPr id="7" name="그림 6" descr="텍스트, 로고, 엠블럼, 폰트이(가) 표시된 사진&#10;&#10;자동 생성된 설명">
              <a:extLst>
                <a:ext uri="{FF2B5EF4-FFF2-40B4-BE49-F238E27FC236}">
                  <a16:creationId xmlns:a16="http://schemas.microsoft.com/office/drawing/2014/main" id="{877B623B-B99C-3880-04CC-1E6D815B0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80" y="215111"/>
              <a:ext cx="1539333" cy="3751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97EE38A-F703-1ADB-7BEA-DE357B4DC4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9" t="10161" r="5433" b="11878"/>
            <a:stretch/>
          </p:blipFill>
          <p:spPr>
            <a:xfrm>
              <a:off x="1868209" y="85060"/>
              <a:ext cx="897587" cy="573650"/>
            </a:xfrm>
            <a:prstGeom prst="rect">
              <a:avLst/>
            </a:prstGeom>
          </p:spPr>
        </p:pic>
      </p:grpSp>
      <p:sp>
        <p:nvSpPr>
          <p:cNvPr id="11" name="Google Shape;93;p13">
            <a:extLst>
              <a:ext uri="{FF2B5EF4-FFF2-40B4-BE49-F238E27FC236}">
                <a16:creationId xmlns:a16="http://schemas.microsoft.com/office/drawing/2014/main" id="{A462B7C3-1BE7-3653-4083-473D68284EDD}"/>
              </a:ext>
            </a:extLst>
          </p:cNvPr>
          <p:cNvSpPr txBox="1">
            <a:spLocks/>
          </p:cNvSpPr>
          <p:nvPr/>
        </p:nvSpPr>
        <p:spPr>
          <a:xfrm>
            <a:off x="62807" y="1767075"/>
            <a:ext cx="6590799" cy="195479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Raleway"/>
              </a:rPr>
              <a:t>Thank you for attention</a:t>
            </a:r>
            <a:endParaRPr kumimoji="1" lang="en-US" altLang="ko-KR" sz="4000" b="1" dirty="0">
              <a:solidFill>
                <a:schemeClr val="accent5"/>
              </a:solidFill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Google Shape;153;p20">
            <a:extLst>
              <a:ext uri="{FF2B5EF4-FFF2-40B4-BE49-F238E27FC236}">
                <a16:creationId xmlns:a16="http://schemas.microsoft.com/office/drawing/2014/main" id="{AABDCCFB-E987-1685-FD05-447F733BB717}"/>
              </a:ext>
            </a:extLst>
          </p:cNvPr>
          <p:cNvSpPr txBox="1">
            <a:spLocks/>
          </p:cNvSpPr>
          <p:nvPr/>
        </p:nvSpPr>
        <p:spPr>
          <a:xfrm>
            <a:off x="105320" y="4706528"/>
            <a:ext cx="65482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2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안 용 상</a:t>
            </a:r>
            <a:endParaRPr lang="en-US" altLang="ko-KR" sz="2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Process Systems Engineering &amp; Intelligence Design Lab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Department of Chemical Engineering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Kyung </a:t>
            </a:r>
            <a:r>
              <a:rPr lang="en-US" altLang="ko-KR" sz="15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Hee</a:t>
            </a: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University </a:t>
            </a:r>
          </a:p>
        </p:txBody>
      </p:sp>
    </p:spTree>
    <p:extLst>
      <p:ext uri="{BB962C8B-B14F-4D97-AF65-F5344CB8AC3E}">
        <p14:creationId xmlns:p14="http://schemas.microsoft.com/office/powerpoint/2010/main" val="427143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Broyden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 Mixing —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밀도 행렬 업데이트 방식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176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mixing</a:t>
            </a:r>
            <a:r>
              <a:rPr lang="ko-KR" altLang="en-US" sz="1050" dirty="0">
                <a:latin typeface="+mn-ea"/>
              </a:rPr>
              <a:t>은 출력 밀도 </a:t>
            </a:r>
            <a:r>
              <a:rPr lang="en-US" altLang="ko-KR" sz="1050" dirty="0" err="1">
                <a:latin typeface="+mn-ea"/>
              </a:rPr>
              <a:t>ρ_out</a:t>
            </a:r>
            <a:r>
              <a:rPr lang="ko-KR" altLang="en-US" sz="1050" dirty="0">
                <a:latin typeface="+mn-ea"/>
              </a:rPr>
              <a:t>과 입력 밀도 </a:t>
            </a:r>
            <a:r>
              <a:rPr lang="en-US" altLang="ko-KR" sz="1050" dirty="0" err="1">
                <a:latin typeface="+mn-ea"/>
              </a:rPr>
              <a:t>ρ_in</a:t>
            </a:r>
            <a:r>
              <a:rPr lang="ko-KR" altLang="en-US" sz="1050" dirty="0">
                <a:latin typeface="+mn-ea"/>
              </a:rPr>
              <a:t>의 차이</a:t>
            </a:r>
            <a:r>
              <a:rPr lang="en-US" altLang="ko-KR" sz="1050" dirty="0">
                <a:latin typeface="+mn-ea"/>
              </a:rPr>
              <a:t>(</a:t>
            </a:r>
            <a:r>
              <a:rPr lang="ko-KR" altLang="en-US" sz="1050" dirty="0" err="1">
                <a:latin typeface="+mn-ea"/>
              </a:rPr>
              <a:t>잔차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R = </a:t>
            </a:r>
            <a:r>
              <a:rPr lang="en-US" altLang="ko-KR" sz="1050" dirty="0" err="1">
                <a:latin typeface="+mn-ea"/>
              </a:rPr>
              <a:t>ρ_out</a:t>
            </a:r>
            <a:r>
              <a:rPr lang="en-US" altLang="ko-KR" sz="1050" dirty="0">
                <a:latin typeface="+mn-ea"/>
              </a:rPr>
              <a:t> − </a:t>
            </a:r>
            <a:r>
              <a:rPr lang="en-US" altLang="ko-KR" sz="1050" dirty="0" err="1">
                <a:latin typeface="+mn-ea"/>
              </a:rPr>
              <a:t>ρ_in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를 이용해 다음 반복의 밀도를 생성하는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밀도 혼합</a:t>
            </a:r>
            <a:r>
              <a:rPr lang="en-US" altLang="ko-KR" sz="1050" dirty="0">
                <a:latin typeface="+mn-ea"/>
              </a:rPr>
              <a:t>(density mixing)" </a:t>
            </a:r>
            <a:r>
              <a:rPr lang="ko-KR" altLang="en-US" sz="1050" dirty="0">
                <a:latin typeface="+mn-ea"/>
              </a:rPr>
              <a:t>기법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핵심 아이디어</a:t>
            </a:r>
            <a:r>
              <a:rPr lang="en-US" altLang="ko-KR" sz="1050" dirty="0">
                <a:latin typeface="+mn-ea"/>
              </a:rPr>
              <a:t>: </a:t>
            </a:r>
            <a:r>
              <a:rPr lang="en-US" altLang="ko-KR" sz="1050" dirty="0" err="1">
                <a:latin typeface="+mn-ea"/>
              </a:rPr>
              <a:t>ρ_new</a:t>
            </a:r>
            <a:r>
              <a:rPr lang="en-US" altLang="ko-KR" sz="1050" dirty="0">
                <a:latin typeface="+mn-ea"/>
              </a:rPr>
              <a:t> = </a:t>
            </a:r>
            <a:r>
              <a:rPr lang="en-US" altLang="ko-KR" sz="1050" dirty="0" err="1">
                <a:latin typeface="+mn-ea"/>
              </a:rPr>
              <a:t>ρ_in</a:t>
            </a:r>
            <a:r>
              <a:rPr lang="en-US" altLang="ko-KR" sz="1050" dirty="0">
                <a:latin typeface="+mn-ea"/>
              </a:rPr>
              <a:t> + α·R</a:t>
            </a:r>
            <a:r>
              <a:rPr lang="ko-KR" altLang="en-US" sz="1050" dirty="0">
                <a:latin typeface="+mn-ea"/>
              </a:rPr>
              <a:t>로 단순 선형 혼합</a:t>
            </a:r>
            <a:r>
              <a:rPr lang="en-US" altLang="ko-KR" sz="1050" dirty="0">
                <a:latin typeface="+mn-ea"/>
              </a:rPr>
              <a:t>(linear mixing)</a:t>
            </a:r>
            <a:r>
              <a:rPr lang="ko-KR" altLang="en-US" sz="1050" dirty="0">
                <a:latin typeface="+mn-ea"/>
              </a:rPr>
              <a:t>하되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이전 </a:t>
            </a:r>
            <a:r>
              <a:rPr lang="en-US" altLang="ko-KR" sz="1050" dirty="0">
                <a:latin typeface="+mn-ea"/>
              </a:rPr>
              <a:t>N</a:t>
            </a:r>
            <a:r>
              <a:rPr lang="ko-KR" altLang="en-US" sz="1050" dirty="0">
                <a:latin typeface="+mn-ea"/>
              </a:rPr>
              <a:t>개의 </a:t>
            </a:r>
            <a:r>
              <a:rPr lang="ko-KR" altLang="en-US" sz="1050" dirty="0" err="1">
                <a:latin typeface="+mn-ea"/>
              </a:rPr>
              <a:t>잔차</a:t>
            </a:r>
            <a:r>
              <a:rPr lang="ko-KR" altLang="en-US" sz="1050" dirty="0">
                <a:latin typeface="+mn-ea"/>
              </a:rPr>
              <a:t> 벡터를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공식으로 역 </a:t>
            </a:r>
            <a:r>
              <a:rPr lang="en-US" altLang="ko-KR" sz="1050" dirty="0">
                <a:latin typeface="+mn-ea"/>
              </a:rPr>
              <a:t>Jacobian</a:t>
            </a:r>
            <a:r>
              <a:rPr lang="ko-KR" altLang="en-US" sz="1050" dirty="0">
                <a:latin typeface="+mn-ea"/>
              </a:rPr>
              <a:t>을 근사하여 혼합 방향을 개선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α(ALPHA)</a:t>
            </a:r>
            <a:r>
              <a:rPr lang="ko-KR" altLang="en-US" sz="1050" dirty="0">
                <a:latin typeface="+mn-ea"/>
              </a:rPr>
              <a:t>는 혼합 비율로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값이 클수록</a:t>
            </a:r>
            <a:r>
              <a:rPr lang="en-US" altLang="ko-KR" sz="1050" dirty="0">
                <a:latin typeface="+mn-ea"/>
              </a:rPr>
              <a:t>(0.4~0.8) </a:t>
            </a:r>
            <a:r>
              <a:rPr lang="ko-KR" altLang="en-US" sz="1050" dirty="0">
                <a:latin typeface="+mn-ea"/>
              </a:rPr>
              <a:t>빠르지만 불안정하고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작을수록</a:t>
            </a:r>
            <a:r>
              <a:rPr lang="en-US" altLang="ko-KR" sz="1050" dirty="0">
                <a:latin typeface="+mn-ea"/>
              </a:rPr>
              <a:t>(0.05~0.15) </a:t>
            </a:r>
            <a:r>
              <a:rPr lang="ko-KR" altLang="en-US" sz="1050" dirty="0">
                <a:latin typeface="+mn-ea"/>
              </a:rPr>
              <a:t>안정적이지만 수렴이 느림 </a:t>
            </a:r>
            <a:r>
              <a:rPr lang="en-US" altLang="ko-KR" sz="1050" dirty="0">
                <a:latin typeface="+mn-ea"/>
              </a:rPr>
              <a:t>— try03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α=0.13, try04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α=0.05~0.15 </a:t>
            </a:r>
            <a:r>
              <a:rPr lang="ko-KR" altLang="en-US" sz="1050" dirty="0">
                <a:latin typeface="+mn-ea"/>
              </a:rPr>
              <a:t>시도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NBUFFER</a:t>
            </a:r>
            <a:r>
              <a:rPr lang="ko-KR" altLang="en-US" sz="1050" dirty="0">
                <a:latin typeface="+mn-ea"/>
              </a:rPr>
              <a:t>는 기억하는 이전 </a:t>
            </a:r>
            <a:r>
              <a:rPr lang="en-US" altLang="ko-KR" sz="1050" dirty="0">
                <a:latin typeface="+mn-ea"/>
              </a:rPr>
              <a:t>step </a:t>
            </a:r>
            <a:r>
              <a:rPr lang="ko-KR" altLang="en-US" sz="1050" dirty="0">
                <a:latin typeface="+mn-ea"/>
              </a:rPr>
              <a:t>수로</a:t>
            </a:r>
            <a:r>
              <a:rPr lang="en-US" altLang="ko-KR" sz="1050" dirty="0">
                <a:latin typeface="+mn-ea"/>
              </a:rPr>
              <a:t>,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이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과거 정보를 얼마나 참조할지</a:t>
            </a:r>
            <a:r>
              <a:rPr lang="en-US" altLang="ko-KR" sz="1050" dirty="0">
                <a:latin typeface="+mn-ea"/>
              </a:rPr>
              <a:t>" </a:t>
            </a:r>
            <a:r>
              <a:rPr lang="ko-KR" altLang="en-US" sz="1050" dirty="0">
                <a:latin typeface="+mn-ea"/>
              </a:rPr>
              <a:t>결정 </a:t>
            </a:r>
            <a:r>
              <a:rPr lang="en-US" altLang="ko-KR" sz="1050" dirty="0">
                <a:latin typeface="+mn-ea"/>
              </a:rPr>
              <a:t>— </a:t>
            </a:r>
            <a:r>
              <a:rPr lang="ko-KR" altLang="en-US" sz="1050" dirty="0">
                <a:latin typeface="+mn-ea"/>
              </a:rPr>
              <a:t>값이 높으면 방향 추정이 정확하지만 메모리 사용 증가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치명적 약점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밀도 공간에서 작동하므로 </a:t>
            </a:r>
            <a:r>
              <a:rPr lang="en-US" altLang="ko-KR" sz="1050" dirty="0">
                <a:latin typeface="+mn-ea"/>
              </a:rPr>
              <a:t>occupation number</a:t>
            </a:r>
            <a:r>
              <a:rPr lang="ko-KR" altLang="en-US" sz="1050" dirty="0">
                <a:latin typeface="+mn-ea"/>
              </a:rPr>
              <a:t>가 변하는 금속</a:t>
            </a:r>
            <a:r>
              <a:rPr lang="en-US" altLang="ko-KR" sz="1050" dirty="0">
                <a:latin typeface="+mn-ea"/>
              </a:rPr>
              <a:t>/</a:t>
            </a:r>
            <a:r>
              <a:rPr lang="ko-KR" altLang="en-US" sz="1050" dirty="0">
                <a:latin typeface="+mn-ea"/>
              </a:rPr>
              <a:t>반금속 시스템에서 전자가 서로 다른 준위 사이를 점프하며 에너지가 진동함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Fermi-Dirac smearing(ELECTRONIC_TEMPERATURE)</a:t>
            </a:r>
            <a:r>
              <a:rPr lang="ko-KR" altLang="en-US" sz="1050" dirty="0">
                <a:latin typeface="+mn-ea"/>
              </a:rPr>
              <a:t>으로 </a:t>
            </a:r>
            <a:r>
              <a:rPr lang="en-US" altLang="ko-KR" sz="1050" dirty="0">
                <a:latin typeface="+mn-ea"/>
              </a:rPr>
              <a:t>occupation</a:t>
            </a:r>
            <a:r>
              <a:rPr lang="ko-KR" altLang="en-US" sz="1050" dirty="0">
                <a:latin typeface="+mn-ea"/>
              </a:rPr>
              <a:t>을 부드럽게 만들어 진동을 완화하지만</a:t>
            </a:r>
            <a:r>
              <a:rPr lang="en-US" altLang="ko-KR" sz="1050" dirty="0">
                <a:latin typeface="+mn-ea"/>
              </a:rPr>
              <a:t>, gap</a:t>
            </a:r>
            <a:r>
              <a:rPr lang="ko-KR" altLang="en-US" sz="1050" dirty="0">
                <a:latin typeface="+mn-ea"/>
              </a:rPr>
              <a:t>이 작거나 시스템이 크면 </a:t>
            </a:r>
            <a:r>
              <a:rPr lang="en-US" altLang="ko-KR" sz="1050" dirty="0">
                <a:latin typeface="+mn-ea"/>
              </a:rPr>
              <a:t>smearing</a:t>
            </a:r>
            <a:r>
              <a:rPr lang="ko-KR" altLang="en-US" sz="1050" dirty="0">
                <a:latin typeface="+mn-ea"/>
              </a:rPr>
              <a:t>만으로 부족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try04 192</a:t>
            </a:r>
            <a:r>
              <a:rPr lang="ko-KR" altLang="en-US" sz="1050" dirty="0">
                <a:latin typeface="+mn-ea"/>
              </a:rPr>
              <a:t>원자 시스템에서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이 </a:t>
            </a:r>
            <a:r>
              <a:rPr lang="en-US" altLang="ko-KR" sz="1050" dirty="0">
                <a:latin typeface="+mn-ea"/>
              </a:rPr>
              <a:t>-1886~-1887 Ha </a:t>
            </a:r>
            <a:r>
              <a:rPr lang="ko-KR" altLang="en-US" sz="1050" dirty="0">
                <a:latin typeface="+mn-ea"/>
              </a:rPr>
              <a:t>사이를 진동한 이유</a:t>
            </a:r>
            <a:r>
              <a:rPr lang="en-US" altLang="ko-KR" sz="1050" dirty="0">
                <a:latin typeface="+mn-ea"/>
              </a:rPr>
              <a:t>: 170</a:t>
            </a:r>
            <a:r>
              <a:rPr lang="ko-KR" altLang="en-US" sz="1050" dirty="0">
                <a:latin typeface="+mn-ea"/>
              </a:rPr>
              <a:t>개의 </a:t>
            </a:r>
            <a:r>
              <a:rPr lang="en-US" altLang="ko-KR" sz="1050" dirty="0">
                <a:latin typeface="+mn-ea"/>
              </a:rPr>
              <a:t>ADDED_MOS </a:t>
            </a:r>
            <a:r>
              <a:rPr lang="ko-KR" altLang="en-US" sz="1050" dirty="0">
                <a:latin typeface="+mn-ea"/>
              </a:rPr>
              <a:t>중 </a:t>
            </a:r>
            <a:r>
              <a:rPr lang="en-US" altLang="ko-KR" sz="1050" dirty="0">
                <a:latin typeface="+mn-ea"/>
              </a:rPr>
              <a:t>HOMO-LUMO </a:t>
            </a:r>
            <a:r>
              <a:rPr lang="ko-KR" altLang="en-US" sz="1050" dirty="0">
                <a:latin typeface="+mn-ea"/>
              </a:rPr>
              <a:t>근처 준위에서 전자 </a:t>
            </a:r>
            <a:r>
              <a:rPr lang="en-US" altLang="ko-KR" sz="1050" dirty="0">
                <a:latin typeface="+mn-ea"/>
              </a:rPr>
              <a:t>occupation</a:t>
            </a:r>
            <a:r>
              <a:rPr lang="ko-KR" altLang="en-US" sz="1050" dirty="0">
                <a:latin typeface="+mn-ea"/>
              </a:rPr>
              <a:t>이 매 </a:t>
            </a:r>
            <a:r>
              <a:rPr lang="en-US" altLang="ko-KR" sz="1050" dirty="0">
                <a:latin typeface="+mn-ea"/>
              </a:rPr>
              <a:t>step </a:t>
            </a:r>
            <a:r>
              <a:rPr lang="ko-KR" altLang="en-US" sz="1050" dirty="0">
                <a:latin typeface="+mn-ea"/>
              </a:rPr>
              <a:t>뒤바뀌며 밀도가 안정화되지 못함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4ABF976E-CF8C-4FFF-AE59-FA2A37304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556" y="937524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31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OT (Orbital Transformation) —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에너지 직접 최소화 방식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2244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</a:t>
            </a:r>
            <a:r>
              <a:rPr lang="ko-KR" altLang="en-US" sz="1050" dirty="0">
                <a:latin typeface="+mn-ea"/>
              </a:rPr>
              <a:t>는 밀도를 혼합하는 대신 총 에너지 </a:t>
            </a:r>
            <a:r>
              <a:rPr lang="en-US" altLang="ko-KR" sz="1050" dirty="0">
                <a:latin typeface="+mn-ea"/>
              </a:rPr>
              <a:t>E[ψ]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orbital coefficient </a:t>
            </a:r>
            <a:r>
              <a:rPr lang="ko-KR" altLang="en-US" sz="1050" dirty="0">
                <a:latin typeface="+mn-ea"/>
              </a:rPr>
              <a:t>공간에서 직접 최소화하는 방법 </a:t>
            </a:r>
            <a:r>
              <a:rPr lang="en-US" altLang="ko-KR" sz="1050" dirty="0">
                <a:latin typeface="+mn-ea"/>
              </a:rPr>
              <a:t>— </a:t>
            </a:r>
            <a:r>
              <a:rPr lang="ko-KR" altLang="en-US" sz="1050" dirty="0">
                <a:latin typeface="+mn-ea"/>
              </a:rPr>
              <a:t>수학적으로 </a:t>
            </a:r>
            <a:r>
              <a:rPr lang="en-US" altLang="ko-KR" sz="1050" dirty="0">
                <a:latin typeface="+mn-ea"/>
              </a:rPr>
              <a:t>E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ψ</a:t>
            </a:r>
            <a:r>
              <a:rPr lang="ko-KR" altLang="en-US" sz="1050" dirty="0">
                <a:latin typeface="+mn-ea"/>
              </a:rPr>
              <a:t>에 대해 미분하고 </a:t>
            </a:r>
            <a:r>
              <a:rPr lang="en-US" altLang="ko-KR" sz="1050" dirty="0">
                <a:latin typeface="+mn-ea"/>
              </a:rPr>
              <a:t>gradient descent/DIIS</a:t>
            </a:r>
            <a:r>
              <a:rPr lang="ko-KR" altLang="en-US" sz="1050" dirty="0">
                <a:latin typeface="+mn-ea"/>
              </a:rPr>
              <a:t>로 </a:t>
            </a:r>
            <a:r>
              <a:rPr lang="ko-KR" altLang="en-US" sz="1050" dirty="0" err="1">
                <a:latin typeface="+mn-ea"/>
              </a:rPr>
              <a:t>내려감</a:t>
            </a:r>
            <a:endParaRPr lang="ko-KR" altLang="en-US" sz="105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핵심 차이</a:t>
            </a:r>
            <a:r>
              <a:rPr lang="en-US" altLang="ko-KR" sz="1050" dirty="0">
                <a:latin typeface="+mn-ea"/>
              </a:rPr>
              <a:t>: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"</a:t>
            </a:r>
            <a:r>
              <a:rPr lang="en-US" altLang="ko-KR" sz="1050" dirty="0" err="1">
                <a:latin typeface="+mn-ea"/>
              </a:rPr>
              <a:t>ρ_in</a:t>
            </a:r>
            <a:r>
              <a:rPr lang="en-US" altLang="ko-KR" sz="1050" dirty="0">
                <a:latin typeface="+mn-ea"/>
              </a:rPr>
              <a:t> → KS </a:t>
            </a:r>
            <a:r>
              <a:rPr lang="ko-KR" altLang="en-US" sz="1050" dirty="0">
                <a:latin typeface="+mn-ea"/>
              </a:rPr>
              <a:t>풀기 → </a:t>
            </a:r>
            <a:r>
              <a:rPr lang="en-US" altLang="ko-KR" sz="1050" dirty="0" err="1">
                <a:latin typeface="+mn-ea"/>
              </a:rPr>
              <a:t>ρ_out</a:t>
            </a:r>
            <a:r>
              <a:rPr lang="en-US" altLang="ko-KR" sz="1050" dirty="0">
                <a:latin typeface="+mn-ea"/>
              </a:rPr>
              <a:t> → </a:t>
            </a:r>
            <a:r>
              <a:rPr lang="ko-KR" altLang="en-US" sz="1050" dirty="0">
                <a:latin typeface="+mn-ea"/>
              </a:rPr>
              <a:t>혼합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의 </a:t>
            </a:r>
            <a:r>
              <a:rPr lang="ko-KR" altLang="en-US" sz="1050" dirty="0" err="1">
                <a:latin typeface="+mn-ea"/>
              </a:rPr>
              <a:t>고정점</a:t>
            </a:r>
            <a:r>
              <a:rPr lang="ko-KR" altLang="en-US" sz="1050" dirty="0">
                <a:latin typeface="+mn-ea"/>
              </a:rPr>
              <a:t> 반복</a:t>
            </a:r>
            <a:r>
              <a:rPr lang="en-US" altLang="ko-KR" sz="1050" dirty="0">
                <a:latin typeface="+mn-ea"/>
              </a:rPr>
              <a:t>(fixed-point iteration)</a:t>
            </a:r>
            <a:r>
              <a:rPr lang="ko-KR" altLang="en-US" sz="1050" dirty="0">
                <a:latin typeface="+mn-ea"/>
              </a:rPr>
              <a:t>이고</a:t>
            </a:r>
            <a:r>
              <a:rPr lang="en-US" altLang="ko-KR" sz="1050" dirty="0">
                <a:latin typeface="+mn-ea"/>
              </a:rPr>
              <a:t>, OT</a:t>
            </a:r>
            <a:r>
              <a:rPr lang="ko-KR" altLang="en-US" sz="1050" dirty="0">
                <a:latin typeface="+mn-ea"/>
              </a:rPr>
              <a:t>는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현재 </a:t>
            </a:r>
            <a:r>
              <a:rPr lang="en-US" altLang="ko-KR" sz="1050" dirty="0">
                <a:latin typeface="+mn-ea"/>
              </a:rPr>
              <a:t>orbital</a:t>
            </a:r>
            <a:r>
              <a:rPr lang="ko-KR" altLang="en-US" sz="1050" dirty="0">
                <a:latin typeface="+mn-ea"/>
              </a:rPr>
              <a:t>에서 에너지 기울기를 계산하고 기울기 방향으로 이동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하는 최적화</a:t>
            </a:r>
            <a:r>
              <a:rPr lang="en-US" altLang="ko-KR" sz="1050" dirty="0">
                <a:latin typeface="+mn-ea"/>
              </a:rPr>
              <a:t>(optimization)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</a:t>
            </a:r>
            <a:r>
              <a:rPr lang="ko-KR" altLang="en-US" sz="1050" dirty="0">
                <a:latin typeface="+mn-ea"/>
              </a:rPr>
              <a:t>에서는 </a:t>
            </a:r>
            <a:r>
              <a:rPr lang="en-US" altLang="ko-KR" sz="1050" dirty="0">
                <a:latin typeface="+mn-ea"/>
              </a:rPr>
              <a:t>occupation number</a:t>
            </a:r>
            <a:r>
              <a:rPr lang="ko-KR" altLang="en-US" sz="1050" dirty="0">
                <a:latin typeface="+mn-ea"/>
              </a:rPr>
              <a:t>가 고정</a:t>
            </a:r>
            <a:r>
              <a:rPr lang="en-US" altLang="ko-KR" sz="1050" dirty="0">
                <a:latin typeface="+mn-ea"/>
              </a:rPr>
              <a:t>(</a:t>
            </a:r>
            <a:r>
              <a:rPr lang="ko-KR" altLang="en-US" sz="1050" dirty="0">
                <a:latin typeface="+mn-ea"/>
              </a:rPr>
              <a:t>정수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이므로 전자가 준위 사이를 점프하는 문제가 원천적으로 발생하지 않음 </a:t>
            </a:r>
            <a:r>
              <a:rPr lang="en-US" altLang="ko-KR" sz="1050" dirty="0">
                <a:latin typeface="+mn-ea"/>
              </a:rPr>
              <a:t>— </a:t>
            </a:r>
            <a:r>
              <a:rPr lang="ko-KR" altLang="en-US" sz="1050" dirty="0">
                <a:latin typeface="+mn-ea"/>
              </a:rPr>
              <a:t>이것이 단조 감소를 보장하는 핵심 원리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MINIMIZER DIIS(Direct Inversion in the Iterative Subspace): </a:t>
            </a:r>
            <a:r>
              <a:rPr lang="ko-KR" altLang="en-US" sz="1050" dirty="0">
                <a:latin typeface="+mn-ea"/>
              </a:rPr>
              <a:t>최근 </a:t>
            </a:r>
            <a:r>
              <a:rPr lang="en-US" altLang="ko-KR" sz="1050" dirty="0">
                <a:latin typeface="+mn-ea"/>
              </a:rPr>
              <a:t>N</a:t>
            </a:r>
            <a:r>
              <a:rPr lang="ko-KR" altLang="en-US" sz="1050" dirty="0">
                <a:latin typeface="+mn-ea"/>
              </a:rPr>
              <a:t>개의 </a:t>
            </a:r>
            <a:r>
              <a:rPr lang="en-US" altLang="ko-KR" sz="1050" dirty="0">
                <a:latin typeface="+mn-ea"/>
              </a:rPr>
              <a:t>gradient</a:t>
            </a:r>
            <a:r>
              <a:rPr lang="ko-KR" altLang="en-US" sz="1050" dirty="0">
                <a:latin typeface="+mn-ea"/>
              </a:rPr>
              <a:t>를 선형 결합하여 최적 이동 방향을 추정 </a:t>
            </a:r>
            <a:r>
              <a:rPr lang="en-US" altLang="ko-KR" sz="1050" dirty="0">
                <a:latin typeface="+mn-ea"/>
              </a:rPr>
              <a:t>— CG(Conjugate Gradient)</a:t>
            </a:r>
            <a:r>
              <a:rPr lang="ko-KR" altLang="en-US" sz="1050" dirty="0">
                <a:latin typeface="+mn-ea"/>
              </a:rPr>
              <a:t>보다 수렴이 빠르지만 메모리 사용 많음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PRECONDITIONER FULL_ALL: </a:t>
            </a:r>
            <a:r>
              <a:rPr lang="ko-KR" altLang="en-US" sz="1050" dirty="0">
                <a:latin typeface="+mn-ea"/>
              </a:rPr>
              <a:t>에너지의 </a:t>
            </a:r>
            <a:r>
              <a:rPr lang="en-US" altLang="ko-KR" sz="1050" dirty="0">
                <a:latin typeface="+mn-ea"/>
              </a:rPr>
              <a:t>Hessian(2</a:t>
            </a:r>
            <a:r>
              <a:rPr lang="ko-KR" altLang="en-US" sz="1050" dirty="0">
                <a:latin typeface="+mn-ea"/>
              </a:rPr>
              <a:t>차 미분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을 전체 시스템에 대해 근사 계산하여 </a:t>
            </a:r>
            <a:r>
              <a:rPr lang="en-US" altLang="ko-KR" sz="1050" dirty="0">
                <a:latin typeface="+mn-ea"/>
              </a:rPr>
              <a:t>gradient </a:t>
            </a:r>
            <a:r>
              <a:rPr lang="ko-KR" altLang="en-US" sz="1050" dirty="0">
                <a:latin typeface="+mn-ea"/>
              </a:rPr>
              <a:t>방향을 보정 </a:t>
            </a:r>
            <a:r>
              <a:rPr lang="en-US" altLang="ko-KR" sz="1050" dirty="0">
                <a:latin typeface="+mn-ea"/>
              </a:rPr>
              <a:t>— </a:t>
            </a:r>
            <a:r>
              <a:rPr lang="ko-KR" altLang="en-US" sz="1050" dirty="0" err="1">
                <a:latin typeface="+mn-ea"/>
              </a:rPr>
              <a:t>조건수</a:t>
            </a:r>
            <a:r>
              <a:rPr lang="en-US" altLang="ko-KR" sz="1050" dirty="0">
                <a:latin typeface="+mn-ea"/>
              </a:rPr>
              <a:t>(condition number)</a:t>
            </a:r>
            <a:r>
              <a:rPr lang="ko-KR" altLang="en-US" sz="1050" dirty="0">
                <a:latin typeface="+mn-ea"/>
              </a:rPr>
              <a:t>가 개선되어 수렴 가속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그러나 대각화 비용</a:t>
            </a:r>
            <a:r>
              <a:rPr lang="en-US" altLang="ko-KR" sz="1050" dirty="0">
                <a:latin typeface="+mn-ea"/>
              </a:rPr>
              <a:t>(O(N³))</a:t>
            </a:r>
            <a:r>
              <a:rPr lang="ko-KR" altLang="en-US" sz="1050" dirty="0">
                <a:latin typeface="+mn-ea"/>
              </a:rPr>
              <a:t>이 큼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ENERGY_GAP 0.01: preconditioner </a:t>
            </a:r>
            <a:r>
              <a:rPr lang="ko-KR" altLang="en-US" sz="1050" dirty="0">
                <a:latin typeface="+mn-ea"/>
              </a:rPr>
              <a:t>구성 시 가상의 </a:t>
            </a:r>
            <a:r>
              <a:rPr lang="en-US" altLang="ko-KR" sz="1050" dirty="0">
                <a:latin typeface="+mn-ea"/>
              </a:rPr>
              <a:t>HOMO-LUMO gap</a:t>
            </a:r>
            <a:r>
              <a:rPr lang="ko-KR" altLang="en-US" sz="1050" dirty="0">
                <a:latin typeface="+mn-ea"/>
              </a:rPr>
              <a:t>을 설정하여 </a:t>
            </a:r>
            <a:r>
              <a:rPr lang="en-US" altLang="ko-KR" sz="1050" dirty="0">
                <a:latin typeface="+mn-ea"/>
              </a:rPr>
              <a:t>near-degenerate </a:t>
            </a:r>
            <a:r>
              <a:rPr lang="ko-KR" altLang="en-US" sz="1050" dirty="0">
                <a:latin typeface="+mn-ea"/>
              </a:rPr>
              <a:t>상태에서도 </a:t>
            </a:r>
            <a:r>
              <a:rPr lang="en-US" altLang="ko-KR" sz="1050" dirty="0">
                <a:latin typeface="+mn-ea"/>
              </a:rPr>
              <a:t>preconditioner</a:t>
            </a:r>
            <a:r>
              <a:rPr lang="ko-KR" altLang="en-US" sz="1050" dirty="0">
                <a:latin typeface="+mn-ea"/>
              </a:rPr>
              <a:t>가 안정적으로 작동하도록 보장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try04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OT</a:t>
            </a:r>
            <a:r>
              <a:rPr lang="ko-KR" altLang="en-US" sz="1050" dirty="0">
                <a:latin typeface="+mn-ea"/>
              </a:rPr>
              <a:t>가 </a:t>
            </a:r>
            <a:r>
              <a:rPr lang="en-US" altLang="ko-KR" sz="1050" dirty="0">
                <a:latin typeface="+mn-ea"/>
              </a:rPr>
              <a:t>96 step </a:t>
            </a:r>
            <a:r>
              <a:rPr lang="ko-KR" altLang="en-US" sz="1050" dirty="0">
                <a:latin typeface="+mn-ea"/>
              </a:rPr>
              <a:t>만에 수렴하고 에너지가 </a:t>
            </a:r>
            <a:r>
              <a:rPr lang="en-US" altLang="ko-KR" sz="1050" dirty="0">
                <a:latin typeface="+mn-ea"/>
              </a:rPr>
              <a:t>-1886→-1911→-1919 Ha</a:t>
            </a:r>
            <a:r>
              <a:rPr lang="ko-KR" altLang="en-US" sz="1050" dirty="0">
                <a:latin typeface="+mn-ea"/>
              </a:rPr>
              <a:t>로 단조 감소한 이유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매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이 </a:t>
            </a:r>
            <a:r>
              <a:rPr lang="en-US" altLang="ko-KR" sz="1050" dirty="0">
                <a:latin typeface="+mn-ea"/>
              </a:rPr>
              <a:t>E[ψ]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gradient</a:t>
            </a:r>
            <a:r>
              <a:rPr lang="ko-KR" altLang="en-US" sz="1050" dirty="0">
                <a:latin typeface="+mn-ea"/>
              </a:rPr>
              <a:t>를 따라 내려가는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내리막 보장</a:t>
            </a:r>
            <a:r>
              <a:rPr lang="en-US" altLang="ko-KR" sz="1050" dirty="0">
                <a:latin typeface="+mn-ea"/>
              </a:rPr>
              <a:t>" </a:t>
            </a:r>
            <a:r>
              <a:rPr lang="ko-KR" altLang="en-US" sz="1050" dirty="0">
                <a:latin typeface="+mn-ea"/>
              </a:rPr>
              <a:t>구조이기 때문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5CDF3EAF-CDFE-47D4-9552-EC76D3DAD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556" y="937524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12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Broyden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 vs OT —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실제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try04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데이터 기반 비교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365281" y="4652010"/>
            <a:ext cx="11258550" cy="176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(α=0.05): 19 step</a:t>
            </a:r>
            <a:r>
              <a:rPr lang="ko-KR" altLang="en-US" sz="1050" dirty="0">
                <a:latin typeface="+mn-ea"/>
              </a:rPr>
              <a:t>에서 에너지 </a:t>
            </a:r>
            <a:r>
              <a:rPr lang="en-US" altLang="ko-KR" sz="1050" dirty="0">
                <a:latin typeface="+mn-ea"/>
              </a:rPr>
              <a:t>-1892→-1889 Ha, 7 Ha </a:t>
            </a:r>
            <a:r>
              <a:rPr lang="ko-KR" altLang="en-US" sz="1050" dirty="0">
                <a:latin typeface="+mn-ea"/>
              </a:rPr>
              <a:t>진동 →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실패</a:t>
            </a:r>
            <a:r>
              <a:rPr lang="en-US" altLang="ko-KR" sz="1050" dirty="0">
                <a:latin typeface="+mn-ea"/>
              </a:rPr>
              <a:t>;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(α=0.15, RESTART): 11 step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-1886~-1887 Ha </a:t>
            </a:r>
            <a:r>
              <a:rPr lang="ko-KR" altLang="en-US" sz="1050" dirty="0">
                <a:latin typeface="+mn-ea"/>
              </a:rPr>
              <a:t>진동 →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실패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OT DIIS(FULL_ALL): 96 step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-1886→-1886.35 Ha </a:t>
            </a:r>
            <a:r>
              <a:rPr lang="ko-KR" altLang="en-US" sz="1050" dirty="0">
                <a:latin typeface="+mn-ea"/>
              </a:rPr>
              <a:t>단조 수렴 </a:t>
            </a:r>
            <a:r>
              <a:rPr lang="en-US" altLang="ko-KR" sz="1050" dirty="0">
                <a:latin typeface="+mn-ea"/>
              </a:rPr>
              <a:t>(1st GEO), 75 step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-1911.53 Ha </a:t>
            </a:r>
            <a:r>
              <a:rPr lang="ko-KR" altLang="en-US" sz="1050" dirty="0">
                <a:latin typeface="+mn-ea"/>
              </a:rPr>
              <a:t>수렴 </a:t>
            </a:r>
            <a:r>
              <a:rPr lang="en-US" altLang="ko-KR" sz="1050" dirty="0">
                <a:latin typeface="+mn-ea"/>
              </a:rPr>
              <a:t>(2nd GEO)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수렴 패턴 차이</a:t>
            </a:r>
            <a:r>
              <a:rPr lang="en-US" altLang="ko-KR" sz="1050" dirty="0">
                <a:latin typeface="+mn-ea"/>
              </a:rPr>
              <a:t>: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Change </a:t>
            </a:r>
            <a:r>
              <a:rPr lang="ko-KR" altLang="en-US" sz="1050" dirty="0">
                <a:latin typeface="+mn-ea"/>
              </a:rPr>
              <a:t>열은 </a:t>
            </a:r>
            <a:r>
              <a:rPr lang="en-US" altLang="ko-KR" sz="1050" dirty="0">
                <a:latin typeface="+mn-ea"/>
              </a:rPr>
              <a:t>+136, -55, +7 </a:t>
            </a:r>
            <a:r>
              <a:rPr lang="ko-KR" altLang="en-US" sz="1050" dirty="0">
                <a:latin typeface="+mn-ea"/>
              </a:rPr>
              <a:t>등 부호가 뒤바뀌지만</a:t>
            </a:r>
            <a:r>
              <a:rPr lang="en-US" altLang="ko-KR" sz="1050" dirty="0">
                <a:latin typeface="+mn-ea"/>
              </a:rPr>
              <a:t>, OT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Change </a:t>
            </a:r>
            <a:r>
              <a:rPr lang="ko-KR" altLang="en-US" sz="1050" dirty="0">
                <a:latin typeface="+mn-ea"/>
              </a:rPr>
              <a:t>열은 </a:t>
            </a:r>
            <a:r>
              <a:rPr lang="en-US" altLang="ko-KR" sz="1050" dirty="0">
                <a:latin typeface="+mn-ea"/>
              </a:rPr>
              <a:t>-1.89E+03, -7.34E-06 </a:t>
            </a:r>
            <a:r>
              <a:rPr lang="ko-KR" altLang="en-US" sz="1050" dirty="0">
                <a:latin typeface="+mn-ea"/>
              </a:rPr>
              <a:t>등 항상 음수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당 시간</a:t>
            </a:r>
            <a:r>
              <a:rPr lang="en-US" altLang="ko-KR" sz="1050" dirty="0">
                <a:latin typeface="+mn-ea"/>
              </a:rPr>
              <a:t>: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~5.4 s (</a:t>
            </a:r>
            <a:r>
              <a:rPr lang="ko-KR" altLang="en-US" sz="1050" dirty="0">
                <a:latin typeface="+mn-ea"/>
              </a:rPr>
              <a:t>대각화 빠름</a:t>
            </a:r>
            <a:r>
              <a:rPr lang="en-US" altLang="ko-KR" sz="1050" dirty="0">
                <a:latin typeface="+mn-ea"/>
              </a:rPr>
              <a:t>) vs OT 5.4~20 s (FULL_ALL preconditioner </a:t>
            </a:r>
            <a:r>
              <a:rPr lang="ko-KR" altLang="en-US" sz="1050" dirty="0">
                <a:latin typeface="+mn-ea"/>
              </a:rPr>
              <a:t>비용</a:t>
            </a:r>
            <a:r>
              <a:rPr lang="en-US" altLang="ko-KR" sz="1050" dirty="0">
                <a:latin typeface="+mn-ea"/>
              </a:rPr>
              <a:t>) — OT</a:t>
            </a:r>
            <a:r>
              <a:rPr lang="ko-KR" altLang="en-US" sz="1050" dirty="0">
                <a:latin typeface="+mn-ea"/>
              </a:rPr>
              <a:t>가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당 </a:t>
            </a:r>
            <a:r>
              <a:rPr lang="en-US" altLang="ko-KR" sz="1050" dirty="0">
                <a:latin typeface="+mn-ea"/>
              </a:rPr>
              <a:t>2~4</a:t>
            </a:r>
            <a:r>
              <a:rPr lang="ko-KR" altLang="en-US" sz="1050" dirty="0">
                <a:latin typeface="+mn-ea"/>
              </a:rPr>
              <a:t>배 느리지만 수렴 자체가 보장됨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총 소요 시간</a:t>
            </a:r>
            <a:r>
              <a:rPr lang="en-US" altLang="ko-KR" sz="1050" dirty="0">
                <a:latin typeface="+mn-ea"/>
              </a:rPr>
              <a:t>: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수렴 실패 → 설정 변경 → 재시도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의 반복으로 실질 시간이 무한대</a:t>
            </a:r>
            <a:r>
              <a:rPr lang="en-US" altLang="ko-KR" sz="1050" dirty="0">
                <a:latin typeface="+mn-ea"/>
              </a:rPr>
              <a:t>, OT</a:t>
            </a:r>
            <a:r>
              <a:rPr lang="ko-KR" altLang="en-US" sz="1050" dirty="0">
                <a:latin typeface="+mn-ea"/>
              </a:rPr>
              <a:t>는 </a:t>
            </a:r>
            <a:r>
              <a:rPr lang="en-US" altLang="ko-KR" sz="1050" dirty="0">
                <a:latin typeface="+mn-ea"/>
              </a:rPr>
              <a:t>57</a:t>
            </a:r>
            <a:r>
              <a:rPr lang="ko-KR" altLang="en-US" sz="1050" dirty="0">
                <a:latin typeface="+mn-ea"/>
              </a:rPr>
              <a:t>분 만에 </a:t>
            </a:r>
            <a:r>
              <a:rPr lang="en-US" altLang="ko-KR" sz="1050" dirty="0">
                <a:latin typeface="+mn-ea"/>
              </a:rPr>
              <a:t>3 GEO step </a:t>
            </a:r>
            <a:r>
              <a:rPr lang="ko-KR" altLang="en-US" sz="1050" dirty="0">
                <a:latin typeface="+mn-ea"/>
              </a:rPr>
              <a:t>완료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적용 기준</a:t>
            </a:r>
            <a:r>
              <a:rPr lang="en-US" altLang="ko-KR" sz="1050" dirty="0">
                <a:latin typeface="+mn-ea"/>
              </a:rPr>
              <a:t>: gap &gt; 1 eV</a:t>
            </a:r>
            <a:r>
              <a:rPr lang="ko-KR" altLang="en-US" sz="1050" dirty="0">
                <a:latin typeface="+mn-ea"/>
              </a:rPr>
              <a:t>인 절연체</a:t>
            </a:r>
            <a:r>
              <a:rPr lang="en-US" altLang="ko-KR" sz="1050" dirty="0">
                <a:latin typeface="+mn-ea"/>
              </a:rPr>
              <a:t>/</a:t>
            </a:r>
            <a:r>
              <a:rPr lang="ko-KR" altLang="en-US" sz="1050" dirty="0">
                <a:latin typeface="+mn-ea"/>
              </a:rPr>
              <a:t>분자는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ko-KR" altLang="en-US" sz="1050" dirty="0">
                <a:latin typeface="+mn-ea"/>
              </a:rPr>
              <a:t>이 빠르고</a:t>
            </a:r>
            <a:r>
              <a:rPr lang="en-US" altLang="ko-KR" sz="1050" dirty="0">
                <a:latin typeface="+mn-ea"/>
              </a:rPr>
              <a:t>, gap &lt; 0.5 eV</a:t>
            </a:r>
            <a:r>
              <a:rPr lang="ko-KR" altLang="en-US" sz="1050" dirty="0">
                <a:latin typeface="+mn-ea"/>
              </a:rPr>
              <a:t>이거나 </a:t>
            </a:r>
            <a:r>
              <a:rPr lang="en-US" altLang="ko-KR" sz="1050" dirty="0">
                <a:latin typeface="+mn-ea"/>
              </a:rPr>
              <a:t>near-degenerate </a:t>
            </a:r>
            <a:r>
              <a:rPr lang="ko-KR" altLang="en-US" sz="1050" dirty="0">
                <a:latin typeface="+mn-ea"/>
              </a:rPr>
              <a:t>상태가 많으면 </a:t>
            </a:r>
            <a:r>
              <a:rPr lang="en-US" altLang="ko-KR" sz="1050" dirty="0">
                <a:latin typeface="+mn-ea"/>
              </a:rPr>
              <a:t>OT</a:t>
            </a:r>
            <a:r>
              <a:rPr lang="ko-KR" altLang="en-US" sz="1050" dirty="0">
                <a:latin typeface="+mn-ea"/>
              </a:rPr>
              <a:t>가 유일한 선택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try04 BAMOF </a:t>
            </a:r>
            <a:r>
              <a:rPr lang="ko-KR" altLang="en-US" sz="1050" dirty="0">
                <a:latin typeface="+mn-ea"/>
              </a:rPr>
              <a:t>시스템</a:t>
            </a:r>
            <a:r>
              <a:rPr lang="en-US" altLang="ko-KR" sz="1050" dirty="0">
                <a:latin typeface="+mn-ea"/>
              </a:rPr>
              <a:t>: </a:t>
            </a:r>
            <a:r>
              <a:rPr lang="en-US" altLang="ko-KR" sz="1050" dirty="0" err="1">
                <a:latin typeface="+mn-ea"/>
              </a:rPr>
              <a:t>Ti</a:t>
            </a:r>
            <a:r>
              <a:rPr lang="en-US" altLang="ko-KR" sz="1050" dirty="0">
                <a:latin typeface="+mn-ea"/>
              </a:rPr>
              <a:t> d-orbital</a:t>
            </a:r>
            <a:r>
              <a:rPr lang="ko-KR" altLang="en-US" sz="1050" dirty="0">
                <a:latin typeface="+mn-ea"/>
              </a:rPr>
              <a:t>과 유기 </a:t>
            </a:r>
            <a:r>
              <a:rPr lang="ko-KR" altLang="en-US" sz="1050" dirty="0" err="1">
                <a:latin typeface="+mn-ea"/>
              </a:rPr>
              <a:t>리간드의</a:t>
            </a:r>
            <a:r>
              <a:rPr lang="ko-KR" altLang="en-US" sz="1050" dirty="0">
                <a:latin typeface="+mn-ea"/>
              </a:rPr>
              <a:t> 혼성으로 </a:t>
            </a:r>
            <a:r>
              <a:rPr lang="en-US" altLang="ko-KR" sz="1050" dirty="0">
                <a:latin typeface="+mn-ea"/>
              </a:rPr>
              <a:t>frontier orbital</a:t>
            </a:r>
            <a:r>
              <a:rPr lang="ko-KR" altLang="en-US" sz="1050" dirty="0">
                <a:latin typeface="+mn-ea"/>
              </a:rPr>
              <a:t>이 조밀하여 </a:t>
            </a:r>
            <a:r>
              <a:rPr lang="en-US" altLang="ko-KR" sz="1050" dirty="0" err="1">
                <a:latin typeface="+mn-ea"/>
              </a:rPr>
              <a:t>Broyden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부적합</a:t>
            </a:r>
            <a:r>
              <a:rPr lang="en-US" altLang="ko-KR" sz="1050" dirty="0">
                <a:latin typeface="+mn-ea"/>
              </a:rPr>
              <a:t>, OT DIIS + FULL_ALL</a:t>
            </a:r>
            <a:r>
              <a:rPr lang="ko-KR" altLang="en-US" sz="1050" dirty="0">
                <a:latin typeface="+mn-ea"/>
              </a:rPr>
              <a:t>이 최적 조합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C4149695-46A0-421A-829D-2417CED05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520" y="818388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94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077tgp_business_v2">
  <a:themeElements>
    <a:clrScheme name="사용자 지정 1">
      <a:dk1>
        <a:srgbClr val="3A3838"/>
      </a:dk1>
      <a:lt1>
        <a:srgbClr val="FFFFFF"/>
      </a:lt1>
      <a:dk2>
        <a:srgbClr val="3A3838"/>
      </a:dk2>
      <a:lt2>
        <a:srgbClr val="F2F2F2"/>
      </a:lt2>
      <a:accent1>
        <a:srgbClr val="313B6D"/>
      </a:accent1>
      <a:accent2>
        <a:srgbClr val="A43624"/>
      </a:accent2>
      <a:accent3>
        <a:srgbClr val="C0B7AE"/>
      </a:accent3>
      <a:accent4>
        <a:srgbClr val="9B8873"/>
      </a:accent4>
      <a:accent5>
        <a:srgbClr val="931A1B"/>
      </a:accent5>
      <a:accent6>
        <a:srgbClr val="FDFCFC"/>
      </a:accent6>
      <a:hlink>
        <a:srgbClr val="757070"/>
      </a:hlink>
      <a:folHlink>
        <a:srgbClr val="757070"/>
      </a:folHlink>
    </a:clrScheme>
    <a:fontScheme name="사용자 지정 10">
      <a:majorFont>
        <a:latin typeface="Microsoft GothicNeo"/>
        <a:ea typeface="Microsoft GothicNeo"/>
        <a:cs typeface=""/>
      </a:majorFont>
      <a:minorFont>
        <a:latin typeface="Microsoft GothicNeo Light"/>
        <a:ea typeface="Microsoft GothicNe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charset="-127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dirty="0">
            <a:latin typeface="+mn-ea"/>
            <a:ea typeface="+mn-ea"/>
          </a:defRPr>
        </a:defPPr>
      </a:lstStyle>
    </a:txDef>
  </a:objectDefaults>
  <a:extraClrSchemeLst>
    <a:extraClrScheme>
      <a:clrScheme name="077tgp_business_v2 1">
        <a:dk1>
          <a:srgbClr val="666699"/>
        </a:dk1>
        <a:lt1>
          <a:srgbClr val="FFFFFF"/>
        </a:lt1>
        <a:dk2>
          <a:srgbClr val="000000"/>
        </a:dk2>
        <a:lt2>
          <a:srgbClr val="DDDDDD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77tgp_business_v2 2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CC9900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B98A00"/>
        </a:accent6>
        <a:hlink>
          <a:srgbClr val="6E81E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77tgp_business_v2 3">
        <a:dk1>
          <a:srgbClr val="4E40A4"/>
        </a:dk1>
        <a:lt1>
          <a:srgbClr val="FFFFFF"/>
        </a:lt1>
        <a:dk2>
          <a:srgbClr val="000000"/>
        </a:dk2>
        <a:lt2>
          <a:srgbClr val="CCCCCC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32942</TotalTime>
  <Words>4414</Words>
  <Application>Microsoft Office PowerPoint</Application>
  <PresentationFormat>와이드스크린</PresentationFormat>
  <Paragraphs>233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1" baseType="lpstr">
      <vt:lpstr>Wingdings</vt:lpstr>
      <vt:lpstr>Times New Roman</vt:lpstr>
      <vt:lpstr>Microsoft GothicNeo</vt:lpstr>
      <vt:lpstr>Segoe UI Symbol</vt:lpstr>
      <vt:lpstr>Microsoft GothicNeo Light</vt:lpstr>
      <vt:lpstr>Raleway</vt:lpstr>
      <vt:lpstr>Verdana</vt:lpstr>
      <vt:lpstr>맑은 고딕</vt:lpstr>
      <vt:lpstr>Noto Sans KR</vt:lpstr>
      <vt:lpstr>Cambria Math</vt:lpstr>
      <vt:lpstr>Arial</vt:lpstr>
      <vt:lpstr>1_077tgp_business_v2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김유림</dc:creator>
  <cp:lastModifiedBy>안용상</cp:lastModifiedBy>
  <cp:revision>1059</cp:revision>
  <dcterms:created xsi:type="dcterms:W3CDTF">2023-12-10T14:48:54Z</dcterms:created>
  <dcterms:modified xsi:type="dcterms:W3CDTF">2026-04-03T00:12:29Z</dcterms:modified>
</cp:coreProperties>
</file>