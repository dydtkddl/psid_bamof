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1190" r:id="rId2"/>
    <p:sldId id="1323" r:id="rId3"/>
    <p:sldId id="1322" r:id="rId4"/>
    <p:sldId id="1204" r:id="rId5"/>
  </p:sldIdLst>
  <p:sldSz cx="12192000" cy="6858000"/>
  <p:notesSz cx="6858000" cy="9144000"/>
  <p:embeddedFontLst>
    <p:embeddedFont>
      <p:font typeface="Noto Sans KR" panose="020B0200000000000000" pitchFamily="50" charset="-127"/>
      <p:regular r:id="rId8"/>
      <p:bold r:id="rId9"/>
    </p:embeddedFont>
    <p:embeddedFont>
      <p:font typeface="맑은 고딕" panose="020B0503020000020004" pitchFamily="50" charset="-127"/>
      <p:regular r:id="rId10"/>
      <p:bold r:id="rId11"/>
    </p:embeddedFont>
    <p:embeddedFont>
      <p:font typeface="Cambria Math" panose="02040503050406030204" pitchFamily="18" charset="0"/>
      <p:regular r:id="rId12"/>
    </p:embeddedFont>
    <p:embeddedFont>
      <p:font typeface="Microsoft GothicNeo" panose="020B0500000101010101" pitchFamily="50" charset="-127"/>
      <p:regular r:id="rId13"/>
      <p:bold r:id="rId14"/>
    </p:embeddedFont>
    <p:embeddedFont>
      <p:font typeface="Microsoft GothicNeo Light" panose="020B0300000101010101" pitchFamily="50" charset="-127"/>
      <p:regular r:id="rId15"/>
    </p:embeddedFont>
    <p:embeddedFont>
      <p:font typeface="Raleway" pitchFamily="2" charset="0"/>
      <p:regular r:id="rId16"/>
      <p:bold r:id="rId17"/>
      <p:italic r:id="rId18"/>
      <p:boldItalic r:id="rId19"/>
    </p:embeddedFont>
    <p:embeddedFont>
      <p:font typeface="Segoe UI Symbol" panose="020B0502040204020203" pitchFamily="34" charset="0"/>
      <p:regular r:id="rId20"/>
    </p:embeddedFont>
    <p:embeddedFont>
      <p:font typeface="Verdana" panose="020B0604030504040204" pitchFamily="34" charset="0"/>
      <p:regular r:id="rId21"/>
      <p:bold r:id="rId22"/>
      <p:italic r:id="rId23"/>
      <p:boldItalic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8F1"/>
    <a:srgbClr val="617481"/>
    <a:srgbClr val="74838D"/>
    <a:srgbClr val="FBFBF3"/>
    <a:srgbClr val="EBF0F3"/>
    <a:srgbClr val="CBA45A"/>
    <a:srgbClr val="ECC979"/>
    <a:srgbClr val="FDFDFB"/>
    <a:srgbClr val="0C243F"/>
    <a:srgbClr val="2F3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3587" autoAdjust="0"/>
  </p:normalViewPr>
  <p:slideViewPr>
    <p:cSldViewPr snapToGrid="0">
      <p:cViewPr>
        <p:scale>
          <a:sx n="125" d="100"/>
          <a:sy n="125" d="100"/>
        </p:scale>
        <p:origin x="744" y="-4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D39546C-1EC6-D7CA-6FC8-DCDB798445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AA104A-68B4-840A-97AB-76C72A506B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26888-051B-4C99-BCB4-37C922E41D73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E1443D-D1B0-0F0A-BBCC-87E1008B73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C68F17-0D7F-B3D7-5621-C83BF91D6C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990BE-6869-407E-BEE1-20864D10C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023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02F6B-AA4F-4993-9FAD-DF67DC4FA92F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4293B-FB95-44D9-9F9A-9C75F99BEC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34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5916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31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061-B13A-0C90-589B-BD1CA851F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27E0EC-8E54-1FC0-773A-01E4A2FCA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6ADEE-D2C0-67A9-0E5A-88FBC020B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1720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079E-90EC-2F0B-9234-2C71FD409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FBDF2-3FD8-49E4-B000-9115A49DFA2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30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9DCDD4D8-1163-9C36-3383-6077E3D1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f391192_00:notes">
            <a:extLst>
              <a:ext uri="{FF2B5EF4-FFF2-40B4-BE49-F238E27FC236}">
                <a16:creationId xmlns:a16="http://schemas.microsoft.com/office/drawing/2014/main" id="{D1AC7DE0-F947-3157-4BD3-F02501AAB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f391192_00:notes">
            <a:extLst>
              <a:ext uri="{FF2B5EF4-FFF2-40B4-BE49-F238E27FC236}">
                <a16:creationId xmlns:a16="http://schemas.microsoft.com/office/drawing/2014/main" id="{3BA5C4CB-541D-2B05-54BE-FFF1C90DC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3196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>
              <a:defRPr sz="2800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14921" y="1628780"/>
            <a:ext cx="10850033" cy="4695825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맑은 고딕" pitchFamily="50" charset="-127"/>
                <a:ea typeface="맑은 고딕" pitchFamily="50" charset="-127"/>
              </a:defRPr>
            </a:lvl1pPr>
            <a:lvl2pPr>
              <a:defRPr sz="1800">
                <a:latin typeface="맑은 고딕" pitchFamily="50" charset="-127"/>
                <a:ea typeface="맑은 고딕" pitchFamily="50" charset="-127"/>
              </a:defRPr>
            </a:lvl2pPr>
            <a:lvl3pPr>
              <a:defRPr sz="1600">
                <a:latin typeface="맑은 고딕" pitchFamily="50" charset="-127"/>
                <a:ea typeface="맑은 고딕" pitchFamily="50" charset="-127"/>
              </a:defRPr>
            </a:lvl3pPr>
            <a:lvl4pPr>
              <a:defRPr sz="1400">
                <a:latin typeface="맑은 고딕" pitchFamily="50" charset="-127"/>
                <a:ea typeface="맑은 고딕" pitchFamily="50" charset="-127"/>
              </a:defRPr>
            </a:lvl4pPr>
            <a:lvl5pPr>
              <a:defRPr sz="12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92175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320BD5E-96D9-44D5-A512-8E6778DAE6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CED49B-7455-0678-1615-B6E8B4452ADF}"/>
              </a:ext>
            </a:extLst>
          </p:cNvPr>
          <p:cNvSpPr txBox="1">
            <a:spLocks/>
          </p:cNvSpPr>
          <p:nvPr userDrawn="1"/>
        </p:nvSpPr>
        <p:spPr>
          <a:xfrm>
            <a:off x="9391650" y="653891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61E7B124-8D92-4B6F-BF98-ABA3F83B894F}" type="slidenum">
              <a:rPr lang="ko-KR" altLang="en-US" sz="1400" smtClean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pPr algn="r">
                <a:defRPr/>
              </a:pPr>
              <a:t>‹#›</a:t>
            </a:fld>
            <a:r>
              <a:rPr lang="en-US" altLang="ko-KR" sz="1400" dirty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/24</a:t>
            </a:r>
            <a:endParaRPr lang="ko-KR" altLang="en-US" sz="1400" dirty="0">
              <a:solidFill>
                <a:srgbClr val="7F7F7F"/>
              </a:solidFill>
              <a:latin typeface="Microsoft GothicNeo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272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7"/>
          <p:cNvGrpSpPr>
            <a:grpSpLocks/>
          </p:cNvGrpSpPr>
          <p:nvPr userDrawn="1"/>
        </p:nvGrpSpPr>
        <p:grpSpPr bwMode="auto">
          <a:xfrm>
            <a:off x="-6348" y="5"/>
            <a:ext cx="12198351" cy="6856413"/>
            <a:chOff x="-3" y="0"/>
            <a:chExt cx="5763" cy="4319"/>
          </a:xfrm>
        </p:grpSpPr>
        <p:sp>
          <p:nvSpPr>
            <p:cNvPr id="11" name="AutoShape 8"/>
            <p:cNvSpPr>
              <a:spLocks noChangeArrowheads="1"/>
            </p:cNvSpPr>
            <p:nvPr userDrawn="1"/>
          </p:nvSpPr>
          <p:spPr bwMode="gray">
            <a:xfrm>
              <a:off x="24" y="24"/>
              <a:ext cx="5712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굴림" panose="020B0600000101010101" pitchFamily="50" charset="-127"/>
                </a:defRPr>
              </a:lvl9pPr>
            </a:lstStyle>
            <a:p>
              <a:pPr eaLnBrk="0" latinLnBrk="0" hangingPunct="0">
                <a:defRPr/>
              </a:pPr>
              <a:endParaRPr kumimoji="0" lang="ko-KR" altLang="en-US">
                <a:solidFill>
                  <a:srgbClr val="1D528D"/>
                </a:solidFill>
              </a:endParaRPr>
            </a:p>
          </p:txBody>
        </p:sp>
        <p:sp>
          <p:nvSpPr>
            <p:cNvPr id="12" name="Freeform 9"/>
            <p:cNvSpPr>
              <a:spLocks/>
            </p:cNvSpPr>
            <p:nvPr userDrawn="1"/>
          </p:nvSpPr>
          <p:spPr bwMode="gray">
            <a:xfrm>
              <a:off x="0" y="0"/>
              <a:ext cx="288" cy="288"/>
            </a:xfrm>
            <a:custGeom>
              <a:avLst/>
              <a:gdLst>
                <a:gd name="T0" fmla="*/ 0 w 336"/>
                <a:gd name="T1" fmla="*/ 2 h 384"/>
                <a:gd name="T2" fmla="*/ 0 w 336"/>
                <a:gd name="T3" fmla="*/ 6 h 384"/>
                <a:gd name="T4" fmla="*/ 9 w 336"/>
                <a:gd name="T5" fmla="*/ 3 h 384"/>
                <a:gd name="T6" fmla="*/ 19 w 336"/>
                <a:gd name="T7" fmla="*/ 2 h 384"/>
                <a:gd name="T8" fmla="*/ 33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gray">
            <a:xfrm rot="-5408600">
              <a:off x="-50" y="4030"/>
              <a:ext cx="336" cy="242"/>
            </a:xfrm>
            <a:custGeom>
              <a:avLst/>
              <a:gdLst>
                <a:gd name="T0" fmla="*/ 0 w 336"/>
                <a:gd name="T1" fmla="*/ 1 h 384"/>
                <a:gd name="T2" fmla="*/ 0 w 336"/>
                <a:gd name="T3" fmla="*/ 1 h 384"/>
                <a:gd name="T4" fmla="*/ 96 w 336"/>
                <a:gd name="T5" fmla="*/ 1 h 384"/>
                <a:gd name="T6" fmla="*/ 192 w 336"/>
                <a:gd name="T7" fmla="*/ 1 h 384"/>
                <a:gd name="T8" fmla="*/ 336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gray">
            <a:xfrm rot="10769190">
              <a:off x="5519" y="4031"/>
              <a:ext cx="232" cy="287"/>
            </a:xfrm>
            <a:custGeom>
              <a:avLst/>
              <a:gdLst>
                <a:gd name="T0" fmla="*/ 0 w 336"/>
                <a:gd name="T1" fmla="*/ 1 h 384"/>
                <a:gd name="T2" fmla="*/ 0 w 336"/>
                <a:gd name="T3" fmla="*/ 5 h 384"/>
                <a:gd name="T4" fmla="*/ 1 w 336"/>
                <a:gd name="T5" fmla="*/ 2 h 384"/>
                <a:gd name="T6" fmla="*/ 1 w 336"/>
                <a:gd name="T7" fmla="*/ 1 h 384"/>
                <a:gd name="T8" fmla="*/ 1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Freeform 12"/>
            <p:cNvSpPr>
              <a:spLocks/>
            </p:cNvSpPr>
            <p:nvPr userDrawn="1"/>
          </p:nvSpPr>
          <p:spPr bwMode="gray">
            <a:xfrm rot="5400000">
              <a:off x="5472" y="0"/>
              <a:ext cx="288" cy="288"/>
            </a:xfrm>
            <a:custGeom>
              <a:avLst/>
              <a:gdLst>
                <a:gd name="T0" fmla="*/ 0 w 336"/>
                <a:gd name="T1" fmla="*/ 2 h 384"/>
                <a:gd name="T2" fmla="*/ 0 w 336"/>
                <a:gd name="T3" fmla="*/ 6 h 384"/>
                <a:gd name="T4" fmla="*/ 9 w 336"/>
                <a:gd name="T5" fmla="*/ 3 h 384"/>
                <a:gd name="T6" fmla="*/ 19 w 336"/>
                <a:gd name="T7" fmla="*/ 2 h 384"/>
                <a:gd name="T8" fmla="*/ 33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latinLnBrk="0" hangingPunct="0"/>
              <a:endParaRPr kumimoji="0" lang="ko-KR" altLang="en-US">
                <a:solidFill>
                  <a:srgbClr val="1D528D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718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719667" y="1268418"/>
            <a:ext cx="10871200" cy="814387"/>
          </a:xfrm>
          <a:prstGeom prst="rect">
            <a:avLst/>
          </a:prstGeom>
        </p:spPr>
        <p:txBody>
          <a:bodyPr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182" name="Rectangle 14"/>
          <p:cNvSpPr>
            <a:spLocks noGrp="1" noChangeArrowheads="1"/>
          </p:cNvSpPr>
          <p:nvPr>
            <p:ph type="subTitle" sz="quarter" idx="1"/>
          </p:nvPr>
        </p:nvSpPr>
        <p:spPr bwMode="gray">
          <a:xfrm>
            <a:off x="1968500" y="5013325"/>
            <a:ext cx="8534400" cy="5334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2" name="Rectangle 7"/>
          <p:cNvSpPr>
            <a:spLocks noChangeArrowheads="1"/>
          </p:cNvSpPr>
          <p:nvPr userDrawn="1"/>
        </p:nvSpPr>
        <p:spPr bwMode="gray">
          <a:xfrm>
            <a:off x="14821" y="677962"/>
            <a:ext cx="12177183" cy="158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2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>
              <a:solidFill>
                <a:srgbClr val="1D528D"/>
              </a:solidFill>
              <a:latin typeface="Times New Roman" panose="02020603050405020304" pitchFamily="18" charset="0"/>
              <a:ea typeface="굴림" charset="-127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8642BACA-DB50-DEF6-5C74-A3E1AA7306FB}"/>
              </a:ext>
            </a:extLst>
          </p:cNvPr>
          <p:cNvSpPr txBox="1">
            <a:spLocks/>
          </p:cNvSpPr>
          <p:nvPr userDrawn="1"/>
        </p:nvSpPr>
        <p:spPr>
          <a:xfrm>
            <a:off x="9391650" y="602224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61E7B124-8D92-4B6F-BF98-ABA3F83B894F}" type="slidenum">
              <a:rPr lang="ko-KR" altLang="en-US" sz="1400" smtClean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pPr algn="r">
                <a:defRPr/>
              </a:pPr>
              <a:t>‹#›</a:t>
            </a:fld>
            <a:r>
              <a:rPr lang="en-US" altLang="ko-KR" sz="1400" dirty="0">
                <a:solidFill>
                  <a:srgbClr val="7F7F7F"/>
                </a:solidFill>
                <a:latin typeface="Microsoft GothicNeo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/24</a:t>
            </a:r>
            <a:endParaRPr lang="ko-KR" altLang="en-US" sz="1400" dirty="0">
              <a:solidFill>
                <a:srgbClr val="7F7F7F"/>
              </a:solidFill>
              <a:latin typeface="Microsoft GothicNeo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533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93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제목 1">
            <a:extLst>
              <a:ext uri="{FF2B5EF4-FFF2-40B4-BE49-F238E27FC236}">
                <a16:creationId xmlns:a16="http://schemas.microsoft.com/office/drawing/2014/main" id="{D1736F0B-8BDA-A9B0-35A3-B23363104599}"/>
              </a:ext>
            </a:extLst>
          </p:cNvPr>
          <p:cNvSpPr txBox="1">
            <a:spLocks/>
          </p:cNvSpPr>
          <p:nvPr userDrawn="1"/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sp>
        <p:nvSpPr>
          <p:cNvPr id="31" name="슬라이드 번호 개체 틀 5">
            <a:extLst>
              <a:ext uri="{FF2B5EF4-FFF2-40B4-BE49-F238E27FC236}">
                <a16:creationId xmlns:a16="http://schemas.microsoft.com/office/drawing/2014/main" id="{39A2953F-FC95-D8B0-7500-C4454B5E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1754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A320BD5E-96D9-44D5-A512-8E6778DAE68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A4E61D48-EF27-DC69-9E07-B7566343BB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921" y="1628780"/>
            <a:ext cx="10850033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5" name="제목 1">
            <a:extLst>
              <a:ext uri="{FF2B5EF4-FFF2-40B4-BE49-F238E27FC236}">
                <a16:creationId xmlns:a16="http://schemas.microsoft.com/office/drawing/2014/main" id="{82EC0B68-390E-999D-3E97-79690BB8D9F0}"/>
              </a:ext>
            </a:extLst>
          </p:cNvPr>
          <p:cNvSpPr txBox="1">
            <a:spLocks/>
          </p:cNvSpPr>
          <p:nvPr userDrawn="1"/>
        </p:nvSpPr>
        <p:spPr>
          <a:xfrm>
            <a:off x="2305021" y="7096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sp>
        <p:nvSpPr>
          <p:cNvPr id="36" name="제목 1">
            <a:extLst>
              <a:ext uri="{FF2B5EF4-FFF2-40B4-BE49-F238E27FC236}">
                <a16:creationId xmlns:a16="http://schemas.microsoft.com/office/drawing/2014/main" id="{5ADC63C2-C0B6-570D-645D-8E2C83828715}"/>
              </a:ext>
            </a:extLst>
          </p:cNvPr>
          <p:cNvSpPr txBox="1">
            <a:spLocks/>
          </p:cNvSpPr>
          <p:nvPr userDrawn="1"/>
        </p:nvSpPr>
        <p:spPr>
          <a:xfrm>
            <a:off x="2000221" y="404818"/>
            <a:ext cx="9759979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5pPr>
            <a:lvl6pPr marL="457189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6pPr>
            <a:lvl7pPr marL="914377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7pPr>
            <a:lvl8pPr marL="1371566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8pPr>
            <a:lvl9pPr marL="1828754" algn="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bg1"/>
                </a:solidFill>
                <a:latin typeface="Verdana" pitchFamily="34" charset="0"/>
              </a:defRPr>
            </a:lvl9pPr>
          </a:lstStyle>
          <a:p>
            <a:pPr latinLnBrk="0"/>
            <a:r>
              <a:rPr lang="ko-KR" altLang="en-US" kern="0"/>
              <a:t>마스터 제목 스타일 편집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64AD41-381A-FBBF-0FD0-FDAB340D3DD0}"/>
              </a:ext>
            </a:extLst>
          </p:cNvPr>
          <p:cNvGrpSpPr/>
          <p:nvPr userDrawn="1"/>
        </p:nvGrpSpPr>
        <p:grpSpPr>
          <a:xfrm>
            <a:off x="-827833" y="276878"/>
            <a:ext cx="551543" cy="2630021"/>
            <a:chOff x="-827833" y="276878"/>
            <a:chExt cx="551543" cy="2630021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E04E867-792A-6855-1B1E-16E5B7989E0D}"/>
                </a:ext>
              </a:extLst>
            </p:cNvPr>
            <p:cNvSpPr/>
            <p:nvPr/>
          </p:nvSpPr>
          <p:spPr bwMode="auto">
            <a:xfrm>
              <a:off x="-827833" y="276878"/>
              <a:ext cx="551543" cy="5527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34E4D5E-3F40-C6EF-40B2-04FAC856459C}"/>
                </a:ext>
              </a:extLst>
            </p:cNvPr>
            <p:cNvSpPr/>
            <p:nvPr/>
          </p:nvSpPr>
          <p:spPr bwMode="auto">
            <a:xfrm>
              <a:off x="-827833" y="969317"/>
              <a:ext cx="551543" cy="552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1B82B7-3C38-5825-089E-B8BE81A0F11E}"/>
                </a:ext>
              </a:extLst>
            </p:cNvPr>
            <p:cNvSpPr/>
            <p:nvPr/>
          </p:nvSpPr>
          <p:spPr bwMode="auto">
            <a:xfrm>
              <a:off x="-827833" y="1661756"/>
              <a:ext cx="551543" cy="55270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EF47FFC-E615-F83F-3D68-DF3A9207E133}"/>
                </a:ext>
              </a:extLst>
            </p:cNvPr>
            <p:cNvSpPr/>
            <p:nvPr/>
          </p:nvSpPr>
          <p:spPr bwMode="auto">
            <a:xfrm>
              <a:off x="-827833" y="2354195"/>
              <a:ext cx="551543" cy="5527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ko-KR" altLang="en-US" sz="240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56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64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189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377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566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754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Font typeface="Arial" panose="020B0604020202020204" pitchFamily="34" charset="0"/>
        <a:buChar char="–"/>
        <a:defRPr sz="2400">
          <a:solidFill>
            <a:schemeClr val="tx2"/>
          </a:solidFill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2400">
          <a:solidFill>
            <a:schemeClr val="tx2"/>
          </a:solidFill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Arial" panose="020B0604020202020204" pitchFamily="34" charset="0"/>
        <a:buChar char="–"/>
        <a:defRPr sz="2000">
          <a:solidFill>
            <a:schemeClr val="tx2"/>
          </a:solidFill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Font typeface="Wingdings" pitchFamily="2" charset="2"/>
        <a:buChar char="§"/>
        <a:defRPr sz="2000">
          <a:solidFill>
            <a:schemeClr val="tx2"/>
          </a:solidFill>
          <a:latin typeface="+mn-lt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41B4C732-F334-A9CB-7009-89ABBB4D74ED}"/>
              </a:ext>
            </a:extLst>
          </p:cNvPr>
          <p:cNvSpPr/>
          <p:nvPr/>
        </p:nvSpPr>
        <p:spPr bwMode="auto">
          <a:xfrm>
            <a:off x="7455184" y="-12568"/>
            <a:ext cx="4736816" cy="6870567"/>
          </a:xfrm>
          <a:prstGeom prst="rect">
            <a:avLst/>
          </a:prstGeom>
          <a:solidFill>
            <a:schemeClr val="accent6">
              <a:lumMod val="75000"/>
              <a:alpha val="2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평행 사변형 1">
            <a:extLst>
              <a:ext uri="{FF2B5EF4-FFF2-40B4-BE49-F238E27FC236}">
                <a16:creationId xmlns:a16="http://schemas.microsoft.com/office/drawing/2014/main" id="{C5B64E3A-0565-C697-3543-CF1FB2172645}"/>
              </a:ext>
            </a:extLst>
          </p:cNvPr>
          <p:cNvSpPr/>
          <p:nvPr/>
        </p:nvSpPr>
        <p:spPr>
          <a:xfrm flipH="1">
            <a:off x="6585769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A4362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54BB2F17-6D4F-DAFA-3648-26B018BE15A4}"/>
              </a:ext>
            </a:extLst>
          </p:cNvPr>
          <p:cNvSpPr/>
          <p:nvPr/>
        </p:nvSpPr>
        <p:spPr>
          <a:xfrm flipH="1">
            <a:off x="5961548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9B88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6" name="평행 사변형 13">
            <a:extLst>
              <a:ext uri="{FF2B5EF4-FFF2-40B4-BE49-F238E27FC236}">
                <a16:creationId xmlns:a16="http://schemas.microsoft.com/office/drawing/2014/main" id="{3957315A-419D-92FD-C0E3-9213D4F917BB}"/>
              </a:ext>
            </a:extLst>
          </p:cNvPr>
          <p:cNvSpPr/>
          <p:nvPr/>
        </p:nvSpPr>
        <p:spPr>
          <a:xfrm flipH="1">
            <a:off x="0" y="0"/>
            <a:ext cx="9439479" cy="6901543"/>
          </a:xfrm>
          <a:custGeom>
            <a:avLst/>
            <a:gdLst>
              <a:gd name="connsiteX0" fmla="*/ 0 w 3410857"/>
              <a:gd name="connsiteY0" fmla="*/ 6858000 h 6858000"/>
              <a:gd name="connsiteX1" fmla="*/ 1250216 w 3410857"/>
              <a:gd name="connsiteY1" fmla="*/ 0 h 6858000"/>
              <a:gd name="connsiteX2" fmla="*/ 3410857 w 3410857"/>
              <a:gd name="connsiteY2" fmla="*/ 0 h 6858000"/>
              <a:gd name="connsiteX3" fmla="*/ 2160641 w 3410857"/>
              <a:gd name="connsiteY3" fmla="*/ 6858000 h 6858000"/>
              <a:gd name="connsiteX4" fmla="*/ 0 w 3410857"/>
              <a:gd name="connsiteY4" fmla="*/ 6858000 h 6858000"/>
              <a:gd name="connsiteX0" fmla="*/ 0 w 6705600"/>
              <a:gd name="connsiteY0" fmla="*/ 6887029 h 6887029"/>
              <a:gd name="connsiteX1" fmla="*/ 1250216 w 6705600"/>
              <a:gd name="connsiteY1" fmla="*/ 29029 h 6887029"/>
              <a:gd name="connsiteX2" fmla="*/ 6705600 w 6705600"/>
              <a:gd name="connsiteY2" fmla="*/ 0 h 6887029"/>
              <a:gd name="connsiteX3" fmla="*/ 2160641 w 6705600"/>
              <a:gd name="connsiteY3" fmla="*/ 6887029 h 6887029"/>
              <a:gd name="connsiteX4" fmla="*/ 0 w 6705600"/>
              <a:gd name="connsiteY4" fmla="*/ 6887029 h 6887029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705600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44343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58857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458857"/>
              <a:gd name="connsiteY0" fmla="*/ 6887029 h 6959600"/>
              <a:gd name="connsiteX1" fmla="*/ 1250216 w 6458857"/>
              <a:gd name="connsiteY1" fmla="*/ 29029 h 6959600"/>
              <a:gd name="connsiteX2" fmla="*/ 6458857 w 6458857"/>
              <a:gd name="connsiteY2" fmla="*/ 0 h 6959600"/>
              <a:gd name="connsiteX3" fmla="*/ 6166583 w 6458857"/>
              <a:gd name="connsiteY3" fmla="*/ 6959600 h 6959600"/>
              <a:gd name="connsiteX4" fmla="*/ 0 w 6458857"/>
              <a:gd name="connsiteY4" fmla="*/ 6887029 h 6959600"/>
              <a:gd name="connsiteX0" fmla="*/ 0 w 6471383"/>
              <a:gd name="connsiteY0" fmla="*/ 6887029 h 6887029"/>
              <a:gd name="connsiteX1" fmla="*/ 1250216 w 6471383"/>
              <a:gd name="connsiteY1" fmla="*/ 29029 h 6887029"/>
              <a:gd name="connsiteX2" fmla="*/ 6458857 w 6471383"/>
              <a:gd name="connsiteY2" fmla="*/ 0 h 6887029"/>
              <a:gd name="connsiteX3" fmla="*/ 6471383 w 6471383"/>
              <a:gd name="connsiteY3" fmla="*/ 6887029 h 6887029"/>
              <a:gd name="connsiteX4" fmla="*/ 0 w 6471383"/>
              <a:gd name="connsiteY4" fmla="*/ 6887029 h 6887029"/>
              <a:gd name="connsiteX0" fmla="*/ 0 w 7257159"/>
              <a:gd name="connsiteY0" fmla="*/ 6872515 h 6872515"/>
              <a:gd name="connsiteX1" fmla="*/ 1250216 w 7257159"/>
              <a:gd name="connsiteY1" fmla="*/ 14515 h 6872515"/>
              <a:gd name="connsiteX2" fmla="*/ 7257143 w 7257159"/>
              <a:gd name="connsiteY2" fmla="*/ 0 h 6872515"/>
              <a:gd name="connsiteX3" fmla="*/ 6471383 w 7257159"/>
              <a:gd name="connsiteY3" fmla="*/ 6872515 h 6872515"/>
              <a:gd name="connsiteX4" fmla="*/ 0 w 7257159"/>
              <a:gd name="connsiteY4" fmla="*/ 6872515 h 6872515"/>
              <a:gd name="connsiteX0" fmla="*/ 0 w 7284183"/>
              <a:gd name="connsiteY0" fmla="*/ 6872515 h 6901543"/>
              <a:gd name="connsiteX1" fmla="*/ 1250216 w 7284183"/>
              <a:gd name="connsiteY1" fmla="*/ 14515 h 6901543"/>
              <a:gd name="connsiteX2" fmla="*/ 7257143 w 7284183"/>
              <a:gd name="connsiteY2" fmla="*/ 0 h 6901543"/>
              <a:gd name="connsiteX3" fmla="*/ 7284183 w 7284183"/>
              <a:gd name="connsiteY3" fmla="*/ 6901543 h 6901543"/>
              <a:gd name="connsiteX4" fmla="*/ 0 w 7284183"/>
              <a:gd name="connsiteY4" fmla="*/ 6872515 h 6901543"/>
              <a:gd name="connsiteX0" fmla="*/ 0 w 7547476"/>
              <a:gd name="connsiteY0" fmla="*/ 6872515 h 6901543"/>
              <a:gd name="connsiteX1" fmla="*/ 1250216 w 7547476"/>
              <a:gd name="connsiteY1" fmla="*/ 14515 h 6901543"/>
              <a:gd name="connsiteX2" fmla="*/ 7547429 w 7547476"/>
              <a:gd name="connsiteY2" fmla="*/ 0 h 6901543"/>
              <a:gd name="connsiteX3" fmla="*/ 7284183 w 7547476"/>
              <a:gd name="connsiteY3" fmla="*/ 6901543 h 6901543"/>
              <a:gd name="connsiteX4" fmla="*/ 0 w 7547476"/>
              <a:gd name="connsiteY4" fmla="*/ 6872515 h 6901543"/>
              <a:gd name="connsiteX0" fmla="*/ 0 w 7547612"/>
              <a:gd name="connsiteY0" fmla="*/ 6872515 h 6901543"/>
              <a:gd name="connsiteX1" fmla="*/ 1250216 w 7547612"/>
              <a:gd name="connsiteY1" fmla="*/ 14515 h 6901543"/>
              <a:gd name="connsiteX2" fmla="*/ 7547429 w 7547612"/>
              <a:gd name="connsiteY2" fmla="*/ 0 h 6901543"/>
              <a:gd name="connsiteX3" fmla="*/ 7487383 w 7547612"/>
              <a:gd name="connsiteY3" fmla="*/ 6901543 h 6901543"/>
              <a:gd name="connsiteX4" fmla="*/ 0 w 7547612"/>
              <a:gd name="connsiteY4" fmla="*/ 6872515 h 6901543"/>
              <a:gd name="connsiteX0" fmla="*/ 0 w 7533145"/>
              <a:gd name="connsiteY0" fmla="*/ 6872515 h 6901543"/>
              <a:gd name="connsiteX1" fmla="*/ 1250216 w 7533145"/>
              <a:gd name="connsiteY1" fmla="*/ 14515 h 6901543"/>
              <a:gd name="connsiteX2" fmla="*/ 7532915 w 7533145"/>
              <a:gd name="connsiteY2" fmla="*/ 0 h 6901543"/>
              <a:gd name="connsiteX3" fmla="*/ 7487383 w 7533145"/>
              <a:gd name="connsiteY3" fmla="*/ 6901543 h 6901543"/>
              <a:gd name="connsiteX4" fmla="*/ 0 w 7533145"/>
              <a:gd name="connsiteY4" fmla="*/ 6872515 h 6901543"/>
              <a:gd name="connsiteX0" fmla="*/ 0 w 7533928"/>
              <a:gd name="connsiteY0" fmla="*/ 6872515 h 6901543"/>
              <a:gd name="connsiteX1" fmla="*/ 1250216 w 7533928"/>
              <a:gd name="connsiteY1" fmla="*/ 14515 h 6901543"/>
              <a:gd name="connsiteX2" fmla="*/ 7532915 w 7533928"/>
              <a:gd name="connsiteY2" fmla="*/ 0 h 6901543"/>
              <a:gd name="connsiteX3" fmla="*/ 7530926 w 7533928"/>
              <a:gd name="connsiteY3" fmla="*/ 6901543 h 6901543"/>
              <a:gd name="connsiteX4" fmla="*/ 0 w 7533928"/>
              <a:gd name="connsiteY4" fmla="*/ 6872515 h 690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3928" h="6901543">
                <a:moveTo>
                  <a:pt x="0" y="6872515"/>
                </a:moveTo>
                <a:lnTo>
                  <a:pt x="1250216" y="14515"/>
                </a:lnTo>
                <a:lnTo>
                  <a:pt x="7532915" y="0"/>
                </a:lnTo>
                <a:cubicBezTo>
                  <a:pt x="7537090" y="2295676"/>
                  <a:pt x="7526751" y="4605867"/>
                  <a:pt x="7530926" y="6901543"/>
                </a:cubicBezTo>
                <a:lnTo>
                  <a:pt x="0" y="68725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3" name="Google Shape;93;p13"/>
          <p:cNvSpPr txBox="1">
            <a:spLocks/>
          </p:cNvSpPr>
          <p:nvPr/>
        </p:nvSpPr>
        <p:spPr>
          <a:xfrm>
            <a:off x="62807" y="1748928"/>
            <a:ext cx="7774907" cy="195479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400"/>
              <a:buFont typeface="Raleway"/>
              <a:buNone/>
              <a:tabLst/>
              <a:defRPr/>
            </a:pPr>
            <a:r>
              <a:rPr kumimoji="1" lang="en-US" altLang="ko-KR" sz="3000" b="1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02_</a:t>
            </a:r>
            <a:r>
              <a:rPr kumimoji="1" lang="ko-KR" altLang="en-US" sz="3000" b="1"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수렴시키기전략</a:t>
            </a:r>
            <a:endParaRPr kumimoji="1" lang="en-US" altLang="ko-KR" sz="2800" b="1" dirty="0">
              <a:solidFill>
                <a:srgbClr val="9B8873"/>
              </a:solidFill>
              <a:effectLst>
                <a:outerShdw blurRad="50800" dist="38100" dir="2700000" algn="tl" rotWithShape="0">
                  <a:schemeClr val="bg2">
                    <a:lumMod val="75000"/>
                    <a:alpha val="40000"/>
                  </a:schemeClr>
                </a:outerShdw>
              </a:effectLst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4" name="Google Shape;153;p20">
            <a:extLst>
              <a:ext uri="{FF2B5EF4-FFF2-40B4-BE49-F238E27FC236}">
                <a16:creationId xmlns:a16="http://schemas.microsoft.com/office/drawing/2014/main" id="{84415F24-7766-B9E5-166D-8220180D999E}"/>
              </a:ext>
            </a:extLst>
          </p:cNvPr>
          <p:cNvSpPr txBox="1">
            <a:spLocks/>
          </p:cNvSpPr>
          <p:nvPr/>
        </p:nvSpPr>
        <p:spPr>
          <a:xfrm>
            <a:off x="105320" y="4706528"/>
            <a:ext cx="6548286" cy="1789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ko-KR" altLang="en-US" sz="2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안 용 상</a:t>
            </a:r>
            <a:endParaRPr lang="en-US" sz="20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Process Systems Engineering &amp; Intelligence Design Lab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Department of Chemical Engineering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Kyung </a:t>
            </a:r>
            <a:r>
              <a:rPr lang="en-US" sz="15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Hee</a:t>
            </a: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University 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770ACD0-7F15-C001-7284-4D5DFAB63031}"/>
              </a:ext>
            </a:extLst>
          </p:cNvPr>
          <p:cNvGrpSpPr/>
          <p:nvPr/>
        </p:nvGrpSpPr>
        <p:grpSpPr>
          <a:xfrm>
            <a:off x="231580" y="85060"/>
            <a:ext cx="2920394" cy="661066"/>
            <a:chOff x="231580" y="85060"/>
            <a:chExt cx="2534216" cy="573650"/>
          </a:xfrm>
        </p:grpSpPr>
        <p:pic>
          <p:nvPicPr>
            <p:cNvPr id="7" name="그림 6" descr="텍스트, 로고, 엠블럼, 폰트이(가) 표시된 사진&#10;&#10;자동 생성된 설명">
              <a:extLst>
                <a:ext uri="{FF2B5EF4-FFF2-40B4-BE49-F238E27FC236}">
                  <a16:creationId xmlns:a16="http://schemas.microsoft.com/office/drawing/2014/main" id="{3475EF97-1A28-9382-0F84-3AE040061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80" y="215111"/>
              <a:ext cx="1539333" cy="37519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4072C66-F836-EE49-489B-30C12A491B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9" t="10161" r="5433" b="11878"/>
            <a:stretch/>
          </p:blipFill>
          <p:spPr>
            <a:xfrm>
              <a:off x="1868209" y="85060"/>
              <a:ext cx="897587" cy="5736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957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try03 SCF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수렴 전략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단계별 접근법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3557881"/>
            <a:ext cx="11258550" cy="297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try03</a:t>
            </a:r>
            <a:r>
              <a:rPr lang="ko-KR" altLang="en-US" sz="1050" dirty="0">
                <a:latin typeface="+mn-ea"/>
              </a:rPr>
              <a:t>은 처음부터 </a:t>
            </a:r>
            <a:r>
              <a:rPr lang="ko-KR" altLang="en-US" sz="1050" dirty="0" err="1">
                <a:latin typeface="+mn-ea"/>
              </a:rPr>
              <a:t>이온쌍</a:t>
            </a:r>
            <a:r>
              <a:rPr lang="ko-KR" altLang="en-US" sz="1050" dirty="0">
                <a:latin typeface="+mn-ea"/>
              </a:rPr>
              <a:t> 전체를 넣고 </a:t>
            </a:r>
            <a:r>
              <a:rPr lang="en-US" altLang="ko-KR" sz="1050" dirty="0">
                <a:latin typeface="+mn-ea"/>
              </a:rPr>
              <a:t>ATOMIC guess</a:t>
            </a:r>
            <a:r>
              <a:rPr lang="ko-KR" altLang="en-US" sz="1050" dirty="0">
                <a:latin typeface="+mn-ea"/>
              </a:rPr>
              <a:t>로 수렴시킨 것이 아니라</a:t>
            </a:r>
            <a:r>
              <a:rPr lang="en-US" altLang="ko-KR" sz="1050" dirty="0">
                <a:latin typeface="+mn-ea"/>
              </a:rPr>
              <a:t>, MOF </a:t>
            </a:r>
            <a:r>
              <a:rPr lang="ko-KR" altLang="en-US" sz="1050" dirty="0">
                <a:latin typeface="+mn-ea"/>
              </a:rPr>
              <a:t>골격만 먼저 </a:t>
            </a:r>
            <a:r>
              <a:rPr lang="ko-KR" altLang="en-US" sz="1050" dirty="0" err="1">
                <a:latin typeface="+mn-ea"/>
              </a:rPr>
              <a:t>단일점</a:t>
            </a:r>
            <a:r>
              <a:rPr lang="en-US" altLang="ko-KR" sz="1050" dirty="0">
                <a:latin typeface="+mn-ea"/>
              </a:rPr>
              <a:t>(ENERGY) </a:t>
            </a:r>
            <a:r>
              <a:rPr lang="ko-KR" altLang="en-US" sz="1050" dirty="0">
                <a:latin typeface="+mn-ea"/>
              </a:rPr>
              <a:t>계산하여 </a:t>
            </a:r>
            <a:r>
              <a:rPr lang="en-US" altLang="ko-KR" sz="1050" dirty="0">
                <a:latin typeface="+mn-ea"/>
              </a:rPr>
              <a:t>wavefunction(.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en-US" altLang="ko-KR" sz="1050" dirty="0">
                <a:latin typeface="+mn-ea"/>
              </a:rPr>
              <a:t>)</a:t>
            </a:r>
            <a:r>
              <a:rPr lang="ko-KR" altLang="en-US" sz="1050" dirty="0">
                <a:latin typeface="+mn-ea"/>
              </a:rPr>
              <a:t>을 확보하는 것부터 시작했습니다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두 번째 단계에서 </a:t>
            </a:r>
            <a:r>
              <a:rPr lang="en-US" altLang="ko-KR" sz="1050" dirty="0">
                <a:latin typeface="+mn-ea"/>
              </a:rPr>
              <a:t>EMIM⁺ </a:t>
            </a:r>
            <a:r>
              <a:rPr lang="ko-KR" altLang="en-US" sz="1050" dirty="0">
                <a:latin typeface="+mn-ea"/>
              </a:rPr>
              <a:t>양이온만 추가할 때 이미 </a:t>
            </a:r>
            <a:r>
              <a:rPr lang="en-US" altLang="ko-KR" sz="1050" dirty="0">
                <a:latin typeface="+mn-ea"/>
              </a:rPr>
              <a:t>ALPHA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0.15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0.13</a:t>
            </a:r>
            <a:r>
              <a:rPr lang="ko-KR" altLang="en-US" sz="1050" dirty="0">
                <a:latin typeface="+mn-ea"/>
              </a:rPr>
              <a:t>으로 낮추고 </a:t>
            </a:r>
            <a:r>
              <a:rPr lang="en-US" altLang="ko-KR" sz="1050" dirty="0">
                <a:latin typeface="+mn-ea"/>
              </a:rPr>
              <a:t>ELECTRONIC_TEMPERATURE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300 K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500 K</a:t>
            </a:r>
            <a:r>
              <a:rPr lang="ko-KR" altLang="en-US" sz="1050" dirty="0">
                <a:latin typeface="+mn-ea"/>
              </a:rPr>
              <a:t>로 올려야 했는데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이는 </a:t>
            </a:r>
            <a:r>
              <a:rPr lang="en-US" altLang="ko-KR" sz="1050" dirty="0" err="1">
                <a:latin typeface="+mn-ea"/>
              </a:rPr>
              <a:t>Ti</a:t>
            </a:r>
            <a:r>
              <a:rPr lang="en-US" altLang="ko-KR" sz="1050" dirty="0">
                <a:latin typeface="+mn-ea"/>
              </a:rPr>
              <a:t> d-</a:t>
            </a:r>
            <a:r>
              <a:rPr lang="ko-KR" altLang="en-US" sz="1050" dirty="0" err="1">
                <a:latin typeface="+mn-ea"/>
              </a:rPr>
              <a:t>오비탈과</a:t>
            </a:r>
            <a:r>
              <a:rPr lang="ko-KR" altLang="en-US" sz="1050" dirty="0">
                <a:latin typeface="+mn-ea"/>
              </a:rPr>
              <a:t> 유기 양이온 사이의 전하 재분배가 </a:t>
            </a:r>
            <a:r>
              <a:rPr lang="en-US" altLang="ko-KR" sz="1050" dirty="0">
                <a:latin typeface="+mn-ea"/>
              </a:rPr>
              <a:t>SCF</a:t>
            </a:r>
            <a:r>
              <a:rPr lang="ko-KR" altLang="en-US" sz="1050" dirty="0">
                <a:latin typeface="+mn-ea"/>
              </a:rPr>
              <a:t>를 불안정하게 만들었기 때문입니다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세 번째 단계에서 </a:t>
            </a:r>
            <a:r>
              <a:rPr lang="en-US" altLang="ko-KR" sz="1050" dirty="0">
                <a:latin typeface="+mn-ea"/>
              </a:rPr>
              <a:t>EMIM </a:t>
            </a:r>
            <a:r>
              <a:rPr lang="ko-KR" altLang="en-US" sz="1050" dirty="0">
                <a:latin typeface="+mn-ea"/>
              </a:rPr>
              <a:t>배치를 </a:t>
            </a:r>
            <a:r>
              <a:rPr lang="en-US" altLang="ko-KR" sz="1050" dirty="0">
                <a:latin typeface="+mn-ea"/>
              </a:rPr>
              <a:t>9</a:t>
            </a:r>
            <a:r>
              <a:rPr lang="ko-KR" altLang="en-US" sz="1050" dirty="0">
                <a:latin typeface="+mn-ea"/>
              </a:rPr>
              <a:t>가지</a:t>
            </a:r>
            <a:r>
              <a:rPr lang="en-US" altLang="ko-KR" sz="1050" dirty="0">
                <a:latin typeface="+mn-ea"/>
              </a:rPr>
              <a:t>(EMIM01~09)</a:t>
            </a:r>
            <a:r>
              <a:rPr lang="ko-KR" altLang="en-US" sz="1050" dirty="0">
                <a:latin typeface="+mn-ea"/>
              </a:rPr>
              <a:t>로 변화시켜 에너지를 비교했으며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최저 에너지</a:t>
            </a:r>
            <a:r>
              <a:rPr lang="en-US" altLang="ko-KR" sz="1050" dirty="0">
                <a:latin typeface="+mn-ea"/>
              </a:rPr>
              <a:t>(EMIM01, -1362.508 Ha)</a:t>
            </a:r>
            <a:r>
              <a:rPr lang="ko-KR" altLang="en-US" sz="1050" dirty="0">
                <a:latin typeface="+mn-ea"/>
              </a:rPr>
              <a:t>와 최고 에너지</a:t>
            </a:r>
            <a:r>
              <a:rPr lang="en-US" altLang="ko-KR" sz="1050" dirty="0">
                <a:latin typeface="+mn-ea"/>
              </a:rPr>
              <a:t>(EMIM09, -1362.491 Ha) </a:t>
            </a:r>
            <a:r>
              <a:rPr lang="ko-KR" altLang="en-US" sz="1050" dirty="0">
                <a:latin typeface="+mn-ea"/>
              </a:rPr>
              <a:t>사이에 약 </a:t>
            </a:r>
            <a:r>
              <a:rPr lang="en-US" altLang="ko-KR" sz="1050" dirty="0">
                <a:latin typeface="+mn-ea"/>
              </a:rPr>
              <a:t>44 kJ/mol</a:t>
            </a:r>
            <a:r>
              <a:rPr lang="ko-KR" altLang="en-US" sz="1050" dirty="0">
                <a:latin typeface="+mn-ea"/>
              </a:rPr>
              <a:t>의 차이가 있어 초기 구조 선택이 최종 에너지에 큰 영향을 미침을 확인했습니다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네 번째 단계에서 </a:t>
            </a:r>
            <a:r>
              <a:rPr lang="en-US" altLang="ko-KR" sz="1050" dirty="0">
                <a:latin typeface="+mn-ea"/>
              </a:rPr>
              <a:t>TFSI⁻ </a:t>
            </a:r>
            <a:r>
              <a:rPr lang="ko-KR" altLang="en-US" sz="1050" dirty="0">
                <a:latin typeface="+mn-ea"/>
              </a:rPr>
              <a:t>음이온을 추가할 때는 </a:t>
            </a:r>
            <a:r>
              <a:rPr lang="en-US" altLang="ko-KR" sz="1050" dirty="0">
                <a:latin typeface="+mn-ea"/>
              </a:rPr>
              <a:t>SCF_GUESS</a:t>
            </a:r>
            <a:r>
              <a:rPr lang="ko-KR" altLang="en-US" sz="1050" dirty="0">
                <a:latin typeface="+mn-ea"/>
              </a:rPr>
              <a:t>를 </a:t>
            </a:r>
            <a:r>
              <a:rPr lang="en-US" altLang="ko-KR" sz="1050" dirty="0">
                <a:latin typeface="+mn-ea"/>
              </a:rPr>
              <a:t>ATOMIC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RESTART</a:t>
            </a:r>
            <a:r>
              <a:rPr lang="ko-KR" altLang="en-US" sz="1050" dirty="0">
                <a:latin typeface="+mn-ea"/>
              </a:rPr>
              <a:t>로 바꿔 이전 단계의 </a:t>
            </a:r>
            <a:r>
              <a:rPr lang="en-US" altLang="ko-KR" sz="1050" dirty="0">
                <a:latin typeface="+mn-ea"/>
              </a:rPr>
              <a:t>wavefunction</a:t>
            </a:r>
            <a:r>
              <a:rPr lang="ko-KR" altLang="en-US" sz="1050" dirty="0">
                <a:latin typeface="+mn-ea"/>
              </a:rPr>
              <a:t>을 초기값으로 재활용했고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 덕분에 </a:t>
            </a:r>
            <a:r>
              <a:rPr lang="en-US" altLang="ko-KR" sz="1050" dirty="0">
                <a:latin typeface="+mn-ea"/>
              </a:rPr>
              <a:t>ALPHA 0.15 / 300 K </a:t>
            </a:r>
            <a:r>
              <a:rPr lang="ko-KR" altLang="en-US" sz="1050" dirty="0">
                <a:latin typeface="+mn-ea"/>
              </a:rPr>
              <a:t>원래 설정으로도 안정적으로 수렴할 수 있었습니다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최종 수렴된 계산</a:t>
            </a:r>
            <a:r>
              <a:rPr lang="en-US" altLang="ko-KR" sz="1050" dirty="0">
                <a:latin typeface="+mn-ea"/>
              </a:rPr>
              <a:t>(BAMOF_EMIM_TFSI_Cluster-1)</a:t>
            </a:r>
            <a:r>
              <a:rPr lang="ko-KR" altLang="en-US" sz="1050" dirty="0">
                <a:latin typeface="+mn-ea"/>
              </a:rPr>
              <a:t>은 </a:t>
            </a:r>
            <a:r>
              <a:rPr lang="en-US" altLang="ko-KR" sz="1050" dirty="0">
                <a:latin typeface="+mn-ea"/>
              </a:rPr>
              <a:t>GEO_OPT step 144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restart</a:t>
            </a:r>
            <a:r>
              <a:rPr lang="ko-KR" altLang="en-US" sz="1050" dirty="0">
                <a:latin typeface="+mn-ea"/>
              </a:rPr>
              <a:t>하여 계속 진행한 것으로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처음부터 끝까지 단일 실행으로 이루어진 것이 아니라 여러 차례 중단과 재시작을 거쳤습니다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50" dirty="0">
                <a:latin typeface="+mn-ea"/>
              </a:rPr>
              <a:t>BAMOF_with_Cluster04 </a:t>
            </a:r>
            <a:r>
              <a:rPr lang="ko-KR" altLang="en-US" sz="1050" dirty="0">
                <a:latin typeface="+mn-ea"/>
              </a:rPr>
              <a:t>폴더에서는 고정 원자가 </a:t>
            </a:r>
            <a:r>
              <a:rPr lang="en-US" altLang="ko-KR" sz="1050" dirty="0">
                <a:latin typeface="+mn-ea"/>
              </a:rPr>
              <a:t>1..124</a:t>
            </a:r>
            <a:r>
              <a:rPr lang="ko-KR" altLang="en-US" sz="1050" dirty="0">
                <a:latin typeface="+mn-ea"/>
              </a:rPr>
              <a:t>로 확대</a:t>
            </a:r>
            <a:r>
              <a:rPr lang="en-US" altLang="ko-KR" sz="1050" dirty="0">
                <a:latin typeface="+mn-ea"/>
              </a:rPr>
              <a:t>(</a:t>
            </a:r>
            <a:r>
              <a:rPr lang="ko-KR" altLang="en-US" sz="1050" dirty="0">
                <a:latin typeface="+mn-ea"/>
              </a:rPr>
              <a:t>기존 </a:t>
            </a:r>
            <a:r>
              <a:rPr lang="en-US" altLang="ko-KR" sz="1050" dirty="0">
                <a:latin typeface="+mn-ea"/>
              </a:rPr>
              <a:t>102→124)</a:t>
            </a:r>
            <a:r>
              <a:rPr lang="ko-KR" altLang="en-US" sz="1050" dirty="0">
                <a:latin typeface="+mn-ea"/>
              </a:rPr>
              <a:t>되고 원자 수가 </a:t>
            </a:r>
            <a:r>
              <a:rPr lang="en-US" altLang="ko-KR" sz="1050" dirty="0">
                <a:latin typeface="+mn-ea"/>
              </a:rPr>
              <a:t>164</a:t>
            </a:r>
            <a:r>
              <a:rPr lang="ko-KR" altLang="en-US" sz="1050" dirty="0">
                <a:latin typeface="+mn-ea"/>
              </a:rPr>
              <a:t>개인 약간 다른 시스템도 시도되었는데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이 역시 </a:t>
            </a:r>
            <a:r>
              <a:rPr lang="en-US" altLang="ko-KR" sz="1050" dirty="0">
                <a:latin typeface="+mn-ea"/>
              </a:rPr>
              <a:t>step 130</a:t>
            </a:r>
            <a:r>
              <a:rPr lang="ko-KR" altLang="en-US" sz="1050" dirty="0">
                <a:latin typeface="+mn-ea"/>
              </a:rPr>
              <a:t>에서 </a:t>
            </a:r>
            <a:r>
              <a:rPr lang="en-US" altLang="ko-KR" sz="1050" dirty="0">
                <a:latin typeface="+mn-ea"/>
              </a:rPr>
              <a:t>restart</a:t>
            </a:r>
            <a:r>
              <a:rPr lang="ko-KR" altLang="en-US" sz="1050" dirty="0">
                <a:latin typeface="+mn-ea"/>
              </a:rPr>
              <a:t>한 계산으로 다양한 구조적 변형을 탐색했음을 보여줍니다</a:t>
            </a:r>
            <a:r>
              <a:rPr lang="en-US" altLang="ko-KR" sz="10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50" dirty="0">
                <a:latin typeface="+mn-ea"/>
              </a:rPr>
              <a:t>이 모든 과정을 종합하면</a:t>
            </a:r>
            <a:r>
              <a:rPr lang="en-US" altLang="ko-KR" sz="1050" dirty="0">
                <a:latin typeface="+mn-ea"/>
              </a:rPr>
              <a:t>, try03</a:t>
            </a:r>
            <a:r>
              <a:rPr lang="ko-KR" altLang="en-US" sz="1050" dirty="0">
                <a:latin typeface="+mn-ea"/>
              </a:rPr>
              <a:t>의 성공 비결은 </a:t>
            </a:r>
            <a:r>
              <a:rPr lang="en-US" altLang="ko-KR" sz="1050" dirty="0">
                <a:latin typeface="+mn-ea"/>
              </a:rPr>
              <a:t>"</a:t>
            </a:r>
            <a:r>
              <a:rPr lang="ko-KR" altLang="en-US" sz="1050" dirty="0">
                <a:latin typeface="+mn-ea"/>
              </a:rPr>
              <a:t>점진적 </a:t>
            </a:r>
            <a:r>
              <a:rPr lang="en-US" altLang="ko-KR" sz="1050" dirty="0">
                <a:latin typeface="+mn-ea"/>
              </a:rPr>
              <a:t>wavefunction bootstrap" </a:t>
            </a:r>
            <a:r>
              <a:rPr lang="ko-KR" altLang="en-US" sz="1050" dirty="0">
                <a:latin typeface="+mn-ea"/>
              </a:rPr>
              <a:t>전략</a:t>
            </a:r>
            <a:r>
              <a:rPr lang="en-US" altLang="ko-KR" sz="1050" dirty="0">
                <a:latin typeface="+mn-ea"/>
              </a:rPr>
              <a:t>, </a:t>
            </a:r>
            <a:r>
              <a:rPr lang="ko-KR" altLang="en-US" sz="1050" dirty="0">
                <a:latin typeface="+mn-ea"/>
              </a:rPr>
              <a:t>즉 작은 시스템에서 큰 시스템으로 단계별로 </a:t>
            </a:r>
            <a:r>
              <a:rPr lang="en-US" altLang="ko-KR" sz="1050" dirty="0" err="1">
                <a:latin typeface="+mn-ea"/>
              </a:rPr>
              <a:t>wfn</a:t>
            </a:r>
            <a:r>
              <a:rPr lang="ko-KR" altLang="en-US" sz="1050" dirty="0">
                <a:latin typeface="+mn-ea"/>
              </a:rPr>
              <a:t>을 물려받으며 </a:t>
            </a:r>
            <a:r>
              <a:rPr lang="en-US" altLang="ko-KR" sz="1050" dirty="0">
                <a:latin typeface="+mn-ea"/>
              </a:rPr>
              <a:t>SCF </a:t>
            </a:r>
            <a:r>
              <a:rPr lang="ko-KR" altLang="en-US" sz="1050" dirty="0">
                <a:latin typeface="+mn-ea"/>
              </a:rPr>
              <a:t>초기값 품질을 높인 것이었습니다</a:t>
            </a:r>
            <a:r>
              <a:rPr lang="en-US" altLang="ko-KR" sz="1050" dirty="0">
                <a:latin typeface="+mn-ea"/>
              </a:rPr>
              <a:t>.</a:t>
            </a: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101134F2-C209-447A-A03E-683AD14FB85F}"/>
              </a:ext>
            </a:extLst>
          </p:cNvPr>
          <p:cNvGrpSpPr/>
          <p:nvPr/>
        </p:nvGrpSpPr>
        <p:grpSpPr>
          <a:xfrm>
            <a:off x="1613056" y="744855"/>
            <a:ext cx="8763000" cy="2684145"/>
            <a:chOff x="1613056" y="1041163"/>
            <a:chExt cx="8763000" cy="268414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7EED445-870E-4C21-8B91-919F0C01D6EE}"/>
                </a:ext>
              </a:extLst>
            </p:cNvPr>
            <p:cNvSpPr txBox="1"/>
            <p:nvPr/>
          </p:nvSpPr>
          <p:spPr>
            <a:xfrm>
              <a:off x="3261115" y="1041163"/>
              <a:ext cx="5466882" cy="350289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275" b="1" spc="0" baseline="0" dirty="0">
                  <a:solidFill>
                    <a:srgbClr val="1E293B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try03 SCF Convergence Strategy: Stepwise Wavefunction Bootstrap</a:t>
              </a: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6181DA7E-1F65-4A90-B41B-94363557795D}"/>
                </a:ext>
              </a:extLst>
            </p:cNvPr>
            <p:cNvSpPr/>
            <p:nvPr/>
          </p:nvSpPr>
          <p:spPr>
            <a:xfrm>
              <a:off x="1613056" y="1420258"/>
              <a:ext cx="1524000" cy="1095375"/>
            </a:xfrm>
            <a:custGeom>
              <a:avLst/>
              <a:gdLst>
                <a:gd name="connsiteX0" fmla="*/ 1428750 w 1524000"/>
                <a:gd name="connsiteY0" fmla="*/ 0 h 1095375"/>
                <a:gd name="connsiteX1" fmla="*/ 1524000 w 1524000"/>
                <a:gd name="connsiteY1" fmla="*/ 0 h 1095375"/>
                <a:gd name="connsiteX2" fmla="*/ 1524000 w 1524000"/>
                <a:gd name="connsiteY2" fmla="*/ 1095375 h 1095375"/>
                <a:gd name="connsiteX3" fmla="*/ 1428750 w 1524000"/>
                <a:gd name="connsiteY3" fmla="*/ 1095375 h 1095375"/>
                <a:gd name="connsiteX4" fmla="*/ 95250 w 1524000"/>
                <a:gd name="connsiteY4" fmla="*/ 1095375 h 1095375"/>
                <a:gd name="connsiteX5" fmla="*/ 0 w 1524000"/>
                <a:gd name="connsiteY5" fmla="*/ 1095375 h 1095375"/>
                <a:gd name="connsiteX6" fmla="*/ 0 w 1524000"/>
                <a:gd name="connsiteY6" fmla="*/ 0 h 1095375"/>
                <a:gd name="connsiteX7" fmla="*/ 95250 w 1524000"/>
                <a:gd name="connsiteY7" fmla="*/ 0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1095375">
                  <a:moveTo>
                    <a:pt x="1428750" y="0"/>
                  </a:moveTo>
                  <a:cubicBezTo>
                    <a:pt x="1481355" y="0"/>
                    <a:pt x="1524000" y="0"/>
                    <a:pt x="1524000" y="0"/>
                  </a:cubicBezTo>
                  <a:lnTo>
                    <a:pt x="1524000" y="1095375"/>
                  </a:lnTo>
                  <a:cubicBezTo>
                    <a:pt x="1524000" y="1095375"/>
                    <a:pt x="1481355" y="1095375"/>
                    <a:pt x="1428750" y="1095375"/>
                  </a:cubicBezTo>
                  <a:lnTo>
                    <a:pt x="95250" y="1095375"/>
                  </a:lnTo>
                  <a:cubicBezTo>
                    <a:pt x="42645" y="1095375"/>
                    <a:pt x="0" y="1095375"/>
                    <a:pt x="0" y="1095375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6366F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9CEACD-213D-4DF7-93E6-842275193283}"/>
                </a:ext>
              </a:extLst>
            </p:cNvPr>
            <p:cNvSpPr txBox="1"/>
            <p:nvPr/>
          </p:nvSpPr>
          <p:spPr>
            <a:xfrm>
              <a:off x="1852317" y="1469788"/>
              <a:ext cx="1045478" cy="25930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Step 1: MOF only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E92D746-F9CB-4F96-9F17-99113A5290B6}"/>
                </a:ext>
              </a:extLst>
            </p:cNvPr>
            <p:cNvSpPr txBox="1"/>
            <p:nvPr/>
          </p:nvSpPr>
          <p:spPr>
            <a:xfrm>
              <a:off x="1810638" y="1631713"/>
              <a:ext cx="1128835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C7D2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RUN_TYPE ENERGY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3FBBAAB-C484-4843-84ED-21FBCF734AF0}"/>
                </a:ext>
              </a:extLst>
            </p:cNvPr>
            <p:cNvSpPr txBox="1"/>
            <p:nvPr/>
          </p:nvSpPr>
          <p:spPr>
            <a:xfrm>
              <a:off x="2059104" y="1774588"/>
              <a:ext cx="631903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C7D2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102 atoms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30250A-9B57-4ADA-93FF-1DC74A197E55}"/>
                </a:ext>
              </a:extLst>
            </p:cNvPr>
            <p:cNvSpPr txBox="1"/>
            <p:nvPr/>
          </p:nvSpPr>
          <p:spPr>
            <a:xfrm>
              <a:off x="1853118" y="1917463"/>
              <a:ext cx="1043876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C7D2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ALPHA 0.15 / 300 K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FE6DB1A-EFF0-4242-90C1-FE09A2353DF3}"/>
                </a:ext>
              </a:extLst>
            </p:cNvPr>
            <p:cNvSpPr txBox="1"/>
            <p:nvPr/>
          </p:nvSpPr>
          <p:spPr>
            <a:xfrm>
              <a:off x="1790601" y="2060338"/>
              <a:ext cx="1168910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C7D2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SCF_GUESS ATOMIC</a:t>
              </a:r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6F48C23D-CA61-42D8-A46B-9D3ED0F73236}"/>
                </a:ext>
              </a:extLst>
            </p:cNvPr>
            <p:cNvSpPr/>
            <p:nvPr/>
          </p:nvSpPr>
          <p:spPr>
            <a:xfrm>
              <a:off x="1784506" y="2296558"/>
              <a:ext cx="1181100" cy="152400"/>
            </a:xfrm>
            <a:custGeom>
              <a:avLst/>
              <a:gdLst>
                <a:gd name="connsiteX0" fmla="*/ 1143000 w 1181100"/>
                <a:gd name="connsiteY0" fmla="*/ 0 h 152400"/>
                <a:gd name="connsiteX1" fmla="*/ 1181100 w 1181100"/>
                <a:gd name="connsiteY1" fmla="*/ 0 h 152400"/>
                <a:gd name="connsiteX2" fmla="*/ 1181100 w 1181100"/>
                <a:gd name="connsiteY2" fmla="*/ 152400 h 152400"/>
                <a:gd name="connsiteX3" fmla="*/ 1143000 w 1181100"/>
                <a:gd name="connsiteY3" fmla="*/ 152400 h 152400"/>
                <a:gd name="connsiteX4" fmla="*/ 38100 w 1181100"/>
                <a:gd name="connsiteY4" fmla="*/ 152400 h 152400"/>
                <a:gd name="connsiteX5" fmla="*/ 0 w 1181100"/>
                <a:gd name="connsiteY5" fmla="*/ 152400 h 152400"/>
                <a:gd name="connsiteX6" fmla="*/ 0 w 1181100"/>
                <a:gd name="connsiteY6" fmla="*/ 0 h 152400"/>
                <a:gd name="connsiteX7" fmla="*/ 38100 w 1181100"/>
                <a:gd name="connsiteY7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100" h="152400">
                  <a:moveTo>
                    <a:pt x="1143000" y="0"/>
                  </a:moveTo>
                  <a:cubicBezTo>
                    <a:pt x="1164042" y="0"/>
                    <a:pt x="1181100" y="0"/>
                    <a:pt x="1181100" y="0"/>
                  </a:cubicBezTo>
                  <a:lnTo>
                    <a:pt x="1181100" y="152400"/>
                  </a:lnTo>
                  <a:cubicBezTo>
                    <a:pt x="1181100" y="152400"/>
                    <a:pt x="1164042" y="152400"/>
                    <a:pt x="1143000" y="152400"/>
                  </a:cubicBezTo>
                  <a:lnTo>
                    <a:pt x="38100" y="152400"/>
                  </a:lnTo>
                  <a:cubicBezTo>
                    <a:pt x="17058" y="152400"/>
                    <a:pt x="0" y="152400"/>
                    <a:pt x="0" y="15240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818CF8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EF99B06-4EB1-43D4-AEA7-B6B7EE916B2D}"/>
                </a:ext>
              </a:extLst>
            </p:cNvPr>
            <p:cNvSpPr txBox="1"/>
            <p:nvPr/>
          </p:nvSpPr>
          <p:spPr>
            <a:xfrm>
              <a:off x="2042273" y="2251600"/>
              <a:ext cx="665567" cy="22878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67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→ .wfn 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확보</a:t>
              </a: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F99BBB18-C941-4159-9134-DA92E9733082}"/>
                </a:ext>
              </a:extLst>
            </p:cNvPr>
            <p:cNvSpPr/>
            <p:nvPr/>
          </p:nvSpPr>
          <p:spPr>
            <a:xfrm>
              <a:off x="3184681" y="1963183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9050" cap="flat">
              <a:solidFill>
                <a:srgbClr val="94A3B8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11F16927-8854-43CE-A918-C332593E778E}"/>
                </a:ext>
              </a:extLst>
            </p:cNvPr>
            <p:cNvSpPr/>
            <p:nvPr/>
          </p:nvSpPr>
          <p:spPr>
            <a:xfrm>
              <a:off x="3422806" y="1420258"/>
              <a:ext cx="1524000" cy="1095375"/>
            </a:xfrm>
            <a:custGeom>
              <a:avLst/>
              <a:gdLst>
                <a:gd name="connsiteX0" fmla="*/ 1428750 w 1524000"/>
                <a:gd name="connsiteY0" fmla="*/ 0 h 1095375"/>
                <a:gd name="connsiteX1" fmla="*/ 1524000 w 1524000"/>
                <a:gd name="connsiteY1" fmla="*/ 0 h 1095375"/>
                <a:gd name="connsiteX2" fmla="*/ 1524000 w 1524000"/>
                <a:gd name="connsiteY2" fmla="*/ 1095375 h 1095375"/>
                <a:gd name="connsiteX3" fmla="*/ 1428750 w 1524000"/>
                <a:gd name="connsiteY3" fmla="*/ 1095375 h 1095375"/>
                <a:gd name="connsiteX4" fmla="*/ 95250 w 1524000"/>
                <a:gd name="connsiteY4" fmla="*/ 1095375 h 1095375"/>
                <a:gd name="connsiteX5" fmla="*/ 0 w 1524000"/>
                <a:gd name="connsiteY5" fmla="*/ 1095375 h 1095375"/>
                <a:gd name="connsiteX6" fmla="*/ 0 w 1524000"/>
                <a:gd name="connsiteY6" fmla="*/ 0 h 1095375"/>
                <a:gd name="connsiteX7" fmla="*/ 95250 w 1524000"/>
                <a:gd name="connsiteY7" fmla="*/ 0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1095375">
                  <a:moveTo>
                    <a:pt x="1428750" y="0"/>
                  </a:moveTo>
                  <a:cubicBezTo>
                    <a:pt x="1481355" y="0"/>
                    <a:pt x="1524000" y="0"/>
                    <a:pt x="1524000" y="0"/>
                  </a:cubicBezTo>
                  <a:lnTo>
                    <a:pt x="1524000" y="1095375"/>
                  </a:lnTo>
                  <a:cubicBezTo>
                    <a:pt x="1524000" y="1095375"/>
                    <a:pt x="1481355" y="1095375"/>
                    <a:pt x="1428750" y="1095375"/>
                  </a:cubicBezTo>
                  <a:lnTo>
                    <a:pt x="95250" y="1095375"/>
                  </a:lnTo>
                  <a:cubicBezTo>
                    <a:pt x="42645" y="1095375"/>
                    <a:pt x="0" y="1095375"/>
                    <a:pt x="0" y="1095375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59E0B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EB4FD61-4E58-4396-9D8A-6B727663A9CC}"/>
                </a:ext>
              </a:extLst>
            </p:cNvPr>
            <p:cNvSpPr txBox="1"/>
            <p:nvPr/>
          </p:nvSpPr>
          <p:spPr>
            <a:xfrm>
              <a:off x="3711760" y="1460263"/>
              <a:ext cx="946093" cy="25930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Step 2: +EMIM</a:t>
              </a:r>
              <a:r>
                <a:rPr lang="ko-KR" altLang="en-US" sz="825" b="1" spc="0" baseline="0" dirty="0">
                  <a:solidFill>
                    <a:srgbClr val="FFFFFF"/>
                  </a:solidFill>
                  <a:latin typeface="Cambria Math"/>
                  <a:ea typeface="+mn-ea"/>
                  <a:cs typeface="Arial"/>
                  <a:sym typeface="Cambria Math"/>
                  <a:rtl val="0"/>
                </a:rPr>
                <a:t>⁺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773EFAB-9E14-4CB4-8F9F-E3AF535AC1CE}"/>
                </a:ext>
              </a:extLst>
            </p:cNvPr>
            <p:cNvSpPr txBox="1"/>
            <p:nvPr/>
          </p:nvSpPr>
          <p:spPr>
            <a:xfrm>
              <a:off x="3554665" y="1631713"/>
              <a:ext cx="1260281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F3C7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143 atoms / CHARGE +1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212C56-21F9-410B-9A94-36B81D2AB048}"/>
                </a:ext>
              </a:extLst>
            </p:cNvPr>
            <p:cNvSpPr txBox="1"/>
            <p:nvPr/>
          </p:nvSpPr>
          <p:spPr>
            <a:xfrm>
              <a:off x="3771071" y="1774588"/>
              <a:ext cx="827470" cy="24474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DE68A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ALPHA 0.13 ▼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49AFDB0-5092-487E-B5B0-68CDBB34857B}"/>
                </a:ext>
              </a:extLst>
            </p:cNvPr>
            <p:cNvSpPr txBox="1"/>
            <p:nvPr/>
          </p:nvSpPr>
          <p:spPr>
            <a:xfrm>
              <a:off x="3824771" y="1917463"/>
              <a:ext cx="720069" cy="24474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DE68A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T = 500 K ▲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00C3E8-B552-4049-9302-561FFF2F2B46}"/>
                </a:ext>
              </a:extLst>
            </p:cNvPr>
            <p:cNvSpPr txBox="1"/>
            <p:nvPr/>
          </p:nvSpPr>
          <p:spPr>
            <a:xfrm>
              <a:off x="3600351" y="2060338"/>
              <a:ext cx="1168910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F3C7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SCF_GUESS ATOMIC</a:t>
              </a:r>
            </a:p>
          </p:txBody>
        </p:sp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40C878F0-EA99-4E43-B32B-0483E2AE5855}"/>
                </a:ext>
              </a:extLst>
            </p:cNvPr>
            <p:cNvSpPr/>
            <p:nvPr/>
          </p:nvSpPr>
          <p:spPr>
            <a:xfrm>
              <a:off x="3594256" y="2296558"/>
              <a:ext cx="1181100" cy="152400"/>
            </a:xfrm>
            <a:custGeom>
              <a:avLst/>
              <a:gdLst>
                <a:gd name="connsiteX0" fmla="*/ 1143000 w 1181100"/>
                <a:gd name="connsiteY0" fmla="*/ 0 h 152400"/>
                <a:gd name="connsiteX1" fmla="*/ 1181100 w 1181100"/>
                <a:gd name="connsiteY1" fmla="*/ 0 h 152400"/>
                <a:gd name="connsiteX2" fmla="*/ 1181100 w 1181100"/>
                <a:gd name="connsiteY2" fmla="*/ 152400 h 152400"/>
                <a:gd name="connsiteX3" fmla="*/ 1143000 w 1181100"/>
                <a:gd name="connsiteY3" fmla="*/ 152400 h 152400"/>
                <a:gd name="connsiteX4" fmla="*/ 38100 w 1181100"/>
                <a:gd name="connsiteY4" fmla="*/ 152400 h 152400"/>
                <a:gd name="connsiteX5" fmla="*/ 0 w 1181100"/>
                <a:gd name="connsiteY5" fmla="*/ 152400 h 152400"/>
                <a:gd name="connsiteX6" fmla="*/ 0 w 1181100"/>
                <a:gd name="connsiteY6" fmla="*/ 0 h 152400"/>
                <a:gd name="connsiteX7" fmla="*/ 38100 w 1181100"/>
                <a:gd name="connsiteY7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100" h="152400">
                  <a:moveTo>
                    <a:pt x="1143000" y="0"/>
                  </a:moveTo>
                  <a:cubicBezTo>
                    <a:pt x="1164042" y="0"/>
                    <a:pt x="1181100" y="0"/>
                    <a:pt x="1181100" y="0"/>
                  </a:cubicBezTo>
                  <a:lnTo>
                    <a:pt x="1181100" y="152400"/>
                  </a:lnTo>
                  <a:cubicBezTo>
                    <a:pt x="1181100" y="152400"/>
                    <a:pt x="1164042" y="152400"/>
                    <a:pt x="1143000" y="152400"/>
                  </a:cubicBezTo>
                  <a:lnTo>
                    <a:pt x="38100" y="152400"/>
                  </a:lnTo>
                  <a:cubicBezTo>
                    <a:pt x="17058" y="152400"/>
                    <a:pt x="0" y="152400"/>
                    <a:pt x="0" y="15240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BBF24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9538BD-372C-42B3-A246-688D7BF7065B}"/>
                </a:ext>
              </a:extLst>
            </p:cNvPr>
            <p:cNvSpPr txBox="1"/>
            <p:nvPr/>
          </p:nvSpPr>
          <p:spPr>
            <a:xfrm>
              <a:off x="3852023" y="2251600"/>
              <a:ext cx="665567" cy="22878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675" b="1" spc="0" baseline="0" dirty="0">
                  <a:solidFill>
                    <a:srgbClr val="78350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→ .wfn </a:t>
              </a:r>
              <a:r>
                <a:rPr lang="ko-KR" altLang="en-US" sz="675" b="1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확보</a:t>
              </a: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EA0AFDC5-132B-4AFC-A1C5-073BC250F3FE}"/>
                </a:ext>
              </a:extLst>
            </p:cNvPr>
            <p:cNvSpPr/>
            <p:nvPr/>
          </p:nvSpPr>
          <p:spPr>
            <a:xfrm>
              <a:off x="4994431" y="1963183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9050" cap="flat">
              <a:solidFill>
                <a:srgbClr val="94A3B8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B9701956-CA58-4488-B927-C6663AC00D65}"/>
                </a:ext>
              </a:extLst>
            </p:cNvPr>
            <p:cNvSpPr/>
            <p:nvPr/>
          </p:nvSpPr>
          <p:spPr>
            <a:xfrm>
              <a:off x="5232556" y="1420258"/>
              <a:ext cx="1524000" cy="1095375"/>
            </a:xfrm>
            <a:custGeom>
              <a:avLst/>
              <a:gdLst>
                <a:gd name="connsiteX0" fmla="*/ 1428750 w 1524000"/>
                <a:gd name="connsiteY0" fmla="*/ 0 h 1095375"/>
                <a:gd name="connsiteX1" fmla="*/ 1524000 w 1524000"/>
                <a:gd name="connsiteY1" fmla="*/ 0 h 1095375"/>
                <a:gd name="connsiteX2" fmla="*/ 1524000 w 1524000"/>
                <a:gd name="connsiteY2" fmla="*/ 1095375 h 1095375"/>
                <a:gd name="connsiteX3" fmla="*/ 1428750 w 1524000"/>
                <a:gd name="connsiteY3" fmla="*/ 1095375 h 1095375"/>
                <a:gd name="connsiteX4" fmla="*/ 95250 w 1524000"/>
                <a:gd name="connsiteY4" fmla="*/ 1095375 h 1095375"/>
                <a:gd name="connsiteX5" fmla="*/ 0 w 1524000"/>
                <a:gd name="connsiteY5" fmla="*/ 1095375 h 1095375"/>
                <a:gd name="connsiteX6" fmla="*/ 0 w 1524000"/>
                <a:gd name="connsiteY6" fmla="*/ 0 h 1095375"/>
                <a:gd name="connsiteX7" fmla="*/ 95250 w 1524000"/>
                <a:gd name="connsiteY7" fmla="*/ 0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1095375">
                  <a:moveTo>
                    <a:pt x="1428750" y="0"/>
                  </a:moveTo>
                  <a:cubicBezTo>
                    <a:pt x="1481355" y="0"/>
                    <a:pt x="1524000" y="0"/>
                    <a:pt x="1524000" y="0"/>
                  </a:cubicBezTo>
                  <a:lnTo>
                    <a:pt x="1524000" y="1095375"/>
                  </a:lnTo>
                  <a:cubicBezTo>
                    <a:pt x="1524000" y="1095375"/>
                    <a:pt x="1481355" y="1095375"/>
                    <a:pt x="1428750" y="1095375"/>
                  </a:cubicBezTo>
                  <a:lnTo>
                    <a:pt x="95250" y="1095375"/>
                  </a:lnTo>
                  <a:cubicBezTo>
                    <a:pt x="42645" y="1095375"/>
                    <a:pt x="0" y="1095375"/>
                    <a:pt x="0" y="1095375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F4444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1388804-BE89-4BA7-8F3E-F181CB3BC187}"/>
                </a:ext>
              </a:extLst>
            </p:cNvPr>
            <p:cNvSpPr txBox="1"/>
            <p:nvPr/>
          </p:nvSpPr>
          <p:spPr>
            <a:xfrm>
              <a:off x="5455786" y="1469788"/>
              <a:ext cx="1077539" cy="25930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Step 3: Variations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A9EF7CE-C81D-4C07-9D1F-F608B96F010C}"/>
                </a:ext>
              </a:extLst>
            </p:cNvPr>
            <p:cNvSpPr txBox="1"/>
            <p:nvPr/>
          </p:nvSpPr>
          <p:spPr>
            <a:xfrm>
              <a:off x="5460595" y="1612663"/>
              <a:ext cx="1067921" cy="24391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E2E2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EMIM01~09 (9 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위치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1413F4-9F3E-4BB5-86FA-133E7335C69E}"/>
                </a:ext>
              </a:extLst>
            </p:cNvPr>
            <p:cNvSpPr txBox="1"/>
            <p:nvPr/>
          </p:nvSpPr>
          <p:spPr>
            <a:xfrm>
              <a:off x="5648147" y="1755538"/>
              <a:ext cx="692818" cy="24391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sym typeface="맑은 고딕"/>
                  <a:rtl val="0"/>
                </a:rPr>
                <a:t>에너지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비교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232A70C-2245-49DF-B6EF-28B5A1A884DA}"/>
                </a:ext>
              </a:extLst>
            </p:cNvPr>
            <p:cNvSpPr txBox="1"/>
            <p:nvPr/>
          </p:nvSpPr>
          <p:spPr>
            <a:xfrm>
              <a:off x="5579217" y="1917463"/>
              <a:ext cx="830677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CACA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ΔE ≈ 44 kJ/mol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3D63C0-D9E8-41FB-95E5-1C55CDC57BC4}"/>
                </a:ext>
              </a:extLst>
            </p:cNvPr>
            <p:cNvSpPr txBox="1"/>
            <p:nvPr/>
          </p:nvSpPr>
          <p:spPr>
            <a:xfrm>
              <a:off x="5586432" y="2041288"/>
              <a:ext cx="816249" cy="24391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sym typeface="맑은 고딕"/>
                  <a:rtl val="0"/>
                </a:rPr>
                <a:t>최적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위치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750" spc="0" baseline="0" dirty="0">
                  <a:solidFill>
                    <a:srgbClr val="FEE2E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선정</a:t>
              </a:r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1CAF0A48-1B96-46E8-9BA1-7834E2520B10}"/>
                </a:ext>
              </a:extLst>
            </p:cNvPr>
            <p:cNvSpPr/>
            <p:nvPr/>
          </p:nvSpPr>
          <p:spPr>
            <a:xfrm>
              <a:off x="5404006" y="2296558"/>
              <a:ext cx="1181100" cy="152400"/>
            </a:xfrm>
            <a:custGeom>
              <a:avLst/>
              <a:gdLst>
                <a:gd name="connsiteX0" fmla="*/ 1143000 w 1181100"/>
                <a:gd name="connsiteY0" fmla="*/ 0 h 152400"/>
                <a:gd name="connsiteX1" fmla="*/ 1181100 w 1181100"/>
                <a:gd name="connsiteY1" fmla="*/ 0 h 152400"/>
                <a:gd name="connsiteX2" fmla="*/ 1181100 w 1181100"/>
                <a:gd name="connsiteY2" fmla="*/ 152400 h 152400"/>
                <a:gd name="connsiteX3" fmla="*/ 1143000 w 1181100"/>
                <a:gd name="connsiteY3" fmla="*/ 152400 h 152400"/>
                <a:gd name="connsiteX4" fmla="*/ 38100 w 1181100"/>
                <a:gd name="connsiteY4" fmla="*/ 152400 h 152400"/>
                <a:gd name="connsiteX5" fmla="*/ 0 w 1181100"/>
                <a:gd name="connsiteY5" fmla="*/ 152400 h 152400"/>
                <a:gd name="connsiteX6" fmla="*/ 0 w 1181100"/>
                <a:gd name="connsiteY6" fmla="*/ 0 h 152400"/>
                <a:gd name="connsiteX7" fmla="*/ 38100 w 1181100"/>
                <a:gd name="connsiteY7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100" h="152400">
                  <a:moveTo>
                    <a:pt x="1143000" y="0"/>
                  </a:moveTo>
                  <a:cubicBezTo>
                    <a:pt x="1164042" y="0"/>
                    <a:pt x="1181100" y="0"/>
                    <a:pt x="1181100" y="0"/>
                  </a:cubicBezTo>
                  <a:lnTo>
                    <a:pt x="1181100" y="152400"/>
                  </a:lnTo>
                  <a:cubicBezTo>
                    <a:pt x="1181100" y="152400"/>
                    <a:pt x="1164042" y="152400"/>
                    <a:pt x="1143000" y="152400"/>
                  </a:cubicBezTo>
                  <a:lnTo>
                    <a:pt x="38100" y="152400"/>
                  </a:lnTo>
                  <a:cubicBezTo>
                    <a:pt x="17058" y="152400"/>
                    <a:pt x="0" y="152400"/>
                    <a:pt x="0" y="15240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8717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D81C1BA-8664-4F82-AAB7-4F1F70ECB4A7}"/>
                </a:ext>
              </a:extLst>
            </p:cNvPr>
            <p:cNvSpPr txBox="1"/>
            <p:nvPr/>
          </p:nvSpPr>
          <p:spPr>
            <a:xfrm>
              <a:off x="5587233" y="2251600"/>
              <a:ext cx="814647" cy="22878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67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→ EMIM01 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선택</a:t>
              </a:r>
            </a:p>
          </p:txBody>
        </p:sp>
        <p:sp>
          <p:nvSpPr>
            <p:cNvPr id="35" name="자유형: 도형 34">
              <a:extLst>
                <a:ext uri="{FF2B5EF4-FFF2-40B4-BE49-F238E27FC236}">
                  <a16:creationId xmlns:a16="http://schemas.microsoft.com/office/drawing/2014/main" id="{D5E07450-1EA2-44E2-89D3-D203B3D46027}"/>
                </a:ext>
              </a:extLst>
            </p:cNvPr>
            <p:cNvSpPr/>
            <p:nvPr/>
          </p:nvSpPr>
          <p:spPr>
            <a:xfrm>
              <a:off x="6804181" y="1963183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9050" cap="flat">
              <a:solidFill>
                <a:srgbClr val="94A3B8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747A0931-7343-4497-BB46-3534DE5B0924}"/>
                </a:ext>
              </a:extLst>
            </p:cNvPr>
            <p:cNvSpPr/>
            <p:nvPr/>
          </p:nvSpPr>
          <p:spPr>
            <a:xfrm>
              <a:off x="7042306" y="1420258"/>
              <a:ext cx="1524000" cy="1095375"/>
            </a:xfrm>
            <a:custGeom>
              <a:avLst/>
              <a:gdLst>
                <a:gd name="connsiteX0" fmla="*/ 1428750 w 1524000"/>
                <a:gd name="connsiteY0" fmla="*/ 0 h 1095375"/>
                <a:gd name="connsiteX1" fmla="*/ 1524000 w 1524000"/>
                <a:gd name="connsiteY1" fmla="*/ 0 h 1095375"/>
                <a:gd name="connsiteX2" fmla="*/ 1524000 w 1524000"/>
                <a:gd name="connsiteY2" fmla="*/ 1095375 h 1095375"/>
                <a:gd name="connsiteX3" fmla="*/ 1428750 w 1524000"/>
                <a:gd name="connsiteY3" fmla="*/ 1095375 h 1095375"/>
                <a:gd name="connsiteX4" fmla="*/ 95250 w 1524000"/>
                <a:gd name="connsiteY4" fmla="*/ 1095375 h 1095375"/>
                <a:gd name="connsiteX5" fmla="*/ 0 w 1524000"/>
                <a:gd name="connsiteY5" fmla="*/ 1095375 h 1095375"/>
                <a:gd name="connsiteX6" fmla="*/ 0 w 1524000"/>
                <a:gd name="connsiteY6" fmla="*/ 0 h 1095375"/>
                <a:gd name="connsiteX7" fmla="*/ 95250 w 1524000"/>
                <a:gd name="connsiteY7" fmla="*/ 0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1095375">
                  <a:moveTo>
                    <a:pt x="1428750" y="0"/>
                  </a:moveTo>
                  <a:cubicBezTo>
                    <a:pt x="1481355" y="0"/>
                    <a:pt x="1524000" y="0"/>
                    <a:pt x="1524000" y="0"/>
                  </a:cubicBezTo>
                  <a:lnTo>
                    <a:pt x="1524000" y="1095375"/>
                  </a:lnTo>
                  <a:cubicBezTo>
                    <a:pt x="1524000" y="1095375"/>
                    <a:pt x="1481355" y="1095375"/>
                    <a:pt x="1428750" y="1095375"/>
                  </a:cubicBezTo>
                  <a:lnTo>
                    <a:pt x="95250" y="1095375"/>
                  </a:lnTo>
                  <a:cubicBezTo>
                    <a:pt x="42645" y="1095375"/>
                    <a:pt x="0" y="1095375"/>
                    <a:pt x="0" y="1095375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0B981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E859D8A-A50B-4413-9EFF-9021665C0BFE}"/>
                </a:ext>
              </a:extLst>
            </p:cNvPr>
            <p:cNvSpPr txBox="1"/>
            <p:nvPr/>
          </p:nvSpPr>
          <p:spPr>
            <a:xfrm>
              <a:off x="7355305" y="1460263"/>
              <a:ext cx="898003" cy="25930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Step 4: +TFSI</a:t>
              </a:r>
              <a:r>
                <a:rPr lang="ko-KR" altLang="en-US" sz="825" b="1" spc="0" baseline="0" dirty="0">
                  <a:solidFill>
                    <a:srgbClr val="FFFFFF"/>
                  </a:solidFill>
                  <a:latin typeface="Cambria Math"/>
                  <a:ea typeface="+mn-ea"/>
                  <a:cs typeface="Arial"/>
                  <a:sym typeface="Cambria Math"/>
                  <a:rtl val="0"/>
                </a:rPr>
                <a:t>⁻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2E67E57-C17E-4EBA-B9A2-E56A5B745101}"/>
                </a:ext>
              </a:extLst>
            </p:cNvPr>
            <p:cNvSpPr txBox="1"/>
            <p:nvPr/>
          </p:nvSpPr>
          <p:spPr>
            <a:xfrm>
              <a:off x="7380952" y="1631713"/>
              <a:ext cx="846707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1FAE5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158~164 atoms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43990E7-C597-470E-A9D6-A47956E51D0D}"/>
                </a:ext>
              </a:extLst>
            </p:cNvPr>
            <p:cNvSpPr txBox="1"/>
            <p:nvPr/>
          </p:nvSpPr>
          <p:spPr>
            <a:xfrm>
              <a:off x="7125274" y="1765063"/>
              <a:ext cx="1358064" cy="24474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A7F3D0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SCF_GUESS RESTART </a:t>
              </a:r>
              <a:r>
                <a:rPr lang="ko-KR" altLang="en-US" sz="750" spc="0" baseline="0" dirty="0">
                  <a:solidFill>
                    <a:srgbClr val="A7F3D0"/>
                  </a:solidFill>
                  <a:latin typeface="Segoe UI Symbol"/>
                  <a:ea typeface="+mn-ea"/>
                  <a:cs typeface="Arial"/>
                  <a:sym typeface="Segoe UI Symbol"/>
                  <a:rtl val="0"/>
                </a:rPr>
                <a:t>★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12BDA2A-6DAB-4DCA-8045-F9E63EAF0AAF}"/>
                </a:ext>
              </a:extLst>
            </p:cNvPr>
            <p:cNvSpPr txBox="1"/>
            <p:nvPr/>
          </p:nvSpPr>
          <p:spPr>
            <a:xfrm>
              <a:off x="7282368" y="1917463"/>
              <a:ext cx="1043876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1FAE5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ALPHA 0.15 / 300 K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2D1CB59-C13C-46F2-A0B4-C0083EA400C7}"/>
                </a:ext>
              </a:extLst>
            </p:cNvPr>
            <p:cNvSpPr txBox="1"/>
            <p:nvPr/>
          </p:nvSpPr>
          <p:spPr>
            <a:xfrm>
              <a:off x="7356106" y="2041288"/>
              <a:ext cx="896399" cy="243913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1FAE5"/>
                  </a:solidFill>
                  <a:latin typeface="맑은 고딕"/>
                  <a:ea typeface="맑은 고딕"/>
                  <a:sym typeface="맑은 고딕"/>
                  <a:rtl val="0"/>
                </a:rPr>
                <a:t>이전</a:t>
              </a:r>
              <a:r>
                <a:rPr lang="ko-KR" altLang="en-US" sz="750" spc="0" baseline="0" dirty="0">
                  <a:solidFill>
                    <a:srgbClr val="D1FAE5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.wfn </a:t>
              </a:r>
              <a:r>
                <a:rPr lang="ko-KR" altLang="en-US" sz="750" spc="0" baseline="0" dirty="0">
                  <a:solidFill>
                    <a:srgbClr val="D1FAE5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재활용</a:t>
              </a: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4C3E948D-0D7B-4DE4-993E-5D1A25C3EB80}"/>
                </a:ext>
              </a:extLst>
            </p:cNvPr>
            <p:cNvSpPr/>
            <p:nvPr/>
          </p:nvSpPr>
          <p:spPr>
            <a:xfrm>
              <a:off x="7213756" y="2296558"/>
              <a:ext cx="1181100" cy="152400"/>
            </a:xfrm>
            <a:custGeom>
              <a:avLst/>
              <a:gdLst>
                <a:gd name="connsiteX0" fmla="*/ 1143000 w 1181100"/>
                <a:gd name="connsiteY0" fmla="*/ 0 h 152400"/>
                <a:gd name="connsiteX1" fmla="*/ 1181100 w 1181100"/>
                <a:gd name="connsiteY1" fmla="*/ 0 h 152400"/>
                <a:gd name="connsiteX2" fmla="*/ 1181100 w 1181100"/>
                <a:gd name="connsiteY2" fmla="*/ 152400 h 152400"/>
                <a:gd name="connsiteX3" fmla="*/ 1143000 w 1181100"/>
                <a:gd name="connsiteY3" fmla="*/ 152400 h 152400"/>
                <a:gd name="connsiteX4" fmla="*/ 38100 w 1181100"/>
                <a:gd name="connsiteY4" fmla="*/ 152400 h 152400"/>
                <a:gd name="connsiteX5" fmla="*/ 0 w 1181100"/>
                <a:gd name="connsiteY5" fmla="*/ 152400 h 152400"/>
                <a:gd name="connsiteX6" fmla="*/ 0 w 1181100"/>
                <a:gd name="connsiteY6" fmla="*/ 0 h 152400"/>
                <a:gd name="connsiteX7" fmla="*/ 38100 w 1181100"/>
                <a:gd name="connsiteY7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100" h="152400">
                  <a:moveTo>
                    <a:pt x="1143000" y="0"/>
                  </a:moveTo>
                  <a:cubicBezTo>
                    <a:pt x="1164042" y="0"/>
                    <a:pt x="1181100" y="0"/>
                    <a:pt x="1181100" y="0"/>
                  </a:cubicBezTo>
                  <a:lnTo>
                    <a:pt x="1181100" y="152400"/>
                  </a:lnTo>
                  <a:cubicBezTo>
                    <a:pt x="1181100" y="152400"/>
                    <a:pt x="1164042" y="152400"/>
                    <a:pt x="1143000" y="152400"/>
                  </a:cubicBezTo>
                  <a:lnTo>
                    <a:pt x="38100" y="152400"/>
                  </a:lnTo>
                  <a:cubicBezTo>
                    <a:pt x="17058" y="152400"/>
                    <a:pt x="0" y="152400"/>
                    <a:pt x="0" y="15240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34D399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E64DEBF-AEFD-4AD1-8814-3758F7581AE7}"/>
                </a:ext>
              </a:extLst>
            </p:cNvPr>
            <p:cNvSpPr txBox="1"/>
            <p:nvPr/>
          </p:nvSpPr>
          <p:spPr>
            <a:xfrm>
              <a:off x="7348892" y="2251600"/>
              <a:ext cx="910827" cy="22878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675" b="1" spc="0" baseline="0" dirty="0">
                  <a:solidFill>
                    <a:srgbClr val="064E3B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→ GEO_OPT </a:t>
              </a:r>
              <a:r>
                <a:rPr lang="ko-KR" altLang="en-US" sz="675" b="1" spc="0" baseline="0" dirty="0">
                  <a:solidFill>
                    <a:srgbClr val="064E3B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진행</a:t>
              </a:r>
            </a:p>
          </p:txBody>
        </p:sp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EC8791D9-147E-4258-83FC-D1CC74876A82}"/>
                </a:ext>
              </a:extLst>
            </p:cNvPr>
            <p:cNvSpPr/>
            <p:nvPr/>
          </p:nvSpPr>
          <p:spPr>
            <a:xfrm>
              <a:off x="8613931" y="1963183"/>
              <a:ext cx="190500" cy="9525"/>
            </a:xfrm>
            <a:custGeom>
              <a:avLst/>
              <a:gdLst>
                <a:gd name="connsiteX0" fmla="*/ 0 w 190500"/>
                <a:gd name="connsiteY0" fmla="*/ 0 h 9525"/>
                <a:gd name="connsiteX1" fmla="*/ 190500 w 19050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9050" cap="flat">
              <a:solidFill>
                <a:srgbClr val="94A3B8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F8428171-8B0F-443A-A06C-584D1767C763}"/>
                </a:ext>
              </a:extLst>
            </p:cNvPr>
            <p:cNvSpPr/>
            <p:nvPr/>
          </p:nvSpPr>
          <p:spPr>
            <a:xfrm>
              <a:off x="8852056" y="1420258"/>
              <a:ext cx="1524000" cy="1095375"/>
            </a:xfrm>
            <a:custGeom>
              <a:avLst/>
              <a:gdLst>
                <a:gd name="connsiteX0" fmla="*/ 1428750 w 1524000"/>
                <a:gd name="connsiteY0" fmla="*/ 0 h 1095375"/>
                <a:gd name="connsiteX1" fmla="*/ 1524000 w 1524000"/>
                <a:gd name="connsiteY1" fmla="*/ 0 h 1095375"/>
                <a:gd name="connsiteX2" fmla="*/ 1524000 w 1524000"/>
                <a:gd name="connsiteY2" fmla="*/ 1095375 h 1095375"/>
                <a:gd name="connsiteX3" fmla="*/ 1428750 w 1524000"/>
                <a:gd name="connsiteY3" fmla="*/ 1095375 h 1095375"/>
                <a:gd name="connsiteX4" fmla="*/ 95250 w 1524000"/>
                <a:gd name="connsiteY4" fmla="*/ 1095375 h 1095375"/>
                <a:gd name="connsiteX5" fmla="*/ 0 w 1524000"/>
                <a:gd name="connsiteY5" fmla="*/ 1095375 h 1095375"/>
                <a:gd name="connsiteX6" fmla="*/ 0 w 1524000"/>
                <a:gd name="connsiteY6" fmla="*/ 0 h 1095375"/>
                <a:gd name="connsiteX7" fmla="*/ 95250 w 1524000"/>
                <a:gd name="connsiteY7" fmla="*/ 0 h 1095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4000" h="1095375">
                  <a:moveTo>
                    <a:pt x="1428750" y="0"/>
                  </a:moveTo>
                  <a:cubicBezTo>
                    <a:pt x="1481355" y="0"/>
                    <a:pt x="1524000" y="0"/>
                    <a:pt x="1524000" y="0"/>
                  </a:cubicBezTo>
                  <a:lnTo>
                    <a:pt x="1524000" y="1095375"/>
                  </a:lnTo>
                  <a:cubicBezTo>
                    <a:pt x="1524000" y="1095375"/>
                    <a:pt x="1481355" y="1095375"/>
                    <a:pt x="1428750" y="1095375"/>
                  </a:cubicBezTo>
                  <a:lnTo>
                    <a:pt x="95250" y="1095375"/>
                  </a:lnTo>
                  <a:cubicBezTo>
                    <a:pt x="42645" y="1095375"/>
                    <a:pt x="0" y="1095375"/>
                    <a:pt x="0" y="1095375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3B82F6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B9B215C-B97A-4886-BB59-5FB634683741}"/>
                </a:ext>
              </a:extLst>
            </p:cNvPr>
            <p:cNvSpPr txBox="1"/>
            <p:nvPr/>
          </p:nvSpPr>
          <p:spPr>
            <a:xfrm>
              <a:off x="9085706" y="1441213"/>
              <a:ext cx="1056700" cy="2732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Step 5: </a:t>
              </a:r>
              <a:r>
                <a:rPr lang="ko-KR" altLang="en-US" sz="900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수렴</a:t>
              </a:r>
              <a:r>
                <a:rPr lang="ko-KR" altLang="en-US" sz="825" b="1" spc="0" baseline="0" dirty="0">
                  <a:solidFill>
                    <a:srgbClr val="FFFFF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완료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6537026-A62C-4DD6-8FE8-A970D4872756}"/>
                </a:ext>
              </a:extLst>
            </p:cNvPr>
            <p:cNvSpPr txBox="1"/>
            <p:nvPr/>
          </p:nvSpPr>
          <p:spPr>
            <a:xfrm>
              <a:off x="9073683" y="1631713"/>
              <a:ext cx="1080745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BEA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158 atoms / step 144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FEB3DC0-BE9C-4D1A-BEA4-80036D40BFC7}"/>
                </a:ext>
              </a:extLst>
            </p:cNvPr>
            <p:cNvSpPr txBox="1"/>
            <p:nvPr/>
          </p:nvSpPr>
          <p:spPr>
            <a:xfrm>
              <a:off x="9145017" y="1774588"/>
              <a:ext cx="938077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BFDB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E = -1613.798 Ha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23A8BB1-FD96-4FCD-8A5B-D24B91B87F89}"/>
                </a:ext>
              </a:extLst>
            </p:cNvPr>
            <p:cNvSpPr txBox="1"/>
            <p:nvPr/>
          </p:nvSpPr>
          <p:spPr>
            <a:xfrm>
              <a:off x="8975900" y="1917463"/>
              <a:ext cx="1276311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BEA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GEO_OPT COMPLETED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11B5568-6CF1-481E-BA48-19A0686443BD}"/>
                </a:ext>
              </a:extLst>
            </p:cNvPr>
            <p:cNvSpPr txBox="1"/>
            <p:nvPr/>
          </p:nvSpPr>
          <p:spPr>
            <a:xfrm>
              <a:off x="9112957" y="2060338"/>
              <a:ext cx="1002197" cy="24410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750" spc="0" baseline="0" dirty="0">
                  <a:solidFill>
                    <a:srgbClr val="DBEAFE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BFGS 600 iter max</a:t>
              </a: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C667A2F9-CCFA-49E5-A3C4-8B830F05D5D5}"/>
                </a:ext>
              </a:extLst>
            </p:cNvPr>
            <p:cNvSpPr/>
            <p:nvPr/>
          </p:nvSpPr>
          <p:spPr>
            <a:xfrm>
              <a:off x="9023506" y="2296558"/>
              <a:ext cx="1181100" cy="152400"/>
            </a:xfrm>
            <a:custGeom>
              <a:avLst/>
              <a:gdLst>
                <a:gd name="connsiteX0" fmla="*/ 1143000 w 1181100"/>
                <a:gd name="connsiteY0" fmla="*/ 0 h 152400"/>
                <a:gd name="connsiteX1" fmla="*/ 1181100 w 1181100"/>
                <a:gd name="connsiteY1" fmla="*/ 0 h 152400"/>
                <a:gd name="connsiteX2" fmla="*/ 1181100 w 1181100"/>
                <a:gd name="connsiteY2" fmla="*/ 152400 h 152400"/>
                <a:gd name="connsiteX3" fmla="*/ 1143000 w 1181100"/>
                <a:gd name="connsiteY3" fmla="*/ 152400 h 152400"/>
                <a:gd name="connsiteX4" fmla="*/ 38100 w 1181100"/>
                <a:gd name="connsiteY4" fmla="*/ 152400 h 152400"/>
                <a:gd name="connsiteX5" fmla="*/ 0 w 1181100"/>
                <a:gd name="connsiteY5" fmla="*/ 152400 h 152400"/>
                <a:gd name="connsiteX6" fmla="*/ 0 w 1181100"/>
                <a:gd name="connsiteY6" fmla="*/ 0 h 152400"/>
                <a:gd name="connsiteX7" fmla="*/ 38100 w 1181100"/>
                <a:gd name="connsiteY7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1100" h="152400">
                  <a:moveTo>
                    <a:pt x="1143000" y="0"/>
                  </a:moveTo>
                  <a:cubicBezTo>
                    <a:pt x="1164042" y="0"/>
                    <a:pt x="1181100" y="0"/>
                    <a:pt x="1181100" y="0"/>
                  </a:cubicBezTo>
                  <a:lnTo>
                    <a:pt x="1181100" y="152400"/>
                  </a:lnTo>
                  <a:cubicBezTo>
                    <a:pt x="1181100" y="152400"/>
                    <a:pt x="1164042" y="152400"/>
                    <a:pt x="1143000" y="152400"/>
                  </a:cubicBezTo>
                  <a:lnTo>
                    <a:pt x="38100" y="152400"/>
                  </a:lnTo>
                  <a:cubicBezTo>
                    <a:pt x="17058" y="152400"/>
                    <a:pt x="0" y="152400"/>
                    <a:pt x="0" y="152400"/>
                  </a:cubicBezTo>
                  <a:lnTo>
                    <a:pt x="0" y="0"/>
                  </a:lnTo>
                  <a:cubicBezTo>
                    <a:pt x="0" y="0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60A5FA"/>
            </a:solidFill>
            <a:ln w="9525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9A06214-1B04-4040-915A-F7489F53FDF6}"/>
                </a:ext>
              </a:extLst>
            </p:cNvPr>
            <p:cNvSpPr txBox="1"/>
            <p:nvPr/>
          </p:nvSpPr>
          <p:spPr>
            <a:xfrm>
              <a:off x="9237991" y="2251600"/>
              <a:ext cx="752129" cy="22801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675" b="1" spc="0" baseline="0" dirty="0">
                  <a:solidFill>
                    <a:srgbClr val="FFFFFF"/>
                  </a:solidFill>
                  <a:latin typeface="Segoe UI Symbol"/>
                  <a:ea typeface="+mn-ea"/>
                  <a:sym typeface="Segoe UI Symbol"/>
                  <a:rtl val="0"/>
                </a:rPr>
                <a:t>✓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 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최종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675" b="1" spc="0" baseline="0" dirty="0">
                  <a:solidFill>
                    <a:srgbClr val="FFFFF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에너지</a:t>
              </a:r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02C2F39C-F027-418D-8245-CEC5142DA3F6}"/>
                </a:ext>
              </a:extLst>
            </p:cNvPr>
            <p:cNvSpPr/>
            <p:nvPr/>
          </p:nvSpPr>
          <p:spPr>
            <a:xfrm>
              <a:off x="1613056" y="2658508"/>
              <a:ext cx="8763000" cy="1066800"/>
            </a:xfrm>
            <a:custGeom>
              <a:avLst/>
              <a:gdLst>
                <a:gd name="connsiteX0" fmla="*/ 8667750 w 8763000"/>
                <a:gd name="connsiteY0" fmla="*/ 0 h 1066800"/>
                <a:gd name="connsiteX1" fmla="*/ 8763000 w 8763000"/>
                <a:gd name="connsiteY1" fmla="*/ 0 h 1066800"/>
                <a:gd name="connsiteX2" fmla="*/ 8763000 w 8763000"/>
                <a:gd name="connsiteY2" fmla="*/ 1066800 h 1066800"/>
                <a:gd name="connsiteX3" fmla="*/ 8667750 w 8763000"/>
                <a:gd name="connsiteY3" fmla="*/ 1066800 h 1066800"/>
                <a:gd name="connsiteX4" fmla="*/ 95250 w 8763000"/>
                <a:gd name="connsiteY4" fmla="*/ 1066800 h 1066800"/>
                <a:gd name="connsiteX5" fmla="*/ 0 w 8763000"/>
                <a:gd name="connsiteY5" fmla="*/ 1066800 h 1066800"/>
                <a:gd name="connsiteX6" fmla="*/ 0 w 8763000"/>
                <a:gd name="connsiteY6" fmla="*/ 0 h 1066800"/>
                <a:gd name="connsiteX7" fmla="*/ 95250 w 8763000"/>
                <a:gd name="connsiteY7" fmla="*/ 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3000" h="1066800">
                  <a:moveTo>
                    <a:pt x="8667750" y="0"/>
                  </a:moveTo>
                  <a:cubicBezTo>
                    <a:pt x="8720355" y="0"/>
                    <a:pt x="8763000" y="0"/>
                    <a:pt x="8763000" y="0"/>
                  </a:cubicBezTo>
                  <a:lnTo>
                    <a:pt x="8763000" y="1066800"/>
                  </a:lnTo>
                  <a:cubicBezTo>
                    <a:pt x="8763000" y="1066800"/>
                    <a:pt x="8720355" y="1066800"/>
                    <a:pt x="8667750" y="1066800"/>
                  </a:cubicBezTo>
                  <a:lnTo>
                    <a:pt x="95250" y="1066800"/>
                  </a:lnTo>
                  <a:cubicBezTo>
                    <a:pt x="42645" y="1066800"/>
                    <a:pt x="0" y="1066800"/>
                    <a:pt x="0" y="1066800"/>
                  </a:cubicBezTo>
                  <a:lnTo>
                    <a:pt x="0" y="0"/>
                  </a:lnTo>
                  <a:cubicBezTo>
                    <a:pt x="0" y="0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7ED"/>
            </a:solidFill>
            <a:ln w="11430" cap="flat">
              <a:solidFill>
                <a:srgbClr val="FB923C"/>
              </a:solidFill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7282D28-B442-41AF-AE9A-7E0325696D73}"/>
                </a:ext>
              </a:extLst>
            </p:cNvPr>
            <p:cNvSpPr txBox="1"/>
            <p:nvPr/>
          </p:nvSpPr>
          <p:spPr>
            <a:xfrm>
              <a:off x="3066511" y="2660413"/>
              <a:ext cx="5856090" cy="304507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Key Insight: try03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은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한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번에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수렴시킨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것이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아니라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, wfn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을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단계별로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물려받아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점진적으로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1050" b="1" spc="0" baseline="0" dirty="0">
                  <a:solidFill>
                    <a:srgbClr val="9A3412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수렴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848AADA-9C5C-4789-A313-12588EE74260}"/>
                </a:ext>
              </a:extLst>
            </p:cNvPr>
            <p:cNvSpPr txBox="1"/>
            <p:nvPr/>
          </p:nvSpPr>
          <p:spPr>
            <a:xfrm>
              <a:off x="1686691" y="2889013"/>
              <a:ext cx="4929556" cy="2732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• Step 1 → 2: MOF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골격의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전자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분포를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먼저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확보한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뒤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이온을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추가하여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wfn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초기값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품질을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높임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16BC93E-7C42-44AC-AE0B-079AFFAB3ABE}"/>
                </a:ext>
              </a:extLst>
            </p:cNvPr>
            <p:cNvSpPr txBox="1"/>
            <p:nvPr/>
          </p:nvSpPr>
          <p:spPr>
            <a:xfrm>
              <a:off x="1622010" y="3060463"/>
              <a:ext cx="5830443" cy="2732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• Step 2: ALPHA 0.15→0.13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하향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, T 300→500 K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상향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— EMIM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Cambria Math"/>
                  <a:ea typeface="맑은 고딕"/>
                  <a:cs typeface="Arial"/>
                  <a:sym typeface="Cambria Math"/>
                  <a:rtl val="0"/>
                </a:rPr>
                <a:t>⁺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단독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삽입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시에도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SCF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불안정성이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존재했음을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시사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5F1176C-DCB2-4F16-80CE-FA73CA4A0FE8}"/>
                </a:ext>
              </a:extLst>
            </p:cNvPr>
            <p:cNvSpPr txBox="1"/>
            <p:nvPr/>
          </p:nvSpPr>
          <p:spPr>
            <a:xfrm>
              <a:off x="1657068" y="3231913"/>
              <a:ext cx="5474576" cy="2732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• Step 3: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동일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SCF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설정으로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9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개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초기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배치를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비교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→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에너지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차이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최대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44 kJ/mol →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초기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구조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의존성이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큼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79095D7-ACA3-4A4F-95A3-8C94F9B10943}"/>
                </a:ext>
              </a:extLst>
            </p:cNvPr>
            <p:cNvSpPr txBox="1"/>
            <p:nvPr/>
          </p:nvSpPr>
          <p:spPr>
            <a:xfrm>
              <a:off x="1621233" y="3403363"/>
              <a:ext cx="5498621" cy="27328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+mn-ea"/>
                  <a:cs typeface="Arial"/>
                  <a:sym typeface="Arial"/>
                  <a:rtl val="0"/>
                </a:rPr>
                <a:t>• Step 4~5: SCF_GUESS RESTART +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이전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wfn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재활용으로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ALPHA 0.15 / 300 K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에서도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안정적으로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수렴</a:t>
              </a:r>
              <a:r>
                <a:rPr lang="ko-KR" altLang="en-US" sz="825" spc="0" baseline="0" dirty="0">
                  <a:solidFill>
                    <a:srgbClr val="78350F"/>
                  </a:solidFill>
                  <a:latin typeface="Arial"/>
                  <a:ea typeface="맑은 고딕"/>
                  <a:cs typeface="Arial"/>
                  <a:sym typeface="Arial"/>
                  <a:rtl val="0"/>
                </a:rPr>
                <a:t> </a:t>
              </a:r>
              <a:r>
                <a:rPr lang="ko-KR" altLang="en-US" sz="900" spc="0" baseline="0" dirty="0">
                  <a:solidFill>
                    <a:srgbClr val="78350F"/>
                  </a:solidFill>
                  <a:latin typeface="맑은 고딕"/>
                  <a:ea typeface="맑은 고딕"/>
                  <a:cs typeface="Arial"/>
                  <a:sym typeface="맑은 고딕"/>
                  <a:rtl val="0"/>
                </a:rPr>
                <a:t>가능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6154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E7424-D86F-C1F3-AC53-4F6C5EC0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13;p2">
            <a:extLst>
              <a:ext uri="{FF2B5EF4-FFF2-40B4-BE49-F238E27FC236}">
                <a16:creationId xmlns:a16="http://schemas.microsoft.com/office/drawing/2014/main" id="{09B5769D-8AE7-651F-5CE9-35B85A72288D}"/>
              </a:ext>
            </a:extLst>
          </p:cNvPr>
          <p:cNvSpPr/>
          <p:nvPr/>
        </p:nvSpPr>
        <p:spPr>
          <a:xfrm rot="5400000">
            <a:off x="114786" y="321006"/>
            <a:ext cx="431337" cy="69652"/>
          </a:xfrm>
          <a:prstGeom prst="rect">
            <a:avLst/>
          </a:prstGeom>
          <a:solidFill>
            <a:srgbClr val="A436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2231" name="Google Shape;94;p13">
            <a:extLst>
              <a:ext uri="{FF2B5EF4-FFF2-40B4-BE49-F238E27FC236}">
                <a16:creationId xmlns:a16="http://schemas.microsoft.com/office/drawing/2014/main" id="{BA001928-329A-BFAB-50A0-5FD9E5FD91F8}"/>
              </a:ext>
            </a:extLst>
          </p:cNvPr>
          <p:cNvSpPr txBox="1"/>
          <p:nvPr/>
        </p:nvSpPr>
        <p:spPr>
          <a:xfrm>
            <a:off x="365281" y="-14672"/>
            <a:ext cx="11531090" cy="66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try04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적용 전략 </a:t>
            </a:r>
            <a:r>
              <a:rPr lang="en-US" altLang="ko-KR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— try03 </a:t>
            </a:r>
            <a:r>
              <a:rPr lang="ko-KR" altLang="en-US" sz="2800" b="1" dirty="0">
                <a:solidFill>
                  <a:srgbClr val="931A1B"/>
                </a:solidFill>
                <a:latin typeface="+mn-ea"/>
                <a:cs typeface="Microsoft GothicNeo" panose="020B0500000101010101" pitchFamily="50" charset="-127"/>
              </a:rPr>
              <a:t>교훈 기반 로드맵</a:t>
            </a:r>
            <a:endParaRPr lang="en-US" altLang="ko-KR" sz="2800" b="1" dirty="0">
              <a:solidFill>
                <a:srgbClr val="931A1B"/>
              </a:solidFill>
              <a:latin typeface="+mn-ea"/>
              <a:cs typeface="Microsoft GothicNeo" panose="020B05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311455-4400-2150-DC6A-B42DB4EF5645}"/>
              </a:ext>
            </a:extLst>
          </p:cNvPr>
          <p:cNvSpPr txBox="1"/>
          <p:nvPr/>
        </p:nvSpPr>
        <p:spPr>
          <a:xfrm>
            <a:off x="585742" y="3880198"/>
            <a:ext cx="11258550" cy="2834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latin typeface="+mn-ea"/>
              </a:rPr>
              <a:t>현재 </a:t>
            </a:r>
            <a:r>
              <a:rPr lang="en-US" altLang="ko-KR" sz="1000" dirty="0">
                <a:latin typeface="+mn-ea"/>
              </a:rPr>
              <a:t>OT method</a:t>
            </a:r>
            <a:r>
              <a:rPr lang="ko-KR" altLang="en-US" sz="1000" dirty="0">
                <a:latin typeface="+mn-ea"/>
              </a:rPr>
              <a:t>가 </a:t>
            </a:r>
            <a:r>
              <a:rPr lang="en-US" altLang="ko-KR" sz="1000" dirty="0">
                <a:latin typeface="+mn-ea"/>
              </a:rPr>
              <a:t>step 259</a:t>
            </a:r>
            <a:r>
              <a:rPr lang="ko-KR" altLang="en-US" sz="1000" dirty="0">
                <a:latin typeface="+mn-ea"/>
              </a:rPr>
              <a:t>에서 </a:t>
            </a:r>
            <a:r>
              <a:rPr lang="en-US" altLang="ko-KR" sz="1000" dirty="0">
                <a:latin typeface="+mn-ea"/>
              </a:rPr>
              <a:t>convergence 3×10⁻⁵ </a:t>
            </a:r>
            <a:r>
              <a:rPr lang="ko-KR" altLang="en-US" sz="1000" dirty="0">
                <a:latin typeface="+mn-ea"/>
              </a:rPr>
              <a:t>수준까지 도달했으며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에너지가 </a:t>
            </a:r>
            <a:r>
              <a:rPr lang="en-US" altLang="ko-KR" sz="1000" dirty="0">
                <a:latin typeface="+mn-ea"/>
              </a:rPr>
              <a:t>-1886.226 Ha</a:t>
            </a:r>
            <a:r>
              <a:rPr lang="ko-KR" altLang="en-US" sz="1000" dirty="0">
                <a:latin typeface="+mn-ea"/>
              </a:rPr>
              <a:t>로 단조 감소 추세를 보이고 있어 </a:t>
            </a:r>
            <a:r>
              <a:rPr lang="en-US" altLang="ko-KR" sz="1000" dirty="0">
                <a:latin typeface="+mn-ea"/>
              </a:rPr>
              <a:t>OUTER_SCF </a:t>
            </a:r>
            <a:r>
              <a:rPr lang="ko-KR" altLang="en-US" sz="1000" dirty="0">
                <a:latin typeface="+mn-ea"/>
              </a:rPr>
              <a:t>반복을 통한 수렴 가능성이 있습니다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+mn-ea"/>
              </a:rPr>
              <a:t>Plan A(OT </a:t>
            </a:r>
            <a:r>
              <a:rPr lang="ko-KR" altLang="en-US" sz="1000" dirty="0">
                <a:latin typeface="+mn-ea"/>
              </a:rPr>
              <a:t>수렴 성공 시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는 </a:t>
            </a:r>
            <a:r>
              <a:rPr lang="en-US" altLang="ko-KR" sz="1000" dirty="0">
                <a:latin typeface="+mn-ea"/>
              </a:rPr>
              <a:t>OT</a:t>
            </a:r>
            <a:r>
              <a:rPr lang="ko-KR" altLang="en-US" sz="1000" dirty="0">
                <a:latin typeface="+mn-ea"/>
              </a:rPr>
              <a:t>로 확보한 </a:t>
            </a:r>
            <a:r>
              <a:rPr lang="en-US" altLang="ko-KR" sz="1000" dirty="0">
                <a:latin typeface="+mn-ea"/>
              </a:rPr>
              <a:t>wavefunction</a:t>
            </a:r>
            <a:r>
              <a:rPr lang="ko-KR" altLang="en-US" sz="1000" dirty="0">
                <a:latin typeface="+mn-ea"/>
              </a:rPr>
              <a:t>을 </a:t>
            </a:r>
            <a:r>
              <a:rPr lang="en-US" altLang="ko-KR" sz="1000" dirty="0">
                <a:latin typeface="+mn-ea"/>
              </a:rPr>
              <a:t>SCF_GUESS RESTART</a:t>
            </a:r>
            <a:r>
              <a:rPr lang="ko-KR" altLang="en-US" sz="1000" dirty="0">
                <a:latin typeface="+mn-ea"/>
              </a:rPr>
              <a:t>로 전환하고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원래 </a:t>
            </a:r>
            <a:r>
              <a:rPr lang="en-US" altLang="ko-KR" sz="1000" dirty="0" err="1">
                <a:latin typeface="+mn-ea"/>
              </a:rPr>
              <a:t>Broyden</a:t>
            </a:r>
            <a:r>
              <a:rPr lang="en-US" altLang="ko-KR" sz="1000" dirty="0">
                <a:latin typeface="+mn-ea"/>
              </a:rPr>
              <a:t> mixing(ALPHA 0.15, 300 K)</a:t>
            </a:r>
            <a:r>
              <a:rPr lang="ko-KR" altLang="en-US" sz="1000" dirty="0">
                <a:latin typeface="+mn-ea"/>
              </a:rPr>
              <a:t>으로 </a:t>
            </a:r>
            <a:r>
              <a:rPr lang="en-US" altLang="ko-KR" sz="1000" dirty="0">
                <a:latin typeface="+mn-ea"/>
              </a:rPr>
              <a:t>production GEO_OPT</a:t>
            </a:r>
            <a:r>
              <a:rPr lang="ko-KR" altLang="en-US" sz="1000" dirty="0">
                <a:latin typeface="+mn-ea"/>
              </a:rPr>
              <a:t>를 실행하는 가장 빠른 경로입니다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+mn-ea"/>
              </a:rPr>
              <a:t>Plan B(OT </a:t>
            </a:r>
            <a:r>
              <a:rPr lang="ko-KR" altLang="en-US" sz="1000" dirty="0">
                <a:latin typeface="+mn-ea"/>
              </a:rPr>
              <a:t>실패 시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는 </a:t>
            </a:r>
            <a:r>
              <a:rPr lang="en-US" altLang="ko-KR" sz="1000" dirty="0">
                <a:latin typeface="+mn-ea"/>
              </a:rPr>
              <a:t>try03</a:t>
            </a:r>
            <a:r>
              <a:rPr lang="ko-KR" altLang="en-US" sz="1000" dirty="0">
                <a:latin typeface="+mn-ea"/>
              </a:rPr>
              <a:t>에서 검증된 단계별 </a:t>
            </a:r>
            <a:r>
              <a:rPr lang="en-US" altLang="ko-KR" sz="1000" dirty="0">
                <a:latin typeface="+mn-ea"/>
              </a:rPr>
              <a:t>bootstrap </a:t>
            </a:r>
            <a:r>
              <a:rPr lang="ko-KR" altLang="en-US" sz="1000" dirty="0">
                <a:latin typeface="+mn-ea"/>
              </a:rPr>
              <a:t>전략을 따르는 것으로</a:t>
            </a:r>
            <a:r>
              <a:rPr lang="en-US" altLang="ko-KR" sz="1000" dirty="0">
                <a:latin typeface="+mn-ea"/>
              </a:rPr>
              <a:t>, MOF </a:t>
            </a:r>
            <a:r>
              <a:rPr lang="ko-KR" altLang="en-US" sz="1000" dirty="0">
                <a:latin typeface="+mn-ea"/>
              </a:rPr>
              <a:t>골격만</a:t>
            </a:r>
            <a:r>
              <a:rPr lang="en-US" altLang="ko-KR" sz="1000" dirty="0">
                <a:latin typeface="+mn-ea"/>
              </a:rPr>
              <a:t>(102 atoms) ENERGY </a:t>
            </a:r>
            <a:r>
              <a:rPr lang="ko-KR" altLang="en-US" sz="1000" dirty="0" err="1">
                <a:latin typeface="+mn-ea"/>
              </a:rPr>
              <a:t>런을</a:t>
            </a:r>
            <a:r>
              <a:rPr lang="ko-KR" altLang="en-US" sz="1000" dirty="0">
                <a:latin typeface="+mn-ea"/>
              </a:rPr>
              <a:t> 먼저 돌려 </a:t>
            </a:r>
            <a:r>
              <a:rPr lang="en-US" altLang="ko-KR" sz="1000" dirty="0" err="1">
                <a:latin typeface="+mn-ea"/>
              </a:rPr>
              <a:t>wfn</a:t>
            </a:r>
            <a:r>
              <a:rPr lang="en-US" altLang="ko-KR" sz="1000" dirty="0">
                <a:latin typeface="+mn-ea"/>
              </a:rPr>
              <a:t>₁</a:t>
            </a:r>
            <a:r>
              <a:rPr lang="ko-KR" altLang="en-US" sz="1000" dirty="0">
                <a:latin typeface="+mn-ea"/>
              </a:rPr>
              <a:t>을 확보한 뒤</a:t>
            </a:r>
            <a:r>
              <a:rPr lang="en-US" altLang="ko-KR" sz="1000" dirty="0">
                <a:latin typeface="+mn-ea"/>
              </a:rPr>
              <a:t>, try03</a:t>
            </a:r>
            <a:r>
              <a:rPr lang="ko-KR" altLang="en-US" sz="1000" dirty="0">
                <a:latin typeface="+mn-ea"/>
              </a:rPr>
              <a:t>의 수렴된 </a:t>
            </a:r>
            <a:r>
              <a:rPr lang="en-US" altLang="ko-KR" sz="1000" dirty="0">
                <a:latin typeface="+mn-ea"/>
              </a:rPr>
              <a:t>158-atom </a:t>
            </a:r>
            <a:r>
              <a:rPr lang="en-US" altLang="ko-KR" sz="1000" dirty="0" err="1">
                <a:latin typeface="+mn-ea"/>
              </a:rPr>
              <a:t>wfn</a:t>
            </a:r>
            <a:r>
              <a:rPr lang="ko-KR" altLang="en-US" sz="1000" dirty="0">
                <a:latin typeface="+mn-ea"/>
              </a:rPr>
              <a:t>을 초기값으로 활용하여 </a:t>
            </a:r>
            <a:r>
              <a:rPr lang="en-US" altLang="ko-KR" sz="1000" dirty="0">
                <a:latin typeface="+mn-ea"/>
              </a:rPr>
              <a:t>192-atom </a:t>
            </a:r>
            <a:r>
              <a:rPr lang="ko-KR" altLang="en-US" sz="1000" dirty="0">
                <a:latin typeface="+mn-ea"/>
              </a:rPr>
              <a:t>시스템의 </a:t>
            </a:r>
            <a:r>
              <a:rPr lang="en-US" altLang="ko-KR" sz="1000" dirty="0">
                <a:latin typeface="+mn-ea"/>
              </a:rPr>
              <a:t>SCF</a:t>
            </a:r>
            <a:r>
              <a:rPr lang="ko-KR" altLang="en-US" sz="1000" dirty="0">
                <a:latin typeface="+mn-ea"/>
              </a:rPr>
              <a:t>를 시작합니다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+mn-ea"/>
              </a:rPr>
              <a:t>Plan B</a:t>
            </a:r>
            <a:r>
              <a:rPr lang="ko-KR" altLang="en-US" sz="1000" dirty="0">
                <a:latin typeface="+mn-ea"/>
              </a:rPr>
              <a:t>의 핵심은 </a:t>
            </a:r>
            <a:r>
              <a:rPr lang="en-US" altLang="ko-KR" sz="1000" dirty="0">
                <a:latin typeface="+mn-ea"/>
              </a:rPr>
              <a:t>try03</a:t>
            </a:r>
            <a:r>
              <a:rPr lang="ko-KR" altLang="en-US" sz="1000" dirty="0">
                <a:latin typeface="+mn-ea"/>
              </a:rPr>
              <a:t>의 </a:t>
            </a:r>
            <a:r>
              <a:rPr lang="en-US" altLang="ko-KR" sz="1000" dirty="0" err="1">
                <a:latin typeface="+mn-ea"/>
              </a:rPr>
              <a:t>BAMOF_EMIM_TFSI_Cluster-RESTART.wfn</a:t>
            </a:r>
            <a:r>
              <a:rPr lang="en-US" altLang="ko-KR" sz="1000" dirty="0">
                <a:latin typeface="+mn-ea"/>
              </a:rPr>
              <a:t> </a:t>
            </a:r>
            <a:r>
              <a:rPr lang="ko-KR" altLang="en-US" sz="1000" dirty="0">
                <a:latin typeface="+mn-ea"/>
              </a:rPr>
              <a:t>파일을 직접 가져와서 </a:t>
            </a:r>
            <a:r>
              <a:rPr lang="en-US" altLang="ko-KR" sz="1000" dirty="0">
                <a:latin typeface="+mn-ea"/>
              </a:rPr>
              <a:t>try04</a:t>
            </a:r>
            <a:r>
              <a:rPr lang="ko-KR" altLang="en-US" sz="1000" dirty="0">
                <a:latin typeface="+mn-ea"/>
              </a:rPr>
              <a:t>의 초기 </a:t>
            </a:r>
            <a:r>
              <a:rPr lang="en-US" altLang="ko-KR" sz="1000" dirty="0">
                <a:latin typeface="+mn-ea"/>
              </a:rPr>
              <a:t>wavefunction</a:t>
            </a:r>
            <a:r>
              <a:rPr lang="ko-KR" altLang="en-US" sz="1000" dirty="0">
                <a:latin typeface="+mn-ea"/>
              </a:rPr>
              <a:t>으로 사용하는 것인데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원자 수가 다르므로</a:t>
            </a:r>
            <a:r>
              <a:rPr lang="en-US" altLang="ko-KR" sz="1000" dirty="0">
                <a:latin typeface="+mn-ea"/>
              </a:rPr>
              <a:t>(158 vs 192) </a:t>
            </a:r>
            <a:r>
              <a:rPr lang="ko-KR" altLang="en-US" sz="1000" dirty="0">
                <a:latin typeface="+mn-ea"/>
              </a:rPr>
              <a:t>추가된 </a:t>
            </a:r>
            <a:r>
              <a:rPr lang="en-US" altLang="ko-KR" sz="1000" dirty="0">
                <a:latin typeface="+mn-ea"/>
              </a:rPr>
              <a:t>34</a:t>
            </a:r>
            <a:r>
              <a:rPr lang="ko-KR" altLang="en-US" sz="1000" dirty="0">
                <a:latin typeface="+mn-ea"/>
              </a:rPr>
              <a:t>개 원자에 대해 </a:t>
            </a:r>
            <a:r>
              <a:rPr lang="en-US" altLang="ko-KR" sz="1000" dirty="0">
                <a:latin typeface="+mn-ea"/>
              </a:rPr>
              <a:t>ATOMIC guess</a:t>
            </a:r>
            <a:r>
              <a:rPr lang="ko-KR" altLang="en-US" sz="1000" dirty="0">
                <a:latin typeface="+mn-ea"/>
              </a:rPr>
              <a:t>를 보충하는 방식으로 처리됩니다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+mn-ea"/>
              </a:rPr>
              <a:t>Plan C(</a:t>
            </a:r>
            <a:r>
              <a:rPr lang="ko-KR" altLang="en-US" sz="1000" dirty="0">
                <a:latin typeface="+mn-ea"/>
              </a:rPr>
              <a:t>하이브리드</a:t>
            </a:r>
            <a:r>
              <a:rPr lang="en-US" altLang="ko-KR" sz="1000" dirty="0">
                <a:latin typeface="+mn-ea"/>
              </a:rPr>
              <a:t>)</a:t>
            </a:r>
            <a:r>
              <a:rPr lang="ko-KR" altLang="en-US" sz="1000" dirty="0">
                <a:latin typeface="+mn-ea"/>
              </a:rPr>
              <a:t>는 현재 </a:t>
            </a:r>
            <a:r>
              <a:rPr lang="en-US" altLang="ko-KR" sz="1000" dirty="0">
                <a:latin typeface="+mn-ea"/>
              </a:rPr>
              <a:t>OT </a:t>
            </a:r>
            <a:r>
              <a:rPr lang="ko-KR" altLang="en-US" sz="1000" dirty="0">
                <a:latin typeface="+mn-ea"/>
              </a:rPr>
              <a:t>계산의 </a:t>
            </a:r>
            <a:r>
              <a:rPr lang="en-US" altLang="ko-KR" sz="1000" dirty="0">
                <a:latin typeface="+mn-ea"/>
              </a:rPr>
              <a:t>EPS_SCF</a:t>
            </a:r>
            <a:r>
              <a:rPr lang="ko-KR" altLang="en-US" sz="1000" dirty="0">
                <a:latin typeface="+mn-ea"/>
              </a:rPr>
              <a:t>를 </a:t>
            </a:r>
            <a:r>
              <a:rPr lang="en-US" altLang="ko-KR" sz="1000" dirty="0">
                <a:latin typeface="+mn-ea"/>
              </a:rPr>
              <a:t>1×10⁻³</a:t>
            </a:r>
            <a:r>
              <a:rPr lang="ko-KR" altLang="en-US" sz="1000" dirty="0">
                <a:latin typeface="+mn-ea"/>
              </a:rPr>
              <a:t>으로 완화하여 빠르게 대략적인 </a:t>
            </a:r>
            <a:r>
              <a:rPr lang="en-US" altLang="ko-KR" sz="1000" dirty="0" err="1">
                <a:latin typeface="+mn-ea"/>
              </a:rPr>
              <a:t>wfn</a:t>
            </a:r>
            <a:r>
              <a:rPr lang="ko-KR" altLang="en-US" sz="1000" dirty="0">
                <a:latin typeface="+mn-ea"/>
              </a:rPr>
              <a:t>을 확보한 뒤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그 </a:t>
            </a:r>
            <a:r>
              <a:rPr lang="en-US" altLang="ko-KR" sz="1000" dirty="0" err="1">
                <a:latin typeface="+mn-ea"/>
              </a:rPr>
              <a:t>wfn</a:t>
            </a:r>
            <a:r>
              <a:rPr lang="ko-KR" altLang="en-US" sz="1000" dirty="0">
                <a:latin typeface="+mn-ea"/>
              </a:rPr>
              <a:t>을 </a:t>
            </a:r>
            <a:r>
              <a:rPr lang="en-US" altLang="ko-KR" sz="1000" dirty="0" err="1">
                <a:latin typeface="+mn-ea"/>
              </a:rPr>
              <a:t>Broyden</a:t>
            </a:r>
            <a:r>
              <a:rPr lang="en-US" altLang="ko-KR" sz="1000" dirty="0">
                <a:latin typeface="+mn-ea"/>
              </a:rPr>
              <a:t> mixing(ALPHA 0.13, T=500 K)</a:t>
            </a:r>
            <a:r>
              <a:rPr lang="ko-KR" altLang="en-US" sz="1000" dirty="0">
                <a:latin typeface="+mn-ea"/>
              </a:rPr>
              <a:t>의 </a:t>
            </a:r>
            <a:r>
              <a:rPr lang="en-US" altLang="ko-KR" sz="1000" dirty="0">
                <a:latin typeface="+mn-ea"/>
              </a:rPr>
              <a:t>RESTART </a:t>
            </a:r>
            <a:r>
              <a:rPr lang="ko-KR" altLang="en-US" sz="1000" dirty="0">
                <a:latin typeface="+mn-ea"/>
              </a:rPr>
              <a:t>초기값으로 전환하는 전략입니다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 dirty="0">
                <a:latin typeface="+mn-ea"/>
              </a:rPr>
              <a:t>try03 </a:t>
            </a:r>
            <a:r>
              <a:rPr lang="ko-KR" altLang="en-US" sz="1000" dirty="0">
                <a:latin typeface="+mn-ea"/>
              </a:rPr>
              <a:t>분석에서 발견한 가장 중요한 교훈은 </a:t>
            </a:r>
            <a:r>
              <a:rPr lang="en-US" altLang="ko-KR" sz="1000" dirty="0">
                <a:latin typeface="+mn-ea"/>
              </a:rPr>
              <a:t>ALPHA 0.13</a:t>
            </a:r>
            <a:r>
              <a:rPr lang="ko-KR" altLang="en-US" sz="1000" dirty="0">
                <a:latin typeface="+mn-ea"/>
              </a:rPr>
              <a:t>과 </a:t>
            </a:r>
            <a:r>
              <a:rPr lang="en-US" altLang="ko-KR" sz="1000" dirty="0">
                <a:latin typeface="+mn-ea"/>
              </a:rPr>
              <a:t>ELECTRONIC_TEMPERATURE 500 K </a:t>
            </a:r>
            <a:r>
              <a:rPr lang="ko-KR" altLang="en-US" sz="1000" dirty="0">
                <a:latin typeface="+mn-ea"/>
              </a:rPr>
              <a:t>조합이 이 </a:t>
            </a:r>
            <a:r>
              <a:rPr lang="en-US" altLang="ko-KR" sz="1000" dirty="0" err="1">
                <a:latin typeface="+mn-ea"/>
              </a:rPr>
              <a:t>Ti</a:t>
            </a:r>
            <a:r>
              <a:rPr lang="en-US" altLang="ko-KR" sz="1000" dirty="0">
                <a:latin typeface="+mn-ea"/>
              </a:rPr>
              <a:t>-MOF </a:t>
            </a:r>
            <a:r>
              <a:rPr lang="ko-KR" altLang="en-US" sz="1000" dirty="0">
                <a:latin typeface="+mn-ea"/>
              </a:rPr>
              <a:t>시스템에서 경험적으로 검증된 </a:t>
            </a:r>
            <a:r>
              <a:rPr lang="en-US" altLang="ko-KR" sz="1000" dirty="0">
                <a:latin typeface="+mn-ea"/>
              </a:rPr>
              <a:t>SCF </a:t>
            </a:r>
            <a:r>
              <a:rPr lang="ko-KR" altLang="en-US" sz="1000" dirty="0">
                <a:latin typeface="+mn-ea"/>
              </a:rPr>
              <a:t>설정이라는 점이며</a:t>
            </a:r>
            <a:r>
              <a:rPr lang="en-US" altLang="ko-KR" sz="1000" dirty="0">
                <a:latin typeface="+mn-ea"/>
              </a:rPr>
              <a:t>, try04</a:t>
            </a:r>
            <a:r>
              <a:rPr lang="ko-KR" altLang="en-US" sz="1000" dirty="0">
                <a:latin typeface="+mn-ea"/>
              </a:rPr>
              <a:t>의 어떤 </a:t>
            </a:r>
            <a:r>
              <a:rPr lang="en-US" altLang="ko-KR" sz="1000" dirty="0">
                <a:latin typeface="+mn-ea"/>
              </a:rPr>
              <a:t>Plan</a:t>
            </a:r>
            <a:r>
              <a:rPr lang="ko-KR" altLang="en-US" sz="1000" dirty="0">
                <a:latin typeface="+mn-ea"/>
              </a:rPr>
              <a:t>에서든 이 값들을 기본으로 사용해야 합니다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latin typeface="+mn-ea"/>
              </a:rPr>
              <a:t>세 가지 </a:t>
            </a:r>
            <a:r>
              <a:rPr lang="en-US" altLang="ko-KR" sz="1000" dirty="0">
                <a:latin typeface="+mn-ea"/>
              </a:rPr>
              <a:t>Plan </a:t>
            </a:r>
            <a:r>
              <a:rPr lang="ko-KR" altLang="en-US" sz="1000" dirty="0">
                <a:latin typeface="+mn-ea"/>
              </a:rPr>
              <a:t>모두 최종적으로는 </a:t>
            </a:r>
            <a:r>
              <a:rPr lang="en-US" altLang="ko-KR" sz="1000" dirty="0">
                <a:latin typeface="+mn-ea"/>
              </a:rPr>
              <a:t>SCF_GUESS RESTART + </a:t>
            </a:r>
            <a:r>
              <a:rPr lang="en-US" altLang="ko-KR" sz="1000" dirty="0" err="1">
                <a:latin typeface="+mn-ea"/>
              </a:rPr>
              <a:t>Broyden</a:t>
            </a:r>
            <a:r>
              <a:rPr lang="en-US" altLang="ko-KR" sz="1000" dirty="0">
                <a:latin typeface="+mn-ea"/>
              </a:rPr>
              <a:t>(α=0.15, 300 K)</a:t>
            </a:r>
            <a:r>
              <a:rPr lang="ko-KR" altLang="en-US" sz="1000" dirty="0">
                <a:latin typeface="+mn-ea"/>
              </a:rPr>
              <a:t>로 수렴시키는 것을 목표로 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이는 </a:t>
            </a:r>
            <a:r>
              <a:rPr lang="en-US" altLang="ko-KR" sz="1000" dirty="0">
                <a:latin typeface="+mn-ea"/>
              </a:rPr>
              <a:t>try03 </a:t>
            </a:r>
            <a:r>
              <a:rPr lang="ko-KR" altLang="en-US" sz="1000" dirty="0">
                <a:latin typeface="+mn-ea"/>
              </a:rPr>
              <a:t>최종 계산과 동일한 조건이므로 에너지 비교의 일관성을 보장합니다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0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62F4A-343B-4C6E-B92E-D5E25CB84A35}"/>
              </a:ext>
            </a:extLst>
          </p:cNvPr>
          <p:cNvSpPr txBox="1"/>
          <p:nvPr/>
        </p:nvSpPr>
        <p:spPr>
          <a:xfrm>
            <a:off x="3659326" y="784980"/>
            <a:ext cx="4324710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 spc="0" baseline="0" dirty="0">
                <a:solidFill>
                  <a:srgbClr val="1E293B"/>
                </a:solidFill>
                <a:latin typeface="Arial"/>
                <a:ea typeface="+mn-ea"/>
                <a:cs typeface="Arial"/>
                <a:sym typeface="Arial"/>
                <a:rtl val="0"/>
              </a:rPr>
              <a:t>try04 Action Plan: 3-Track Convergence Strategy</a:t>
            </a: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715210AA-1D22-48FD-ABCF-8A9B88545FCF}"/>
              </a:ext>
            </a:extLst>
          </p:cNvPr>
          <p:cNvSpPr/>
          <p:nvPr/>
        </p:nvSpPr>
        <p:spPr>
          <a:xfrm>
            <a:off x="1002030" y="1155503"/>
            <a:ext cx="2095500" cy="838200"/>
          </a:xfrm>
          <a:custGeom>
            <a:avLst/>
            <a:gdLst>
              <a:gd name="connsiteX0" fmla="*/ 1990725 w 2095500"/>
              <a:gd name="connsiteY0" fmla="*/ 0 h 838200"/>
              <a:gd name="connsiteX1" fmla="*/ 2095500 w 2095500"/>
              <a:gd name="connsiteY1" fmla="*/ 0 h 838200"/>
              <a:gd name="connsiteX2" fmla="*/ 2095500 w 2095500"/>
              <a:gd name="connsiteY2" fmla="*/ 838200 h 838200"/>
              <a:gd name="connsiteX3" fmla="*/ 1990725 w 2095500"/>
              <a:gd name="connsiteY3" fmla="*/ 838200 h 838200"/>
              <a:gd name="connsiteX4" fmla="*/ 104775 w 2095500"/>
              <a:gd name="connsiteY4" fmla="*/ 838200 h 838200"/>
              <a:gd name="connsiteX5" fmla="*/ 0 w 2095500"/>
              <a:gd name="connsiteY5" fmla="*/ 838200 h 838200"/>
              <a:gd name="connsiteX6" fmla="*/ 0 w 2095500"/>
              <a:gd name="connsiteY6" fmla="*/ 0 h 838200"/>
              <a:gd name="connsiteX7" fmla="*/ 104775 w 2095500"/>
              <a:gd name="connsiteY7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838200">
                <a:moveTo>
                  <a:pt x="1990725" y="0"/>
                </a:moveTo>
                <a:cubicBezTo>
                  <a:pt x="2048591" y="0"/>
                  <a:pt x="2095500" y="0"/>
                  <a:pt x="2095500" y="0"/>
                </a:cubicBezTo>
                <a:lnTo>
                  <a:pt x="2095500" y="838200"/>
                </a:lnTo>
                <a:cubicBezTo>
                  <a:pt x="2095500" y="838200"/>
                  <a:pt x="2048591" y="838200"/>
                  <a:pt x="1990725" y="838200"/>
                </a:cubicBezTo>
                <a:lnTo>
                  <a:pt x="104775" y="838200"/>
                </a:lnTo>
                <a:cubicBezTo>
                  <a:pt x="46909" y="838200"/>
                  <a:pt x="0" y="838200"/>
                  <a:pt x="0" y="838200"/>
                </a:cubicBezTo>
                <a:lnTo>
                  <a:pt x="0" y="0"/>
                </a:lnTo>
                <a:cubicBezTo>
                  <a:pt x="0" y="0"/>
                  <a:pt x="46909" y="0"/>
                  <a:pt x="104775" y="0"/>
                </a:cubicBezTo>
                <a:close/>
              </a:path>
            </a:pathLst>
          </a:custGeom>
          <a:solidFill>
            <a:srgbClr val="F59E0B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E25F9F-2B24-4A23-918D-C47662F642C9}"/>
              </a:ext>
            </a:extLst>
          </p:cNvPr>
          <p:cNvSpPr txBox="1"/>
          <p:nvPr/>
        </p:nvSpPr>
        <p:spPr>
          <a:xfrm>
            <a:off x="1710583" y="1183125"/>
            <a:ext cx="678391" cy="274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00" b="1" spc="0" baseline="0" dirty="0">
                <a:solidFill>
                  <a:srgbClr val="FFFFFF"/>
                </a:solidFill>
                <a:latin typeface="맑은 고딕"/>
                <a:ea typeface="맑은 고딕"/>
                <a:sym typeface="맑은 고딕"/>
                <a:rtl val="0"/>
              </a:rPr>
              <a:t>현재</a:t>
            </a:r>
            <a:r>
              <a:rPr lang="ko-KR" altLang="en-US" sz="90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90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상태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5F9206-A79B-4169-BE21-9497AF989817}"/>
              </a:ext>
            </a:extLst>
          </p:cNvPr>
          <p:cNvSpPr txBox="1"/>
          <p:nvPr/>
        </p:nvSpPr>
        <p:spPr>
          <a:xfrm>
            <a:off x="1312237" y="1371720"/>
            <a:ext cx="1475083" cy="253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+mn-ea"/>
                <a:cs typeface="Arial"/>
                <a:sym typeface="Arial"/>
                <a:rtl val="0"/>
              </a:rPr>
              <a:t>OT DIIS </a:t>
            </a:r>
            <a:r>
              <a:rPr lang="ko-KR" altLang="en-US" sz="800" spc="0" baseline="0" dirty="0">
                <a:solidFill>
                  <a:srgbClr val="FEF3C7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실행</a:t>
            </a: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800" spc="0" baseline="0" dirty="0">
                <a:solidFill>
                  <a:srgbClr val="FEF3C7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중</a:t>
            </a: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(step ~259)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D28DB8-E81D-4FBF-AEC2-E9363D91C9E8}"/>
              </a:ext>
            </a:extLst>
          </p:cNvPr>
          <p:cNvSpPr txBox="1"/>
          <p:nvPr/>
        </p:nvSpPr>
        <p:spPr>
          <a:xfrm>
            <a:off x="1625625" y="1528883"/>
            <a:ext cx="848309" cy="254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Conv ≈ 3×10</a:t>
            </a:r>
            <a:r>
              <a:rPr lang="ko-KR" altLang="en-US" sz="800" spc="0" baseline="0" dirty="0">
                <a:solidFill>
                  <a:srgbClr val="FEF3C7"/>
                </a:solidFill>
                <a:latin typeface="Cambria Math"/>
                <a:ea typeface="+mn-ea"/>
                <a:cs typeface="Arial"/>
                <a:sym typeface="Cambria Math"/>
                <a:rtl val="0"/>
              </a:rPr>
              <a:t>⁻</a:t>
            </a: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⁵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BB36E6-AB34-4984-B76E-B58A5A7C966E}"/>
              </a:ext>
            </a:extLst>
          </p:cNvPr>
          <p:cNvSpPr txBox="1"/>
          <p:nvPr/>
        </p:nvSpPr>
        <p:spPr>
          <a:xfrm>
            <a:off x="1552688" y="1686045"/>
            <a:ext cx="994183" cy="254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spc="0" baseline="0" dirty="0">
                <a:solidFill>
                  <a:srgbClr val="FEF3C7"/>
                </a:solidFill>
                <a:latin typeface="Arial"/>
                <a:ea typeface="+mn-ea"/>
                <a:cs typeface="Arial"/>
                <a:sym typeface="Arial"/>
                <a:rtl val="0"/>
              </a:rPr>
              <a:t>E ≈ -1886.226 Ha</a:t>
            </a: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4FE2751-316F-4D3F-96C1-782EE240DF37}"/>
              </a:ext>
            </a:extLst>
          </p:cNvPr>
          <p:cNvSpPr/>
          <p:nvPr/>
        </p:nvSpPr>
        <p:spPr>
          <a:xfrm>
            <a:off x="3149917" y="1270755"/>
            <a:ext cx="366712" cy="157162"/>
          </a:xfrm>
          <a:custGeom>
            <a:avLst/>
            <a:gdLst>
              <a:gd name="connsiteX0" fmla="*/ 0 w 366712"/>
              <a:gd name="connsiteY0" fmla="*/ 157163 h 157162"/>
              <a:gd name="connsiteX1" fmla="*/ 366713 w 366712"/>
              <a:gd name="connsiteY1" fmla="*/ 0 h 157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712" h="157162">
                <a:moveTo>
                  <a:pt x="0" y="157163"/>
                </a:moveTo>
                <a:lnTo>
                  <a:pt x="366713" y="0"/>
                </a:lnTo>
              </a:path>
            </a:pathLst>
          </a:custGeom>
          <a:ln w="20955" cap="flat">
            <a:solidFill>
              <a:srgbClr val="94A3B8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B455329F-B0BB-44A9-88C0-2E11B8CA560B}"/>
              </a:ext>
            </a:extLst>
          </p:cNvPr>
          <p:cNvSpPr/>
          <p:nvPr/>
        </p:nvSpPr>
        <p:spPr>
          <a:xfrm>
            <a:off x="3149917" y="1574603"/>
            <a:ext cx="366712" cy="712470"/>
          </a:xfrm>
          <a:custGeom>
            <a:avLst/>
            <a:gdLst>
              <a:gd name="connsiteX0" fmla="*/ 0 w 366712"/>
              <a:gd name="connsiteY0" fmla="*/ 0 h 712470"/>
              <a:gd name="connsiteX1" fmla="*/ 366713 w 366712"/>
              <a:gd name="connsiteY1" fmla="*/ 712470 h 712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712" h="712470">
                <a:moveTo>
                  <a:pt x="0" y="0"/>
                </a:moveTo>
                <a:lnTo>
                  <a:pt x="366713" y="712470"/>
                </a:lnTo>
              </a:path>
            </a:pathLst>
          </a:custGeom>
          <a:ln w="20955" cap="flat">
            <a:solidFill>
              <a:srgbClr val="94A3B8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CCD2E1F8-ECA2-4F60-8144-8E791139A90C}"/>
              </a:ext>
            </a:extLst>
          </p:cNvPr>
          <p:cNvSpPr/>
          <p:nvPr/>
        </p:nvSpPr>
        <p:spPr>
          <a:xfrm>
            <a:off x="3149917" y="1742243"/>
            <a:ext cx="366712" cy="1519237"/>
          </a:xfrm>
          <a:custGeom>
            <a:avLst/>
            <a:gdLst>
              <a:gd name="connsiteX0" fmla="*/ 0 w 366712"/>
              <a:gd name="connsiteY0" fmla="*/ 0 h 1519237"/>
              <a:gd name="connsiteX1" fmla="*/ 366713 w 366712"/>
              <a:gd name="connsiteY1" fmla="*/ 1519238 h 1519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6712" h="1519237">
                <a:moveTo>
                  <a:pt x="0" y="0"/>
                </a:moveTo>
                <a:lnTo>
                  <a:pt x="366713" y="1519238"/>
                </a:lnTo>
              </a:path>
            </a:pathLst>
          </a:custGeom>
          <a:ln w="20955" cap="flat">
            <a:solidFill>
              <a:srgbClr val="94A3B8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57818A-7D17-4F17-97BF-520E4B6435F5}"/>
              </a:ext>
            </a:extLst>
          </p:cNvPr>
          <p:cNvSpPr txBox="1"/>
          <p:nvPr/>
        </p:nvSpPr>
        <p:spPr>
          <a:xfrm>
            <a:off x="2685638" y="871604"/>
            <a:ext cx="896399" cy="294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spc="0" baseline="0" dirty="0">
                <a:solidFill>
                  <a:srgbClr val="059669"/>
                </a:solidFill>
                <a:latin typeface="맑은 고딕"/>
                <a:ea typeface="맑은 고딕"/>
                <a:sym typeface="맑은 고딕"/>
                <a:rtl val="0"/>
              </a:rPr>
              <a:t>수렴</a:t>
            </a:r>
            <a:r>
              <a:rPr lang="ko-KR" altLang="en-US" sz="1000" b="1" spc="0" baseline="0" dirty="0">
                <a:solidFill>
                  <a:srgbClr val="059669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059669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성공</a:t>
            </a:r>
            <a:r>
              <a:rPr lang="ko-KR" altLang="en-US" sz="1000" b="1" spc="0" baseline="0" dirty="0">
                <a:solidFill>
                  <a:srgbClr val="059669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059669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08F4C8-E8AB-42BB-BFEE-8E8BDD856A08}"/>
              </a:ext>
            </a:extLst>
          </p:cNvPr>
          <p:cNvSpPr txBox="1"/>
          <p:nvPr/>
        </p:nvSpPr>
        <p:spPr>
          <a:xfrm>
            <a:off x="2685638" y="1950787"/>
            <a:ext cx="896399" cy="294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spc="0" baseline="0" dirty="0">
                <a:solidFill>
                  <a:srgbClr val="4338CA"/>
                </a:solidFill>
                <a:latin typeface="맑은 고딕"/>
                <a:ea typeface="맑은 고딕"/>
                <a:sym typeface="맑은 고딕"/>
                <a:rtl val="0"/>
              </a:rPr>
              <a:t>수렴</a:t>
            </a:r>
            <a:r>
              <a:rPr lang="ko-KR" altLang="en-US" sz="1000" b="1" spc="0" baseline="0" dirty="0">
                <a:solidFill>
                  <a:srgbClr val="4338CA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4338CA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실패</a:t>
            </a:r>
            <a:r>
              <a:rPr lang="ko-KR" altLang="en-US" sz="1000" b="1" spc="0" baseline="0" dirty="0">
                <a:solidFill>
                  <a:srgbClr val="4338CA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4338CA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B0DA23-1655-4AA8-80BD-00D73099C931}"/>
              </a:ext>
            </a:extLst>
          </p:cNvPr>
          <p:cNvSpPr txBox="1"/>
          <p:nvPr/>
        </p:nvSpPr>
        <p:spPr>
          <a:xfrm>
            <a:off x="2416333" y="2914717"/>
            <a:ext cx="1165704" cy="2943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spc="0" baseline="0" dirty="0">
                <a:solidFill>
                  <a:srgbClr val="B91C1C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Plan B</a:t>
            </a:r>
            <a:r>
              <a:rPr lang="ko-KR" altLang="en-US" sz="1000" b="1" spc="0" baseline="0" dirty="0">
                <a:solidFill>
                  <a:srgbClr val="B91C1C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도</a:t>
            </a:r>
            <a:r>
              <a:rPr lang="ko-KR" altLang="en-US" sz="1000" b="1" spc="0" baseline="0" dirty="0">
                <a:solidFill>
                  <a:srgbClr val="B91C1C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B91C1C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실패</a:t>
            </a:r>
            <a:r>
              <a:rPr lang="ko-KR" altLang="en-US" sz="1000" b="1" spc="0" baseline="0" dirty="0">
                <a:solidFill>
                  <a:srgbClr val="B91C1C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00" b="1" spc="0" baseline="0" dirty="0">
                <a:solidFill>
                  <a:srgbClr val="B91C1C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시</a:t>
            </a: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9E41B82B-FB63-477D-99A4-723864140BF3}"/>
              </a:ext>
            </a:extLst>
          </p:cNvPr>
          <p:cNvSpPr/>
          <p:nvPr/>
        </p:nvSpPr>
        <p:spPr>
          <a:xfrm>
            <a:off x="3569017" y="1092638"/>
            <a:ext cx="7124700" cy="838200"/>
          </a:xfrm>
          <a:custGeom>
            <a:avLst/>
            <a:gdLst>
              <a:gd name="connsiteX0" fmla="*/ 7019925 w 7124700"/>
              <a:gd name="connsiteY0" fmla="*/ 0 h 838200"/>
              <a:gd name="connsiteX1" fmla="*/ 7124700 w 7124700"/>
              <a:gd name="connsiteY1" fmla="*/ 0 h 838200"/>
              <a:gd name="connsiteX2" fmla="*/ 7124700 w 7124700"/>
              <a:gd name="connsiteY2" fmla="*/ 838200 h 838200"/>
              <a:gd name="connsiteX3" fmla="*/ 7019925 w 7124700"/>
              <a:gd name="connsiteY3" fmla="*/ 838200 h 838200"/>
              <a:gd name="connsiteX4" fmla="*/ 104775 w 7124700"/>
              <a:gd name="connsiteY4" fmla="*/ 838200 h 838200"/>
              <a:gd name="connsiteX5" fmla="*/ 0 w 7124700"/>
              <a:gd name="connsiteY5" fmla="*/ 838200 h 838200"/>
              <a:gd name="connsiteX6" fmla="*/ 0 w 7124700"/>
              <a:gd name="connsiteY6" fmla="*/ 0 h 838200"/>
              <a:gd name="connsiteX7" fmla="*/ 104775 w 7124700"/>
              <a:gd name="connsiteY7" fmla="*/ 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4700" h="838200">
                <a:moveTo>
                  <a:pt x="7019925" y="0"/>
                </a:moveTo>
                <a:cubicBezTo>
                  <a:pt x="7077791" y="0"/>
                  <a:pt x="7124700" y="0"/>
                  <a:pt x="7124700" y="0"/>
                </a:cubicBezTo>
                <a:lnTo>
                  <a:pt x="7124700" y="838200"/>
                </a:lnTo>
                <a:cubicBezTo>
                  <a:pt x="7124700" y="838200"/>
                  <a:pt x="7077791" y="838200"/>
                  <a:pt x="7019925" y="838200"/>
                </a:cubicBezTo>
                <a:lnTo>
                  <a:pt x="104775" y="838200"/>
                </a:lnTo>
                <a:cubicBezTo>
                  <a:pt x="46909" y="838200"/>
                  <a:pt x="0" y="838200"/>
                  <a:pt x="0" y="838200"/>
                </a:cubicBezTo>
                <a:lnTo>
                  <a:pt x="0" y="0"/>
                </a:lnTo>
                <a:cubicBezTo>
                  <a:pt x="0" y="0"/>
                  <a:pt x="46909" y="0"/>
                  <a:pt x="104775" y="0"/>
                </a:cubicBezTo>
                <a:close/>
              </a:path>
            </a:pathLst>
          </a:custGeom>
          <a:solidFill>
            <a:srgbClr val="10B981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CB3079-0D2F-47A2-BDFC-0CBC112B0B44}"/>
              </a:ext>
            </a:extLst>
          </p:cNvPr>
          <p:cNvSpPr txBox="1"/>
          <p:nvPr/>
        </p:nvSpPr>
        <p:spPr>
          <a:xfrm>
            <a:off x="3675140" y="1109783"/>
            <a:ext cx="3004348" cy="3045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Plan A: OT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수렴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성공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→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바로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Production Run</a:t>
            </a: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192BC8C9-376D-4E6D-BB94-6444C1B6CDF0}"/>
              </a:ext>
            </a:extLst>
          </p:cNvPr>
          <p:cNvSpPr/>
          <p:nvPr/>
        </p:nvSpPr>
        <p:spPr>
          <a:xfrm>
            <a:off x="3726180" y="1375530"/>
            <a:ext cx="1466850" cy="440055"/>
          </a:xfrm>
          <a:custGeom>
            <a:avLst/>
            <a:gdLst>
              <a:gd name="connsiteX0" fmla="*/ 1403985 w 1466850"/>
              <a:gd name="connsiteY0" fmla="*/ 0 h 440055"/>
              <a:gd name="connsiteX1" fmla="*/ 1466850 w 1466850"/>
              <a:gd name="connsiteY1" fmla="*/ 0 h 440055"/>
              <a:gd name="connsiteX2" fmla="*/ 1466850 w 1466850"/>
              <a:gd name="connsiteY2" fmla="*/ 440055 h 440055"/>
              <a:gd name="connsiteX3" fmla="*/ 1403985 w 1466850"/>
              <a:gd name="connsiteY3" fmla="*/ 440055 h 440055"/>
              <a:gd name="connsiteX4" fmla="*/ 62865 w 1466850"/>
              <a:gd name="connsiteY4" fmla="*/ 440055 h 440055"/>
              <a:gd name="connsiteX5" fmla="*/ 0 w 1466850"/>
              <a:gd name="connsiteY5" fmla="*/ 440055 h 440055"/>
              <a:gd name="connsiteX6" fmla="*/ 0 w 1466850"/>
              <a:gd name="connsiteY6" fmla="*/ 0 h 440055"/>
              <a:gd name="connsiteX7" fmla="*/ 62865 w 1466850"/>
              <a:gd name="connsiteY7" fmla="*/ 0 h 44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6850" h="440055">
                <a:moveTo>
                  <a:pt x="1403985" y="0"/>
                </a:moveTo>
                <a:cubicBezTo>
                  <a:pt x="1438705" y="0"/>
                  <a:pt x="1466850" y="0"/>
                  <a:pt x="1466850" y="0"/>
                </a:cubicBezTo>
                <a:lnTo>
                  <a:pt x="1466850" y="440055"/>
                </a:lnTo>
                <a:cubicBezTo>
                  <a:pt x="1466850" y="440055"/>
                  <a:pt x="1438705" y="440055"/>
                  <a:pt x="1403985" y="440055"/>
                </a:cubicBezTo>
                <a:lnTo>
                  <a:pt x="62865" y="440055"/>
                </a:lnTo>
                <a:cubicBezTo>
                  <a:pt x="28145" y="440055"/>
                  <a:pt x="0" y="440055"/>
                  <a:pt x="0" y="440055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059669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CFBBF4-C3B6-4433-9898-764234D6F7CA}"/>
              </a:ext>
            </a:extLst>
          </p:cNvPr>
          <p:cNvSpPr txBox="1"/>
          <p:nvPr/>
        </p:nvSpPr>
        <p:spPr>
          <a:xfrm>
            <a:off x="4061898" y="1403153"/>
            <a:ext cx="795410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OT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로</a:t>
            </a: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.wfn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확보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46286F-8D69-4B35-8E28-5A7FEBF630A8}"/>
              </a:ext>
            </a:extLst>
          </p:cNvPr>
          <p:cNvSpPr txBox="1"/>
          <p:nvPr/>
        </p:nvSpPr>
        <p:spPr>
          <a:xfrm>
            <a:off x="3876753" y="1570793"/>
            <a:ext cx="1165704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+mn-ea"/>
                <a:cs typeface="Arial"/>
                <a:sym typeface="Arial"/>
                <a:rtl val="0"/>
              </a:rPr>
              <a:t>SCF_GUESS RESTART</a:t>
            </a: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560B296E-4A71-4D8E-BCBB-0F9140945CEA}"/>
              </a:ext>
            </a:extLst>
          </p:cNvPr>
          <p:cNvSpPr/>
          <p:nvPr/>
        </p:nvSpPr>
        <p:spPr>
          <a:xfrm>
            <a:off x="5245417" y="1595558"/>
            <a:ext cx="209550" cy="10477"/>
          </a:xfrm>
          <a:custGeom>
            <a:avLst/>
            <a:gdLst>
              <a:gd name="connsiteX0" fmla="*/ 0 w 209550"/>
              <a:gd name="connsiteY0" fmla="*/ 0 h 10477"/>
              <a:gd name="connsiteX1" fmla="*/ 209550 w 209550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550" h="10477">
                <a:moveTo>
                  <a:pt x="0" y="0"/>
                </a:moveTo>
                <a:lnTo>
                  <a:pt x="209550" y="0"/>
                </a:lnTo>
              </a:path>
            </a:pathLst>
          </a:custGeom>
          <a:ln w="20955" cap="flat">
            <a:solidFill>
              <a:srgbClr val="A7F3D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42CFB2CE-44C4-42C2-B482-D5908E6E662B}"/>
              </a:ext>
            </a:extLst>
          </p:cNvPr>
          <p:cNvSpPr/>
          <p:nvPr/>
        </p:nvSpPr>
        <p:spPr>
          <a:xfrm>
            <a:off x="5507355" y="1375530"/>
            <a:ext cx="1624012" cy="440055"/>
          </a:xfrm>
          <a:custGeom>
            <a:avLst/>
            <a:gdLst>
              <a:gd name="connsiteX0" fmla="*/ 1561148 w 1624012"/>
              <a:gd name="connsiteY0" fmla="*/ 0 h 440055"/>
              <a:gd name="connsiteX1" fmla="*/ 1624013 w 1624012"/>
              <a:gd name="connsiteY1" fmla="*/ 0 h 440055"/>
              <a:gd name="connsiteX2" fmla="*/ 1624013 w 1624012"/>
              <a:gd name="connsiteY2" fmla="*/ 440055 h 440055"/>
              <a:gd name="connsiteX3" fmla="*/ 1561148 w 1624012"/>
              <a:gd name="connsiteY3" fmla="*/ 440055 h 440055"/>
              <a:gd name="connsiteX4" fmla="*/ 62865 w 1624012"/>
              <a:gd name="connsiteY4" fmla="*/ 440055 h 440055"/>
              <a:gd name="connsiteX5" fmla="*/ 0 w 1624012"/>
              <a:gd name="connsiteY5" fmla="*/ 440055 h 440055"/>
              <a:gd name="connsiteX6" fmla="*/ 0 w 1624012"/>
              <a:gd name="connsiteY6" fmla="*/ 0 h 440055"/>
              <a:gd name="connsiteX7" fmla="*/ 62865 w 1624012"/>
              <a:gd name="connsiteY7" fmla="*/ 0 h 44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24012" h="440055">
                <a:moveTo>
                  <a:pt x="1561148" y="0"/>
                </a:moveTo>
                <a:cubicBezTo>
                  <a:pt x="1595867" y="0"/>
                  <a:pt x="1624013" y="0"/>
                  <a:pt x="1624013" y="0"/>
                </a:cubicBezTo>
                <a:lnTo>
                  <a:pt x="1624013" y="440055"/>
                </a:lnTo>
                <a:cubicBezTo>
                  <a:pt x="1624013" y="440055"/>
                  <a:pt x="1595867" y="440055"/>
                  <a:pt x="1561148" y="440055"/>
                </a:cubicBezTo>
                <a:lnTo>
                  <a:pt x="62865" y="440055"/>
                </a:lnTo>
                <a:cubicBezTo>
                  <a:pt x="28145" y="440055"/>
                  <a:pt x="0" y="440055"/>
                  <a:pt x="0" y="440055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059669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B440ED-B711-4906-A37D-FB780FD8185C}"/>
              </a:ext>
            </a:extLst>
          </p:cNvPr>
          <p:cNvSpPr txBox="1"/>
          <p:nvPr/>
        </p:nvSpPr>
        <p:spPr>
          <a:xfrm>
            <a:off x="5755316" y="1424108"/>
            <a:ext cx="1117614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Broyden(α=0.15, 300K)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7916B2-93C4-476F-B9F9-8975743D964B}"/>
              </a:ext>
            </a:extLst>
          </p:cNvPr>
          <p:cNvSpPr txBox="1"/>
          <p:nvPr/>
        </p:nvSpPr>
        <p:spPr>
          <a:xfrm>
            <a:off x="5812222" y="1549838"/>
            <a:ext cx="1003800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+mn-ea"/>
                <a:cs typeface="Arial"/>
                <a:sym typeface="Arial"/>
                <a:rtl val="0"/>
              </a:rPr>
              <a:t>wfn </a:t>
            </a:r>
            <a:r>
              <a:rPr lang="ko-KR" altLang="en-US" sz="700" spc="0" baseline="0" dirty="0">
                <a:solidFill>
                  <a:srgbClr val="D1FAE5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재활용으로</a:t>
            </a: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D1FAE5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안정</a:t>
            </a: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29C322D-AD47-4E34-9275-9E0A1ACF6A72}"/>
              </a:ext>
            </a:extLst>
          </p:cNvPr>
          <p:cNvSpPr/>
          <p:nvPr/>
        </p:nvSpPr>
        <p:spPr>
          <a:xfrm>
            <a:off x="7183755" y="1595558"/>
            <a:ext cx="209550" cy="10477"/>
          </a:xfrm>
          <a:custGeom>
            <a:avLst/>
            <a:gdLst>
              <a:gd name="connsiteX0" fmla="*/ 0 w 209550"/>
              <a:gd name="connsiteY0" fmla="*/ 0 h 10477"/>
              <a:gd name="connsiteX1" fmla="*/ 209550 w 209550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550" h="10477">
                <a:moveTo>
                  <a:pt x="0" y="0"/>
                </a:moveTo>
                <a:lnTo>
                  <a:pt x="209550" y="0"/>
                </a:lnTo>
              </a:path>
            </a:pathLst>
          </a:custGeom>
          <a:ln w="20955" cap="flat">
            <a:solidFill>
              <a:srgbClr val="A7F3D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F79DD43C-0974-482A-ABCD-DAD9B03B9D74}"/>
              </a:ext>
            </a:extLst>
          </p:cNvPr>
          <p:cNvSpPr/>
          <p:nvPr/>
        </p:nvSpPr>
        <p:spPr>
          <a:xfrm>
            <a:off x="7445692" y="1375530"/>
            <a:ext cx="1466850" cy="440055"/>
          </a:xfrm>
          <a:custGeom>
            <a:avLst/>
            <a:gdLst>
              <a:gd name="connsiteX0" fmla="*/ 1403985 w 1466850"/>
              <a:gd name="connsiteY0" fmla="*/ 0 h 440055"/>
              <a:gd name="connsiteX1" fmla="*/ 1466850 w 1466850"/>
              <a:gd name="connsiteY1" fmla="*/ 0 h 440055"/>
              <a:gd name="connsiteX2" fmla="*/ 1466850 w 1466850"/>
              <a:gd name="connsiteY2" fmla="*/ 440055 h 440055"/>
              <a:gd name="connsiteX3" fmla="*/ 1403985 w 1466850"/>
              <a:gd name="connsiteY3" fmla="*/ 440055 h 440055"/>
              <a:gd name="connsiteX4" fmla="*/ 62865 w 1466850"/>
              <a:gd name="connsiteY4" fmla="*/ 440055 h 440055"/>
              <a:gd name="connsiteX5" fmla="*/ 0 w 1466850"/>
              <a:gd name="connsiteY5" fmla="*/ 440055 h 440055"/>
              <a:gd name="connsiteX6" fmla="*/ 0 w 1466850"/>
              <a:gd name="connsiteY6" fmla="*/ 0 h 440055"/>
              <a:gd name="connsiteX7" fmla="*/ 62865 w 1466850"/>
              <a:gd name="connsiteY7" fmla="*/ 0 h 44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6850" h="440055">
                <a:moveTo>
                  <a:pt x="1403985" y="0"/>
                </a:moveTo>
                <a:cubicBezTo>
                  <a:pt x="1438705" y="0"/>
                  <a:pt x="1466850" y="0"/>
                  <a:pt x="1466850" y="0"/>
                </a:cubicBezTo>
                <a:lnTo>
                  <a:pt x="1466850" y="440055"/>
                </a:lnTo>
                <a:cubicBezTo>
                  <a:pt x="1466850" y="440055"/>
                  <a:pt x="1438705" y="440055"/>
                  <a:pt x="1403985" y="440055"/>
                </a:cubicBezTo>
                <a:lnTo>
                  <a:pt x="62865" y="440055"/>
                </a:lnTo>
                <a:cubicBezTo>
                  <a:pt x="28145" y="440055"/>
                  <a:pt x="0" y="440055"/>
                  <a:pt x="0" y="440055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059669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CE61BC-42F0-46CB-8044-22C4C01DB4CF}"/>
              </a:ext>
            </a:extLst>
          </p:cNvPr>
          <p:cNvSpPr txBox="1"/>
          <p:nvPr/>
        </p:nvSpPr>
        <p:spPr>
          <a:xfrm>
            <a:off x="7545770" y="1424108"/>
            <a:ext cx="1266693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GEO_OPT MAX_ITER 600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1C6A34-3499-474A-B493-8661BB88B4D3}"/>
              </a:ext>
            </a:extLst>
          </p:cNvPr>
          <p:cNvSpPr txBox="1"/>
          <p:nvPr/>
        </p:nvSpPr>
        <p:spPr>
          <a:xfrm>
            <a:off x="7703666" y="1570793"/>
            <a:ext cx="950901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+mn-ea"/>
                <a:cs typeface="Arial"/>
                <a:sym typeface="Arial"/>
                <a:rtl val="0"/>
              </a:rPr>
              <a:t>cluster + dissociate</a:t>
            </a: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425276BE-6468-4AB7-BB47-8A1AF30023D5}"/>
              </a:ext>
            </a:extLst>
          </p:cNvPr>
          <p:cNvSpPr/>
          <p:nvPr/>
        </p:nvSpPr>
        <p:spPr>
          <a:xfrm>
            <a:off x="8964930" y="1595558"/>
            <a:ext cx="209550" cy="10477"/>
          </a:xfrm>
          <a:custGeom>
            <a:avLst/>
            <a:gdLst>
              <a:gd name="connsiteX0" fmla="*/ 0 w 209550"/>
              <a:gd name="connsiteY0" fmla="*/ 0 h 10477"/>
              <a:gd name="connsiteX1" fmla="*/ 209550 w 209550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550" h="10477">
                <a:moveTo>
                  <a:pt x="0" y="0"/>
                </a:moveTo>
                <a:lnTo>
                  <a:pt x="209550" y="0"/>
                </a:lnTo>
              </a:path>
            </a:pathLst>
          </a:custGeom>
          <a:ln w="20955" cap="flat">
            <a:solidFill>
              <a:srgbClr val="A7F3D0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5BA2A168-480B-49D8-829F-D90C28AECAEE}"/>
              </a:ext>
            </a:extLst>
          </p:cNvPr>
          <p:cNvSpPr/>
          <p:nvPr/>
        </p:nvSpPr>
        <p:spPr>
          <a:xfrm>
            <a:off x="9226867" y="1375530"/>
            <a:ext cx="1362075" cy="440055"/>
          </a:xfrm>
          <a:custGeom>
            <a:avLst/>
            <a:gdLst>
              <a:gd name="connsiteX0" fmla="*/ 1299210 w 1362075"/>
              <a:gd name="connsiteY0" fmla="*/ 0 h 440055"/>
              <a:gd name="connsiteX1" fmla="*/ 1362075 w 1362075"/>
              <a:gd name="connsiteY1" fmla="*/ 0 h 440055"/>
              <a:gd name="connsiteX2" fmla="*/ 1362075 w 1362075"/>
              <a:gd name="connsiteY2" fmla="*/ 440055 h 440055"/>
              <a:gd name="connsiteX3" fmla="*/ 1299210 w 1362075"/>
              <a:gd name="connsiteY3" fmla="*/ 440055 h 440055"/>
              <a:gd name="connsiteX4" fmla="*/ 62865 w 1362075"/>
              <a:gd name="connsiteY4" fmla="*/ 440055 h 440055"/>
              <a:gd name="connsiteX5" fmla="*/ 0 w 1362075"/>
              <a:gd name="connsiteY5" fmla="*/ 440055 h 440055"/>
              <a:gd name="connsiteX6" fmla="*/ 0 w 1362075"/>
              <a:gd name="connsiteY6" fmla="*/ 0 h 440055"/>
              <a:gd name="connsiteX7" fmla="*/ 62865 w 1362075"/>
              <a:gd name="connsiteY7" fmla="*/ 0 h 44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2075" h="440055">
                <a:moveTo>
                  <a:pt x="1299210" y="0"/>
                </a:moveTo>
                <a:cubicBezTo>
                  <a:pt x="1333930" y="0"/>
                  <a:pt x="1362075" y="0"/>
                  <a:pt x="1362075" y="0"/>
                </a:cubicBezTo>
                <a:lnTo>
                  <a:pt x="1362075" y="440055"/>
                </a:lnTo>
                <a:cubicBezTo>
                  <a:pt x="1362075" y="440055"/>
                  <a:pt x="1333930" y="440055"/>
                  <a:pt x="1299210" y="440055"/>
                </a:cubicBezTo>
                <a:lnTo>
                  <a:pt x="62865" y="440055"/>
                </a:lnTo>
                <a:cubicBezTo>
                  <a:pt x="28145" y="440055"/>
                  <a:pt x="0" y="440055"/>
                  <a:pt x="0" y="440055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047857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147555-2C6E-4769-BA5D-731183A76C75}"/>
              </a:ext>
            </a:extLst>
          </p:cNvPr>
          <p:cNvSpPr txBox="1"/>
          <p:nvPr/>
        </p:nvSpPr>
        <p:spPr>
          <a:xfrm>
            <a:off x="9579129" y="1403153"/>
            <a:ext cx="657552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E_diss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계산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ABE43E-BB10-4332-901D-A1CEE40DF5E2}"/>
              </a:ext>
            </a:extLst>
          </p:cNvPr>
          <p:cNvSpPr txBox="1"/>
          <p:nvPr/>
        </p:nvSpPr>
        <p:spPr>
          <a:xfrm>
            <a:off x="9478139" y="1549838"/>
            <a:ext cx="859531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+mn-ea"/>
                <a:cs typeface="Arial"/>
                <a:sym typeface="Arial"/>
                <a:rtl val="0"/>
              </a:rPr>
              <a:t>try03</a:t>
            </a:r>
            <a:r>
              <a:rPr lang="ko-KR" altLang="en-US" sz="700" spc="0" baseline="0" dirty="0">
                <a:solidFill>
                  <a:srgbClr val="D1FAE5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과</a:t>
            </a:r>
            <a:r>
              <a:rPr lang="ko-KR" altLang="en-US" sz="700" spc="0" baseline="0" dirty="0">
                <a:solidFill>
                  <a:srgbClr val="D1FAE5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D1FAE5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교차검증</a:t>
            </a:r>
          </a:p>
        </p:txBody>
      </p: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BEB166DC-5E56-4EA5-8561-973E101181E6}"/>
              </a:ext>
            </a:extLst>
          </p:cNvPr>
          <p:cNvSpPr/>
          <p:nvPr/>
        </p:nvSpPr>
        <p:spPr>
          <a:xfrm>
            <a:off x="3569017" y="2035613"/>
            <a:ext cx="7124700" cy="890587"/>
          </a:xfrm>
          <a:custGeom>
            <a:avLst/>
            <a:gdLst>
              <a:gd name="connsiteX0" fmla="*/ 7019925 w 7124700"/>
              <a:gd name="connsiteY0" fmla="*/ 0 h 890587"/>
              <a:gd name="connsiteX1" fmla="*/ 7124700 w 7124700"/>
              <a:gd name="connsiteY1" fmla="*/ 0 h 890587"/>
              <a:gd name="connsiteX2" fmla="*/ 7124700 w 7124700"/>
              <a:gd name="connsiteY2" fmla="*/ 890588 h 890587"/>
              <a:gd name="connsiteX3" fmla="*/ 7019925 w 7124700"/>
              <a:gd name="connsiteY3" fmla="*/ 890588 h 890587"/>
              <a:gd name="connsiteX4" fmla="*/ 104775 w 7124700"/>
              <a:gd name="connsiteY4" fmla="*/ 890588 h 890587"/>
              <a:gd name="connsiteX5" fmla="*/ 0 w 7124700"/>
              <a:gd name="connsiteY5" fmla="*/ 890588 h 890587"/>
              <a:gd name="connsiteX6" fmla="*/ 0 w 7124700"/>
              <a:gd name="connsiteY6" fmla="*/ 0 h 890587"/>
              <a:gd name="connsiteX7" fmla="*/ 104775 w 7124700"/>
              <a:gd name="connsiteY7" fmla="*/ 0 h 89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4700" h="890587">
                <a:moveTo>
                  <a:pt x="7019925" y="0"/>
                </a:moveTo>
                <a:cubicBezTo>
                  <a:pt x="7077791" y="0"/>
                  <a:pt x="7124700" y="0"/>
                  <a:pt x="7124700" y="0"/>
                </a:cubicBezTo>
                <a:lnTo>
                  <a:pt x="7124700" y="890588"/>
                </a:lnTo>
                <a:cubicBezTo>
                  <a:pt x="7124700" y="890588"/>
                  <a:pt x="7077791" y="890588"/>
                  <a:pt x="7019925" y="890588"/>
                </a:cubicBezTo>
                <a:lnTo>
                  <a:pt x="104775" y="890588"/>
                </a:lnTo>
                <a:cubicBezTo>
                  <a:pt x="46909" y="890588"/>
                  <a:pt x="0" y="890588"/>
                  <a:pt x="0" y="890588"/>
                </a:cubicBezTo>
                <a:lnTo>
                  <a:pt x="0" y="0"/>
                </a:lnTo>
                <a:cubicBezTo>
                  <a:pt x="0" y="0"/>
                  <a:pt x="46909" y="0"/>
                  <a:pt x="104775" y="0"/>
                </a:cubicBezTo>
                <a:close/>
              </a:path>
            </a:pathLst>
          </a:custGeom>
          <a:solidFill>
            <a:srgbClr val="6366F1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E157D8-3CA2-42D0-85C6-B41BF7848648}"/>
              </a:ext>
            </a:extLst>
          </p:cNvPr>
          <p:cNvSpPr txBox="1"/>
          <p:nvPr/>
        </p:nvSpPr>
        <p:spPr>
          <a:xfrm>
            <a:off x="3669318" y="2052758"/>
            <a:ext cx="3518912" cy="3045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Plan B: try03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방식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—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단계별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Wavefunction Bootstrap</a:t>
            </a:r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167F7365-8AFD-485B-881E-8126E5631AB7}"/>
              </a:ext>
            </a:extLst>
          </p:cNvPr>
          <p:cNvSpPr/>
          <p:nvPr/>
        </p:nvSpPr>
        <p:spPr>
          <a:xfrm>
            <a:off x="3726180" y="2318505"/>
            <a:ext cx="1257300" cy="502920"/>
          </a:xfrm>
          <a:custGeom>
            <a:avLst/>
            <a:gdLst>
              <a:gd name="connsiteX0" fmla="*/ 1194435 w 1257300"/>
              <a:gd name="connsiteY0" fmla="*/ 0 h 502920"/>
              <a:gd name="connsiteX1" fmla="*/ 1257300 w 1257300"/>
              <a:gd name="connsiteY1" fmla="*/ 0 h 502920"/>
              <a:gd name="connsiteX2" fmla="*/ 1257300 w 1257300"/>
              <a:gd name="connsiteY2" fmla="*/ 502920 h 502920"/>
              <a:gd name="connsiteX3" fmla="*/ 1194435 w 1257300"/>
              <a:gd name="connsiteY3" fmla="*/ 502920 h 502920"/>
              <a:gd name="connsiteX4" fmla="*/ 62865 w 1257300"/>
              <a:gd name="connsiteY4" fmla="*/ 502920 h 502920"/>
              <a:gd name="connsiteX5" fmla="*/ 0 w 1257300"/>
              <a:gd name="connsiteY5" fmla="*/ 502920 h 502920"/>
              <a:gd name="connsiteX6" fmla="*/ 0 w 1257300"/>
              <a:gd name="connsiteY6" fmla="*/ 0 h 502920"/>
              <a:gd name="connsiteX7" fmla="*/ 62865 w 1257300"/>
              <a:gd name="connsiteY7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7300" h="502920">
                <a:moveTo>
                  <a:pt x="1194435" y="0"/>
                </a:moveTo>
                <a:cubicBezTo>
                  <a:pt x="1229155" y="0"/>
                  <a:pt x="1257300" y="0"/>
                  <a:pt x="1257300" y="0"/>
                </a:cubicBezTo>
                <a:lnTo>
                  <a:pt x="1257300" y="502920"/>
                </a:lnTo>
                <a:cubicBezTo>
                  <a:pt x="1257300" y="502920"/>
                  <a:pt x="1229155" y="502920"/>
                  <a:pt x="1194435" y="502920"/>
                </a:cubicBezTo>
                <a:lnTo>
                  <a:pt x="62865" y="502920"/>
                </a:lnTo>
                <a:cubicBezTo>
                  <a:pt x="28145" y="502920"/>
                  <a:pt x="0" y="502920"/>
                  <a:pt x="0" y="50292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4F46E5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BCDCE1-9B7B-4956-A585-343724234571}"/>
              </a:ext>
            </a:extLst>
          </p:cNvPr>
          <p:cNvSpPr txBox="1"/>
          <p:nvPr/>
        </p:nvSpPr>
        <p:spPr>
          <a:xfrm>
            <a:off x="3972353" y="2367083"/>
            <a:ext cx="764953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B-1: MOF only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B923BB-2414-4A4E-821A-3B4DF3148679}"/>
              </a:ext>
            </a:extLst>
          </p:cNvPr>
          <p:cNvSpPr txBox="1"/>
          <p:nvPr/>
        </p:nvSpPr>
        <p:spPr>
          <a:xfrm>
            <a:off x="3860944" y="2503290"/>
            <a:ext cx="987770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ENERGY / ATOMIC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83C5BC-9EDA-41F7-9DCA-3F981C84E466}"/>
              </a:ext>
            </a:extLst>
          </p:cNvPr>
          <p:cNvSpPr txBox="1"/>
          <p:nvPr/>
        </p:nvSpPr>
        <p:spPr>
          <a:xfrm>
            <a:off x="4104601" y="2597588"/>
            <a:ext cx="500457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→ .wfn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₁</a:t>
            </a: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D7C7BC21-2389-4EFA-BEAD-FD056A479C98}"/>
              </a:ext>
            </a:extLst>
          </p:cNvPr>
          <p:cNvSpPr/>
          <p:nvPr/>
        </p:nvSpPr>
        <p:spPr>
          <a:xfrm>
            <a:off x="5035867" y="2569965"/>
            <a:ext cx="157162" cy="10477"/>
          </a:xfrm>
          <a:custGeom>
            <a:avLst/>
            <a:gdLst>
              <a:gd name="connsiteX0" fmla="*/ 0 w 157162"/>
              <a:gd name="connsiteY0" fmla="*/ 0 h 10477"/>
              <a:gd name="connsiteX1" fmla="*/ 157163 w 157162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162" h="10477">
                <a:moveTo>
                  <a:pt x="0" y="0"/>
                </a:moveTo>
                <a:lnTo>
                  <a:pt x="157163" y="0"/>
                </a:lnTo>
              </a:path>
            </a:pathLst>
          </a:custGeom>
          <a:ln w="20955" cap="flat">
            <a:solidFill>
              <a:srgbClr val="A5B4FC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자유형: 도형 61">
            <a:extLst>
              <a:ext uri="{FF2B5EF4-FFF2-40B4-BE49-F238E27FC236}">
                <a16:creationId xmlns:a16="http://schemas.microsoft.com/office/drawing/2014/main" id="{810473E1-E2F0-40B0-B792-49A93EF1429C}"/>
              </a:ext>
            </a:extLst>
          </p:cNvPr>
          <p:cNvSpPr/>
          <p:nvPr/>
        </p:nvSpPr>
        <p:spPr>
          <a:xfrm>
            <a:off x="5245417" y="2318505"/>
            <a:ext cx="1362075" cy="502920"/>
          </a:xfrm>
          <a:custGeom>
            <a:avLst/>
            <a:gdLst>
              <a:gd name="connsiteX0" fmla="*/ 1299210 w 1362075"/>
              <a:gd name="connsiteY0" fmla="*/ 0 h 502920"/>
              <a:gd name="connsiteX1" fmla="*/ 1362075 w 1362075"/>
              <a:gd name="connsiteY1" fmla="*/ 0 h 502920"/>
              <a:gd name="connsiteX2" fmla="*/ 1362075 w 1362075"/>
              <a:gd name="connsiteY2" fmla="*/ 502920 h 502920"/>
              <a:gd name="connsiteX3" fmla="*/ 1299210 w 1362075"/>
              <a:gd name="connsiteY3" fmla="*/ 502920 h 502920"/>
              <a:gd name="connsiteX4" fmla="*/ 62865 w 1362075"/>
              <a:gd name="connsiteY4" fmla="*/ 502920 h 502920"/>
              <a:gd name="connsiteX5" fmla="*/ 0 w 1362075"/>
              <a:gd name="connsiteY5" fmla="*/ 502920 h 502920"/>
              <a:gd name="connsiteX6" fmla="*/ 0 w 1362075"/>
              <a:gd name="connsiteY6" fmla="*/ 0 h 502920"/>
              <a:gd name="connsiteX7" fmla="*/ 62865 w 1362075"/>
              <a:gd name="connsiteY7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2075" h="502920">
                <a:moveTo>
                  <a:pt x="1299210" y="0"/>
                </a:moveTo>
                <a:cubicBezTo>
                  <a:pt x="1333930" y="0"/>
                  <a:pt x="1362075" y="0"/>
                  <a:pt x="1362075" y="0"/>
                </a:cubicBezTo>
                <a:lnTo>
                  <a:pt x="1362075" y="502920"/>
                </a:lnTo>
                <a:cubicBezTo>
                  <a:pt x="1362075" y="502920"/>
                  <a:pt x="1333930" y="502920"/>
                  <a:pt x="1299210" y="502920"/>
                </a:cubicBezTo>
                <a:lnTo>
                  <a:pt x="62865" y="502920"/>
                </a:lnTo>
                <a:cubicBezTo>
                  <a:pt x="28145" y="502920"/>
                  <a:pt x="0" y="502920"/>
                  <a:pt x="0" y="50292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4F46E5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63A66B-0F30-40A7-BB65-062B49582E49}"/>
              </a:ext>
            </a:extLst>
          </p:cNvPr>
          <p:cNvSpPr txBox="1"/>
          <p:nvPr/>
        </p:nvSpPr>
        <p:spPr>
          <a:xfrm>
            <a:off x="5451004" y="2367083"/>
            <a:ext cx="950901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B-2: +1 IP (158 at.)</a:t>
            </a:r>
          </a:p>
        </p:txBody>
      </p:sp>
      <p:sp>
        <p:nvSpPr>
          <p:cNvPr id="2176" name="TextBox 2175">
            <a:extLst>
              <a:ext uri="{FF2B5EF4-FFF2-40B4-BE49-F238E27FC236}">
                <a16:creationId xmlns:a16="http://schemas.microsoft.com/office/drawing/2014/main" id="{8A179C43-CFFD-4935-9ECA-6F9F3EC4B7AE}"/>
              </a:ext>
            </a:extLst>
          </p:cNvPr>
          <p:cNvSpPr txBox="1"/>
          <p:nvPr/>
        </p:nvSpPr>
        <p:spPr>
          <a:xfrm>
            <a:off x="5498294" y="2503290"/>
            <a:ext cx="856324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α=0.13 / T=500K</a:t>
            </a:r>
          </a:p>
        </p:txBody>
      </p:sp>
      <p:sp>
        <p:nvSpPr>
          <p:cNvPr id="2177" name="TextBox 2176">
            <a:extLst>
              <a:ext uri="{FF2B5EF4-FFF2-40B4-BE49-F238E27FC236}">
                <a16:creationId xmlns:a16="http://schemas.microsoft.com/office/drawing/2014/main" id="{CBF9B980-6382-49FA-BC10-11F905D43AF7}"/>
              </a:ext>
            </a:extLst>
          </p:cNvPr>
          <p:cNvSpPr txBox="1"/>
          <p:nvPr/>
        </p:nvSpPr>
        <p:spPr>
          <a:xfrm>
            <a:off x="5676226" y="2597588"/>
            <a:ext cx="500457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→ .wfn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₂</a:t>
            </a:r>
          </a:p>
        </p:txBody>
      </p:sp>
      <p:sp>
        <p:nvSpPr>
          <p:cNvPr id="2178" name="자유형: 도형 2177">
            <a:extLst>
              <a:ext uri="{FF2B5EF4-FFF2-40B4-BE49-F238E27FC236}">
                <a16:creationId xmlns:a16="http://schemas.microsoft.com/office/drawing/2014/main" id="{1645B212-ACA1-4A24-8492-CFE5FEA95AAF}"/>
              </a:ext>
            </a:extLst>
          </p:cNvPr>
          <p:cNvSpPr/>
          <p:nvPr/>
        </p:nvSpPr>
        <p:spPr>
          <a:xfrm>
            <a:off x="6659880" y="2569965"/>
            <a:ext cx="157162" cy="10477"/>
          </a:xfrm>
          <a:custGeom>
            <a:avLst/>
            <a:gdLst>
              <a:gd name="connsiteX0" fmla="*/ 0 w 157162"/>
              <a:gd name="connsiteY0" fmla="*/ 0 h 10477"/>
              <a:gd name="connsiteX1" fmla="*/ 157163 w 157162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162" h="10477">
                <a:moveTo>
                  <a:pt x="0" y="0"/>
                </a:moveTo>
                <a:lnTo>
                  <a:pt x="157163" y="0"/>
                </a:lnTo>
              </a:path>
            </a:pathLst>
          </a:custGeom>
          <a:ln w="20955" cap="flat">
            <a:solidFill>
              <a:srgbClr val="A5B4FC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9" name="자유형: 도형 2178">
            <a:extLst>
              <a:ext uri="{FF2B5EF4-FFF2-40B4-BE49-F238E27FC236}">
                <a16:creationId xmlns:a16="http://schemas.microsoft.com/office/drawing/2014/main" id="{6B0EFA3F-3B5E-4B25-8A99-17F7F3BF8B07}"/>
              </a:ext>
            </a:extLst>
          </p:cNvPr>
          <p:cNvSpPr/>
          <p:nvPr/>
        </p:nvSpPr>
        <p:spPr>
          <a:xfrm>
            <a:off x="6869430" y="2318505"/>
            <a:ext cx="1362075" cy="502920"/>
          </a:xfrm>
          <a:custGeom>
            <a:avLst/>
            <a:gdLst>
              <a:gd name="connsiteX0" fmla="*/ 1299210 w 1362075"/>
              <a:gd name="connsiteY0" fmla="*/ 0 h 502920"/>
              <a:gd name="connsiteX1" fmla="*/ 1362075 w 1362075"/>
              <a:gd name="connsiteY1" fmla="*/ 0 h 502920"/>
              <a:gd name="connsiteX2" fmla="*/ 1362075 w 1362075"/>
              <a:gd name="connsiteY2" fmla="*/ 502920 h 502920"/>
              <a:gd name="connsiteX3" fmla="*/ 1299210 w 1362075"/>
              <a:gd name="connsiteY3" fmla="*/ 502920 h 502920"/>
              <a:gd name="connsiteX4" fmla="*/ 62865 w 1362075"/>
              <a:gd name="connsiteY4" fmla="*/ 502920 h 502920"/>
              <a:gd name="connsiteX5" fmla="*/ 0 w 1362075"/>
              <a:gd name="connsiteY5" fmla="*/ 502920 h 502920"/>
              <a:gd name="connsiteX6" fmla="*/ 0 w 1362075"/>
              <a:gd name="connsiteY6" fmla="*/ 0 h 502920"/>
              <a:gd name="connsiteX7" fmla="*/ 62865 w 1362075"/>
              <a:gd name="connsiteY7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62075" h="502920">
                <a:moveTo>
                  <a:pt x="1299210" y="0"/>
                </a:moveTo>
                <a:cubicBezTo>
                  <a:pt x="1333930" y="0"/>
                  <a:pt x="1362075" y="0"/>
                  <a:pt x="1362075" y="0"/>
                </a:cubicBezTo>
                <a:lnTo>
                  <a:pt x="1362075" y="502920"/>
                </a:lnTo>
                <a:cubicBezTo>
                  <a:pt x="1362075" y="502920"/>
                  <a:pt x="1333930" y="502920"/>
                  <a:pt x="1299210" y="502920"/>
                </a:cubicBezTo>
                <a:lnTo>
                  <a:pt x="62865" y="502920"/>
                </a:lnTo>
                <a:cubicBezTo>
                  <a:pt x="28145" y="502920"/>
                  <a:pt x="0" y="502920"/>
                  <a:pt x="0" y="50292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4F46E5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0" name="TextBox 2179">
            <a:extLst>
              <a:ext uri="{FF2B5EF4-FFF2-40B4-BE49-F238E27FC236}">
                <a16:creationId xmlns:a16="http://schemas.microsoft.com/office/drawing/2014/main" id="{269B2F47-D1EE-420E-8807-4765D3D80A8B}"/>
              </a:ext>
            </a:extLst>
          </p:cNvPr>
          <p:cNvSpPr txBox="1"/>
          <p:nvPr/>
        </p:nvSpPr>
        <p:spPr>
          <a:xfrm>
            <a:off x="7075016" y="2367083"/>
            <a:ext cx="950901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B-3: +2 IP (192 at.)</a:t>
            </a:r>
          </a:p>
        </p:txBody>
      </p:sp>
      <p:sp>
        <p:nvSpPr>
          <p:cNvPr id="2181" name="TextBox 2180">
            <a:extLst>
              <a:ext uri="{FF2B5EF4-FFF2-40B4-BE49-F238E27FC236}">
                <a16:creationId xmlns:a16="http://schemas.microsoft.com/office/drawing/2014/main" id="{12610F8F-E501-4D11-8C25-1D68AB56EB99}"/>
              </a:ext>
            </a:extLst>
          </p:cNvPr>
          <p:cNvSpPr txBox="1"/>
          <p:nvPr/>
        </p:nvSpPr>
        <p:spPr>
          <a:xfrm>
            <a:off x="7137533" y="2482335"/>
            <a:ext cx="825867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RESTART .wfn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₂</a:t>
            </a:r>
          </a:p>
        </p:txBody>
      </p:sp>
      <p:sp>
        <p:nvSpPr>
          <p:cNvPr id="2182" name="TextBox 2181">
            <a:extLst>
              <a:ext uri="{FF2B5EF4-FFF2-40B4-BE49-F238E27FC236}">
                <a16:creationId xmlns:a16="http://schemas.microsoft.com/office/drawing/2014/main" id="{8188E3C6-FD26-429C-9B2D-5279C38CE136}"/>
              </a:ext>
            </a:extLst>
          </p:cNvPr>
          <p:cNvSpPr txBox="1"/>
          <p:nvPr/>
        </p:nvSpPr>
        <p:spPr>
          <a:xfrm>
            <a:off x="7122306" y="2618543"/>
            <a:ext cx="856324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α=0.13 / T=500K</a:t>
            </a:r>
          </a:p>
        </p:txBody>
      </p:sp>
      <p:sp>
        <p:nvSpPr>
          <p:cNvPr id="2183" name="자유형: 도형 2182">
            <a:extLst>
              <a:ext uri="{FF2B5EF4-FFF2-40B4-BE49-F238E27FC236}">
                <a16:creationId xmlns:a16="http://schemas.microsoft.com/office/drawing/2014/main" id="{1B50D7C9-F7DD-4B20-9EF5-74A577AE34DF}"/>
              </a:ext>
            </a:extLst>
          </p:cNvPr>
          <p:cNvSpPr/>
          <p:nvPr/>
        </p:nvSpPr>
        <p:spPr>
          <a:xfrm>
            <a:off x="8283892" y="2569965"/>
            <a:ext cx="157162" cy="10477"/>
          </a:xfrm>
          <a:custGeom>
            <a:avLst/>
            <a:gdLst>
              <a:gd name="connsiteX0" fmla="*/ 0 w 157162"/>
              <a:gd name="connsiteY0" fmla="*/ 0 h 10477"/>
              <a:gd name="connsiteX1" fmla="*/ 157163 w 157162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162" h="10477">
                <a:moveTo>
                  <a:pt x="0" y="0"/>
                </a:moveTo>
                <a:lnTo>
                  <a:pt x="157163" y="0"/>
                </a:lnTo>
              </a:path>
            </a:pathLst>
          </a:custGeom>
          <a:ln w="20955" cap="flat">
            <a:solidFill>
              <a:srgbClr val="A5B4FC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4" name="자유형: 도형 2183">
            <a:extLst>
              <a:ext uri="{FF2B5EF4-FFF2-40B4-BE49-F238E27FC236}">
                <a16:creationId xmlns:a16="http://schemas.microsoft.com/office/drawing/2014/main" id="{A0B419B3-7EC9-46FC-9E22-F1D0362D8E8D}"/>
              </a:ext>
            </a:extLst>
          </p:cNvPr>
          <p:cNvSpPr/>
          <p:nvPr/>
        </p:nvSpPr>
        <p:spPr>
          <a:xfrm>
            <a:off x="8493442" y="2318505"/>
            <a:ext cx="2095500" cy="502920"/>
          </a:xfrm>
          <a:custGeom>
            <a:avLst/>
            <a:gdLst>
              <a:gd name="connsiteX0" fmla="*/ 2032635 w 2095500"/>
              <a:gd name="connsiteY0" fmla="*/ 0 h 502920"/>
              <a:gd name="connsiteX1" fmla="*/ 2095500 w 2095500"/>
              <a:gd name="connsiteY1" fmla="*/ 0 h 502920"/>
              <a:gd name="connsiteX2" fmla="*/ 2095500 w 2095500"/>
              <a:gd name="connsiteY2" fmla="*/ 502920 h 502920"/>
              <a:gd name="connsiteX3" fmla="*/ 2032635 w 2095500"/>
              <a:gd name="connsiteY3" fmla="*/ 502920 h 502920"/>
              <a:gd name="connsiteX4" fmla="*/ 62865 w 2095500"/>
              <a:gd name="connsiteY4" fmla="*/ 502920 h 502920"/>
              <a:gd name="connsiteX5" fmla="*/ 0 w 2095500"/>
              <a:gd name="connsiteY5" fmla="*/ 502920 h 502920"/>
              <a:gd name="connsiteX6" fmla="*/ 0 w 2095500"/>
              <a:gd name="connsiteY6" fmla="*/ 0 h 502920"/>
              <a:gd name="connsiteX7" fmla="*/ 62865 w 2095500"/>
              <a:gd name="connsiteY7" fmla="*/ 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502920">
                <a:moveTo>
                  <a:pt x="2032635" y="0"/>
                </a:moveTo>
                <a:cubicBezTo>
                  <a:pt x="2067355" y="0"/>
                  <a:pt x="2095500" y="0"/>
                  <a:pt x="2095500" y="0"/>
                </a:cubicBezTo>
                <a:lnTo>
                  <a:pt x="2095500" y="502920"/>
                </a:lnTo>
                <a:cubicBezTo>
                  <a:pt x="2095500" y="502920"/>
                  <a:pt x="2067355" y="502920"/>
                  <a:pt x="2032635" y="502920"/>
                </a:cubicBezTo>
                <a:lnTo>
                  <a:pt x="62865" y="502920"/>
                </a:lnTo>
                <a:cubicBezTo>
                  <a:pt x="28145" y="502920"/>
                  <a:pt x="0" y="502920"/>
                  <a:pt x="0" y="50292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4338CA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85" name="TextBox 2184">
            <a:extLst>
              <a:ext uri="{FF2B5EF4-FFF2-40B4-BE49-F238E27FC236}">
                <a16:creationId xmlns:a16="http://schemas.microsoft.com/office/drawing/2014/main" id="{6BF5350D-C586-4F80-A0DB-551F4E0EBBA8}"/>
              </a:ext>
            </a:extLst>
          </p:cNvPr>
          <p:cNvSpPr txBox="1"/>
          <p:nvPr/>
        </p:nvSpPr>
        <p:spPr>
          <a:xfrm>
            <a:off x="8823688" y="2367083"/>
            <a:ext cx="1435008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B-4: GEO_OPT (α=0.15, 300K)</a:t>
            </a:r>
          </a:p>
        </p:txBody>
      </p:sp>
      <p:sp>
        <p:nvSpPr>
          <p:cNvPr id="2186" name="TextBox 2185">
            <a:extLst>
              <a:ext uri="{FF2B5EF4-FFF2-40B4-BE49-F238E27FC236}">
                <a16:creationId xmlns:a16="http://schemas.microsoft.com/office/drawing/2014/main" id="{3298DF3C-8F66-420C-998C-7F1B81B8D7A8}"/>
              </a:ext>
            </a:extLst>
          </p:cNvPr>
          <p:cNvSpPr txBox="1"/>
          <p:nvPr/>
        </p:nvSpPr>
        <p:spPr>
          <a:xfrm>
            <a:off x="8865366" y="2482335"/>
            <a:ext cx="1351652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RESTART .wfn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₃</a:t>
            </a: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→ 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수렴</a:t>
            </a: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기대</a:t>
            </a:r>
          </a:p>
        </p:txBody>
      </p:sp>
      <p:sp>
        <p:nvSpPr>
          <p:cNvPr id="2187" name="TextBox 2186">
            <a:extLst>
              <a:ext uri="{FF2B5EF4-FFF2-40B4-BE49-F238E27FC236}">
                <a16:creationId xmlns:a16="http://schemas.microsoft.com/office/drawing/2014/main" id="{3310F0B4-4FAC-4A4C-A854-B2703C5AF453}"/>
              </a:ext>
            </a:extLst>
          </p:cNvPr>
          <p:cNvSpPr txBox="1"/>
          <p:nvPr/>
        </p:nvSpPr>
        <p:spPr>
          <a:xfrm>
            <a:off x="9040895" y="2597588"/>
            <a:ext cx="1000594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+mn-ea"/>
                <a:cs typeface="Arial"/>
                <a:sym typeface="Arial"/>
                <a:rtl val="0"/>
              </a:rPr>
              <a:t>try03 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검증</a:t>
            </a: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완료</a:t>
            </a:r>
            <a:r>
              <a:rPr lang="ko-KR" altLang="en-US" sz="700" spc="0" baseline="0" dirty="0">
                <a:solidFill>
                  <a:srgbClr val="C7D2FE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C7D2FE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전략</a:t>
            </a:r>
          </a:p>
        </p:txBody>
      </p:sp>
      <p:sp>
        <p:nvSpPr>
          <p:cNvPr id="2188" name="자유형: 도형 2187">
            <a:extLst>
              <a:ext uri="{FF2B5EF4-FFF2-40B4-BE49-F238E27FC236}">
                <a16:creationId xmlns:a16="http://schemas.microsoft.com/office/drawing/2014/main" id="{601AF6D3-93AC-4672-AF2C-4206FB12A63A}"/>
              </a:ext>
            </a:extLst>
          </p:cNvPr>
          <p:cNvSpPr/>
          <p:nvPr/>
        </p:nvSpPr>
        <p:spPr>
          <a:xfrm>
            <a:off x="3569017" y="3041453"/>
            <a:ext cx="7124700" cy="691515"/>
          </a:xfrm>
          <a:custGeom>
            <a:avLst/>
            <a:gdLst>
              <a:gd name="connsiteX0" fmla="*/ 7019925 w 7124700"/>
              <a:gd name="connsiteY0" fmla="*/ 0 h 691515"/>
              <a:gd name="connsiteX1" fmla="*/ 7124700 w 7124700"/>
              <a:gd name="connsiteY1" fmla="*/ 0 h 691515"/>
              <a:gd name="connsiteX2" fmla="*/ 7124700 w 7124700"/>
              <a:gd name="connsiteY2" fmla="*/ 691515 h 691515"/>
              <a:gd name="connsiteX3" fmla="*/ 7019925 w 7124700"/>
              <a:gd name="connsiteY3" fmla="*/ 691515 h 691515"/>
              <a:gd name="connsiteX4" fmla="*/ 104775 w 7124700"/>
              <a:gd name="connsiteY4" fmla="*/ 691515 h 691515"/>
              <a:gd name="connsiteX5" fmla="*/ 0 w 7124700"/>
              <a:gd name="connsiteY5" fmla="*/ 691515 h 691515"/>
              <a:gd name="connsiteX6" fmla="*/ 0 w 7124700"/>
              <a:gd name="connsiteY6" fmla="*/ 0 h 691515"/>
              <a:gd name="connsiteX7" fmla="*/ 104775 w 7124700"/>
              <a:gd name="connsiteY7" fmla="*/ 0 h 69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4700" h="691515">
                <a:moveTo>
                  <a:pt x="7019925" y="0"/>
                </a:moveTo>
                <a:cubicBezTo>
                  <a:pt x="7077791" y="0"/>
                  <a:pt x="7124700" y="0"/>
                  <a:pt x="7124700" y="0"/>
                </a:cubicBezTo>
                <a:lnTo>
                  <a:pt x="7124700" y="691515"/>
                </a:lnTo>
                <a:cubicBezTo>
                  <a:pt x="7124700" y="691515"/>
                  <a:pt x="7077791" y="691515"/>
                  <a:pt x="7019925" y="691515"/>
                </a:cubicBezTo>
                <a:lnTo>
                  <a:pt x="104775" y="691515"/>
                </a:lnTo>
                <a:cubicBezTo>
                  <a:pt x="46909" y="691515"/>
                  <a:pt x="0" y="691515"/>
                  <a:pt x="0" y="691515"/>
                </a:cubicBezTo>
                <a:lnTo>
                  <a:pt x="0" y="0"/>
                </a:lnTo>
                <a:cubicBezTo>
                  <a:pt x="0" y="0"/>
                  <a:pt x="46909" y="0"/>
                  <a:pt x="104775" y="0"/>
                </a:cubicBezTo>
                <a:close/>
              </a:path>
            </a:pathLst>
          </a:custGeom>
          <a:solidFill>
            <a:srgbClr val="EF4444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0" name="TextBox 2189">
            <a:extLst>
              <a:ext uri="{FF2B5EF4-FFF2-40B4-BE49-F238E27FC236}">
                <a16:creationId xmlns:a16="http://schemas.microsoft.com/office/drawing/2014/main" id="{9135DC91-F044-45E6-9BF0-B0A9D1BCC625}"/>
              </a:ext>
            </a:extLst>
          </p:cNvPr>
          <p:cNvSpPr txBox="1"/>
          <p:nvPr/>
        </p:nvSpPr>
        <p:spPr>
          <a:xfrm>
            <a:off x="3681132" y="3058598"/>
            <a:ext cx="3275256" cy="3045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Plan C: Hybrid — OT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로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wfn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확보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후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Broyden </a:t>
            </a:r>
            <a:r>
              <a:rPr lang="ko-KR" altLang="en-US" sz="1050" b="1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전환</a:t>
            </a:r>
          </a:p>
        </p:txBody>
      </p:sp>
      <p:sp>
        <p:nvSpPr>
          <p:cNvPr id="2203" name="자유형: 도형 2202">
            <a:extLst>
              <a:ext uri="{FF2B5EF4-FFF2-40B4-BE49-F238E27FC236}">
                <a16:creationId xmlns:a16="http://schemas.microsoft.com/office/drawing/2014/main" id="{ECE7E434-45D7-4F10-BBD6-4E19D47BBE31}"/>
              </a:ext>
            </a:extLst>
          </p:cNvPr>
          <p:cNvSpPr/>
          <p:nvPr/>
        </p:nvSpPr>
        <p:spPr>
          <a:xfrm>
            <a:off x="3726180" y="3334823"/>
            <a:ext cx="1990725" cy="293370"/>
          </a:xfrm>
          <a:custGeom>
            <a:avLst/>
            <a:gdLst>
              <a:gd name="connsiteX0" fmla="*/ 1927860 w 1990725"/>
              <a:gd name="connsiteY0" fmla="*/ 0 h 293370"/>
              <a:gd name="connsiteX1" fmla="*/ 1990725 w 1990725"/>
              <a:gd name="connsiteY1" fmla="*/ 0 h 293370"/>
              <a:gd name="connsiteX2" fmla="*/ 1990725 w 1990725"/>
              <a:gd name="connsiteY2" fmla="*/ 293370 h 293370"/>
              <a:gd name="connsiteX3" fmla="*/ 1927860 w 1990725"/>
              <a:gd name="connsiteY3" fmla="*/ 293370 h 293370"/>
              <a:gd name="connsiteX4" fmla="*/ 62865 w 1990725"/>
              <a:gd name="connsiteY4" fmla="*/ 293370 h 293370"/>
              <a:gd name="connsiteX5" fmla="*/ 0 w 1990725"/>
              <a:gd name="connsiteY5" fmla="*/ 293370 h 293370"/>
              <a:gd name="connsiteX6" fmla="*/ 0 w 1990725"/>
              <a:gd name="connsiteY6" fmla="*/ 0 h 293370"/>
              <a:gd name="connsiteX7" fmla="*/ 62865 w 1990725"/>
              <a:gd name="connsiteY7" fmla="*/ 0 h 29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90725" h="293370">
                <a:moveTo>
                  <a:pt x="1927860" y="0"/>
                </a:moveTo>
                <a:cubicBezTo>
                  <a:pt x="1962580" y="0"/>
                  <a:pt x="1990725" y="0"/>
                  <a:pt x="1990725" y="0"/>
                </a:cubicBezTo>
                <a:lnTo>
                  <a:pt x="1990725" y="293370"/>
                </a:lnTo>
                <a:cubicBezTo>
                  <a:pt x="1990725" y="293370"/>
                  <a:pt x="1962580" y="293370"/>
                  <a:pt x="1927860" y="293370"/>
                </a:cubicBezTo>
                <a:lnTo>
                  <a:pt x="62865" y="293370"/>
                </a:lnTo>
                <a:cubicBezTo>
                  <a:pt x="28145" y="293370"/>
                  <a:pt x="0" y="293370"/>
                  <a:pt x="0" y="29337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DC2626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4" name="TextBox 2203">
            <a:extLst>
              <a:ext uri="{FF2B5EF4-FFF2-40B4-BE49-F238E27FC236}">
                <a16:creationId xmlns:a16="http://schemas.microsoft.com/office/drawing/2014/main" id="{E8C3564C-EB92-491C-901B-F35FCCB55712}"/>
              </a:ext>
            </a:extLst>
          </p:cNvPr>
          <p:cNvSpPr txBox="1"/>
          <p:nvPr/>
        </p:nvSpPr>
        <p:spPr>
          <a:xfrm>
            <a:off x="3859766" y="3383400"/>
            <a:ext cx="1723549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OT (EPS_SCF 1e-3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완화</a:t>
            </a: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) → .wfn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확보</a:t>
            </a:r>
          </a:p>
        </p:txBody>
      </p:sp>
      <p:sp>
        <p:nvSpPr>
          <p:cNvPr id="2205" name="자유형: 도형 2204">
            <a:extLst>
              <a:ext uri="{FF2B5EF4-FFF2-40B4-BE49-F238E27FC236}">
                <a16:creationId xmlns:a16="http://schemas.microsoft.com/office/drawing/2014/main" id="{CF14A5F1-1F95-423D-9838-AE914EB990E4}"/>
              </a:ext>
            </a:extLst>
          </p:cNvPr>
          <p:cNvSpPr/>
          <p:nvPr/>
        </p:nvSpPr>
        <p:spPr>
          <a:xfrm>
            <a:off x="5769292" y="3481508"/>
            <a:ext cx="209550" cy="10477"/>
          </a:xfrm>
          <a:custGeom>
            <a:avLst/>
            <a:gdLst>
              <a:gd name="connsiteX0" fmla="*/ 0 w 209550"/>
              <a:gd name="connsiteY0" fmla="*/ 0 h 10477"/>
              <a:gd name="connsiteX1" fmla="*/ 209550 w 209550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550" h="10477">
                <a:moveTo>
                  <a:pt x="0" y="0"/>
                </a:moveTo>
                <a:lnTo>
                  <a:pt x="209550" y="0"/>
                </a:lnTo>
              </a:path>
            </a:pathLst>
          </a:custGeom>
          <a:ln w="20955" cap="flat">
            <a:solidFill>
              <a:srgbClr val="FCA5A5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6" name="자유형: 도형 2205">
            <a:extLst>
              <a:ext uri="{FF2B5EF4-FFF2-40B4-BE49-F238E27FC236}">
                <a16:creationId xmlns:a16="http://schemas.microsoft.com/office/drawing/2014/main" id="{F4677309-9C71-491B-87B1-968F77B5FA5D}"/>
              </a:ext>
            </a:extLst>
          </p:cNvPr>
          <p:cNvSpPr/>
          <p:nvPr/>
        </p:nvSpPr>
        <p:spPr>
          <a:xfrm>
            <a:off x="6031230" y="3334823"/>
            <a:ext cx="2095500" cy="293370"/>
          </a:xfrm>
          <a:custGeom>
            <a:avLst/>
            <a:gdLst>
              <a:gd name="connsiteX0" fmla="*/ 2032635 w 2095500"/>
              <a:gd name="connsiteY0" fmla="*/ 0 h 293370"/>
              <a:gd name="connsiteX1" fmla="*/ 2095500 w 2095500"/>
              <a:gd name="connsiteY1" fmla="*/ 0 h 293370"/>
              <a:gd name="connsiteX2" fmla="*/ 2095500 w 2095500"/>
              <a:gd name="connsiteY2" fmla="*/ 293370 h 293370"/>
              <a:gd name="connsiteX3" fmla="*/ 2032635 w 2095500"/>
              <a:gd name="connsiteY3" fmla="*/ 293370 h 293370"/>
              <a:gd name="connsiteX4" fmla="*/ 62865 w 2095500"/>
              <a:gd name="connsiteY4" fmla="*/ 293370 h 293370"/>
              <a:gd name="connsiteX5" fmla="*/ 0 w 2095500"/>
              <a:gd name="connsiteY5" fmla="*/ 293370 h 293370"/>
              <a:gd name="connsiteX6" fmla="*/ 0 w 2095500"/>
              <a:gd name="connsiteY6" fmla="*/ 0 h 293370"/>
              <a:gd name="connsiteX7" fmla="*/ 62865 w 2095500"/>
              <a:gd name="connsiteY7" fmla="*/ 0 h 29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500" h="293370">
                <a:moveTo>
                  <a:pt x="2032635" y="0"/>
                </a:moveTo>
                <a:cubicBezTo>
                  <a:pt x="2067355" y="0"/>
                  <a:pt x="2095500" y="0"/>
                  <a:pt x="2095500" y="0"/>
                </a:cubicBezTo>
                <a:lnTo>
                  <a:pt x="2095500" y="293370"/>
                </a:lnTo>
                <a:cubicBezTo>
                  <a:pt x="2095500" y="293370"/>
                  <a:pt x="2067355" y="293370"/>
                  <a:pt x="2032635" y="293370"/>
                </a:cubicBezTo>
                <a:lnTo>
                  <a:pt x="62865" y="293370"/>
                </a:lnTo>
                <a:cubicBezTo>
                  <a:pt x="28145" y="293370"/>
                  <a:pt x="0" y="293370"/>
                  <a:pt x="0" y="29337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DC2626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7" name="TextBox 2206">
            <a:extLst>
              <a:ext uri="{FF2B5EF4-FFF2-40B4-BE49-F238E27FC236}">
                <a16:creationId xmlns:a16="http://schemas.microsoft.com/office/drawing/2014/main" id="{15C53387-D4FE-4835-B437-50C091D47349}"/>
              </a:ext>
            </a:extLst>
          </p:cNvPr>
          <p:cNvSpPr txBox="1"/>
          <p:nvPr/>
        </p:nvSpPr>
        <p:spPr>
          <a:xfrm>
            <a:off x="6233235" y="3404355"/>
            <a:ext cx="1691489" cy="233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Broyden RESTART (α=0.13, T=500K)</a:t>
            </a:r>
          </a:p>
        </p:txBody>
      </p:sp>
      <p:sp>
        <p:nvSpPr>
          <p:cNvPr id="2208" name="자유형: 도형 2207">
            <a:extLst>
              <a:ext uri="{FF2B5EF4-FFF2-40B4-BE49-F238E27FC236}">
                <a16:creationId xmlns:a16="http://schemas.microsoft.com/office/drawing/2014/main" id="{7BC903F7-067B-49FA-BAC3-23FF14151436}"/>
              </a:ext>
            </a:extLst>
          </p:cNvPr>
          <p:cNvSpPr/>
          <p:nvPr/>
        </p:nvSpPr>
        <p:spPr>
          <a:xfrm>
            <a:off x="8179117" y="3481508"/>
            <a:ext cx="209550" cy="10477"/>
          </a:xfrm>
          <a:custGeom>
            <a:avLst/>
            <a:gdLst>
              <a:gd name="connsiteX0" fmla="*/ 0 w 209550"/>
              <a:gd name="connsiteY0" fmla="*/ 0 h 10477"/>
              <a:gd name="connsiteX1" fmla="*/ 209550 w 209550"/>
              <a:gd name="connsiteY1" fmla="*/ 0 h 10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550" h="10477">
                <a:moveTo>
                  <a:pt x="0" y="0"/>
                </a:moveTo>
                <a:lnTo>
                  <a:pt x="209550" y="0"/>
                </a:lnTo>
              </a:path>
            </a:pathLst>
          </a:custGeom>
          <a:ln w="20955" cap="flat">
            <a:solidFill>
              <a:srgbClr val="FCA5A5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9" name="자유형: 도형 2208">
            <a:extLst>
              <a:ext uri="{FF2B5EF4-FFF2-40B4-BE49-F238E27FC236}">
                <a16:creationId xmlns:a16="http://schemas.microsoft.com/office/drawing/2014/main" id="{EA90DE58-8FA7-40F5-B1B1-BAA4E631E27C}"/>
              </a:ext>
            </a:extLst>
          </p:cNvPr>
          <p:cNvSpPr/>
          <p:nvPr/>
        </p:nvSpPr>
        <p:spPr>
          <a:xfrm>
            <a:off x="8441055" y="3334823"/>
            <a:ext cx="2147887" cy="293370"/>
          </a:xfrm>
          <a:custGeom>
            <a:avLst/>
            <a:gdLst>
              <a:gd name="connsiteX0" fmla="*/ 2085023 w 2147887"/>
              <a:gd name="connsiteY0" fmla="*/ 0 h 293370"/>
              <a:gd name="connsiteX1" fmla="*/ 2147888 w 2147887"/>
              <a:gd name="connsiteY1" fmla="*/ 0 h 293370"/>
              <a:gd name="connsiteX2" fmla="*/ 2147888 w 2147887"/>
              <a:gd name="connsiteY2" fmla="*/ 293370 h 293370"/>
              <a:gd name="connsiteX3" fmla="*/ 2085023 w 2147887"/>
              <a:gd name="connsiteY3" fmla="*/ 293370 h 293370"/>
              <a:gd name="connsiteX4" fmla="*/ 62865 w 2147887"/>
              <a:gd name="connsiteY4" fmla="*/ 293370 h 293370"/>
              <a:gd name="connsiteX5" fmla="*/ 0 w 2147887"/>
              <a:gd name="connsiteY5" fmla="*/ 293370 h 293370"/>
              <a:gd name="connsiteX6" fmla="*/ 0 w 2147887"/>
              <a:gd name="connsiteY6" fmla="*/ 0 h 293370"/>
              <a:gd name="connsiteX7" fmla="*/ 62865 w 2147887"/>
              <a:gd name="connsiteY7" fmla="*/ 0 h 29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47887" h="293370">
                <a:moveTo>
                  <a:pt x="2085023" y="0"/>
                </a:moveTo>
                <a:cubicBezTo>
                  <a:pt x="2119742" y="0"/>
                  <a:pt x="2147888" y="0"/>
                  <a:pt x="2147888" y="0"/>
                </a:cubicBezTo>
                <a:lnTo>
                  <a:pt x="2147888" y="293370"/>
                </a:lnTo>
                <a:cubicBezTo>
                  <a:pt x="2147888" y="293370"/>
                  <a:pt x="2119742" y="293370"/>
                  <a:pt x="2085023" y="293370"/>
                </a:cubicBezTo>
                <a:lnTo>
                  <a:pt x="62865" y="293370"/>
                </a:lnTo>
                <a:cubicBezTo>
                  <a:pt x="28145" y="293370"/>
                  <a:pt x="0" y="293370"/>
                  <a:pt x="0" y="293370"/>
                </a:cubicBezTo>
                <a:lnTo>
                  <a:pt x="0" y="0"/>
                </a:lnTo>
                <a:cubicBezTo>
                  <a:pt x="0" y="0"/>
                  <a:pt x="28145" y="0"/>
                  <a:pt x="62865" y="0"/>
                </a:cubicBezTo>
                <a:close/>
              </a:path>
            </a:pathLst>
          </a:custGeom>
          <a:solidFill>
            <a:srgbClr val="B91C1C"/>
          </a:solidFill>
          <a:ln w="10478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0" name="TextBox 2209">
            <a:extLst>
              <a:ext uri="{FF2B5EF4-FFF2-40B4-BE49-F238E27FC236}">
                <a16:creationId xmlns:a16="http://schemas.microsoft.com/office/drawing/2014/main" id="{D7978FBC-758F-458A-953E-F336046C4A02}"/>
              </a:ext>
            </a:extLst>
          </p:cNvPr>
          <p:cNvSpPr txBox="1"/>
          <p:nvPr/>
        </p:nvSpPr>
        <p:spPr>
          <a:xfrm>
            <a:off x="8619130" y="3383400"/>
            <a:ext cx="1781257" cy="233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+mn-ea"/>
                <a:cs typeface="Arial"/>
                <a:sym typeface="Arial"/>
                <a:rtl val="0"/>
              </a:rPr>
              <a:t>EPS_SCF 5e-7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최종</a:t>
            </a: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</a:t>
            </a:r>
            <a:r>
              <a:rPr lang="ko-KR" altLang="en-US" sz="700" spc="0" baseline="0" dirty="0">
                <a:solidFill>
                  <a:srgbClr val="FFFFFF"/>
                </a:solidFill>
                <a:latin typeface="맑은 고딕"/>
                <a:ea typeface="맑은 고딕"/>
                <a:cs typeface="Arial"/>
                <a:sym typeface="맑은 고딕"/>
                <a:rtl val="0"/>
              </a:rPr>
              <a:t>수렴</a:t>
            </a:r>
            <a:r>
              <a:rPr lang="ko-KR" altLang="en-US" sz="700" spc="0" baseline="0" dirty="0">
                <a:solidFill>
                  <a:srgbClr val="FFFFFF"/>
                </a:solidFill>
                <a:latin typeface="Arial"/>
                <a:ea typeface="맑은 고딕"/>
                <a:cs typeface="Arial"/>
                <a:sym typeface="Arial"/>
                <a:rtl val="0"/>
              </a:rPr>
              <a:t> → GEO_OPT</a:t>
            </a:r>
          </a:p>
        </p:txBody>
      </p:sp>
    </p:spTree>
    <p:extLst>
      <p:ext uri="{BB962C8B-B14F-4D97-AF65-F5344CB8AC3E}">
        <p14:creationId xmlns:p14="http://schemas.microsoft.com/office/powerpoint/2010/main" val="274925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28DF55BD-148B-54C1-0CE0-9B83DF6F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C1EFF2-AED7-F2CE-2708-48C146AD3C0E}"/>
              </a:ext>
            </a:extLst>
          </p:cNvPr>
          <p:cNvSpPr/>
          <p:nvPr/>
        </p:nvSpPr>
        <p:spPr bwMode="auto">
          <a:xfrm>
            <a:off x="7461862" y="1949"/>
            <a:ext cx="4736816" cy="6870567"/>
          </a:xfrm>
          <a:prstGeom prst="rect">
            <a:avLst/>
          </a:prstGeom>
          <a:solidFill>
            <a:schemeClr val="accent6">
              <a:lumMod val="75000"/>
              <a:alpha val="2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3BC96E5E-BC2E-58AA-F8E1-2FF8A16CB811}"/>
              </a:ext>
            </a:extLst>
          </p:cNvPr>
          <p:cNvSpPr/>
          <p:nvPr/>
        </p:nvSpPr>
        <p:spPr>
          <a:xfrm flipH="1">
            <a:off x="6585769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A4362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3" name="평행 사변형 12">
            <a:extLst>
              <a:ext uri="{FF2B5EF4-FFF2-40B4-BE49-F238E27FC236}">
                <a16:creationId xmlns:a16="http://schemas.microsoft.com/office/drawing/2014/main" id="{0C2FD315-FC3D-2EC1-8EDA-FAE7A42B292E}"/>
              </a:ext>
            </a:extLst>
          </p:cNvPr>
          <p:cNvSpPr/>
          <p:nvPr/>
        </p:nvSpPr>
        <p:spPr>
          <a:xfrm flipH="1">
            <a:off x="5961548" y="0"/>
            <a:ext cx="4154146" cy="6858000"/>
          </a:xfrm>
          <a:prstGeom prst="parallelogram">
            <a:avLst>
              <a:gd name="adj" fmla="val 36654"/>
            </a:avLst>
          </a:prstGeom>
          <a:solidFill>
            <a:srgbClr val="9B887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4" name="평행 사변형 13">
            <a:extLst>
              <a:ext uri="{FF2B5EF4-FFF2-40B4-BE49-F238E27FC236}">
                <a16:creationId xmlns:a16="http://schemas.microsoft.com/office/drawing/2014/main" id="{6B532978-9601-BEBD-9509-6EE7A575C331}"/>
              </a:ext>
            </a:extLst>
          </p:cNvPr>
          <p:cNvSpPr/>
          <p:nvPr/>
        </p:nvSpPr>
        <p:spPr>
          <a:xfrm flipH="1">
            <a:off x="-1" y="-14516"/>
            <a:ext cx="9439479" cy="6901543"/>
          </a:xfrm>
          <a:custGeom>
            <a:avLst/>
            <a:gdLst>
              <a:gd name="connsiteX0" fmla="*/ 0 w 3410857"/>
              <a:gd name="connsiteY0" fmla="*/ 6858000 h 6858000"/>
              <a:gd name="connsiteX1" fmla="*/ 1250216 w 3410857"/>
              <a:gd name="connsiteY1" fmla="*/ 0 h 6858000"/>
              <a:gd name="connsiteX2" fmla="*/ 3410857 w 3410857"/>
              <a:gd name="connsiteY2" fmla="*/ 0 h 6858000"/>
              <a:gd name="connsiteX3" fmla="*/ 2160641 w 3410857"/>
              <a:gd name="connsiteY3" fmla="*/ 6858000 h 6858000"/>
              <a:gd name="connsiteX4" fmla="*/ 0 w 3410857"/>
              <a:gd name="connsiteY4" fmla="*/ 6858000 h 6858000"/>
              <a:gd name="connsiteX0" fmla="*/ 0 w 6705600"/>
              <a:gd name="connsiteY0" fmla="*/ 6887029 h 6887029"/>
              <a:gd name="connsiteX1" fmla="*/ 1250216 w 6705600"/>
              <a:gd name="connsiteY1" fmla="*/ 29029 h 6887029"/>
              <a:gd name="connsiteX2" fmla="*/ 6705600 w 6705600"/>
              <a:gd name="connsiteY2" fmla="*/ 0 h 6887029"/>
              <a:gd name="connsiteX3" fmla="*/ 2160641 w 6705600"/>
              <a:gd name="connsiteY3" fmla="*/ 6887029 h 6887029"/>
              <a:gd name="connsiteX4" fmla="*/ 0 w 6705600"/>
              <a:gd name="connsiteY4" fmla="*/ 6887029 h 6887029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705600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44343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747155"/>
              <a:gd name="connsiteY0" fmla="*/ 6887029 h 6901543"/>
              <a:gd name="connsiteX1" fmla="*/ 1250216 w 6747155"/>
              <a:gd name="connsiteY1" fmla="*/ 29029 h 6901543"/>
              <a:gd name="connsiteX2" fmla="*/ 6458857 w 6747155"/>
              <a:gd name="connsiteY2" fmla="*/ 0 h 6901543"/>
              <a:gd name="connsiteX3" fmla="*/ 6747155 w 6747155"/>
              <a:gd name="connsiteY3" fmla="*/ 6901543 h 6901543"/>
              <a:gd name="connsiteX4" fmla="*/ 0 w 6747155"/>
              <a:gd name="connsiteY4" fmla="*/ 6887029 h 6901543"/>
              <a:gd name="connsiteX0" fmla="*/ 0 w 6458857"/>
              <a:gd name="connsiteY0" fmla="*/ 6887029 h 6959600"/>
              <a:gd name="connsiteX1" fmla="*/ 1250216 w 6458857"/>
              <a:gd name="connsiteY1" fmla="*/ 29029 h 6959600"/>
              <a:gd name="connsiteX2" fmla="*/ 6458857 w 6458857"/>
              <a:gd name="connsiteY2" fmla="*/ 0 h 6959600"/>
              <a:gd name="connsiteX3" fmla="*/ 6166583 w 6458857"/>
              <a:gd name="connsiteY3" fmla="*/ 6959600 h 6959600"/>
              <a:gd name="connsiteX4" fmla="*/ 0 w 6458857"/>
              <a:gd name="connsiteY4" fmla="*/ 6887029 h 6959600"/>
              <a:gd name="connsiteX0" fmla="*/ 0 w 6471383"/>
              <a:gd name="connsiteY0" fmla="*/ 6887029 h 6887029"/>
              <a:gd name="connsiteX1" fmla="*/ 1250216 w 6471383"/>
              <a:gd name="connsiteY1" fmla="*/ 29029 h 6887029"/>
              <a:gd name="connsiteX2" fmla="*/ 6458857 w 6471383"/>
              <a:gd name="connsiteY2" fmla="*/ 0 h 6887029"/>
              <a:gd name="connsiteX3" fmla="*/ 6471383 w 6471383"/>
              <a:gd name="connsiteY3" fmla="*/ 6887029 h 6887029"/>
              <a:gd name="connsiteX4" fmla="*/ 0 w 6471383"/>
              <a:gd name="connsiteY4" fmla="*/ 6887029 h 6887029"/>
              <a:gd name="connsiteX0" fmla="*/ 0 w 7257159"/>
              <a:gd name="connsiteY0" fmla="*/ 6872515 h 6872515"/>
              <a:gd name="connsiteX1" fmla="*/ 1250216 w 7257159"/>
              <a:gd name="connsiteY1" fmla="*/ 14515 h 6872515"/>
              <a:gd name="connsiteX2" fmla="*/ 7257143 w 7257159"/>
              <a:gd name="connsiteY2" fmla="*/ 0 h 6872515"/>
              <a:gd name="connsiteX3" fmla="*/ 6471383 w 7257159"/>
              <a:gd name="connsiteY3" fmla="*/ 6872515 h 6872515"/>
              <a:gd name="connsiteX4" fmla="*/ 0 w 7257159"/>
              <a:gd name="connsiteY4" fmla="*/ 6872515 h 6872515"/>
              <a:gd name="connsiteX0" fmla="*/ 0 w 7284183"/>
              <a:gd name="connsiteY0" fmla="*/ 6872515 h 6901543"/>
              <a:gd name="connsiteX1" fmla="*/ 1250216 w 7284183"/>
              <a:gd name="connsiteY1" fmla="*/ 14515 h 6901543"/>
              <a:gd name="connsiteX2" fmla="*/ 7257143 w 7284183"/>
              <a:gd name="connsiteY2" fmla="*/ 0 h 6901543"/>
              <a:gd name="connsiteX3" fmla="*/ 7284183 w 7284183"/>
              <a:gd name="connsiteY3" fmla="*/ 6901543 h 6901543"/>
              <a:gd name="connsiteX4" fmla="*/ 0 w 7284183"/>
              <a:gd name="connsiteY4" fmla="*/ 6872515 h 6901543"/>
              <a:gd name="connsiteX0" fmla="*/ 0 w 7547476"/>
              <a:gd name="connsiteY0" fmla="*/ 6872515 h 6901543"/>
              <a:gd name="connsiteX1" fmla="*/ 1250216 w 7547476"/>
              <a:gd name="connsiteY1" fmla="*/ 14515 h 6901543"/>
              <a:gd name="connsiteX2" fmla="*/ 7547429 w 7547476"/>
              <a:gd name="connsiteY2" fmla="*/ 0 h 6901543"/>
              <a:gd name="connsiteX3" fmla="*/ 7284183 w 7547476"/>
              <a:gd name="connsiteY3" fmla="*/ 6901543 h 6901543"/>
              <a:gd name="connsiteX4" fmla="*/ 0 w 7547476"/>
              <a:gd name="connsiteY4" fmla="*/ 6872515 h 6901543"/>
              <a:gd name="connsiteX0" fmla="*/ 0 w 7547612"/>
              <a:gd name="connsiteY0" fmla="*/ 6872515 h 6901543"/>
              <a:gd name="connsiteX1" fmla="*/ 1250216 w 7547612"/>
              <a:gd name="connsiteY1" fmla="*/ 14515 h 6901543"/>
              <a:gd name="connsiteX2" fmla="*/ 7547429 w 7547612"/>
              <a:gd name="connsiteY2" fmla="*/ 0 h 6901543"/>
              <a:gd name="connsiteX3" fmla="*/ 7487383 w 7547612"/>
              <a:gd name="connsiteY3" fmla="*/ 6901543 h 6901543"/>
              <a:gd name="connsiteX4" fmla="*/ 0 w 7547612"/>
              <a:gd name="connsiteY4" fmla="*/ 6872515 h 6901543"/>
              <a:gd name="connsiteX0" fmla="*/ 0 w 7533145"/>
              <a:gd name="connsiteY0" fmla="*/ 6872515 h 6901543"/>
              <a:gd name="connsiteX1" fmla="*/ 1250216 w 7533145"/>
              <a:gd name="connsiteY1" fmla="*/ 14515 h 6901543"/>
              <a:gd name="connsiteX2" fmla="*/ 7532915 w 7533145"/>
              <a:gd name="connsiteY2" fmla="*/ 0 h 6901543"/>
              <a:gd name="connsiteX3" fmla="*/ 7487383 w 7533145"/>
              <a:gd name="connsiteY3" fmla="*/ 6901543 h 6901543"/>
              <a:gd name="connsiteX4" fmla="*/ 0 w 7533145"/>
              <a:gd name="connsiteY4" fmla="*/ 6872515 h 6901543"/>
              <a:gd name="connsiteX0" fmla="*/ 0 w 7533928"/>
              <a:gd name="connsiteY0" fmla="*/ 6872515 h 6901543"/>
              <a:gd name="connsiteX1" fmla="*/ 1250216 w 7533928"/>
              <a:gd name="connsiteY1" fmla="*/ 14515 h 6901543"/>
              <a:gd name="connsiteX2" fmla="*/ 7532915 w 7533928"/>
              <a:gd name="connsiteY2" fmla="*/ 0 h 6901543"/>
              <a:gd name="connsiteX3" fmla="*/ 7530926 w 7533928"/>
              <a:gd name="connsiteY3" fmla="*/ 6901543 h 6901543"/>
              <a:gd name="connsiteX4" fmla="*/ 0 w 7533928"/>
              <a:gd name="connsiteY4" fmla="*/ 6872515 h 690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3928" h="6901543">
                <a:moveTo>
                  <a:pt x="0" y="6872515"/>
                </a:moveTo>
                <a:lnTo>
                  <a:pt x="1250216" y="14515"/>
                </a:lnTo>
                <a:lnTo>
                  <a:pt x="7532915" y="0"/>
                </a:lnTo>
                <a:cubicBezTo>
                  <a:pt x="7537090" y="2295676"/>
                  <a:pt x="7526751" y="4605867"/>
                  <a:pt x="7530926" y="6901543"/>
                </a:cubicBezTo>
                <a:lnTo>
                  <a:pt x="0" y="68725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DFA242A-83D7-A262-CB5F-828BDBB1360E}"/>
              </a:ext>
            </a:extLst>
          </p:cNvPr>
          <p:cNvGrpSpPr/>
          <p:nvPr/>
        </p:nvGrpSpPr>
        <p:grpSpPr>
          <a:xfrm>
            <a:off x="231580" y="85060"/>
            <a:ext cx="2920394" cy="661066"/>
            <a:chOff x="231580" y="85060"/>
            <a:chExt cx="2534216" cy="573650"/>
          </a:xfrm>
        </p:grpSpPr>
        <p:pic>
          <p:nvPicPr>
            <p:cNvPr id="7" name="그림 6" descr="텍스트, 로고, 엠블럼, 폰트이(가) 표시된 사진&#10;&#10;자동 생성된 설명">
              <a:extLst>
                <a:ext uri="{FF2B5EF4-FFF2-40B4-BE49-F238E27FC236}">
                  <a16:creationId xmlns:a16="http://schemas.microsoft.com/office/drawing/2014/main" id="{877B623B-B99C-3880-04CC-1E6D815B0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80" y="215111"/>
              <a:ext cx="1539333" cy="37519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97EE38A-F703-1ADB-7BEA-DE357B4DC4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9" t="10161" r="5433" b="11878"/>
            <a:stretch/>
          </p:blipFill>
          <p:spPr>
            <a:xfrm>
              <a:off x="1868209" y="85060"/>
              <a:ext cx="897587" cy="573650"/>
            </a:xfrm>
            <a:prstGeom prst="rect">
              <a:avLst/>
            </a:prstGeom>
          </p:spPr>
        </p:pic>
      </p:grpSp>
      <p:sp>
        <p:nvSpPr>
          <p:cNvPr id="11" name="Google Shape;93;p13">
            <a:extLst>
              <a:ext uri="{FF2B5EF4-FFF2-40B4-BE49-F238E27FC236}">
                <a16:creationId xmlns:a16="http://schemas.microsoft.com/office/drawing/2014/main" id="{A462B7C3-1BE7-3653-4083-473D68284EDD}"/>
              </a:ext>
            </a:extLst>
          </p:cNvPr>
          <p:cNvSpPr txBox="1">
            <a:spLocks/>
          </p:cNvSpPr>
          <p:nvPr/>
        </p:nvSpPr>
        <p:spPr>
          <a:xfrm>
            <a:off x="62807" y="1767075"/>
            <a:ext cx="6590799" cy="1954797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Raleway"/>
              <a:buNone/>
              <a:defRPr sz="4400" b="0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4400"/>
              <a:buFont typeface="Raleway"/>
              <a:buNone/>
              <a:tabLst/>
              <a:defRPr/>
            </a:pPr>
            <a:r>
              <a:rPr kumimoji="1" lang="en-US" altLang="ko-KR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>
                  <a:outerShdw blurRad="50800" dist="38100" dir="2700000" algn="tl" rotWithShape="0">
                    <a:schemeClr val="bg2">
                      <a:lumMod val="75000"/>
                      <a:alpha val="40000"/>
                    </a:schemeClr>
                  </a:outerShdw>
                </a:effectLst>
                <a:uLnTx/>
                <a:uFillTx/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  <a:sym typeface="Raleway"/>
              </a:rPr>
              <a:t>Thank you for attention</a:t>
            </a:r>
            <a:endParaRPr kumimoji="1" lang="en-US" altLang="ko-KR" sz="4000" b="1" dirty="0">
              <a:solidFill>
                <a:schemeClr val="accent5"/>
              </a:solidFill>
              <a:effectLst>
                <a:outerShdw blurRad="50800" dist="38100" dir="2700000" algn="tl" rotWithShape="0">
                  <a:schemeClr val="bg2">
                    <a:lumMod val="75000"/>
                    <a:alpha val="40000"/>
                  </a:schemeClr>
                </a:outerShdw>
              </a:effectLst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2" name="Google Shape;153;p20">
            <a:extLst>
              <a:ext uri="{FF2B5EF4-FFF2-40B4-BE49-F238E27FC236}">
                <a16:creationId xmlns:a16="http://schemas.microsoft.com/office/drawing/2014/main" id="{AABDCCFB-E987-1685-FD05-447F733BB717}"/>
              </a:ext>
            </a:extLst>
          </p:cNvPr>
          <p:cNvSpPr txBox="1">
            <a:spLocks/>
          </p:cNvSpPr>
          <p:nvPr/>
        </p:nvSpPr>
        <p:spPr>
          <a:xfrm>
            <a:off x="105320" y="4706528"/>
            <a:ext cx="6548286" cy="17892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600"/>
              </a:spcBef>
            </a:pPr>
            <a:r>
              <a:rPr lang="ko-KR" altLang="en-US" sz="2000" b="1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안 용 상</a:t>
            </a:r>
            <a:endParaRPr lang="en-US" altLang="ko-KR" sz="2000" b="1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Process Systems Engineering &amp; Intelligence Design Lab</a:t>
            </a:r>
          </a:p>
          <a:p>
            <a:pPr>
              <a:spcBef>
                <a:spcPts val="600"/>
              </a:spcBef>
            </a:pPr>
            <a:r>
              <a:rPr lang="en-US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Department of Chemical Engineering</a:t>
            </a:r>
          </a:p>
          <a:p>
            <a:pPr>
              <a:spcBef>
                <a:spcPts val="600"/>
              </a:spcBef>
            </a:pP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Kyung </a:t>
            </a:r>
            <a:r>
              <a:rPr lang="en-US" altLang="ko-KR" sz="15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Hee</a:t>
            </a:r>
            <a:r>
              <a:rPr lang="en-US" altLang="ko-KR" sz="15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University </a:t>
            </a:r>
          </a:p>
        </p:txBody>
      </p:sp>
    </p:spTree>
    <p:extLst>
      <p:ext uri="{BB962C8B-B14F-4D97-AF65-F5344CB8AC3E}">
        <p14:creationId xmlns:p14="http://schemas.microsoft.com/office/powerpoint/2010/main" val="4271435972"/>
      </p:ext>
    </p:extLst>
  </p:cSld>
  <p:clrMapOvr>
    <a:masterClrMapping/>
  </p:clrMapOvr>
</p:sld>
</file>

<file path=ppt/theme/theme1.xml><?xml version="1.0" encoding="utf-8"?>
<a:theme xmlns:a="http://schemas.openxmlformats.org/drawingml/2006/main" name="1_077tgp_business_v2">
  <a:themeElements>
    <a:clrScheme name="사용자 지정 1">
      <a:dk1>
        <a:srgbClr val="3A3838"/>
      </a:dk1>
      <a:lt1>
        <a:srgbClr val="FFFFFF"/>
      </a:lt1>
      <a:dk2>
        <a:srgbClr val="3A3838"/>
      </a:dk2>
      <a:lt2>
        <a:srgbClr val="F2F2F2"/>
      </a:lt2>
      <a:accent1>
        <a:srgbClr val="313B6D"/>
      </a:accent1>
      <a:accent2>
        <a:srgbClr val="A43624"/>
      </a:accent2>
      <a:accent3>
        <a:srgbClr val="C0B7AE"/>
      </a:accent3>
      <a:accent4>
        <a:srgbClr val="9B8873"/>
      </a:accent4>
      <a:accent5>
        <a:srgbClr val="931A1B"/>
      </a:accent5>
      <a:accent6>
        <a:srgbClr val="FDFCFC"/>
      </a:accent6>
      <a:hlink>
        <a:srgbClr val="757070"/>
      </a:hlink>
      <a:folHlink>
        <a:srgbClr val="757070"/>
      </a:folHlink>
    </a:clrScheme>
    <a:fontScheme name="사용자 지정 10">
      <a:majorFont>
        <a:latin typeface="Microsoft GothicNeo"/>
        <a:ea typeface="Microsoft GothicNeo"/>
        <a:cs typeface=""/>
      </a:majorFont>
      <a:minorFont>
        <a:latin typeface="Microsoft GothicNeo Light"/>
        <a:ea typeface="Microsoft GothicNe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charset="-127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lnSpc>
            <a:spcPct val="150000"/>
          </a:lnSpc>
          <a:defRPr dirty="0">
            <a:latin typeface="+mn-ea"/>
            <a:ea typeface="+mn-ea"/>
          </a:defRPr>
        </a:defPPr>
      </a:lstStyle>
    </a:txDef>
  </a:objectDefaults>
  <a:extraClrSchemeLst>
    <a:extraClrScheme>
      <a:clrScheme name="077tgp_business_v2 1">
        <a:dk1>
          <a:srgbClr val="666699"/>
        </a:dk1>
        <a:lt1>
          <a:srgbClr val="FFFFFF"/>
        </a:lt1>
        <a:dk2>
          <a:srgbClr val="000000"/>
        </a:dk2>
        <a:lt2>
          <a:srgbClr val="DDDDDD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77tgp_business_v2 2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CC9900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B98A00"/>
        </a:accent6>
        <a:hlink>
          <a:srgbClr val="6E81E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77tgp_business_v2 3">
        <a:dk1>
          <a:srgbClr val="4E40A4"/>
        </a:dk1>
        <a:lt1>
          <a:srgbClr val="FFFFFF"/>
        </a:lt1>
        <a:dk2>
          <a:srgbClr val="000000"/>
        </a:dk2>
        <a:lt2>
          <a:srgbClr val="CCCCCC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32460</TotalTime>
  <Words>1075</Words>
  <Application>Microsoft Office PowerPoint</Application>
  <PresentationFormat>와이드스크린</PresentationFormat>
  <Paragraphs>98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6" baseType="lpstr">
      <vt:lpstr>Wingdings</vt:lpstr>
      <vt:lpstr>Times New Roman</vt:lpstr>
      <vt:lpstr>Microsoft GothicNeo</vt:lpstr>
      <vt:lpstr>Segoe UI Symbol</vt:lpstr>
      <vt:lpstr>Microsoft GothicNeo Light</vt:lpstr>
      <vt:lpstr>Raleway</vt:lpstr>
      <vt:lpstr>Verdana</vt:lpstr>
      <vt:lpstr>맑은 고딕</vt:lpstr>
      <vt:lpstr>Noto Sans KR</vt:lpstr>
      <vt:lpstr>Cambria Math</vt:lpstr>
      <vt:lpstr>Arial</vt:lpstr>
      <vt:lpstr>1_077tgp_business_v2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김유림</dc:creator>
  <cp:lastModifiedBy>안용상</cp:lastModifiedBy>
  <cp:revision>1057</cp:revision>
  <dcterms:created xsi:type="dcterms:W3CDTF">2023-12-10T14:48:54Z</dcterms:created>
  <dcterms:modified xsi:type="dcterms:W3CDTF">2026-04-02T16:10:41Z</dcterms:modified>
</cp:coreProperties>
</file>