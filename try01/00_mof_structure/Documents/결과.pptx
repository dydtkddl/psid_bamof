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1" r:id="rId3"/>
    <p:sldId id="262" r:id="rId4"/>
    <p:sldId id="263" r:id="rId5"/>
    <p:sldId id="264" r:id="rId6"/>
    <p:sldId id="266" r:id="rId7"/>
    <p:sldId id="265" r:id="rId8"/>
    <p:sldId id="267" r:id="rId9"/>
    <p:sldId id="260" r:id="rId10"/>
    <p:sldId id="259" r:id="rId11"/>
    <p:sldId id="258" r:id="rId12"/>
    <p:sldId id="270" r:id="rId13"/>
    <p:sldId id="271" r:id="rId14"/>
    <p:sldId id="269" r:id="rId15"/>
    <p:sldId id="257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-1686" y="-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EC5FF8-2326-4D78-B74B-6ACBCFC69543}" type="datetimeFigureOut">
              <a:rPr lang="ko-KR" altLang="en-US" smtClean="0"/>
              <a:t>2025-04-15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066C90-3194-4496-AD0F-F5FE216909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289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B92A13-D474-1902-C0E9-0BF291BE1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2F9D5D4-090B-EC14-C027-7EAE250948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84661E-B34C-F0CA-DAA8-B79883ECF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5209B-564F-4A17-93C4-2B40E57ED12F}" type="datetime1">
              <a:rPr lang="ko-KR" altLang="en-US" smtClean="0"/>
              <a:t>2025-04-15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43A2B0-6A26-F48D-565E-A365C0057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1E82C0-C8E6-3E8A-351A-56CCF8DCC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2075" y="98425"/>
            <a:ext cx="2743200" cy="365125"/>
          </a:xfrm>
        </p:spPr>
        <p:txBody>
          <a:bodyPr/>
          <a:lstStyle>
            <a:lvl1pPr>
              <a:defRPr sz="4800" b="1"/>
            </a:lvl1pPr>
          </a:lstStyle>
          <a:p>
            <a:fld id="{7B7B51CD-FFF6-4F2D-A57D-2CC2949239E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061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0A139A-08EC-046B-B71D-B0F75141E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F1D758-E200-9EDF-E683-172F5D852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8EE463-6BA1-EEA9-21BF-B055FD84A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2D7D6-005C-4C6E-B093-6B61A5B9FDE1}" type="datetime1">
              <a:rPr lang="ko-KR" altLang="en-US" smtClean="0"/>
              <a:t>2025-04-15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EC71B4-8364-68F8-2A79-0FA75DC51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08615D-99CB-8725-48DB-DF775A3EA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51CD-FFF6-4F2D-A57D-2CC2949239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17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39C7C6-2156-DDB1-4EFE-77BB1957C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E99B64-2524-3C27-01C4-576B09520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80C641-7990-A790-0BBE-413F12A1C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C6EC3-EC02-417F-8839-F1FCF6AA72F2}" type="datetime1">
              <a:rPr lang="ko-KR" altLang="en-US" smtClean="0"/>
              <a:t>2025-04-15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660997-786D-047B-1DF9-5BB5F25B0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61636B-0C92-D901-4B05-EB40705BF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51CD-FFF6-4F2D-A57D-2CC2949239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117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7EF7-4277-2711-E384-AFA3B5053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71BAE1-709C-1164-2F87-EA281C3EFA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B80ADD-58B9-D09A-D1A6-D29BBC252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B20172-B6FF-C89F-D2EF-DCBD426CE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CEDB-2F3C-4ED8-8A51-79B5F1E6D7FD}" type="datetime1">
              <a:rPr lang="ko-KR" altLang="en-US" smtClean="0"/>
              <a:t>2025-04-15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DA0391-4E90-0C80-3409-459457020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80568A-30DB-6E3A-1D2A-BCFFEF3BD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51CD-FFF6-4F2D-A57D-2CC2949239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3371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20311E-1F16-5FD4-7C43-62AEB257E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45F797-68EA-018F-DE2B-72469B23F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6A9E19-ACDC-1FCC-E9D5-86DEB2B9E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408C0DA-741F-7209-D982-18E247B452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3B7265C-3CB0-F6A2-CD97-4A09743EB3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7B86751-D73F-A560-EBF2-A7C7C214B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08824-29DC-4297-B680-659DF2CA633D}" type="datetime1">
              <a:rPr lang="ko-KR" altLang="en-US" smtClean="0"/>
              <a:t>2025-04-15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41FDFB-5E74-2A9C-9609-04F72569F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54A5D16-2FC1-ACAB-2320-ED352E46F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51CD-FFF6-4F2D-A57D-2CC2949239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4788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45C397-47BA-B202-E5D0-5220F6F82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43C6ED0-9B2B-8ECB-2D97-D12EE2D6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9120D-BB9C-4ABC-82B4-E25934AB5D40}" type="datetime1">
              <a:rPr lang="ko-KR" altLang="en-US" smtClean="0"/>
              <a:t>2025-04-15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26494B1-BA5B-FE40-6919-A05A4F52A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15D0F7-8A31-00DD-18D2-9F85D20D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51CD-FFF6-4F2D-A57D-2CC2949239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945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BC6C9E-9712-FC25-E1A1-F84233356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FD639-E548-4771-B7A6-F261A70A9750}" type="datetime1">
              <a:rPr lang="ko-KR" altLang="en-US" smtClean="0"/>
              <a:t>2025-04-15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027A432-3DF2-42B8-F5A9-8AD7FC257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FC9072-588A-3E5A-76DE-79CE05CC5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51CD-FFF6-4F2D-A57D-2CC2949239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285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F7CB9-4C6C-B6E6-4B2A-40D89A2FE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724FE3-FCDB-1D20-5121-3119C1651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B560FD-9B30-0A68-1870-F0B1FC30D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8701E2-59DC-755B-D44E-1C7C8EFA0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721AC-29B8-4FDE-9EFB-7816800CFB3E}" type="datetime1">
              <a:rPr lang="ko-KR" altLang="en-US" smtClean="0"/>
              <a:t>2025-04-15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50A695-B77D-8B51-7A50-1BE149904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CCD8E7-B0D4-1688-B91E-2AE4B982D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51CD-FFF6-4F2D-A57D-2CC2949239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8583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F176D5-4862-2798-DE69-C8EEF67A1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197293D-B526-49E9-FFB9-3BE40D32F0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2DF422-A9DE-567C-02BD-68595934C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F4F67E6-780A-C1D8-A1F5-2815E8153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77CBB-1488-4137-993E-94649BC3E9DD}" type="datetime1">
              <a:rPr lang="ko-KR" altLang="en-US" smtClean="0"/>
              <a:t>2025-04-15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BFBE7B-9630-C4BA-F4F1-F36AF6E0D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EB8432-C8BE-9745-19C3-43CE9ADC0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51CD-FFF6-4F2D-A57D-2CC2949239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933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085902-BA68-0324-4B0A-1B5D069E1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6E1D8D-BA6A-66DC-B9AA-BB7875E35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20A12-CC97-C377-90DA-FFBAC45D9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7FB48-04CB-46F2-AA2F-4A2D8516672C}" type="datetime1">
              <a:rPr lang="ko-KR" altLang="en-US" smtClean="0"/>
              <a:t>2025-04-15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BBCF55-5E8D-F58B-DE66-9E40B0203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BBF6AF-ED2F-B992-9546-6AFA03E34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51CD-FFF6-4F2D-A57D-2CC2949239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8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C38C62C-2AAC-CBDD-037B-9593A8BDE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829D6A-1554-BBC4-D566-73B4D5DFF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AD2C5A-D219-F4FF-CC02-AED6A49EC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E86CF-5005-40E1-B4F8-7E117A203D65}" type="datetime1">
              <a:rPr lang="ko-KR" altLang="en-US" smtClean="0"/>
              <a:t>2025-04-15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0AE77E-B9C2-09E3-6F41-475DC8519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F01883-9208-4D52-73AB-C96A268C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51CD-FFF6-4F2D-A57D-2CC2949239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634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CE5D945-A709-777A-DBE3-7D51FB4C6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BB2966-D6BB-EA99-6F4B-29AD65C07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2B825B-6B4B-D679-EF54-5A2368596D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C7BF80-47E6-4FFE-B2B9-7C9D050BE6D0}" type="datetime1">
              <a:rPr lang="ko-KR" altLang="en-US" smtClean="0"/>
              <a:t>2025-04-15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082509-1005-DF84-8DB9-91F43E977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C9EA9C-68B8-E08A-23B7-7B0F787E44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7B51CD-FFF6-4F2D-A57D-2CC2949239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292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MD-group/Crystal_structures/blob/master/MOFs/MIL-125/2010_PBE/MIL125.ci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dydtkddl/PSID_server_room/blob/main/qe/%5B00%5DBAMOF/01ori_coordinate/primitive.ipynb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dydtkddl/PSID_server_room/blob/main/qe/%5B00%5DBAMOF/01ori_coordinate/primitive.ipynb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dydtkddl/PSID_server_room/blob/main/qe/%5B00%5DBAMOF/02convergence_test_MIL125NH2/06kpoints/00base_template.in" TargetMode="External"/><Relationship Id="rId4" Type="http://schemas.openxmlformats.org/officeDocument/2006/relationships/hyperlink" Target="https://github.com/dydtkddl/PSID_server_room/blob/main/qe/%5B00%5DBAMOF/02convergence_test_MIL125NH2/01ecut_wfc/00base_template.in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hyperlink" Target="https://github.com/dydtkddl/PSID_server_room/blob/main/qe/%5B00%5DBAMOF/05relaxation_MIL125NH2/smearing/input.in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hyperlink" Target="https://github.com/dydtkddl/PSID_server_room/blob/main/qe/%5B00%5DBAMOF/04relaxation_BAMOF_1/05_SMEARING_AVO_OPT/fermi/input.in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hyperlink" Target="https://github.com/dydtkddl/PSID_server_room/blob/main/qe/qe_crop_vc.py" TargetMode="Externa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hyperlink" Target="https://github.com/dydtkddl/PSID_server_room/blob/main/qe/qe_crop_vc.py" TargetMode="Externa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sites.google.com/site/dceresoli/pseudopotentials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sites.google.com/site/dceresoli/pseudopotentials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erquist/chargemol.git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dydtkddl/PSID_server_room/blob/main/qe/%5B00%5DBAMOF/06BAMOF_1_DDEC/03_DDEC_chargemol/David_Plot17_TI_core10/job_control.txt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erquist/chargemol.git" TargetMode="Externa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dydtkddl/PSID_server_room/blob/main/qe/%5B00%5DBAMOF/07MIL125NH2_DDEC/03_chargemol/David_Plot17/job_control.tx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82A822F-C4D5-A028-3216-4F341ED3F509}"/>
              </a:ext>
            </a:extLst>
          </p:cNvPr>
          <p:cNvSpPr txBox="1"/>
          <p:nvPr/>
        </p:nvSpPr>
        <p:spPr>
          <a:xfrm>
            <a:off x="-1" y="0"/>
            <a:ext cx="9310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MIL125 original </a:t>
            </a:r>
            <a:r>
              <a:rPr lang="en-US" altLang="ko-KR" b="1" dirty="0" err="1"/>
              <a:t>cif</a:t>
            </a:r>
            <a:r>
              <a:rPr lang="en-US" altLang="ko-KR" b="1" dirty="0"/>
              <a:t> (PBE optimized / from </a:t>
            </a:r>
            <a:r>
              <a:rPr lang="en-US" altLang="ko-KR" b="1" dirty="0" err="1"/>
              <a:t>github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7DA428E-7AA5-B7CD-ACC2-229CFAF04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7529" y="544571"/>
            <a:ext cx="3616942" cy="3930001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D2FD697B-33B1-4266-65F9-99B95F94E2F4}"/>
              </a:ext>
            </a:extLst>
          </p:cNvPr>
          <p:cNvGrpSpPr/>
          <p:nvPr/>
        </p:nvGrpSpPr>
        <p:grpSpPr>
          <a:xfrm>
            <a:off x="-1" y="4552950"/>
            <a:ext cx="12192001" cy="2305050"/>
            <a:chOff x="-1" y="4552950"/>
            <a:chExt cx="12192001" cy="230505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98497CC-6FCE-3EAE-5EC8-80CEF9A59657}"/>
                </a:ext>
              </a:extLst>
            </p:cNvPr>
            <p:cNvSpPr/>
            <p:nvPr/>
          </p:nvSpPr>
          <p:spPr>
            <a:xfrm>
              <a:off x="-1" y="4552950"/>
              <a:ext cx="12192001" cy="2305050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B2B1917-0B49-970D-46CD-2BEDCFCDB4FA}"/>
                </a:ext>
              </a:extLst>
            </p:cNvPr>
            <p:cNvSpPr txBox="1"/>
            <p:nvPr/>
          </p:nvSpPr>
          <p:spPr>
            <a:xfrm>
              <a:off x="0" y="4552950"/>
              <a:ext cx="342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</a:rPr>
                <a:t>Method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1437D4D-A5E3-6062-D13A-A71FB20D1F75}"/>
                </a:ext>
              </a:extLst>
            </p:cNvPr>
            <p:cNvSpPr txBox="1"/>
            <p:nvPr/>
          </p:nvSpPr>
          <p:spPr>
            <a:xfrm>
              <a:off x="-1" y="4920139"/>
              <a:ext cx="1009650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err="1">
                  <a:solidFill>
                    <a:schemeClr val="bg1"/>
                  </a:solidFill>
                </a:rPr>
                <a:t>github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에서 수집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r>
                <a:rPr lang="en-US" altLang="ko-KR" sz="1400" b="1" dirty="0">
                  <a:solidFill>
                    <a:schemeClr val="bg1"/>
                  </a:solidFill>
                  <a:hlinkClick r:id="rId3"/>
                </a:rPr>
                <a:t>https://github.com/WMD-group/Crystal_structures/blob/master/MOFs/MIL-125/2010_PBE/MIL125.cif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</a:p>
            <a:p>
              <a:endParaRPr lang="en-US" altLang="ko-KR" sz="1400" b="1" dirty="0">
                <a:solidFill>
                  <a:schemeClr val="bg1"/>
                </a:solidFill>
              </a:endParaRPr>
            </a:p>
            <a:p>
              <a:r>
                <a:rPr lang="en-US" altLang="ko-KR" sz="1400" b="1" dirty="0">
                  <a:solidFill>
                    <a:schemeClr val="bg1"/>
                  </a:solidFill>
                </a:rPr>
                <a:t>VESTA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에서 시각화</a:t>
              </a:r>
            </a:p>
          </p:txBody>
        </p:sp>
      </p:grp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5306E6AE-CCC9-4B6B-701F-68EEE8852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51CD-FFF6-4F2D-A57D-2CC2949239E2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5304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84E62-FB95-9F23-D262-E1C220942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E2D18B2-6EEE-13FF-0F29-83E08081310F}"/>
              </a:ext>
            </a:extLst>
          </p:cNvPr>
          <p:cNvSpPr txBox="1"/>
          <p:nvPr/>
        </p:nvSpPr>
        <p:spPr>
          <a:xfrm>
            <a:off x="-1" y="0"/>
            <a:ext cx="9310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MIL125 primitive cell </a:t>
            </a:r>
            <a:r>
              <a:rPr lang="en-US" altLang="ko-KR" b="1" dirty="0" err="1"/>
              <a:t>cif</a:t>
            </a:r>
            <a:r>
              <a:rPr lang="en-US" altLang="ko-KR" b="1" dirty="0"/>
              <a:t> (PBE optimized / transformed with </a:t>
            </a:r>
            <a:r>
              <a:rPr lang="en-US" altLang="ko-KR" b="1" dirty="0" err="1"/>
              <a:t>pymatgen</a:t>
            </a:r>
            <a:r>
              <a:rPr lang="en-US" altLang="ko-KR" b="1" dirty="0"/>
              <a:t> script)</a:t>
            </a:r>
            <a:endParaRPr lang="ko-KR" altLang="en-US" b="1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FBD3D46-94ED-4A7E-F9B7-7DB52597F3D0}"/>
              </a:ext>
            </a:extLst>
          </p:cNvPr>
          <p:cNvGrpSpPr/>
          <p:nvPr/>
        </p:nvGrpSpPr>
        <p:grpSpPr>
          <a:xfrm>
            <a:off x="2573135" y="509383"/>
            <a:ext cx="6893330" cy="3737593"/>
            <a:chOff x="1145770" y="937065"/>
            <a:chExt cx="9505355" cy="515384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84DA2A51-1708-92F3-C020-A7D4E59FD9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5770" y="937065"/>
              <a:ext cx="4552597" cy="4614537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1993B35-EFDB-15FF-58C5-41DA644F8235}"/>
                </a:ext>
              </a:extLst>
            </p:cNvPr>
            <p:cNvSpPr txBox="1"/>
            <p:nvPr/>
          </p:nvSpPr>
          <p:spPr>
            <a:xfrm>
              <a:off x="7477638" y="5666509"/>
              <a:ext cx="2600036" cy="42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2x2x2 Supercell</a:t>
              </a:r>
              <a:endParaRPr lang="ko-KR" altLang="en-US" sz="14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87FA4B6-6655-1C42-EBF1-F7C525528151}"/>
                </a:ext>
              </a:extLst>
            </p:cNvPr>
            <p:cNvSpPr txBox="1"/>
            <p:nvPr/>
          </p:nvSpPr>
          <p:spPr>
            <a:xfrm>
              <a:off x="2098964" y="5666509"/>
              <a:ext cx="2600036" cy="42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Primitive Cell</a:t>
              </a:r>
              <a:endParaRPr lang="ko-KR" altLang="en-US" sz="1400" b="1" dirty="0"/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39B436E-2F73-DC81-3A2F-6BD89E981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04188" y="1294292"/>
              <a:ext cx="3746937" cy="3900081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CAC0053-4A85-6B2E-9BB5-277E7CDCA0B2}"/>
              </a:ext>
            </a:extLst>
          </p:cNvPr>
          <p:cNvGrpSpPr/>
          <p:nvPr/>
        </p:nvGrpSpPr>
        <p:grpSpPr>
          <a:xfrm>
            <a:off x="-1" y="4552950"/>
            <a:ext cx="12192001" cy="2305050"/>
            <a:chOff x="-1" y="4552950"/>
            <a:chExt cx="12192001" cy="2305050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0F90581-EAB6-035C-E961-65975C1184D0}"/>
                </a:ext>
              </a:extLst>
            </p:cNvPr>
            <p:cNvSpPr/>
            <p:nvPr/>
          </p:nvSpPr>
          <p:spPr>
            <a:xfrm>
              <a:off x="-1" y="4552950"/>
              <a:ext cx="12192001" cy="2305050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87AADEE-9580-C645-2D40-5930EFDEC6A9}"/>
                </a:ext>
              </a:extLst>
            </p:cNvPr>
            <p:cNvSpPr txBox="1"/>
            <p:nvPr/>
          </p:nvSpPr>
          <p:spPr>
            <a:xfrm>
              <a:off x="0" y="4552950"/>
              <a:ext cx="342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</a:rPr>
                <a:t>Method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F011962-14B0-60BA-BA58-063302D683A2}"/>
                </a:ext>
              </a:extLst>
            </p:cNvPr>
            <p:cNvSpPr txBox="1"/>
            <p:nvPr/>
          </p:nvSpPr>
          <p:spPr>
            <a:xfrm>
              <a:off x="-1" y="4920139"/>
              <a:ext cx="10096501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err="1">
                  <a:solidFill>
                    <a:schemeClr val="bg1"/>
                  </a:solidFill>
                </a:rPr>
                <a:t>jupyter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notebook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에서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python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라이브러리 </a:t>
              </a:r>
              <a:r>
                <a:rPr lang="en-US" altLang="ko-KR" sz="1400" b="1" dirty="0" err="1">
                  <a:solidFill>
                    <a:schemeClr val="bg1"/>
                  </a:solidFill>
                </a:rPr>
                <a:t>pymatgen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을 사용해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standard primitive cell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로 변환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r>
                <a:rPr lang="en-US" altLang="ko-KR" sz="1400" b="1" dirty="0">
                  <a:solidFill>
                    <a:schemeClr val="bg1"/>
                  </a:solidFill>
                  <a:hlinkClick r:id="rId4"/>
                </a:rPr>
                <a:t>https://github.com/dydtkddl/PSID_server_room/blob/main/qe/%5B00%5DBAMOF/01ori_coordinate/primitive.ipynb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</a:p>
            <a:p>
              <a:endParaRPr lang="en-US" altLang="ko-KR" sz="1400" b="1" dirty="0">
                <a:solidFill>
                  <a:schemeClr val="bg1"/>
                </a:solidFill>
              </a:endParaRPr>
            </a:p>
            <a:p>
              <a:r>
                <a:rPr lang="en-US" altLang="ko-KR" sz="1400" b="1" dirty="0">
                  <a:solidFill>
                    <a:schemeClr val="bg1"/>
                  </a:solidFill>
                </a:rPr>
                <a:t>VESTA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에서 시각화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r>
                <a:rPr lang="en-US" altLang="ko-KR" sz="1400" b="1" dirty="0">
                  <a:solidFill>
                    <a:schemeClr val="bg1"/>
                  </a:solidFill>
                </a:rPr>
                <a:t>VESTA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에서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2x2x2 boundary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확장 및 </a:t>
              </a:r>
              <a:r>
                <a:rPr lang="ko-KR" altLang="en-US" sz="1400" b="1" dirty="0" err="1">
                  <a:solidFill>
                    <a:schemeClr val="bg1"/>
                  </a:solidFill>
                </a:rPr>
                <a:t>슈퍼셀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 시각화</a:t>
              </a:r>
            </a:p>
          </p:txBody>
        </p:sp>
      </p:grp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52A4300B-CA95-5421-C7F5-98E59F956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51CD-FFF6-4F2D-A57D-2CC2949239E2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8694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73714-8790-3DCE-877E-BCBAA40A1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1A67EA-8A0A-D596-F291-0236CE75DE42}"/>
              </a:ext>
            </a:extLst>
          </p:cNvPr>
          <p:cNvSpPr txBox="1"/>
          <p:nvPr/>
        </p:nvSpPr>
        <p:spPr>
          <a:xfrm>
            <a:off x="-1" y="0"/>
            <a:ext cx="12007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MIL125-</a:t>
            </a:r>
            <a:r>
              <a:rPr lang="en-US" altLang="ko-KR" b="1" dirty="0">
                <a:solidFill>
                  <a:srgbClr val="FF0000"/>
                </a:solidFill>
              </a:rPr>
              <a:t>NH2</a:t>
            </a:r>
            <a:r>
              <a:rPr lang="en-US" altLang="ko-KR" b="1" dirty="0"/>
              <a:t> primitive cell </a:t>
            </a:r>
            <a:r>
              <a:rPr lang="en-US" altLang="ko-KR" b="1" dirty="0" err="1"/>
              <a:t>cif</a:t>
            </a:r>
            <a:r>
              <a:rPr lang="en-US" altLang="ko-KR" b="1" dirty="0"/>
              <a:t> ( NH2 added by Avogadro program and </a:t>
            </a:r>
            <a:r>
              <a:rPr lang="en-US" altLang="ko-KR" b="1" dirty="0" err="1"/>
              <a:t>pymatgen</a:t>
            </a:r>
            <a:r>
              <a:rPr lang="en-US" altLang="ko-KR" b="1" dirty="0"/>
              <a:t> script)</a:t>
            </a:r>
            <a:endParaRPr lang="ko-KR" altLang="en-US" b="1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A975908-3481-C78E-11A8-E0DD7F192A0A}"/>
              </a:ext>
            </a:extLst>
          </p:cNvPr>
          <p:cNvGrpSpPr/>
          <p:nvPr/>
        </p:nvGrpSpPr>
        <p:grpSpPr>
          <a:xfrm>
            <a:off x="2713825" y="756398"/>
            <a:ext cx="6430176" cy="3646978"/>
            <a:chOff x="1027899" y="756398"/>
            <a:chExt cx="9455219" cy="536268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BA92C333-8C64-708A-799A-CC64FCBB0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7899" y="756398"/>
              <a:ext cx="4612856" cy="4763189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C2EB228-4E1F-BC8E-79D9-ED1BA7A28B22}"/>
                </a:ext>
              </a:extLst>
            </p:cNvPr>
            <p:cNvSpPr txBox="1"/>
            <p:nvPr/>
          </p:nvSpPr>
          <p:spPr>
            <a:xfrm>
              <a:off x="7514584" y="5666509"/>
              <a:ext cx="2600036" cy="45256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2x2x2 Supercell</a:t>
              </a:r>
              <a:endParaRPr lang="ko-KR" altLang="en-US" sz="1400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EB0A15-0BF2-BD98-CDBA-1D6614DE3FA3}"/>
                </a:ext>
              </a:extLst>
            </p:cNvPr>
            <p:cNvSpPr txBox="1"/>
            <p:nvPr/>
          </p:nvSpPr>
          <p:spPr>
            <a:xfrm>
              <a:off x="2135909" y="5666509"/>
              <a:ext cx="2600036" cy="45256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Primitive Cell</a:t>
              </a:r>
              <a:endParaRPr lang="ko-KR" altLang="en-US" sz="1400" b="1" dirty="0"/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85A44D6D-E666-3DF1-6890-6DB09BD53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77510" y="1168276"/>
              <a:ext cx="3705608" cy="3939432"/>
            </a:xfrm>
            <a:prstGeom prst="rect">
              <a:avLst/>
            </a:prstGeom>
          </p:spPr>
        </p:pic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D600003-9C86-41A8-E1AA-9C416BEFB88A}"/>
              </a:ext>
            </a:extLst>
          </p:cNvPr>
          <p:cNvGrpSpPr/>
          <p:nvPr/>
        </p:nvGrpSpPr>
        <p:grpSpPr>
          <a:xfrm>
            <a:off x="-1" y="4552950"/>
            <a:ext cx="12192001" cy="2305050"/>
            <a:chOff x="-1" y="4552950"/>
            <a:chExt cx="12192001" cy="2305050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DA9BBEE-BAAA-67A9-CB0B-477DBE0CFAC5}"/>
                </a:ext>
              </a:extLst>
            </p:cNvPr>
            <p:cNvSpPr/>
            <p:nvPr/>
          </p:nvSpPr>
          <p:spPr>
            <a:xfrm>
              <a:off x="-1" y="4552950"/>
              <a:ext cx="12192001" cy="2305050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4072546-CA79-1849-AF6B-E1556F61EA69}"/>
                </a:ext>
              </a:extLst>
            </p:cNvPr>
            <p:cNvSpPr txBox="1"/>
            <p:nvPr/>
          </p:nvSpPr>
          <p:spPr>
            <a:xfrm>
              <a:off x="0" y="4552950"/>
              <a:ext cx="342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</a:rPr>
                <a:t>Method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B791941-0519-9E0E-6B60-D349D33C2A4D}"/>
                </a:ext>
              </a:extLst>
            </p:cNvPr>
            <p:cNvSpPr txBox="1"/>
            <p:nvPr/>
          </p:nvSpPr>
          <p:spPr>
            <a:xfrm>
              <a:off x="-1" y="4920139"/>
              <a:ext cx="11639551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</a:rPr>
                <a:t>Avogadro Program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을 사용해서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NH2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로 바꿀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H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의 원자이름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: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원자번호 추출 및 </a:t>
              </a:r>
              <a:r>
                <a:rPr lang="en-US" altLang="ko-KR" sz="1400" b="1" dirty="0" err="1">
                  <a:solidFill>
                    <a:schemeClr val="bg1"/>
                  </a:solidFill>
                </a:rPr>
                <a:t>VScode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상에서 해당 원자를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Nitrogen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으로 변경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r>
                <a:rPr lang="en-US" altLang="ko-KR" sz="1400" b="1" dirty="0">
                  <a:solidFill>
                    <a:schemeClr val="bg1"/>
                  </a:solidFill>
                </a:rPr>
                <a:t>N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원자를 기준으로 가장 가까운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C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로부터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N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으로 향하는 방향벡터를 이용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N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에서부터 해당 벡터를 뻗고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SP3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각도를 가지도록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H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두개를 적절한 위치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(N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과의 거리 약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1.3 A)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에 배치하는 스크립트 작성</a:t>
              </a:r>
              <a:br>
                <a:rPr lang="en-US" altLang="ko-KR" sz="1400" b="1" dirty="0">
                  <a:solidFill>
                    <a:schemeClr val="bg1"/>
                  </a:solidFill>
                </a:rPr>
              </a:br>
              <a:r>
                <a:rPr lang="ko-KR" altLang="en-US" sz="1400" b="1" dirty="0">
                  <a:solidFill>
                    <a:schemeClr val="bg1"/>
                  </a:solidFill>
                </a:rPr>
                <a:t>이후 </a:t>
              </a:r>
              <a:r>
                <a:rPr lang="en-US" altLang="ko-KR" sz="1400" b="1" dirty="0" err="1">
                  <a:solidFill>
                    <a:schemeClr val="bg1"/>
                  </a:solidFill>
                </a:rPr>
                <a:t>Pymatgen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으로 </a:t>
              </a:r>
              <a:r>
                <a:rPr lang="en-US" altLang="ko-KR" sz="1400" b="1" dirty="0" err="1">
                  <a:solidFill>
                    <a:schemeClr val="bg1"/>
                  </a:solidFill>
                </a:rPr>
                <a:t>cif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로 변환</a:t>
              </a:r>
              <a:endParaRPr lang="en-US" altLang="ko-KR" sz="1400" b="1" dirty="0">
                <a:solidFill>
                  <a:schemeClr val="bg1"/>
                </a:solidFill>
                <a:hlinkClick r:id="rId4"/>
              </a:endParaRPr>
            </a:p>
            <a:p>
              <a:r>
                <a:rPr lang="en-US" altLang="ko-KR" sz="1400" b="1" dirty="0">
                  <a:solidFill>
                    <a:schemeClr val="bg1"/>
                  </a:solidFill>
                  <a:hlinkClick r:id="rId4"/>
                </a:rPr>
                <a:t>https://github.com/dydtkddl/PSID_server_room/blob/main/qe/%5B00%5DBAMOF/01ori_coordinate/primitive.ipynb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</a:p>
            <a:p>
              <a:endParaRPr lang="en-US" altLang="ko-KR" sz="1400" b="1" dirty="0">
                <a:solidFill>
                  <a:schemeClr val="bg1"/>
                </a:solidFill>
              </a:endParaRPr>
            </a:p>
            <a:p>
              <a:r>
                <a:rPr lang="en-US" altLang="ko-KR" sz="1400" b="1" dirty="0">
                  <a:solidFill>
                    <a:schemeClr val="bg1"/>
                  </a:solidFill>
                </a:rPr>
                <a:t>VESTA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에서 시각화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r>
                <a:rPr lang="en-US" altLang="ko-KR" sz="1400" b="1" dirty="0">
                  <a:solidFill>
                    <a:schemeClr val="bg1"/>
                  </a:solidFill>
                </a:rPr>
                <a:t>VESTA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에서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2x2x2 boundary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확장 및 </a:t>
              </a:r>
              <a:r>
                <a:rPr lang="ko-KR" altLang="en-US" sz="1400" b="1" dirty="0" err="1">
                  <a:solidFill>
                    <a:schemeClr val="bg1"/>
                  </a:solidFill>
                </a:rPr>
                <a:t>슈퍼셀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 시각화</a:t>
              </a:r>
            </a:p>
          </p:txBody>
        </p:sp>
      </p:grp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228BCAB2-048B-6AA3-061B-4F730FA4D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51CD-FFF6-4F2D-A57D-2CC2949239E2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8704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C92BB-B697-E390-6F4B-1D3C87DA2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FD29BA-2845-B6F8-351F-B5DB338E1B77}"/>
              </a:ext>
            </a:extLst>
          </p:cNvPr>
          <p:cNvSpPr txBox="1"/>
          <p:nvPr/>
        </p:nvSpPr>
        <p:spPr>
          <a:xfrm>
            <a:off x="-1" y="0"/>
            <a:ext cx="12007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BAMOF</a:t>
            </a:r>
            <a:r>
              <a:rPr lang="en-US" altLang="ko-KR" b="1" dirty="0"/>
              <a:t> primitive cell </a:t>
            </a:r>
            <a:r>
              <a:rPr lang="en-US" altLang="ko-KR" b="1" dirty="0" err="1"/>
              <a:t>cif</a:t>
            </a:r>
            <a:r>
              <a:rPr lang="en-US" altLang="ko-KR" b="1" dirty="0"/>
              <a:t> ( NH2 and carboxyl group removed by Avogadro program and </a:t>
            </a:r>
            <a:r>
              <a:rPr lang="en-US" altLang="ko-KR" b="1" dirty="0" err="1"/>
              <a:t>pymatgen</a:t>
            </a:r>
            <a:r>
              <a:rPr lang="en-US" altLang="ko-KR" b="1" dirty="0"/>
              <a:t> script)</a:t>
            </a:r>
            <a:endParaRPr lang="ko-KR" altLang="en-US" b="1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72901FE-C6E9-CF14-146E-CEE7412DC97F}"/>
              </a:ext>
            </a:extLst>
          </p:cNvPr>
          <p:cNvGrpSpPr/>
          <p:nvPr/>
        </p:nvGrpSpPr>
        <p:grpSpPr>
          <a:xfrm>
            <a:off x="2788596" y="582659"/>
            <a:ext cx="6430080" cy="3444781"/>
            <a:chOff x="1433940" y="1166476"/>
            <a:chExt cx="9324120" cy="499520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6BFEFE1-1257-1073-824A-A1A9BD4B5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33940" y="1557435"/>
              <a:ext cx="4003974" cy="3743129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7ABF54F-4125-98DE-BBEB-D16C82A258A5}"/>
                </a:ext>
              </a:extLst>
            </p:cNvPr>
            <p:cNvSpPr txBox="1"/>
            <p:nvPr/>
          </p:nvSpPr>
          <p:spPr>
            <a:xfrm>
              <a:off x="7514584" y="5666512"/>
              <a:ext cx="2600036" cy="4951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2x2x2 Supercell</a:t>
              </a:r>
              <a:endParaRPr lang="ko-KR" altLang="en-US" sz="1400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19384A1-5BED-C1E9-0566-AA1B22E0FADF}"/>
                </a:ext>
              </a:extLst>
            </p:cNvPr>
            <p:cNvSpPr txBox="1"/>
            <p:nvPr/>
          </p:nvSpPr>
          <p:spPr>
            <a:xfrm>
              <a:off x="2135908" y="5666510"/>
              <a:ext cx="2600036" cy="4951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Primitive Cell</a:t>
              </a:r>
              <a:endParaRPr lang="ko-KR" altLang="en-US" sz="1400" b="1" dirty="0"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1A6BC07D-6332-62A0-9DA4-770913EB1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54086" y="1166476"/>
              <a:ext cx="4003974" cy="4134088"/>
            </a:xfrm>
            <a:prstGeom prst="rect">
              <a:avLst/>
            </a:prstGeom>
          </p:spPr>
        </p:pic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381B35F-5AE0-4A19-4F51-CD70FF1407E3}"/>
              </a:ext>
            </a:extLst>
          </p:cNvPr>
          <p:cNvGrpSpPr/>
          <p:nvPr/>
        </p:nvGrpSpPr>
        <p:grpSpPr>
          <a:xfrm>
            <a:off x="-1" y="4552950"/>
            <a:ext cx="12192001" cy="2305050"/>
            <a:chOff x="-1" y="4552950"/>
            <a:chExt cx="12192001" cy="230505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1C7D753-ECCC-AA3C-9ECA-AEFA45A1EFC6}"/>
                </a:ext>
              </a:extLst>
            </p:cNvPr>
            <p:cNvSpPr/>
            <p:nvPr/>
          </p:nvSpPr>
          <p:spPr>
            <a:xfrm>
              <a:off x="-1" y="4552950"/>
              <a:ext cx="12192001" cy="2305050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1C5A20A-D8FC-CFF7-4E49-E68929018AAC}"/>
                </a:ext>
              </a:extLst>
            </p:cNvPr>
            <p:cNvSpPr txBox="1"/>
            <p:nvPr/>
          </p:nvSpPr>
          <p:spPr>
            <a:xfrm>
              <a:off x="0" y="4552950"/>
              <a:ext cx="342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</a:rPr>
                <a:t>Method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4F7BF9A-98EC-6E92-D3D8-EFCEBD7EDE37}"/>
                </a:ext>
              </a:extLst>
            </p:cNvPr>
            <p:cNvSpPr txBox="1"/>
            <p:nvPr/>
          </p:nvSpPr>
          <p:spPr>
            <a:xfrm>
              <a:off x="-1" y="4920139"/>
              <a:ext cx="11639551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</a:rPr>
                <a:t>Avogadro Program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을 사용해서 식별되는 모든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NH2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를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H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로 수동으로 바꿨으며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, Ti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와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Ti</a:t>
              </a:r>
              <a:r>
                <a:rPr lang="ko-KR" altLang="en-US" sz="1400" b="1" dirty="0" err="1">
                  <a:solidFill>
                    <a:schemeClr val="bg1"/>
                  </a:solidFill>
                </a:rPr>
                <a:t>를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 연결하는 </a:t>
              </a:r>
              <a:r>
                <a:rPr lang="ko-KR" altLang="en-US" sz="1400" b="1" dirty="0" err="1">
                  <a:solidFill>
                    <a:schemeClr val="bg1"/>
                  </a:solidFill>
                </a:rPr>
                <a:t>링커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 분자들 중 일부 분자들에 대해 </a:t>
              </a:r>
              <a:r>
                <a:rPr lang="ko-KR" altLang="en-US" sz="1400" b="1" dirty="0" err="1">
                  <a:solidFill>
                    <a:schemeClr val="bg1"/>
                  </a:solidFill>
                </a:rPr>
                <a:t>카복실기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 한 개를 제거하는 작업 수행</a:t>
              </a:r>
              <a:br>
                <a:rPr lang="en-US" altLang="ko-KR" sz="1400" b="1" dirty="0">
                  <a:solidFill>
                    <a:schemeClr val="bg1"/>
                  </a:solidFill>
                </a:rPr>
              </a:br>
              <a:endParaRPr lang="en-US" altLang="ko-KR" sz="1400" b="1" dirty="0">
                <a:solidFill>
                  <a:schemeClr val="bg1"/>
                </a:solidFill>
              </a:endParaRPr>
            </a:p>
            <a:p>
              <a:r>
                <a:rPr lang="en-US" altLang="ko-KR" sz="1400" b="1" dirty="0">
                  <a:solidFill>
                    <a:schemeClr val="bg1"/>
                  </a:solidFill>
                </a:rPr>
                <a:t>VESTA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에서 시각화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r>
                <a:rPr lang="en-US" altLang="ko-KR" sz="1400" b="1" dirty="0">
                  <a:solidFill>
                    <a:schemeClr val="bg1"/>
                  </a:solidFill>
                </a:rPr>
                <a:t>VESTA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에서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2x2x2 boundary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확장 및 </a:t>
              </a:r>
              <a:r>
                <a:rPr lang="ko-KR" altLang="en-US" sz="1400" b="1" dirty="0" err="1">
                  <a:solidFill>
                    <a:schemeClr val="bg1"/>
                  </a:solidFill>
                </a:rPr>
                <a:t>슈퍼셀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 시각화</a:t>
              </a:r>
            </a:p>
          </p:txBody>
        </p:sp>
      </p:grp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771EBE37-8E74-A1AB-52C2-A3C0F57B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51CD-FFF6-4F2D-A57D-2CC2949239E2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98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13800-5808-1A2D-1919-8F61DE64A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2B6D1A9-0B63-9F9B-99AF-678030B45711}"/>
              </a:ext>
            </a:extLst>
          </p:cNvPr>
          <p:cNvSpPr txBox="1"/>
          <p:nvPr/>
        </p:nvSpPr>
        <p:spPr>
          <a:xfrm>
            <a:off x="-1" y="0"/>
            <a:ext cx="12007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BAMOF</a:t>
            </a:r>
            <a:r>
              <a:rPr lang="en-US" altLang="ko-KR" b="1" dirty="0"/>
              <a:t> semi optimized primitive cell </a:t>
            </a:r>
            <a:r>
              <a:rPr lang="en-US" altLang="ko-KR" b="1" dirty="0" err="1"/>
              <a:t>cif</a:t>
            </a:r>
            <a:r>
              <a:rPr lang="en-US" altLang="ko-KR" b="1" dirty="0"/>
              <a:t> ( optimized by Avogadro Program which uses UFF Force Field )</a:t>
            </a:r>
            <a:endParaRPr lang="ko-KR" altLang="en-US" b="1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3D07138-1F9F-4ED0-42C6-64DAE241106F}"/>
              </a:ext>
            </a:extLst>
          </p:cNvPr>
          <p:cNvGrpSpPr/>
          <p:nvPr/>
        </p:nvGrpSpPr>
        <p:grpSpPr>
          <a:xfrm>
            <a:off x="2527904" y="768310"/>
            <a:ext cx="6949471" cy="3377115"/>
            <a:chOff x="1384904" y="1126837"/>
            <a:chExt cx="10278543" cy="499488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0AD5D0A-2575-7F76-AB7B-FAC357EF3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84904" y="1126837"/>
              <a:ext cx="4384992" cy="4154582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58CDFA9-FC6F-8098-8BFE-EA5B19DE3492}"/>
                </a:ext>
              </a:extLst>
            </p:cNvPr>
            <p:cNvSpPr txBox="1"/>
            <p:nvPr/>
          </p:nvSpPr>
          <p:spPr>
            <a:xfrm>
              <a:off x="7514584" y="5666509"/>
              <a:ext cx="2600036" cy="45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2x2x2 Supercell</a:t>
              </a:r>
              <a:endParaRPr lang="ko-KR" altLang="en-US" sz="1400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819873-DBC5-100B-2A2B-59BB31D87B60}"/>
                </a:ext>
              </a:extLst>
            </p:cNvPr>
            <p:cNvSpPr txBox="1"/>
            <p:nvPr/>
          </p:nvSpPr>
          <p:spPr>
            <a:xfrm>
              <a:off x="2135909" y="5666510"/>
              <a:ext cx="2600036" cy="4552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Primitive Cell</a:t>
              </a:r>
              <a:endParaRPr lang="ko-KR" altLang="en-US" sz="1400" b="1" dirty="0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695A2E1C-09A4-E2D1-3FB8-70C4BC8F69D1}"/>
                </a:ext>
              </a:extLst>
            </p:cNvPr>
            <p:cNvGrpSpPr/>
            <p:nvPr/>
          </p:nvGrpSpPr>
          <p:grpSpPr>
            <a:xfrm>
              <a:off x="6232237" y="1607673"/>
              <a:ext cx="5431210" cy="3365432"/>
              <a:chOff x="6003636" y="1354546"/>
              <a:chExt cx="6285492" cy="3894785"/>
            </a:xfrm>
          </p:grpSpPr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109A636E-A423-F9C7-3011-09AB462FD4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03636" y="1354546"/>
                <a:ext cx="3550622" cy="3699164"/>
              </a:xfrm>
              <a:prstGeom prst="rect">
                <a:avLst/>
              </a:prstGeom>
            </p:spPr>
          </p:pic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C3E5F49F-F473-4FA5-4FCD-6A1B3C9AD8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56437" y="1434083"/>
                <a:ext cx="2832691" cy="3815248"/>
              </a:xfrm>
              <a:prstGeom prst="rect">
                <a:avLst/>
              </a:prstGeom>
            </p:spPr>
          </p:pic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3F536D3-32AE-2742-761C-414CD5FC0FE6}"/>
              </a:ext>
            </a:extLst>
          </p:cNvPr>
          <p:cNvGrpSpPr/>
          <p:nvPr/>
        </p:nvGrpSpPr>
        <p:grpSpPr>
          <a:xfrm>
            <a:off x="-1" y="4552950"/>
            <a:ext cx="12192001" cy="2305050"/>
            <a:chOff x="-1" y="4552950"/>
            <a:chExt cx="12192001" cy="2305050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30A81E1-B070-0CA0-261A-EE669DE10BE6}"/>
                </a:ext>
              </a:extLst>
            </p:cNvPr>
            <p:cNvSpPr/>
            <p:nvPr/>
          </p:nvSpPr>
          <p:spPr>
            <a:xfrm>
              <a:off x="-1" y="4552950"/>
              <a:ext cx="12192001" cy="2305050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BE5D745-463D-CCF7-A5B6-1A42A5D70A97}"/>
                </a:ext>
              </a:extLst>
            </p:cNvPr>
            <p:cNvSpPr txBox="1"/>
            <p:nvPr/>
          </p:nvSpPr>
          <p:spPr>
            <a:xfrm>
              <a:off x="0" y="4552950"/>
              <a:ext cx="342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</a:rPr>
                <a:t>Method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301DCA6-1D7D-7399-1BEA-40861F9E5049}"/>
                </a:ext>
              </a:extLst>
            </p:cNvPr>
            <p:cNvSpPr txBox="1"/>
            <p:nvPr/>
          </p:nvSpPr>
          <p:spPr>
            <a:xfrm>
              <a:off x="-1" y="4920139"/>
              <a:ext cx="1163955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</a:rPr>
                <a:t>Avogadro Program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을 사용해서 제작한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BAMOF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를 세미 구조 최적화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(UFF Force Field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사용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)</a:t>
              </a:r>
              <a:br>
                <a:rPr lang="en-US" altLang="ko-KR" sz="1400" b="1" dirty="0">
                  <a:solidFill>
                    <a:schemeClr val="bg1"/>
                  </a:solidFill>
                </a:rPr>
              </a:br>
              <a:endParaRPr lang="en-US" altLang="ko-KR" sz="1400" b="1" dirty="0">
                <a:solidFill>
                  <a:schemeClr val="bg1"/>
                </a:solidFill>
              </a:endParaRPr>
            </a:p>
            <a:p>
              <a:r>
                <a:rPr lang="en-US" altLang="ko-KR" sz="1400" b="1" dirty="0">
                  <a:solidFill>
                    <a:schemeClr val="bg1"/>
                  </a:solidFill>
                </a:rPr>
                <a:t>VESTA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에서 시각화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r>
                <a:rPr lang="en-US" altLang="ko-KR" sz="1400" b="1" dirty="0">
                  <a:solidFill>
                    <a:schemeClr val="bg1"/>
                  </a:solidFill>
                </a:rPr>
                <a:t>VESTA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에서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2x2x2 boundary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확장 및 </a:t>
              </a:r>
              <a:r>
                <a:rPr lang="ko-KR" altLang="en-US" sz="1400" b="1" dirty="0" err="1">
                  <a:solidFill>
                    <a:schemeClr val="bg1"/>
                  </a:solidFill>
                </a:rPr>
                <a:t>슈퍼셀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 시각화</a:t>
              </a:r>
            </a:p>
          </p:txBody>
        </p:sp>
      </p:grp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5B830B23-A3B0-9CC7-21A2-317191DD8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51CD-FFF6-4F2D-A57D-2CC2949239E2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6375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DC533-CEC2-DD2C-7E31-DE7A6C8C1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6028AB-35CE-8D2A-04FD-D5D15FD46CE2}"/>
              </a:ext>
            </a:extLst>
          </p:cNvPr>
          <p:cNvSpPr txBox="1"/>
          <p:nvPr/>
        </p:nvSpPr>
        <p:spPr>
          <a:xfrm>
            <a:off x="-1" y="0"/>
            <a:ext cx="12007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DFT Convergence Test for “</a:t>
            </a:r>
            <a:r>
              <a:rPr lang="en-US" altLang="ko-KR" b="1" dirty="0" err="1"/>
              <a:t>ecutwfc</a:t>
            </a:r>
            <a:r>
              <a:rPr lang="en-US" altLang="ko-KR" b="1" dirty="0"/>
              <a:t> wavefunction cutoff energy” and “</a:t>
            </a:r>
            <a:r>
              <a:rPr lang="en-US" altLang="ko-KR" b="1" dirty="0" err="1"/>
              <a:t>kpoint</a:t>
            </a:r>
            <a:r>
              <a:rPr lang="en-US" altLang="ko-KR" b="1" dirty="0"/>
              <a:t> grids” by Quantum espresso</a:t>
            </a:r>
            <a:endParaRPr lang="ko-KR" altLang="en-US" b="1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51772606-01E1-A5A4-A468-B25A4EFB9A5D}"/>
              </a:ext>
            </a:extLst>
          </p:cNvPr>
          <p:cNvGrpSpPr/>
          <p:nvPr/>
        </p:nvGrpSpPr>
        <p:grpSpPr>
          <a:xfrm>
            <a:off x="2386961" y="996740"/>
            <a:ext cx="6865626" cy="2769454"/>
            <a:chOff x="1287774" y="1282175"/>
            <a:chExt cx="9977951" cy="402490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EF8A3C0-4BBF-C4AF-549E-B127124E2CC3}"/>
                </a:ext>
              </a:extLst>
            </p:cNvPr>
            <p:cNvSpPr txBox="1"/>
            <p:nvPr/>
          </p:nvSpPr>
          <p:spPr>
            <a:xfrm>
              <a:off x="7514584" y="4904509"/>
              <a:ext cx="2600036" cy="40256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 err="1"/>
                <a:t>Kpoints</a:t>
              </a:r>
              <a:r>
                <a:rPr lang="en-US" altLang="ko-KR" sz="1200" b="1" dirty="0"/>
                <a:t> grids</a:t>
              </a:r>
              <a:endParaRPr lang="ko-KR" altLang="en-US" sz="1200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66D4632-E51B-6713-2451-D8FEC697B5FD}"/>
                </a:ext>
              </a:extLst>
            </p:cNvPr>
            <p:cNvSpPr txBox="1"/>
            <p:nvPr/>
          </p:nvSpPr>
          <p:spPr>
            <a:xfrm>
              <a:off x="2135910" y="4904509"/>
              <a:ext cx="2600036" cy="40256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 err="1"/>
                <a:t>ecutwfc</a:t>
              </a:r>
              <a:endParaRPr lang="ko-KR" altLang="en-US" sz="1200" b="1" dirty="0"/>
            </a:p>
          </p:txBody>
        </p:sp>
        <p:pic>
          <p:nvPicPr>
            <p:cNvPr id="3" name="그림 2" descr="텍스트, 스크린샷, 라인, 도표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8A32A16B-1C13-3298-ED38-E5DE32DFB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7774" y="1477107"/>
              <a:ext cx="4428562" cy="3126489"/>
            </a:xfrm>
            <a:prstGeom prst="rect">
              <a:avLst/>
            </a:prstGeom>
          </p:spPr>
        </p:pic>
        <p:pic>
          <p:nvPicPr>
            <p:cNvPr id="10" name="그림 9" descr="텍스트, 라인, 그래프, 도표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74EC6EA8-B0CF-5EE2-2AC5-1B05D1ED9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7163" y="1282175"/>
              <a:ext cx="4428562" cy="3321421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DE9F2AE-41F1-A67C-40E3-F178FD379258}"/>
                </a:ext>
              </a:extLst>
            </p:cNvPr>
            <p:cNvSpPr txBox="1"/>
            <p:nvPr/>
          </p:nvSpPr>
          <p:spPr>
            <a:xfrm>
              <a:off x="6958012" y="4418930"/>
              <a:ext cx="914400" cy="402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highlight>
                    <a:srgbClr val="FFFF00"/>
                  </a:highlight>
                </a:rPr>
                <a:t>1x1x1</a:t>
              </a:r>
              <a:endParaRPr lang="ko-KR" altLang="en-US" sz="1200" dirty="0">
                <a:highlight>
                  <a:srgbClr val="FFFF00"/>
                </a:highlight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27AC5D5-9FDF-29D0-53F2-8E9ADBA341C9}"/>
                </a:ext>
              </a:extLst>
            </p:cNvPr>
            <p:cNvSpPr txBox="1"/>
            <p:nvPr/>
          </p:nvSpPr>
          <p:spPr>
            <a:xfrm>
              <a:off x="8654669" y="4418930"/>
              <a:ext cx="914400" cy="402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highlight>
                    <a:srgbClr val="FFFF00"/>
                  </a:highlight>
                </a:rPr>
                <a:t>2x2x2</a:t>
              </a:r>
              <a:endParaRPr lang="ko-KR" altLang="en-US" sz="1200" dirty="0">
                <a:highlight>
                  <a:srgbClr val="FFFF00"/>
                </a:highlight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EFC1775-56C6-4E82-E3B9-A2862A96E074}"/>
                </a:ext>
              </a:extLst>
            </p:cNvPr>
            <p:cNvSpPr txBox="1"/>
            <p:nvPr/>
          </p:nvSpPr>
          <p:spPr>
            <a:xfrm>
              <a:off x="10232695" y="4418930"/>
              <a:ext cx="914400" cy="402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highlight>
                    <a:srgbClr val="FFFF00"/>
                  </a:highlight>
                </a:rPr>
                <a:t>3x3x3</a:t>
              </a:r>
              <a:endParaRPr lang="ko-KR" altLang="en-US" sz="1200" dirty="0">
                <a:highlight>
                  <a:srgbClr val="FFFF00"/>
                </a:highlight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36322B4-A070-7FC6-6826-B374CAC47900}"/>
                </a:ext>
              </a:extLst>
            </p:cNvPr>
            <p:cNvSpPr txBox="1"/>
            <p:nvPr/>
          </p:nvSpPr>
          <p:spPr>
            <a:xfrm>
              <a:off x="5730335" y="2367171"/>
              <a:ext cx="1490663" cy="1207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1x1x1</a:t>
              </a:r>
            </a:p>
            <a:p>
              <a:pPr algn="ctr"/>
              <a:r>
                <a:rPr lang="ko-KR" altLang="en-US" sz="800" b="1" dirty="0"/>
                <a:t>대비 </a:t>
              </a:r>
              <a:endParaRPr lang="en-US" altLang="ko-KR" sz="800" b="1" dirty="0"/>
            </a:p>
            <a:p>
              <a:pPr algn="ctr"/>
              <a:r>
                <a:rPr lang="ko-KR" altLang="en-US" sz="800" b="1" dirty="0"/>
                <a:t>수렴 에너지</a:t>
              </a:r>
              <a:endParaRPr lang="en-US" altLang="ko-KR" sz="800" b="1" dirty="0"/>
            </a:p>
            <a:p>
              <a:pPr algn="ctr"/>
              <a:r>
                <a:rPr lang="ko-KR" altLang="en-US" sz="800" b="1" dirty="0"/>
                <a:t>차이</a:t>
              </a:r>
              <a:endParaRPr lang="en-US" altLang="ko-KR" sz="800" b="1" dirty="0"/>
            </a:p>
            <a:p>
              <a:pPr algn="ctr"/>
              <a:r>
                <a:rPr lang="en-US" altLang="ko-KR" sz="800" b="1" dirty="0"/>
                <a:t>(y</a:t>
              </a:r>
              <a:r>
                <a:rPr lang="ko-KR" altLang="en-US" sz="800" b="1" dirty="0"/>
                <a:t>축</a:t>
              </a:r>
              <a:r>
                <a:rPr lang="en-US" altLang="ko-KR" sz="800" b="1" dirty="0"/>
                <a:t>)</a:t>
              </a:r>
            </a:p>
            <a:p>
              <a:pPr algn="ctr"/>
              <a:r>
                <a:rPr lang="en-US" altLang="ko-KR" sz="800" b="1" dirty="0"/>
                <a:t>(kJ/mol)</a:t>
              </a:r>
              <a:endParaRPr lang="ko-KR" altLang="en-US" sz="800" b="1" dirty="0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685ED3E-12CF-43BE-70F4-41CAC7E0894F}"/>
              </a:ext>
            </a:extLst>
          </p:cNvPr>
          <p:cNvGrpSpPr/>
          <p:nvPr/>
        </p:nvGrpSpPr>
        <p:grpSpPr>
          <a:xfrm>
            <a:off x="-1" y="4552950"/>
            <a:ext cx="12192001" cy="2398514"/>
            <a:chOff x="-1" y="4552950"/>
            <a:chExt cx="12192001" cy="2398514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712E76E-8057-2E40-31DE-B0DBC4EBBCF3}"/>
                </a:ext>
              </a:extLst>
            </p:cNvPr>
            <p:cNvSpPr/>
            <p:nvPr/>
          </p:nvSpPr>
          <p:spPr>
            <a:xfrm>
              <a:off x="-1" y="4552950"/>
              <a:ext cx="12192001" cy="2305050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611BF6A-45AB-8335-6493-D8FB9999C511}"/>
                </a:ext>
              </a:extLst>
            </p:cNvPr>
            <p:cNvSpPr txBox="1"/>
            <p:nvPr/>
          </p:nvSpPr>
          <p:spPr>
            <a:xfrm>
              <a:off x="0" y="4552950"/>
              <a:ext cx="342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</a:rPr>
                <a:t>Method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DB8B899-4B32-29E6-BB0E-4DECCF070C43}"/>
                </a:ext>
              </a:extLst>
            </p:cNvPr>
            <p:cNvSpPr txBox="1"/>
            <p:nvPr/>
          </p:nvSpPr>
          <p:spPr>
            <a:xfrm>
              <a:off x="-1" y="4920139"/>
              <a:ext cx="11639551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err="1">
                  <a:solidFill>
                    <a:schemeClr val="bg1"/>
                  </a:solidFill>
                </a:rPr>
                <a:t>ecutwfc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Convergence test </a:t>
              </a:r>
            </a:p>
            <a:p>
              <a:pPr marL="285750" indent="-285750">
                <a:buFontTx/>
                <a:buChar char="-"/>
              </a:pPr>
              <a:r>
                <a:rPr lang="en-US" altLang="ko-KR" sz="1400" b="1" dirty="0" err="1">
                  <a:solidFill>
                    <a:schemeClr val="bg1"/>
                  </a:solidFill>
                </a:rPr>
                <a:t>Basetemplate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: </a:t>
              </a:r>
              <a:r>
                <a:rPr lang="en-US" altLang="ko-KR" sz="1400" b="1" dirty="0">
                  <a:solidFill>
                    <a:schemeClr val="bg1"/>
                  </a:solidFill>
                  <a:hlinkClick r:id="rId4"/>
                </a:rPr>
                <a:t>https://github.com/dydtkddl/PSID_server_room/blob/main/qe/%5B00%5DBAMOF/02convergence_test_MIL125NH2/01ecut_wfc/00base_template.in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</a:p>
            <a:p>
              <a:r>
                <a:rPr lang="en-US" altLang="ko-KR" sz="1400" b="1" dirty="0" err="1">
                  <a:solidFill>
                    <a:schemeClr val="bg1"/>
                  </a:solidFill>
                </a:rPr>
                <a:t>Kpoints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Convergence test</a:t>
              </a:r>
            </a:p>
            <a:p>
              <a:pPr marL="285750" indent="-285750">
                <a:buFontTx/>
                <a:buChar char="-"/>
              </a:pPr>
              <a:r>
                <a:rPr lang="en-US" altLang="ko-KR" sz="1400" b="1" dirty="0" err="1">
                  <a:solidFill>
                    <a:schemeClr val="bg1"/>
                  </a:solidFill>
                </a:rPr>
                <a:t>Basetemplate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: </a:t>
              </a:r>
              <a:r>
                <a:rPr lang="en-US" altLang="ko-KR" sz="1400" b="1" dirty="0">
                  <a:solidFill>
                    <a:schemeClr val="bg1"/>
                  </a:solidFill>
                  <a:hlinkClick r:id="rId5"/>
                </a:rPr>
                <a:t>https://github.com/dydtkddl/PSID_server_room/blob/main/qe/%5B00%5DBAMOF/02convergence_test_MIL125NH2/06kpoints/00base_template.in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</a:p>
            <a:p>
              <a:pPr marL="285750" indent="-285750">
                <a:buFontTx/>
                <a:buChar char="-"/>
              </a:pPr>
              <a:endParaRPr lang="en-US" altLang="ko-KR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4" name="슬라이드 번호 개체 틀 23">
            <a:extLst>
              <a:ext uri="{FF2B5EF4-FFF2-40B4-BE49-F238E27FC236}">
                <a16:creationId xmlns:a16="http://schemas.microsoft.com/office/drawing/2014/main" id="{2810D953-27D9-88D9-5A59-709ED7269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51CD-FFF6-4F2D-A57D-2CC2949239E2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7665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D0A54-3930-E96D-10F5-BB29E37BF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973B161-2979-8B3D-2DE5-DEA0F33E370B}"/>
              </a:ext>
            </a:extLst>
          </p:cNvPr>
          <p:cNvSpPr txBox="1"/>
          <p:nvPr/>
        </p:nvSpPr>
        <p:spPr>
          <a:xfrm>
            <a:off x="-1" y="0"/>
            <a:ext cx="12007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MIL125-NH2 optimized primitive cell </a:t>
            </a:r>
            <a:r>
              <a:rPr lang="en-US" altLang="ko-KR" b="1" dirty="0" err="1"/>
              <a:t>cif</a:t>
            </a:r>
            <a:r>
              <a:rPr lang="en-US" altLang="ko-KR" b="1" dirty="0"/>
              <a:t> ( optimized by Quantum Espresso </a:t>
            </a:r>
            <a:r>
              <a:rPr lang="en-US" altLang="ko-KR" b="1" dirty="0" err="1"/>
              <a:t>pw.x’s</a:t>
            </a:r>
            <a:r>
              <a:rPr lang="en-US" altLang="ko-KR" b="1" dirty="0"/>
              <a:t> VC-relax and relax )</a:t>
            </a:r>
            <a:endParaRPr lang="ko-KR" altLang="en-US" b="1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24EDB29-99A8-6858-2D5C-0072181CE3E1}"/>
              </a:ext>
            </a:extLst>
          </p:cNvPr>
          <p:cNvGrpSpPr/>
          <p:nvPr/>
        </p:nvGrpSpPr>
        <p:grpSpPr>
          <a:xfrm>
            <a:off x="646421" y="716886"/>
            <a:ext cx="5976006" cy="3225965"/>
            <a:chOff x="1510002" y="1209675"/>
            <a:chExt cx="9171996" cy="495122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0429158-7CBB-C082-3BC2-170FF4C55A91}"/>
                </a:ext>
              </a:extLst>
            </p:cNvPr>
            <p:cNvSpPr txBox="1"/>
            <p:nvPr/>
          </p:nvSpPr>
          <p:spPr>
            <a:xfrm>
              <a:off x="7514583" y="5666508"/>
              <a:ext cx="2600036" cy="494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2x2x2 Supercell</a:t>
              </a:r>
              <a:endParaRPr lang="ko-KR" altLang="en-US" sz="1400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DF7E1C2-B8D0-101E-1C9B-E0F2809A809D}"/>
                </a:ext>
              </a:extLst>
            </p:cNvPr>
            <p:cNvSpPr txBox="1"/>
            <p:nvPr/>
          </p:nvSpPr>
          <p:spPr>
            <a:xfrm>
              <a:off x="2135909" y="5666510"/>
              <a:ext cx="2600036" cy="494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Primitive Cell</a:t>
              </a:r>
              <a:endParaRPr lang="ko-KR" altLang="en-US" sz="1400" b="1" dirty="0"/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A61FB12D-72C5-4704-9E6D-412B49932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0002" y="1209675"/>
              <a:ext cx="3851849" cy="3891355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2A66967B-CF55-185B-BEA3-A16658AE4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28744" y="1307376"/>
              <a:ext cx="4053254" cy="4058457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E11BD51-BBA3-61D0-DC83-EBCA13D39BA6}"/>
              </a:ext>
            </a:extLst>
          </p:cNvPr>
          <p:cNvGrpSpPr/>
          <p:nvPr/>
        </p:nvGrpSpPr>
        <p:grpSpPr>
          <a:xfrm>
            <a:off x="-1" y="4552950"/>
            <a:ext cx="12192001" cy="2305050"/>
            <a:chOff x="-1" y="4552950"/>
            <a:chExt cx="12192001" cy="230505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4417DAB-DA9A-C523-5654-0BF1AB74C510}"/>
                </a:ext>
              </a:extLst>
            </p:cNvPr>
            <p:cNvSpPr/>
            <p:nvPr/>
          </p:nvSpPr>
          <p:spPr>
            <a:xfrm>
              <a:off x="-1" y="4552950"/>
              <a:ext cx="12192001" cy="2305050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4E60E2-6518-9816-88FA-AABC3188DEF7}"/>
                </a:ext>
              </a:extLst>
            </p:cNvPr>
            <p:cNvSpPr txBox="1"/>
            <p:nvPr/>
          </p:nvSpPr>
          <p:spPr>
            <a:xfrm>
              <a:off x="0" y="4552950"/>
              <a:ext cx="342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</a:rPr>
                <a:t>Method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CDDB7F8-4740-9847-2EC9-FCDFA45647AD}"/>
                </a:ext>
              </a:extLst>
            </p:cNvPr>
            <p:cNvSpPr txBox="1"/>
            <p:nvPr/>
          </p:nvSpPr>
          <p:spPr>
            <a:xfrm>
              <a:off x="-1" y="4920139"/>
              <a:ext cx="11639551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</a:rPr>
                <a:t>Avogadro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로 최적화한 초기위치로 시작하여 </a:t>
              </a:r>
              <a:r>
                <a:rPr lang="en-US" altLang="ko-KR" sz="1400" b="1" dirty="0" err="1">
                  <a:solidFill>
                    <a:schemeClr val="bg1"/>
                  </a:solidFill>
                </a:rPr>
                <a:t>QuantumEspresso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로 </a:t>
              </a:r>
              <a:r>
                <a:rPr lang="en-US" altLang="ko-KR" sz="1400" b="1" dirty="0" err="1">
                  <a:solidFill>
                    <a:schemeClr val="bg1"/>
                  </a:solidFill>
                </a:rPr>
                <a:t>Vc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-relax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및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relax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최적화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진행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.</a:t>
              </a:r>
            </a:p>
            <a:p>
              <a:r>
                <a:rPr lang="en-US" altLang="ko-KR" sz="1400" b="1" dirty="0">
                  <a:solidFill>
                    <a:schemeClr val="bg1"/>
                  </a:solidFill>
                </a:rPr>
                <a:t>input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 구성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: </a:t>
              </a:r>
              <a:r>
                <a:rPr lang="en-US" altLang="ko-KR" sz="1400" b="1" dirty="0">
                  <a:solidFill>
                    <a:schemeClr val="bg1"/>
                  </a:solidFill>
                  <a:hlinkClick r:id="rId4"/>
                </a:rPr>
                <a:t>https://github.com/dydtkddl/PSID_server_room/blob/main/qe/%5B00%5DBAMOF/05relaxation_MIL125NH2/smearing/input.in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</a:p>
            <a:p>
              <a:r>
                <a:rPr lang="en-US" altLang="ko-KR" sz="1400" b="1" dirty="0">
                  <a:solidFill>
                    <a:schemeClr val="bg1"/>
                  </a:solidFill>
                </a:rPr>
                <a:t>VC-relax / Smearing / degauss 0.05</a:t>
              </a:r>
            </a:p>
            <a:p>
              <a:endParaRPr lang="en-US" altLang="ko-KR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DA2361C8-5573-4651-42E0-F25AC0FB2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51CD-FFF6-4F2D-A57D-2CC2949239E2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40742F9-1417-8C49-B3A0-69B4B4C127E6}"/>
              </a:ext>
            </a:extLst>
          </p:cNvPr>
          <p:cNvGrpSpPr/>
          <p:nvPr/>
        </p:nvGrpSpPr>
        <p:grpSpPr>
          <a:xfrm>
            <a:off x="6810321" y="871828"/>
            <a:ext cx="4914954" cy="3142661"/>
            <a:chOff x="7092319" y="871828"/>
            <a:chExt cx="4914954" cy="3142661"/>
          </a:xfrm>
        </p:grpSpPr>
        <p:pic>
          <p:nvPicPr>
            <p:cNvPr id="8" name="그림 7" descr="텍스트, 라인, 도표, 그래프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67B089E5-BF52-6768-D575-6A12D203C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92319" y="907910"/>
              <a:ext cx="1920000" cy="1440000"/>
            </a:xfrm>
            <a:prstGeom prst="rect">
              <a:avLst/>
            </a:prstGeom>
          </p:spPr>
        </p:pic>
        <p:pic>
          <p:nvPicPr>
            <p:cNvPr id="10" name="그림 9" descr="텍스트, 도표, 라인, 그래프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9E764F2C-2D2C-76B8-FB2F-9FC77972F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7273" y="2554161"/>
              <a:ext cx="2880000" cy="144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" name="그림 11" descr="텍스트, 스크린샷, 그래프, 라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AEEA0031-8875-7F0D-FE63-6C0B3F000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0789" y="2574489"/>
              <a:ext cx="1920000" cy="144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5" name="그림 14" descr="텍스트, 스크린샷, 도표, 그래프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CB8D632C-82E0-ABE8-17BF-A5FE8DC52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3249" y="889869"/>
              <a:ext cx="1920000" cy="1440000"/>
            </a:xfrm>
            <a:prstGeom prst="rect">
              <a:avLst/>
            </a:prstGeom>
          </p:spPr>
        </p:pic>
        <p:pic>
          <p:nvPicPr>
            <p:cNvPr id="24" name="그림 23" descr="텍스트, 라인, 도표, 그래프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DE894329-7FC1-40C2-9F7C-20A73DE45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6607" y="889869"/>
              <a:ext cx="1920000" cy="144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5" name="그림 24" descr="텍스트, 스크린샷, 도표, 그래프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A817B792-C35B-3728-24D7-E16C15B9D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57537" y="871828"/>
              <a:ext cx="1920000" cy="144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4284146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86CE0-8FC6-86E5-4D44-1D833E367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416ADB4-1413-0983-FA68-6443BEC90BB0}"/>
              </a:ext>
            </a:extLst>
          </p:cNvPr>
          <p:cNvSpPr txBox="1"/>
          <p:nvPr/>
        </p:nvSpPr>
        <p:spPr>
          <a:xfrm>
            <a:off x="-1" y="0"/>
            <a:ext cx="12007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BAMOF optimized primitive cell </a:t>
            </a:r>
            <a:r>
              <a:rPr lang="en-US" altLang="ko-KR" b="1" dirty="0" err="1"/>
              <a:t>cif</a:t>
            </a:r>
            <a:r>
              <a:rPr lang="en-US" altLang="ko-KR" b="1" dirty="0"/>
              <a:t> ( optimized by Quantum Espresso </a:t>
            </a:r>
            <a:r>
              <a:rPr lang="en-US" altLang="ko-KR" b="1" dirty="0" err="1"/>
              <a:t>pw.x’s</a:t>
            </a:r>
            <a:r>
              <a:rPr lang="en-US" altLang="ko-KR" b="1" dirty="0"/>
              <a:t> VC-relax and relax )</a:t>
            </a:r>
            <a:endParaRPr lang="ko-KR" altLang="en-US" b="1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8F02B7D-724E-919D-66D2-BF78073F53A9}"/>
              </a:ext>
            </a:extLst>
          </p:cNvPr>
          <p:cNvGrpSpPr/>
          <p:nvPr/>
        </p:nvGrpSpPr>
        <p:grpSpPr>
          <a:xfrm>
            <a:off x="109027" y="783387"/>
            <a:ext cx="5986974" cy="3043325"/>
            <a:chOff x="1109151" y="1262072"/>
            <a:chExt cx="9501699" cy="4829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7FF0C68-F31D-10A4-4F85-EC6B2769E50B}"/>
                </a:ext>
              </a:extLst>
            </p:cNvPr>
            <p:cNvSpPr txBox="1"/>
            <p:nvPr/>
          </p:nvSpPr>
          <p:spPr>
            <a:xfrm>
              <a:off x="7514584" y="5666511"/>
              <a:ext cx="2600036" cy="4255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2x2x2 Supercell</a:t>
              </a:r>
              <a:endParaRPr lang="ko-KR" altLang="en-US" sz="1400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4215A7A-6398-5064-85DC-C8FBE6B7C0C9}"/>
                </a:ext>
              </a:extLst>
            </p:cNvPr>
            <p:cNvSpPr txBox="1"/>
            <p:nvPr/>
          </p:nvSpPr>
          <p:spPr>
            <a:xfrm>
              <a:off x="2135909" y="5666509"/>
              <a:ext cx="2600036" cy="4255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Primitive Cell</a:t>
              </a:r>
              <a:endParaRPr lang="ko-KR" altLang="en-US" sz="1400" b="1" dirty="0"/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F274D0DE-F324-C785-698A-0BDF9C9CB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9151" y="1262072"/>
              <a:ext cx="4339149" cy="3994054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75967169-AEED-21C3-1E30-E30CD692E1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0365" y="1282806"/>
              <a:ext cx="4170485" cy="3952586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F3DA7588-314F-3B74-68E1-F9867AB79855}"/>
              </a:ext>
            </a:extLst>
          </p:cNvPr>
          <p:cNvGrpSpPr/>
          <p:nvPr/>
        </p:nvGrpSpPr>
        <p:grpSpPr>
          <a:xfrm>
            <a:off x="-1" y="4552950"/>
            <a:ext cx="12192001" cy="2305050"/>
            <a:chOff x="-1" y="4552950"/>
            <a:chExt cx="12192001" cy="230505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F760F4F-8D89-F7BF-C030-74AACC3D28F4}"/>
                </a:ext>
              </a:extLst>
            </p:cNvPr>
            <p:cNvSpPr/>
            <p:nvPr/>
          </p:nvSpPr>
          <p:spPr>
            <a:xfrm>
              <a:off x="-1" y="4552950"/>
              <a:ext cx="12192001" cy="2305050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61EAD63-E52F-095A-3E10-578CE421429A}"/>
                </a:ext>
              </a:extLst>
            </p:cNvPr>
            <p:cNvSpPr txBox="1"/>
            <p:nvPr/>
          </p:nvSpPr>
          <p:spPr>
            <a:xfrm>
              <a:off x="0" y="4552950"/>
              <a:ext cx="342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</a:rPr>
                <a:t>Method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6FEA636-3F09-8199-4131-D1A9ED9FDC36}"/>
                </a:ext>
              </a:extLst>
            </p:cNvPr>
            <p:cNvSpPr txBox="1"/>
            <p:nvPr/>
          </p:nvSpPr>
          <p:spPr>
            <a:xfrm>
              <a:off x="-1" y="4920139"/>
              <a:ext cx="11639551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</a:rPr>
                <a:t>Avogadro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로 최적화한 초기위치로 시작하여 </a:t>
              </a:r>
              <a:r>
                <a:rPr lang="en-US" altLang="ko-KR" sz="1400" b="1" dirty="0" err="1">
                  <a:solidFill>
                    <a:schemeClr val="bg1"/>
                  </a:solidFill>
                </a:rPr>
                <a:t>QuantumEspresso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로 </a:t>
              </a:r>
              <a:r>
                <a:rPr lang="en-US" altLang="ko-KR" sz="1400" b="1" dirty="0" err="1">
                  <a:solidFill>
                    <a:schemeClr val="bg1"/>
                  </a:solidFill>
                </a:rPr>
                <a:t>Vc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-relax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및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relax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최적화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진행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.</a:t>
              </a:r>
            </a:p>
            <a:p>
              <a:r>
                <a:rPr lang="en-US" altLang="ko-KR" sz="1400" b="1" dirty="0">
                  <a:solidFill>
                    <a:schemeClr val="bg1"/>
                  </a:solidFill>
                </a:rPr>
                <a:t>input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 구성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: </a:t>
              </a:r>
              <a:r>
                <a:rPr lang="en-US" altLang="ko-KR" sz="1400" b="1" dirty="0">
                  <a:solidFill>
                    <a:schemeClr val="bg1"/>
                  </a:solidFill>
                  <a:hlinkClick r:id="rId4"/>
                </a:rPr>
                <a:t>https://github.com/dydtkddl/PSID_server_room/blob/main/qe/%5B00%5DBAMOF/04relaxation_BAMOF_1/05_SMEARING_AVO_OPT/fermi/input.in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 </a:t>
              </a:r>
            </a:p>
            <a:p>
              <a:r>
                <a:rPr lang="en-US" altLang="ko-KR" sz="1400" b="1" dirty="0">
                  <a:solidFill>
                    <a:schemeClr val="bg1"/>
                  </a:solidFill>
                </a:rPr>
                <a:t>VC-relax / Smearing / degauss 0.05</a:t>
              </a:r>
            </a:p>
            <a:p>
              <a:endParaRPr lang="en-US" altLang="ko-KR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F0DEC2E9-0B18-7D3F-7EEB-01AF0E87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51CD-FFF6-4F2D-A57D-2CC2949239E2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pic>
        <p:nvPicPr>
          <p:cNvPr id="14" name="그림 13" descr="텍스트, 스크린샷, 그래프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4C1605D-DCA4-FEFB-5DEE-4FCEB91DA2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9550" y="773564"/>
            <a:ext cx="1920000" cy="14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 descr="텍스트, 라인, 스크린샷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B708546-47BB-2083-DDF7-7C35111426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075" y="801274"/>
            <a:ext cx="1920000" cy="14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 descr="텍스트, 도표, 라인, 그래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9E64EC9-A233-3B12-C05F-3A3F70A588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874" y="2479954"/>
            <a:ext cx="2880000" cy="14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 descr="텍스트, 스크린샷, 그래프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A56AF7A-88D9-EECC-0D53-64F6ECCF78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7273" y="2479954"/>
            <a:ext cx="1920000" cy="144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81114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82A822F-C4D5-A028-3216-4F341ED3F509}"/>
              </a:ext>
            </a:extLst>
          </p:cNvPr>
          <p:cNvSpPr txBox="1"/>
          <p:nvPr/>
        </p:nvSpPr>
        <p:spPr>
          <a:xfrm>
            <a:off x="-1" y="0"/>
            <a:ext cx="9310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BAMOF geometry optimize process video (VC-relax and Relax)</a:t>
            </a:r>
            <a:endParaRPr lang="ko-KR" altLang="en-US" b="1" dirty="0"/>
          </a:p>
        </p:txBody>
      </p:sp>
      <p:pic>
        <p:nvPicPr>
          <p:cNvPr id="7" name="BAMOF_supercell">
            <a:hlinkClick r:id="" action="ppaction://media"/>
            <a:extLst>
              <a:ext uri="{FF2B5EF4-FFF2-40B4-BE49-F238E27FC236}">
                <a16:creationId xmlns:a16="http://schemas.microsoft.com/office/drawing/2014/main" id="{FF732669-2218-1D04-8A17-C7FCDB82A10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787104" y="658841"/>
            <a:ext cx="4994946" cy="3604600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55A54239-C7D6-1CF8-C456-E5D543640B09}"/>
              </a:ext>
            </a:extLst>
          </p:cNvPr>
          <p:cNvGrpSpPr/>
          <p:nvPr/>
        </p:nvGrpSpPr>
        <p:grpSpPr>
          <a:xfrm>
            <a:off x="-1" y="4552950"/>
            <a:ext cx="12192001" cy="2305050"/>
            <a:chOff x="-1" y="4552950"/>
            <a:chExt cx="12192001" cy="230505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3530E620-8E48-1285-EAA3-5DF0F82E3156}"/>
                </a:ext>
              </a:extLst>
            </p:cNvPr>
            <p:cNvSpPr/>
            <p:nvPr/>
          </p:nvSpPr>
          <p:spPr>
            <a:xfrm>
              <a:off x="-1" y="4552950"/>
              <a:ext cx="12192001" cy="2305050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2365320-B8D8-9E96-11B1-3C53E5F6962D}"/>
                </a:ext>
              </a:extLst>
            </p:cNvPr>
            <p:cNvSpPr txBox="1"/>
            <p:nvPr/>
          </p:nvSpPr>
          <p:spPr>
            <a:xfrm>
              <a:off x="0" y="4552950"/>
              <a:ext cx="342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</a:rPr>
                <a:t>Method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9610D01-7D25-B2F1-E711-5C953161825F}"/>
                </a:ext>
              </a:extLst>
            </p:cNvPr>
            <p:cNvSpPr txBox="1"/>
            <p:nvPr/>
          </p:nvSpPr>
          <p:spPr>
            <a:xfrm>
              <a:off x="-1" y="4920139"/>
              <a:ext cx="11639551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</a:rPr>
                <a:t>Quantum Espresso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로 최적화하는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trajectory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를 시각화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.</a:t>
              </a:r>
            </a:p>
            <a:p>
              <a:r>
                <a:rPr lang="en-US" altLang="ko-KR" sz="1400" b="1" dirty="0">
                  <a:solidFill>
                    <a:schemeClr val="bg1"/>
                  </a:solidFill>
                </a:rPr>
                <a:t>output file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을 </a:t>
              </a:r>
              <a:r>
                <a:rPr lang="en-US" altLang="ko-KR" sz="1400" b="1" dirty="0" err="1">
                  <a:solidFill>
                    <a:schemeClr val="bg1"/>
                  </a:solidFill>
                </a:rPr>
                <a:t>trj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  <a:r>
                <a:rPr lang="en-US" altLang="ko-KR" sz="1400" b="1" dirty="0" err="1">
                  <a:solidFill>
                    <a:schemeClr val="bg1"/>
                  </a:solidFill>
                </a:rPr>
                <a:t>xyz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파일로 만드는 코드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r>
                <a:rPr lang="en-US" altLang="ko-KR" sz="1400" b="1" dirty="0">
                  <a:solidFill>
                    <a:schemeClr val="bg1"/>
                  </a:solidFill>
                  <a:hlinkClick r:id="rId5"/>
                </a:rPr>
                <a:t>https://github.com/dydtkddl/PSID_server_room/blob/main/qe/qe_crop_vc.py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</a:p>
            <a:p>
              <a:endParaRPr lang="en-US" altLang="ko-KR" sz="1400" b="1" dirty="0">
                <a:solidFill>
                  <a:schemeClr val="bg1"/>
                </a:solidFill>
              </a:endParaRPr>
            </a:p>
            <a:p>
              <a:r>
                <a:rPr lang="ko-KR" altLang="en-US" sz="1400" b="1" dirty="0">
                  <a:solidFill>
                    <a:schemeClr val="bg1"/>
                  </a:solidFill>
                </a:rPr>
                <a:t>시각화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pPr marL="285750" indent="-285750">
                <a:buFontTx/>
                <a:buChar char="-"/>
              </a:pPr>
              <a:r>
                <a:rPr lang="en-US" altLang="ko-KR" sz="1400" b="1" dirty="0">
                  <a:solidFill>
                    <a:schemeClr val="bg1"/>
                  </a:solidFill>
                </a:rPr>
                <a:t>OVITO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프로그램 사용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pPr marL="285750" indent="-285750">
                <a:buFontTx/>
                <a:buChar char="-"/>
              </a:pPr>
              <a:endParaRPr lang="en-US" altLang="ko-KR" sz="1400" b="1" dirty="0">
                <a:solidFill>
                  <a:schemeClr val="bg1"/>
                </a:solidFill>
              </a:endParaRPr>
            </a:p>
            <a:p>
              <a:endParaRPr lang="en-US" altLang="ko-KR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131C552-F529-66C1-D175-90F998E85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51CD-FFF6-4F2D-A57D-2CC2949239E2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6736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6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82A822F-C4D5-A028-3216-4F341ED3F509}"/>
              </a:ext>
            </a:extLst>
          </p:cNvPr>
          <p:cNvSpPr txBox="1"/>
          <p:nvPr/>
        </p:nvSpPr>
        <p:spPr>
          <a:xfrm>
            <a:off x="-1" y="0"/>
            <a:ext cx="9310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MIL125-NH2 geometry optimize process video (VC-relax and Relax)</a:t>
            </a:r>
            <a:endParaRPr lang="ko-KR" altLang="en-US" b="1" dirty="0"/>
          </a:p>
        </p:txBody>
      </p:sp>
      <p:pic>
        <p:nvPicPr>
          <p:cNvPr id="2" name="MIL125NH2_SUPERCELL_trj">
            <a:hlinkClick r:id="" action="ppaction://media"/>
            <a:extLst>
              <a:ext uri="{FF2B5EF4-FFF2-40B4-BE49-F238E27FC236}">
                <a16:creationId xmlns:a16="http://schemas.microsoft.com/office/drawing/2014/main" id="{86BC656F-B082-3401-6D27-6E463E5C40C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64389" y="753678"/>
            <a:ext cx="5063222" cy="3653872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75FE079B-5925-DAED-0A4A-77FF644D4A72}"/>
              </a:ext>
            </a:extLst>
          </p:cNvPr>
          <p:cNvGrpSpPr/>
          <p:nvPr/>
        </p:nvGrpSpPr>
        <p:grpSpPr>
          <a:xfrm>
            <a:off x="-1" y="4552950"/>
            <a:ext cx="12192001" cy="2305050"/>
            <a:chOff x="-1" y="4552950"/>
            <a:chExt cx="12192001" cy="230505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2D0C014-DCBF-8A58-3FBB-B45253210F07}"/>
                </a:ext>
              </a:extLst>
            </p:cNvPr>
            <p:cNvSpPr/>
            <p:nvPr/>
          </p:nvSpPr>
          <p:spPr>
            <a:xfrm>
              <a:off x="-1" y="4552950"/>
              <a:ext cx="12192001" cy="2305050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7C4A302-4D1F-93CD-9029-9B9DA8B544CE}"/>
                </a:ext>
              </a:extLst>
            </p:cNvPr>
            <p:cNvSpPr txBox="1"/>
            <p:nvPr/>
          </p:nvSpPr>
          <p:spPr>
            <a:xfrm>
              <a:off x="0" y="4552950"/>
              <a:ext cx="342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</a:rPr>
                <a:t>Method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B631D55-89E8-F341-D42D-9E08F3E0D4DA}"/>
                </a:ext>
              </a:extLst>
            </p:cNvPr>
            <p:cNvSpPr txBox="1"/>
            <p:nvPr/>
          </p:nvSpPr>
          <p:spPr>
            <a:xfrm>
              <a:off x="-1" y="4920139"/>
              <a:ext cx="11639551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</a:rPr>
                <a:t>Quantum Espresso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로 최적화하는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trajectory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를 시각화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.</a:t>
              </a:r>
            </a:p>
            <a:p>
              <a:r>
                <a:rPr lang="en-US" altLang="ko-KR" sz="1400" b="1" dirty="0">
                  <a:solidFill>
                    <a:schemeClr val="bg1"/>
                  </a:solidFill>
                </a:rPr>
                <a:t>output file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을 </a:t>
              </a:r>
              <a:r>
                <a:rPr lang="en-US" altLang="ko-KR" sz="1400" b="1" dirty="0" err="1">
                  <a:solidFill>
                    <a:schemeClr val="bg1"/>
                  </a:solidFill>
                </a:rPr>
                <a:t>trj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  <a:r>
                <a:rPr lang="en-US" altLang="ko-KR" sz="1400" b="1" dirty="0" err="1">
                  <a:solidFill>
                    <a:schemeClr val="bg1"/>
                  </a:solidFill>
                </a:rPr>
                <a:t>xyz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파일로 만드는 코드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r>
                <a:rPr lang="en-US" altLang="ko-KR" sz="1400" b="1" dirty="0">
                  <a:solidFill>
                    <a:schemeClr val="bg1"/>
                  </a:solidFill>
                  <a:hlinkClick r:id="rId5"/>
                </a:rPr>
                <a:t>https://github.com/dydtkddl/PSID_server_room/blob/main/qe/qe_crop_vc.py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</a:p>
            <a:p>
              <a:endParaRPr lang="en-US" altLang="ko-KR" sz="1400" b="1" dirty="0">
                <a:solidFill>
                  <a:schemeClr val="bg1"/>
                </a:solidFill>
              </a:endParaRPr>
            </a:p>
            <a:p>
              <a:r>
                <a:rPr lang="ko-KR" altLang="en-US" sz="1400" b="1" dirty="0">
                  <a:solidFill>
                    <a:schemeClr val="bg1"/>
                  </a:solidFill>
                </a:rPr>
                <a:t>시각화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pPr marL="285750" indent="-285750">
                <a:buFontTx/>
                <a:buChar char="-"/>
              </a:pPr>
              <a:r>
                <a:rPr lang="en-US" altLang="ko-KR" sz="1400" b="1" dirty="0">
                  <a:solidFill>
                    <a:schemeClr val="bg1"/>
                  </a:solidFill>
                </a:rPr>
                <a:t>OVITO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프로그램 사용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pPr marL="285750" indent="-285750">
                <a:buFontTx/>
                <a:buChar char="-"/>
              </a:pPr>
              <a:endParaRPr lang="en-US" altLang="ko-KR" sz="1400" b="1" dirty="0">
                <a:solidFill>
                  <a:schemeClr val="bg1"/>
                </a:solidFill>
              </a:endParaRPr>
            </a:p>
            <a:p>
              <a:endParaRPr lang="en-US" altLang="ko-KR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6EFD181-8797-E20D-CE66-D770FC983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0200" y="149607"/>
            <a:ext cx="2743200" cy="365125"/>
          </a:xfrm>
        </p:spPr>
        <p:txBody>
          <a:bodyPr/>
          <a:lstStyle/>
          <a:p>
            <a:fld id="{7B7B51CD-FFF6-4F2D-A57D-2CC2949239E2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7706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3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3DED0-05A1-2B8C-0456-8C1131B22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2A55F95-0CE8-6C2C-8E6C-37EC810AF13D}"/>
              </a:ext>
            </a:extLst>
          </p:cNvPr>
          <p:cNvSpPr txBox="1"/>
          <p:nvPr/>
        </p:nvSpPr>
        <p:spPr>
          <a:xfrm>
            <a:off x="-1" y="0"/>
            <a:ext cx="9663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MIL125NH2</a:t>
            </a:r>
            <a:r>
              <a:rPr lang="ko-KR" altLang="en-US" b="1" dirty="0"/>
              <a:t> </a:t>
            </a:r>
            <a:r>
              <a:rPr lang="en-US" altLang="ko-KR" b="1" dirty="0" err="1"/>
              <a:t>scf</a:t>
            </a:r>
            <a:r>
              <a:rPr lang="ko-KR" altLang="en-US" b="1" dirty="0"/>
              <a:t> </a:t>
            </a:r>
            <a:r>
              <a:rPr lang="en-US" altLang="ko-KR" b="1" dirty="0"/>
              <a:t>calculation</a:t>
            </a:r>
            <a:r>
              <a:rPr lang="ko-KR" altLang="en-US" b="1" dirty="0"/>
              <a:t> </a:t>
            </a:r>
            <a:r>
              <a:rPr lang="en-US" altLang="ko-KR" b="1" dirty="0"/>
              <a:t>for</a:t>
            </a:r>
            <a:r>
              <a:rPr lang="ko-KR" altLang="en-US" b="1" dirty="0"/>
              <a:t> </a:t>
            </a:r>
            <a:r>
              <a:rPr lang="en-US" altLang="ko-KR" b="1" dirty="0"/>
              <a:t>DDEC</a:t>
            </a:r>
            <a:r>
              <a:rPr lang="ko-KR" altLang="en-US" b="1" dirty="0"/>
              <a:t> </a:t>
            </a:r>
            <a:r>
              <a:rPr lang="en-US" altLang="ko-KR" b="1" dirty="0"/>
              <a:t>charge analysis (PAW pseudo potential)</a:t>
            </a:r>
            <a:endParaRPr lang="ko-KR" altLang="en-US" b="1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6040C66-87CD-AC9F-1D9E-449CB62AB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51CD-FFF6-4F2D-A57D-2CC2949239E2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A279795-F33C-C712-6202-41C9DC758A30}"/>
              </a:ext>
            </a:extLst>
          </p:cNvPr>
          <p:cNvGrpSpPr/>
          <p:nvPr/>
        </p:nvGrpSpPr>
        <p:grpSpPr>
          <a:xfrm>
            <a:off x="-1" y="4552950"/>
            <a:ext cx="12192001" cy="2305050"/>
            <a:chOff x="-1" y="4552950"/>
            <a:chExt cx="12192001" cy="230505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17A43D7-A81D-1324-ECAA-3627DD9FB54E}"/>
                </a:ext>
              </a:extLst>
            </p:cNvPr>
            <p:cNvSpPr/>
            <p:nvPr/>
          </p:nvSpPr>
          <p:spPr>
            <a:xfrm>
              <a:off x="-1" y="4552950"/>
              <a:ext cx="12192001" cy="2305050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ECB09A-1202-4F08-F8F9-A9A9CFFC486D}"/>
                </a:ext>
              </a:extLst>
            </p:cNvPr>
            <p:cNvSpPr txBox="1"/>
            <p:nvPr/>
          </p:nvSpPr>
          <p:spPr>
            <a:xfrm>
              <a:off x="0" y="4552950"/>
              <a:ext cx="342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</a:rPr>
                <a:t>Method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53E5928-610A-4FF0-4D05-9122C4D9E9D0}"/>
                </a:ext>
              </a:extLst>
            </p:cNvPr>
            <p:cNvSpPr txBox="1"/>
            <p:nvPr/>
          </p:nvSpPr>
          <p:spPr>
            <a:xfrm>
              <a:off x="-1" y="4920139"/>
              <a:ext cx="1163955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</a:rPr>
                <a:t>David’s PAW pseudo potential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사용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: </a:t>
              </a:r>
              <a:r>
                <a:rPr lang="en-US" altLang="ko-KR" sz="1400" b="1" dirty="0">
                  <a:solidFill>
                    <a:schemeClr val="bg1"/>
                  </a:solidFill>
                  <a:hlinkClick r:id="rId2"/>
                </a:rPr>
                <a:t>https://sites.google.com/site/dceresoli/pseudopotentials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</a:p>
            <a:p>
              <a:r>
                <a:rPr lang="en-US" altLang="ko-KR" sz="1400" b="1" dirty="0" err="1">
                  <a:solidFill>
                    <a:schemeClr val="bg1"/>
                  </a:solidFill>
                </a:rPr>
                <a:t>convthr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= 1e-8</a:t>
              </a:r>
            </a:p>
            <a:p>
              <a:r>
                <a:rPr lang="en-US" altLang="ko-KR" sz="1400" b="1" dirty="0">
                  <a:solidFill>
                    <a:schemeClr val="bg1"/>
                  </a:solidFill>
                </a:rPr>
                <a:t>smearing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적용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endParaRPr lang="en-US" altLang="ko-KR" sz="14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FCBB7333-F306-B1D1-2FCF-D22CC2670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506" y="736521"/>
            <a:ext cx="3892136" cy="32484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401989-F7F6-D679-7542-8B3B63744376}"/>
              </a:ext>
            </a:extLst>
          </p:cNvPr>
          <p:cNvSpPr txBox="1"/>
          <p:nvPr/>
        </p:nvSpPr>
        <p:spPr>
          <a:xfrm>
            <a:off x="7101409" y="3907690"/>
            <a:ext cx="188066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Output log analysis</a:t>
            </a:r>
            <a:endParaRPr lang="ko-KR" altLang="en-US" sz="1400" b="1" dirty="0"/>
          </a:p>
        </p:txBody>
      </p:sp>
      <p:pic>
        <p:nvPicPr>
          <p:cNvPr id="14" name="그림 13" descr="텍스트, 도표, 그래프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0344CE9-C0C6-B838-4216-1B96858CDD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4976" y="1385225"/>
            <a:ext cx="2452865" cy="18396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 descr="텍스트, 라인, 그래프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12C8E49-0C1E-0DC7-E03C-88C1F0A02C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3241" y="659768"/>
            <a:ext cx="1920000" cy="14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 descr="라인, 텍스트, 그래프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4DBDA6C-C1EF-0B10-B061-0E6F3411BD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3241" y="2305050"/>
            <a:ext cx="1920000" cy="144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74192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C1F42-472F-3E32-A011-1B2A7E707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08FB60E-7C31-A0D2-708B-965F2C39E7CC}"/>
              </a:ext>
            </a:extLst>
          </p:cNvPr>
          <p:cNvSpPr txBox="1"/>
          <p:nvPr/>
        </p:nvSpPr>
        <p:spPr>
          <a:xfrm>
            <a:off x="-1" y="0"/>
            <a:ext cx="9663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BAMOF</a:t>
            </a:r>
            <a:r>
              <a:rPr lang="ko-KR" altLang="en-US" b="1" dirty="0"/>
              <a:t> </a:t>
            </a:r>
            <a:r>
              <a:rPr lang="en-US" altLang="ko-KR" b="1" dirty="0" err="1"/>
              <a:t>scf</a:t>
            </a:r>
            <a:r>
              <a:rPr lang="ko-KR" altLang="en-US" b="1" dirty="0"/>
              <a:t> </a:t>
            </a:r>
            <a:r>
              <a:rPr lang="en-US" altLang="ko-KR" b="1" dirty="0"/>
              <a:t>calculation</a:t>
            </a:r>
            <a:r>
              <a:rPr lang="ko-KR" altLang="en-US" b="1" dirty="0"/>
              <a:t> </a:t>
            </a:r>
            <a:r>
              <a:rPr lang="en-US" altLang="ko-KR" b="1" dirty="0"/>
              <a:t>for</a:t>
            </a:r>
            <a:r>
              <a:rPr lang="ko-KR" altLang="en-US" b="1" dirty="0"/>
              <a:t> </a:t>
            </a:r>
            <a:r>
              <a:rPr lang="en-US" altLang="ko-KR" b="1" dirty="0"/>
              <a:t>DDEC</a:t>
            </a:r>
            <a:r>
              <a:rPr lang="ko-KR" altLang="en-US" b="1" dirty="0"/>
              <a:t> </a:t>
            </a:r>
            <a:r>
              <a:rPr lang="en-US" altLang="ko-KR" b="1" dirty="0"/>
              <a:t>charge analysis (PAW pseudo potential)</a:t>
            </a:r>
            <a:endParaRPr lang="ko-KR" altLang="en-US" b="1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3D17FBB-16E8-7C7C-9D8E-015AB147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51CD-FFF6-4F2D-A57D-2CC2949239E2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0AACCAB-91EE-F1DB-5DB1-3D000521452D}"/>
              </a:ext>
            </a:extLst>
          </p:cNvPr>
          <p:cNvGrpSpPr/>
          <p:nvPr/>
        </p:nvGrpSpPr>
        <p:grpSpPr>
          <a:xfrm>
            <a:off x="-1" y="4552950"/>
            <a:ext cx="12192001" cy="2305050"/>
            <a:chOff x="-1" y="4552950"/>
            <a:chExt cx="12192001" cy="230505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A9E7491-CF5E-4289-FAD8-A501239B2DF7}"/>
                </a:ext>
              </a:extLst>
            </p:cNvPr>
            <p:cNvSpPr/>
            <p:nvPr/>
          </p:nvSpPr>
          <p:spPr>
            <a:xfrm>
              <a:off x="-1" y="4552950"/>
              <a:ext cx="12192001" cy="2305050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9D414C6-7B21-CD51-D215-8333BD3CFDDD}"/>
                </a:ext>
              </a:extLst>
            </p:cNvPr>
            <p:cNvSpPr txBox="1"/>
            <p:nvPr/>
          </p:nvSpPr>
          <p:spPr>
            <a:xfrm>
              <a:off x="0" y="4552950"/>
              <a:ext cx="342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</a:rPr>
                <a:t>Method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F3E97AA-56A5-FFBD-FAE1-5A7495687AEB}"/>
                </a:ext>
              </a:extLst>
            </p:cNvPr>
            <p:cNvSpPr txBox="1"/>
            <p:nvPr/>
          </p:nvSpPr>
          <p:spPr>
            <a:xfrm>
              <a:off x="-1" y="4920139"/>
              <a:ext cx="1163955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</a:rPr>
                <a:t>David’s PAW pseudo potential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사용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: </a:t>
              </a:r>
              <a:r>
                <a:rPr lang="en-US" altLang="ko-KR" sz="1400" b="1" dirty="0">
                  <a:solidFill>
                    <a:schemeClr val="bg1"/>
                  </a:solidFill>
                  <a:hlinkClick r:id="rId2"/>
                </a:rPr>
                <a:t>https://sites.google.com/site/dceresoli/pseudopotentials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</a:p>
            <a:p>
              <a:r>
                <a:rPr lang="en-US" altLang="ko-KR" sz="1400" b="1" dirty="0" err="1">
                  <a:solidFill>
                    <a:schemeClr val="bg1"/>
                  </a:solidFill>
                </a:rPr>
                <a:t>convthr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= 1e-8</a:t>
              </a:r>
            </a:p>
            <a:p>
              <a:r>
                <a:rPr lang="en-US" altLang="ko-KR" sz="1400" b="1" dirty="0">
                  <a:solidFill>
                    <a:schemeClr val="bg1"/>
                  </a:solidFill>
                </a:rPr>
                <a:t>smearing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적용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endParaRPr lang="en-US" altLang="ko-KR" sz="14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A29BA63D-1947-6ADF-2426-09E539542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506" y="736521"/>
            <a:ext cx="3892136" cy="32484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B052D3-8676-30E8-7577-EA7C5DC035FD}"/>
              </a:ext>
            </a:extLst>
          </p:cNvPr>
          <p:cNvSpPr txBox="1"/>
          <p:nvPr/>
        </p:nvSpPr>
        <p:spPr>
          <a:xfrm>
            <a:off x="7101409" y="3907690"/>
            <a:ext cx="188066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Output log analysis</a:t>
            </a:r>
            <a:endParaRPr lang="ko-KR" altLang="en-US" sz="1400" b="1" dirty="0"/>
          </a:p>
        </p:txBody>
      </p:sp>
      <p:pic>
        <p:nvPicPr>
          <p:cNvPr id="14" name="그림 13" descr="텍스트, 도표, 라인, 그래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6EA1E60-080D-F2BC-3836-D06017FCCA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668" y="1714407"/>
            <a:ext cx="2305384" cy="17290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 descr="텍스트, 라인, 그래프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E6AB282-6301-B049-BE51-8456AA78CD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545" y="667929"/>
            <a:ext cx="1920000" cy="14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 descr="라인, 텍스트, 그래프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E7625BB-0787-222F-78C0-8AEC2BB432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8729" y="2168439"/>
            <a:ext cx="1920000" cy="144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25130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4D78A-F8CB-E6F9-2C65-065382BAC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66693FF-A612-9CBF-4EAE-059BD1858C89}"/>
              </a:ext>
            </a:extLst>
          </p:cNvPr>
          <p:cNvSpPr txBox="1"/>
          <p:nvPr/>
        </p:nvSpPr>
        <p:spPr>
          <a:xfrm>
            <a:off x="0" y="0"/>
            <a:ext cx="9587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MIL125NH2 &amp; BAMOF</a:t>
            </a:r>
            <a:r>
              <a:rPr lang="ko-KR" altLang="en-US" b="1" dirty="0"/>
              <a:t> </a:t>
            </a:r>
            <a:r>
              <a:rPr lang="en-US" altLang="ko-KR" b="1" dirty="0" err="1"/>
              <a:t>pp.x</a:t>
            </a:r>
            <a:r>
              <a:rPr lang="ko-KR" altLang="en-US" b="1" dirty="0"/>
              <a:t> </a:t>
            </a:r>
            <a:r>
              <a:rPr lang="en-US" altLang="ko-KR" b="1" dirty="0"/>
              <a:t>calculation</a:t>
            </a:r>
            <a:r>
              <a:rPr lang="ko-KR" altLang="en-US" b="1" dirty="0"/>
              <a:t> </a:t>
            </a:r>
            <a:r>
              <a:rPr lang="en-US" altLang="ko-KR" b="1" dirty="0"/>
              <a:t>to generate .cube that have electro density </a:t>
            </a:r>
            <a:r>
              <a:rPr lang="en-US" altLang="ko-KR" b="1" dirty="0" err="1"/>
              <a:t>informations</a:t>
            </a:r>
            <a:r>
              <a:rPr lang="en-US" altLang="ko-KR" b="1" dirty="0"/>
              <a:t> (very large file)</a:t>
            </a:r>
            <a:endParaRPr lang="ko-KR" altLang="en-US" b="1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13307AC-79BE-C6CD-E87E-4B68D2498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51CD-FFF6-4F2D-A57D-2CC2949239E2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A9FBBFA-2FBD-1C68-A04B-F475DF7E51D0}"/>
              </a:ext>
            </a:extLst>
          </p:cNvPr>
          <p:cNvGrpSpPr/>
          <p:nvPr/>
        </p:nvGrpSpPr>
        <p:grpSpPr>
          <a:xfrm>
            <a:off x="-1" y="4552950"/>
            <a:ext cx="12192001" cy="2305050"/>
            <a:chOff x="-1" y="4552950"/>
            <a:chExt cx="12192001" cy="230505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418BFAF-7DE1-A597-BD30-FC6EC6004F90}"/>
                </a:ext>
              </a:extLst>
            </p:cNvPr>
            <p:cNvSpPr/>
            <p:nvPr/>
          </p:nvSpPr>
          <p:spPr>
            <a:xfrm>
              <a:off x="-1" y="4552950"/>
              <a:ext cx="12192001" cy="2305050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CFA08B4-D6F9-A907-4FCA-81AFD9832CAD}"/>
                </a:ext>
              </a:extLst>
            </p:cNvPr>
            <p:cNvSpPr txBox="1"/>
            <p:nvPr/>
          </p:nvSpPr>
          <p:spPr>
            <a:xfrm>
              <a:off x="0" y="4552950"/>
              <a:ext cx="342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</a:rPr>
                <a:t>Method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5A35EC5-8652-9236-C4F0-61AEA2740798}"/>
                </a:ext>
              </a:extLst>
            </p:cNvPr>
            <p:cNvSpPr txBox="1"/>
            <p:nvPr/>
          </p:nvSpPr>
          <p:spPr>
            <a:xfrm>
              <a:off x="-1" y="4920139"/>
              <a:ext cx="116395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err="1">
                  <a:solidFill>
                    <a:schemeClr val="bg1"/>
                  </a:solidFill>
                </a:rPr>
                <a:t>pp.x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program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사용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r>
                <a:rPr lang="en-US" altLang="ko-KR" sz="1400" b="1" dirty="0">
                  <a:solidFill>
                    <a:schemeClr val="bg1"/>
                  </a:solidFill>
                </a:rPr>
                <a:t>3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차원 큐브 파일 생성</a:t>
              </a:r>
              <a:endParaRPr lang="en-US" altLang="ko-KR" sz="14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5CF699FA-BF5F-A1A4-8E74-4B8B44E92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211" y="1285576"/>
            <a:ext cx="3915321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208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CAF9A-AFE7-F2FC-B144-67BA8E39F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도표, 지도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E875ADD-E300-4AEE-AFA8-8360B88C7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326" y="450036"/>
            <a:ext cx="8526568" cy="41164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4695F5-F040-5FB3-EB7A-36346790FA09}"/>
              </a:ext>
            </a:extLst>
          </p:cNvPr>
          <p:cNvSpPr txBox="1"/>
          <p:nvPr/>
        </p:nvSpPr>
        <p:spPr>
          <a:xfrm>
            <a:off x="-1" y="0"/>
            <a:ext cx="4996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DDEC charge for BAMOF primitive cell</a:t>
            </a:r>
            <a:endParaRPr lang="ko-KR" altLang="en-US" b="1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2799BD-1149-ADEA-DBA2-25FF0752C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51CD-FFF6-4F2D-A57D-2CC2949239E2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281A7E2-DE09-4EEC-B540-669916E4A4A0}"/>
              </a:ext>
            </a:extLst>
          </p:cNvPr>
          <p:cNvGrpSpPr/>
          <p:nvPr/>
        </p:nvGrpSpPr>
        <p:grpSpPr>
          <a:xfrm>
            <a:off x="-1" y="4552950"/>
            <a:ext cx="12192001" cy="2305050"/>
            <a:chOff x="-1" y="4552950"/>
            <a:chExt cx="12192001" cy="230505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3D86FAC-E414-1D21-3008-6E7C1C41054B}"/>
                </a:ext>
              </a:extLst>
            </p:cNvPr>
            <p:cNvSpPr/>
            <p:nvPr/>
          </p:nvSpPr>
          <p:spPr>
            <a:xfrm>
              <a:off x="-1" y="4552950"/>
              <a:ext cx="12192001" cy="2305050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BB91444-E801-B7A4-2935-7D3D0C1F3282}"/>
                </a:ext>
              </a:extLst>
            </p:cNvPr>
            <p:cNvSpPr txBox="1"/>
            <p:nvPr/>
          </p:nvSpPr>
          <p:spPr>
            <a:xfrm>
              <a:off x="0" y="4552950"/>
              <a:ext cx="342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</a:rPr>
                <a:t>Method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0514E04-1FD1-3338-E2F5-9A3537705098}"/>
                </a:ext>
              </a:extLst>
            </p:cNvPr>
            <p:cNvSpPr txBox="1"/>
            <p:nvPr/>
          </p:nvSpPr>
          <p:spPr>
            <a:xfrm>
              <a:off x="-1" y="4920139"/>
              <a:ext cx="11639551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err="1">
                  <a:solidFill>
                    <a:schemeClr val="bg1"/>
                  </a:solidFill>
                </a:rPr>
                <a:t>chargemol.x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프로그램 사용 </a:t>
              </a:r>
              <a:r>
                <a:rPr lang="en-US" altLang="ko-KR" sz="1400" b="1" dirty="0">
                  <a:solidFill>
                    <a:schemeClr val="bg1"/>
                  </a:solidFill>
                  <a:hlinkClick r:id="rId3"/>
                </a:rPr>
                <a:t>https://github.com/berquist/chargemol.git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Quantum Espresso SCF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계산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output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기반으로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DDEC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charge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 계산 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r>
                <a:rPr lang="en-US" altLang="ko-KR" sz="1400" b="1" dirty="0" err="1">
                  <a:solidFill>
                    <a:schemeClr val="bg1"/>
                  </a:solidFill>
                </a:rPr>
                <a:t>chargemol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인풋 </a:t>
              </a:r>
              <a:r>
                <a:rPr lang="en-US" altLang="ko-KR" sz="1400" b="1" dirty="0">
                  <a:solidFill>
                    <a:schemeClr val="bg1"/>
                  </a:solidFill>
                  <a:hlinkClick r:id="rId4"/>
                </a:rPr>
                <a:t>https://github.com/dydtkddl/PSID_server_room/blob/main/qe/%5B00%5DBAMOF/06BAMOF_1_DDEC/03_DDEC_chargemol/David_Plot17_TI_core10/job_control.txt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</a:p>
            <a:p>
              <a:r>
                <a:rPr lang="ko-KR" altLang="en-US" sz="1400" b="1" dirty="0">
                  <a:solidFill>
                    <a:schemeClr val="bg1"/>
                  </a:solidFill>
                </a:rPr>
                <a:t>시각화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pPr marL="285750" indent="-285750">
                <a:buFontTx/>
                <a:buChar char="-"/>
              </a:pPr>
              <a:r>
                <a:rPr lang="en-US" altLang="ko-KR" sz="1400" b="1" dirty="0" err="1">
                  <a:solidFill>
                    <a:schemeClr val="bg1"/>
                  </a:solidFill>
                </a:rPr>
                <a:t>Jmol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시각화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: JMOL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시각화 방법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endParaRPr lang="en-US" altLang="ko-KR" sz="1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5137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BF0BF-8DC2-167C-7407-EE1A5A12D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도표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2AC0F94-EEAE-AD6F-B8E8-5917B9EEDC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299" y="387581"/>
            <a:ext cx="8561369" cy="41332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1C90E1-BBD7-4D5B-3ED4-A9C2C4307163}"/>
              </a:ext>
            </a:extLst>
          </p:cNvPr>
          <p:cNvSpPr txBox="1"/>
          <p:nvPr/>
        </p:nvSpPr>
        <p:spPr>
          <a:xfrm>
            <a:off x="-1" y="0"/>
            <a:ext cx="4996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DDEC charge for MIL125-NH2 primitive cell</a:t>
            </a:r>
            <a:endParaRPr lang="ko-KR" altLang="en-US" b="1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CC447B-9407-2413-9E98-3695D118E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B51CD-FFF6-4F2D-A57D-2CC2949239E2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C4D7855-05EA-67CE-6F6C-D322DAB8B14A}"/>
              </a:ext>
            </a:extLst>
          </p:cNvPr>
          <p:cNvGrpSpPr/>
          <p:nvPr/>
        </p:nvGrpSpPr>
        <p:grpSpPr>
          <a:xfrm>
            <a:off x="-1" y="4552950"/>
            <a:ext cx="12192001" cy="2305050"/>
            <a:chOff x="-1" y="4552950"/>
            <a:chExt cx="12192001" cy="230505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FE45F64-4835-7D9D-16EF-AE95D4317003}"/>
                </a:ext>
              </a:extLst>
            </p:cNvPr>
            <p:cNvSpPr/>
            <p:nvPr/>
          </p:nvSpPr>
          <p:spPr>
            <a:xfrm>
              <a:off x="-1" y="4552950"/>
              <a:ext cx="12192001" cy="2305050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7FAB3B2-447C-CFD1-B15F-67C6F2773786}"/>
                </a:ext>
              </a:extLst>
            </p:cNvPr>
            <p:cNvSpPr txBox="1"/>
            <p:nvPr/>
          </p:nvSpPr>
          <p:spPr>
            <a:xfrm>
              <a:off x="0" y="4552950"/>
              <a:ext cx="342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</a:rPr>
                <a:t>Method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1B0BF42-62A8-D380-6DF3-D39AEF5595B3}"/>
                </a:ext>
              </a:extLst>
            </p:cNvPr>
            <p:cNvSpPr txBox="1"/>
            <p:nvPr/>
          </p:nvSpPr>
          <p:spPr>
            <a:xfrm>
              <a:off x="-1" y="4920139"/>
              <a:ext cx="11639551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err="1">
                  <a:solidFill>
                    <a:schemeClr val="bg1"/>
                  </a:solidFill>
                </a:rPr>
                <a:t>chargemol.x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프로그램 사용 </a:t>
              </a:r>
              <a:r>
                <a:rPr lang="en-US" altLang="ko-KR" sz="1400" b="1" dirty="0">
                  <a:solidFill>
                    <a:schemeClr val="bg1"/>
                  </a:solidFill>
                  <a:hlinkClick r:id="rId3"/>
                </a:rPr>
                <a:t>https://github.com/berquist/chargemol.git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Quantum Espresso SCF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계산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output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기반으로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DDEC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charge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 계산 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r>
                <a:rPr lang="en-US" altLang="ko-KR" sz="1400" b="1" dirty="0" err="1">
                  <a:solidFill>
                    <a:schemeClr val="bg1"/>
                  </a:solidFill>
                </a:rPr>
                <a:t>chargemol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인풋 </a:t>
              </a:r>
              <a:r>
                <a:rPr lang="en-US" altLang="ko-KR" sz="1400" b="1" dirty="0">
                  <a:solidFill>
                    <a:schemeClr val="bg1"/>
                  </a:solidFill>
                  <a:hlinkClick r:id="rId4"/>
                </a:rPr>
                <a:t>https://github.com/dydtkddl/PSID_server_room/blob/main/qe/%5B00%5DBAMOF/07MIL125NH2_DDEC/03_chargemol/David_Plot17/job_control.txt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</a:p>
            <a:p>
              <a:r>
                <a:rPr lang="ko-KR" altLang="en-US" sz="1400" b="1" dirty="0">
                  <a:solidFill>
                    <a:schemeClr val="bg1"/>
                  </a:solidFill>
                </a:rPr>
                <a:t>시각화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pPr marL="285750" indent="-285750">
                <a:buFontTx/>
                <a:buChar char="-"/>
              </a:pPr>
              <a:r>
                <a:rPr lang="en-US" altLang="ko-KR" sz="1400" b="1" dirty="0" err="1">
                  <a:solidFill>
                    <a:schemeClr val="bg1"/>
                  </a:solidFill>
                </a:rPr>
                <a:t>Jmol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시각화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: JMOL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시각화 방법</a:t>
              </a:r>
              <a:endParaRPr lang="en-US" altLang="ko-KR" sz="1400" b="1" dirty="0">
                <a:solidFill>
                  <a:schemeClr val="bg1"/>
                </a:solidFill>
              </a:endParaRPr>
            </a:p>
            <a:p>
              <a:endParaRPr lang="en-US" altLang="ko-KR" sz="1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2688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1036</Words>
  <Application>Microsoft Office PowerPoint</Application>
  <PresentationFormat>와이드스크린</PresentationFormat>
  <Paragraphs>129</Paragraphs>
  <Slides>15</Slides>
  <Notes>0</Notes>
  <HiddenSlides>0</HiddenSlides>
  <MMClips>2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안용상</dc:creator>
  <cp:lastModifiedBy>안용상</cp:lastModifiedBy>
  <cp:revision>4</cp:revision>
  <dcterms:created xsi:type="dcterms:W3CDTF">2025-04-14T17:38:04Z</dcterms:created>
  <dcterms:modified xsi:type="dcterms:W3CDTF">2025-04-15T05:23:12Z</dcterms:modified>
</cp:coreProperties>
</file>